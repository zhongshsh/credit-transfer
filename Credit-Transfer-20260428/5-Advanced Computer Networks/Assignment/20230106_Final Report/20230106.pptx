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sldIdLst>
    <p:sldId id="303" r:id="rId2"/>
    <p:sldId id="304" r:id="rId3"/>
    <p:sldId id="294" r:id="rId4"/>
    <p:sldId id="319" r:id="rId5"/>
    <p:sldId id="320" r:id="rId6"/>
    <p:sldId id="321" r:id="rId7"/>
    <p:sldId id="318" r:id="rId8"/>
    <p:sldId id="296" r:id="rId9"/>
    <p:sldId id="299" r:id="rId10"/>
    <p:sldId id="301" r:id="rId11"/>
    <p:sldId id="302" r:id="rId12"/>
    <p:sldId id="305" r:id="rId13"/>
    <p:sldId id="326" r:id="rId14"/>
    <p:sldId id="330" r:id="rId15"/>
    <p:sldId id="341" r:id="rId16"/>
    <p:sldId id="332" r:id="rId17"/>
    <p:sldId id="333" r:id="rId18"/>
    <p:sldId id="325" r:id="rId19"/>
    <p:sldId id="313" r:id="rId20"/>
    <p:sldId id="314" r:id="rId21"/>
    <p:sldId id="323" r:id="rId22"/>
    <p:sldId id="324" r:id="rId23"/>
    <p:sldId id="315" r:id="rId24"/>
    <p:sldId id="317" r:id="rId25"/>
    <p:sldId id="334" r:id="rId26"/>
    <p:sldId id="335" r:id="rId27"/>
    <p:sldId id="337" r:id="rId28"/>
    <p:sldId id="338" r:id="rId29"/>
    <p:sldId id="340"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5">
          <p15:clr>
            <a:srgbClr val="A4A3A4"/>
          </p15:clr>
        </p15:guide>
        <p15:guide id="2" pos="37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77E07"/>
    <a:srgbClr val="014723"/>
    <a:srgbClr val="FF5D5D"/>
    <a:srgbClr val="CC3300"/>
    <a:srgbClr val="3A6695"/>
    <a:srgbClr val="9CC5FD"/>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2" autoAdjust="0"/>
    <p:restoredTop sz="96391" autoAdjust="0"/>
  </p:normalViewPr>
  <p:slideViewPr>
    <p:cSldViewPr snapToGrid="0">
      <p:cViewPr varScale="1">
        <p:scale>
          <a:sx n="80" d="100"/>
          <a:sy n="80" d="100"/>
        </p:scale>
        <p:origin x="691" y="58"/>
      </p:cViewPr>
      <p:guideLst>
        <p:guide orient="horz" pos="2135"/>
        <p:guide pos="3748"/>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2023/1/6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sym typeface="+mn-ea"/>
              </a:rPr>
              <a:t>智能合约——自动化脚本</a:t>
            </a:r>
          </a:p>
          <a:p>
            <a:r>
              <a:rPr dirty="0">
                <a:sym typeface="+mn-ea"/>
              </a:rPr>
              <a:t>区块链是指一种</a:t>
            </a:r>
            <a:r>
              <a:rPr b="1" dirty="0">
                <a:sym typeface="+mn-ea"/>
              </a:rPr>
              <a:t>电子记录形式的账簿</a:t>
            </a:r>
            <a:r>
              <a:rPr dirty="0">
                <a:sym typeface="+mn-ea"/>
              </a:rPr>
              <a:t>，其中每一个区块是账簿的一页，从第一页“链接”到最新一页。这些区块一旦被确认,几乎不能做修改操作，每个区块包含了当前一段时间内的所有交易信息和区块元数据，如图所示。</a:t>
            </a:r>
          </a:p>
          <a:p>
            <a:r>
              <a:rPr b="1" dirty="0">
                <a:sym typeface="+mn-ea"/>
              </a:rPr>
              <a:t>P2P 网络</a:t>
            </a:r>
            <a:r>
              <a:rPr dirty="0">
                <a:sym typeface="+mn-ea"/>
              </a:rPr>
              <a:t>中的每个节点地位对等且以扁平式拓扑结构相互连通和交互, 每个节点均会承担网络路由、验证区块数据、传播区块数据、发现新节点等功能。P2P部分节点或网络遭到攻击对整个系统几乎没有影响，然而由于节点准入标准极低P2P容易被黑客入侵。</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sym typeface="+mn-ea"/>
              </a:rPr>
              <a:t>以太坊是一个开源的有智能合约功能的公共区块链平台。</a:t>
            </a:r>
            <a:r>
              <a:rPr b="1" dirty="0">
                <a:sym typeface="+mn-ea"/>
              </a:rPr>
              <a:t>以太坊的P2P网络</a:t>
            </a:r>
            <a:r>
              <a:rPr dirty="0">
                <a:sym typeface="+mn-ea"/>
              </a:rPr>
              <a:t>主要有两部分构成：节点之间互相连接用于</a:t>
            </a:r>
            <a:r>
              <a:rPr b="1" dirty="0">
                <a:sym typeface="+mn-ea"/>
              </a:rPr>
              <a:t>传输数据</a:t>
            </a:r>
            <a:r>
              <a:rPr dirty="0">
                <a:sym typeface="+mn-ea"/>
              </a:rPr>
              <a:t>的TCP网络和节点之间互相广播用于</a:t>
            </a:r>
            <a:r>
              <a:rPr b="1" dirty="0">
                <a:sym typeface="+mn-ea"/>
              </a:rPr>
              <a:t>节点发现</a:t>
            </a:r>
            <a:r>
              <a:rPr dirty="0">
                <a:sym typeface="+mn-ea"/>
              </a:rPr>
              <a:t>的UDP网络。</a:t>
            </a:r>
          </a:p>
          <a:p>
            <a:r>
              <a:rPr dirty="0">
                <a:sym typeface="+mn-ea"/>
              </a:rPr>
              <a:t>Kademlia协议基于UDP，通过构建节点路由表，实现节点发现和资源定位。RLPx协议基于TCP，通过创建TCP连接并确定一对临时密钥，实现节点进行通信加密，而ECDH密钥交换算法则是实现通信双方共享密钥的基础。此外，节点通信还涉及通信双方协议版本协商的过程。</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sym typeface="+mn-ea"/>
              </a:rPr>
              <a:t>以太坊是</a:t>
            </a:r>
            <a:r>
              <a:rPr b="1" dirty="0">
                <a:sym typeface="+mn-ea"/>
              </a:rPr>
              <a:t>以交易为基础</a:t>
            </a:r>
            <a:r>
              <a:rPr dirty="0">
                <a:sym typeface="+mn-ea"/>
              </a:rPr>
              <a:t>的状态转移系统。（这里主要结合图说明ECDSA应用于下面过程中的交易验证环节，用来确保交易的不可伪造就可以啦；还需说明广播新交易和广播新区块是节点通信的过程）</a:t>
            </a:r>
          </a:p>
          <a:p>
            <a:r>
              <a:rPr dirty="0">
                <a:sym typeface="+mn-ea"/>
              </a:rPr>
              <a:t>一笔新交易产生时，所有者利用私钥对交易信息进行数字签名，会先被广播到区块链网络中的其它节点。</a:t>
            </a:r>
          </a:p>
          <a:p>
            <a:r>
              <a:rPr dirty="0">
                <a:sym typeface="+mn-ea"/>
              </a:rPr>
              <a:t>每个节点会将数笔未验证的交易Hash值收集到区块中，最快完成POW的节点，会验证交易并将自己的区块传播给其他节点。</a:t>
            </a:r>
          </a:p>
          <a:p>
            <a:r>
              <a:rPr dirty="0">
                <a:sym typeface="+mn-ea"/>
              </a:rPr>
              <a:t>全网其他节点核对，其他节点会确认这个区块所包含的交易是否有效，确认没被重复花费且具有效数位签章后，接受该区块。</a:t>
            </a:r>
          </a:p>
          <a:p>
            <a:r>
              <a:rPr dirty="0">
                <a:sym typeface="+mn-ea"/>
              </a:rPr>
              <a:t>此时区块才正式接上区块链，无法再窜改资料。</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在以太坊的</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网络中，</a:t>
            </a:r>
            <a:r>
              <a:rPr lang="en-US" altLang="zh-CN" sz="1200" dirty="0" err="1">
                <a:solidFill>
                  <a:schemeClr val="tx1">
                    <a:lumMod val="65000"/>
                    <a:lumOff val="35000"/>
                  </a:schemeClr>
                </a:solidFill>
                <a:latin typeface="微软雅黑" panose="020B0503020204020204" pitchFamily="34" charset="-122"/>
                <a:ea typeface="微软雅黑" panose="020B0503020204020204" pitchFamily="34" charset="-122"/>
              </a:rPr>
              <a:t>Kademlia</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协议被应用于实现路由。</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基于 </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Kademlia</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协议的 </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P2P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网络结构如下图所示，</a:t>
            </a:r>
            <a:r>
              <a:rPr lang="en-US" altLang="zh-CN" dirty="0" err="1">
                <a:solidFill>
                  <a:schemeClr val="tx1">
                    <a:lumMod val="65000"/>
                    <a:lumOff val="35000"/>
                  </a:schemeClr>
                </a:solidFill>
                <a:latin typeface="微软雅黑" panose="020B0503020204020204" pitchFamily="34" charset="-122"/>
                <a:ea typeface="微软雅黑" panose="020B0503020204020204" pitchFamily="34" charset="-122"/>
              </a:rPr>
              <a:t>Kademlia</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协议属于</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UDP</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部分，通过构建节点路由表，在</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TCP</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的支持下实现节点发现和资源定位。</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以节点</a:t>
            </a:r>
            <a:r>
              <a:rPr lang="en-US" altLang="zh-CN" dirty="0"/>
              <a:t>A</a:t>
            </a:r>
            <a:r>
              <a:rPr lang="zh-CN" altLang="en-US" dirty="0"/>
              <a:t>为例，在该协议中，节点均由三项内容组成，即</a:t>
            </a:r>
            <a:r>
              <a:rPr lang="en-US" altLang="zh-CN" dirty="0"/>
              <a:t>IP</a:t>
            </a:r>
            <a:r>
              <a:rPr lang="zh-CN" altLang="en-US" dirty="0"/>
              <a:t>地址、端口与节点</a:t>
            </a:r>
            <a:r>
              <a:rPr lang="en-US" altLang="zh-CN" dirty="0"/>
              <a:t>ID</a:t>
            </a:r>
            <a:r>
              <a:rPr lang="zh-CN" altLang="en-US" dirty="0"/>
              <a:t>。各个节点在初始状态下被分配成一个</a:t>
            </a:r>
            <a:r>
              <a:rPr lang="en-US" altLang="zh-CN" dirty="0"/>
              <a:t>160</a:t>
            </a:r>
            <a:r>
              <a:rPr lang="zh-CN" altLang="en-US" dirty="0"/>
              <a:t>位的节点</a:t>
            </a:r>
            <a:r>
              <a:rPr lang="en-US" altLang="zh-CN" dirty="0"/>
              <a:t>ID</a:t>
            </a:r>
            <a:r>
              <a:rPr lang="zh-CN" altLang="en-US" dirty="0"/>
              <a:t>，节点之间距离可通过</a:t>
            </a:r>
            <a:r>
              <a:rPr lang="en-US" altLang="zh-CN" dirty="0"/>
              <a:t>ID</a:t>
            </a:r>
            <a:r>
              <a:rPr lang="zh-CN" altLang="en-US" dirty="0"/>
              <a:t>的异或计算得出。基于此，可以构建节点路由表。节点路由表由</a:t>
            </a:r>
            <a:r>
              <a:rPr lang="en-US" altLang="zh-CN" dirty="0"/>
              <a:t>K</a:t>
            </a:r>
            <a:r>
              <a:rPr lang="zh-CN" altLang="en-US" dirty="0"/>
              <a:t>桶列表构成，路由表中的节点可根据距离不同而分层。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基于已建立的</a:t>
            </a:r>
            <a:r>
              <a:rPr lang="en-US" altLang="zh-CN" dirty="0"/>
              <a:t>TCP</a:t>
            </a:r>
            <a:r>
              <a:rPr lang="zh-CN" altLang="en-US" dirty="0"/>
              <a:t>网络，</a:t>
            </a:r>
            <a:r>
              <a:rPr lang="en-US" altLang="zh-CN" dirty="0"/>
              <a:t>A</a:t>
            </a:r>
            <a:r>
              <a:rPr lang="zh-CN" altLang="en-US" dirty="0"/>
              <a:t>需要资源时，会像距离最近的</a:t>
            </a:r>
            <a:r>
              <a:rPr lang="en-US" altLang="zh-CN" dirty="0"/>
              <a:t>B</a:t>
            </a:r>
            <a:r>
              <a:rPr lang="zh-CN" altLang="en-US" dirty="0"/>
              <a:t>节点发出询问，</a:t>
            </a:r>
            <a:r>
              <a:rPr lang="en-US" altLang="zh-CN" dirty="0"/>
              <a:t>B</a:t>
            </a:r>
            <a:r>
              <a:rPr lang="zh-CN" altLang="en-US" dirty="0"/>
              <a:t>返回资源或者最可能带有所需资源的节点，这个最可能的节点通过</a:t>
            </a:r>
            <a:r>
              <a:rPr lang="en-US" altLang="zh-CN" dirty="0"/>
              <a:t>ID</a:t>
            </a:r>
            <a:r>
              <a:rPr lang="zh-CN" altLang="en-US" dirty="0"/>
              <a:t>接近程度判断。</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当新节点</a:t>
            </a:r>
            <a:r>
              <a:rPr lang="en-US" altLang="zh-CN" dirty="0"/>
              <a:t>C</a:t>
            </a:r>
            <a:r>
              <a:rPr lang="zh-CN" altLang="en-US" dirty="0"/>
              <a:t>想加入</a:t>
            </a:r>
            <a:r>
              <a:rPr lang="en-US" altLang="zh-CN" dirty="0"/>
              <a:t>P2P</a:t>
            </a:r>
            <a:r>
              <a:rPr lang="zh-CN" altLang="en-US" dirty="0"/>
              <a:t>网络，主要经过三个主要步骤。</a:t>
            </a:r>
            <a:r>
              <a:rPr lang="en-US" altLang="zh-CN" dirty="0"/>
              <a:t>S</a:t>
            </a:r>
            <a:r>
              <a:rPr lang="zh-CN" altLang="en-US" dirty="0"/>
              <a:t>首先，</a:t>
            </a:r>
            <a:r>
              <a:rPr lang="en-US" altLang="zh-CN" dirty="0"/>
              <a:t>C</a:t>
            </a:r>
            <a:r>
              <a:rPr lang="zh-CN" altLang="en-US" dirty="0"/>
              <a:t>需要通过节点距离计算公式，计算出逻辑距离，确定节点在路由表中的位置；接着，</a:t>
            </a:r>
            <a:r>
              <a:rPr lang="en-US" altLang="zh-CN" dirty="0"/>
              <a:t>C</a:t>
            </a:r>
            <a:r>
              <a:rPr lang="zh-CN" altLang="en-US" dirty="0"/>
              <a:t>通过</a:t>
            </a:r>
            <a:r>
              <a:rPr lang="en-US" altLang="zh-CN" dirty="0"/>
              <a:t>TCP</a:t>
            </a:r>
            <a:r>
              <a:rPr lang="zh-CN" altLang="en-US" dirty="0"/>
              <a:t>网络寻找与自身相近的节点，继续刷新路由表，采集信息；基于收集的节点，</a:t>
            </a:r>
            <a:r>
              <a:rPr lang="en-US" altLang="zh-CN" dirty="0"/>
              <a:t>C</a:t>
            </a:r>
            <a:r>
              <a:rPr lang="zh-CN" altLang="en-US" dirty="0"/>
              <a:t>继续逐层查询节点，不断采集信息并将自身信息更新到各个节点。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此外，节点在退出网络时无须发送任意信息，因为各个资源都会发布</a:t>
            </a:r>
            <a:r>
              <a:rPr lang="en-US" altLang="zh-CN" dirty="0"/>
              <a:t>K</a:t>
            </a:r>
            <a:r>
              <a:rPr lang="zh-CN" altLang="en-US" dirty="0"/>
              <a:t>个副本，因此不会对该节点所有资源产生负面影响。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以太坊由于其独特的链式结构和底层的 </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P2P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网络，在安全性方面有独特优势，</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黑客很难通过攻击某一个节点获得大量用户信息，从而更改全局账本</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。另一方面，由于其去中心的分布式架构和公有链无准入要求的特点，以太坊在安全方面也存在劣势。</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algn="just">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例如黑客利用一个节点的出度受限（</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125</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个）可以用日蚀攻击将节点从主网中隔离，出度越多、节点随机化链接程度越高，黑客的攻击难度就越大。在延迟攻击中，攻击者可以使矿工请求的最新块属于旧块，从而使其他矿工竞争力增大。</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我们调研了近年深度学习与</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网络安全性结合的相关研究，思考</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网络安全性的应对机制。我们发现深度学习往往以数据挖掘的方式分析</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网络是否遭受攻击，这是一种有效的</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监督机制</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，但</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无法从根本上</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提高</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网络安全性。</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为了从根本上提高</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网络安全性，近年来相关研究主要从安全验证、数据恢复、分布式结构设计等方面对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网络进行优化。</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从跨领域和领域内文献对比上看，目前深度学习与</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网络的结合仍不够深入。</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以太坊</a:t>
            </a:r>
            <a:r>
              <a:rPr lang="en-US" altLang="zh-CN" sz="1200" kern="1200" dirty="0">
                <a:solidFill>
                  <a:schemeClr val="tx1"/>
                </a:solidFill>
                <a:effectLst/>
                <a:latin typeface="+mn-lt"/>
                <a:ea typeface="+mn-ea"/>
                <a:cs typeface="+mn-cs"/>
              </a:rPr>
              <a:t>P2P</a:t>
            </a:r>
            <a:r>
              <a:rPr lang="zh-CN" altLang="zh-CN" sz="1200" kern="1200" dirty="0">
                <a:solidFill>
                  <a:schemeClr val="tx1"/>
                </a:solidFill>
                <a:effectLst/>
                <a:latin typeface="+mn-lt"/>
                <a:ea typeface="+mn-ea"/>
                <a:cs typeface="+mn-cs"/>
              </a:rPr>
              <a:t>网络的通信是由一组网络协议组成的，如图（</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）所示，包括基于</a:t>
            </a:r>
            <a:r>
              <a:rPr lang="en-US" altLang="zh-CN" sz="1200" kern="1200" dirty="0">
                <a:solidFill>
                  <a:schemeClr val="tx1"/>
                </a:solidFill>
                <a:effectLst/>
                <a:latin typeface="+mn-lt"/>
                <a:ea typeface="+mn-ea"/>
                <a:cs typeface="+mn-cs"/>
              </a:rPr>
              <a:t>UDP</a:t>
            </a:r>
            <a:r>
              <a:rPr lang="zh-CN" altLang="zh-CN" sz="1200" kern="1200" dirty="0">
                <a:solidFill>
                  <a:schemeClr val="tx1"/>
                </a:solidFill>
                <a:effectLst/>
                <a:latin typeface="+mn-lt"/>
                <a:ea typeface="+mn-ea"/>
                <a:cs typeface="+mn-cs"/>
              </a:rPr>
              <a:t>的节点发现协议和基于</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a:t>
            </a:r>
            <a:r>
              <a:rPr lang="en-US" altLang="zh-CN" sz="1200" kern="1200" dirty="0" err="1">
                <a:solidFill>
                  <a:schemeClr val="tx1"/>
                </a:solidFill>
                <a:effectLst/>
                <a:latin typeface="+mn-lt"/>
                <a:ea typeface="+mn-ea"/>
                <a:cs typeface="+mn-cs"/>
              </a:rPr>
              <a:t>RLPx</a:t>
            </a:r>
            <a:r>
              <a:rPr lang="zh-CN" altLang="zh-CN" sz="1200" kern="1200" dirty="0">
                <a:solidFill>
                  <a:schemeClr val="tx1"/>
                </a:solidFill>
                <a:effectLst/>
                <a:latin typeface="+mn-lt"/>
                <a:ea typeface="+mn-ea"/>
                <a:cs typeface="+mn-cs"/>
              </a:rPr>
              <a:t>传输协议，针对不同的客户端条件和应用程序，</a:t>
            </a:r>
            <a:r>
              <a:rPr lang="en-US" altLang="zh-CN" sz="1200" kern="1200" dirty="0" err="1">
                <a:solidFill>
                  <a:schemeClr val="tx1"/>
                </a:solidFill>
                <a:effectLst/>
                <a:latin typeface="+mn-lt"/>
                <a:ea typeface="+mn-ea"/>
                <a:cs typeface="+mn-cs"/>
              </a:rPr>
              <a:t>RLPx</a:t>
            </a:r>
            <a:r>
              <a:rPr lang="zh-CN" altLang="zh-CN" sz="1200" kern="1200" dirty="0">
                <a:solidFill>
                  <a:schemeClr val="tx1"/>
                </a:solidFill>
                <a:effectLst/>
                <a:latin typeface="+mn-lt"/>
                <a:ea typeface="+mn-ea"/>
                <a:cs typeface="+mn-cs"/>
              </a:rPr>
              <a:t>又包含了</a:t>
            </a:r>
            <a:r>
              <a:rPr lang="en-US" altLang="zh-CN" sz="1200" kern="1200" dirty="0">
                <a:solidFill>
                  <a:schemeClr val="tx1"/>
                </a:solidFill>
                <a:effectLst/>
                <a:latin typeface="+mn-lt"/>
                <a:ea typeface="+mn-ea"/>
                <a:cs typeface="+mn-cs"/>
              </a:rPr>
              <a:t>ETH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LES</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PIP</a:t>
            </a:r>
            <a:r>
              <a:rPr lang="zh-CN" altLang="zh-CN" sz="1200" kern="1200" dirty="0">
                <a:solidFill>
                  <a:schemeClr val="tx1"/>
                </a:solidFill>
                <a:effectLst/>
                <a:latin typeface="+mn-lt"/>
                <a:ea typeface="+mn-ea"/>
                <a:cs typeface="+mn-cs"/>
              </a:rPr>
              <a:t>这样一些子协议。</a:t>
            </a:r>
          </a:p>
          <a:p>
            <a:r>
              <a:rPr lang="zh-CN" altLang="zh-CN" sz="1200" kern="1200" dirty="0">
                <a:solidFill>
                  <a:schemeClr val="tx1"/>
                </a:solidFill>
                <a:effectLst/>
                <a:latin typeface="+mn-lt"/>
                <a:ea typeface="+mn-ea"/>
                <a:cs typeface="+mn-cs"/>
              </a:rPr>
              <a:t>在</a:t>
            </a:r>
            <a:r>
              <a:rPr lang="en-US" altLang="zh-CN" sz="1200" kern="1200" dirty="0" err="1">
                <a:solidFill>
                  <a:schemeClr val="tx1"/>
                </a:solidFill>
                <a:effectLst/>
                <a:latin typeface="+mn-lt"/>
                <a:ea typeface="+mn-ea"/>
                <a:cs typeface="+mn-cs"/>
              </a:rPr>
              <a:t>RLPx</a:t>
            </a:r>
            <a:r>
              <a:rPr lang="zh-CN" altLang="zh-CN" sz="1200" kern="1200" dirty="0">
                <a:solidFill>
                  <a:schemeClr val="tx1"/>
                </a:solidFill>
                <a:effectLst/>
                <a:latin typeface="+mn-lt"/>
                <a:ea typeface="+mn-ea"/>
                <a:cs typeface="+mn-cs"/>
              </a:rPr>
              <a:t>中，两个节点在传输重要消息之前需要执行两阶段握手来初始化会话，如图（</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）所示：第一次握手时，两节点进行公钥交换，使后续的通信消息得到加密和身份认证。在第二次握手时，通信双方交换</a:t>
            </a:r>
            <a:r>
              <a:rPr lang="en-US" altLang="zh-CN" sz="1200" kern="1200" dirty="0">
                <a:solidFill>
                  <a:schemeClr val="tx1"/>
                </a:solidFill>
                <a:effectLst/>
                <a:latin typeface="+mn-lt"/>
                <a:ea typeface="+mn-ea"/>
                <a:cs typeface="+mn-cs"/>
              </a:rPr>
              <a:t>Hello</a:t>
            </a:r>
            <a:r>
              <a:rPr lang="zh-CN" altLang="zh-CN" sz="1200" kern="1200" dirty="0">
                <a:solidFill>
                  <a:schemeClr val="tx1"/>
                </a:solidFill>
                <a:effectLst/>
                <a:latin typeface="+mn-lt"/>
                <a:ea typeface="+mn-ea"/>
                <a:cs typeface="+mn-cs"/>
              </a:rPr>
              <a:t>报文来说明彼此的客户端信息，或者，发送一个</a:t>
            </a:r>
            <a:r>
              <a:rPr lang="en-US" altLang="zh-CN" sz="1200" kern="1200" dirty="0">
                <a:solidFill>
                  <a:schemeClr val="tx1"/>
                </a:solidFill>
                <a:effectLst/>
                <a:latin typeface="+mn-lt"/>
                <a:ea typeface="+mn-ea"/>
                <a:cs typeface="+mn-cs"/>
              </a:rPr>
              <a:t>Disconnect</a:t>
            </a:r>
            <a:r>
              <a:rPr lang="zh-CN" altLang="zh-CN" sz="1200" kern="1200" dirty="0">
                <a:solidFill>
                  <a:schemeClr val="tx1"/>
                </a:solidFill>
                <a:effectLst/>
                <a:latin typeface="+mn-lt"/>
                <a:ea typeface="+mn-ea"/>
                <a:cs typeface="+mn-cs"/>
              </a:rPr>
              <a:t>消息从而断开连接。</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Elliptic Curve </a:t>
            </a:r>
            <a:r>
              <a:rPr lang="en-US" altLang="zh-CN" sz="1200" kern="1200" dirty="0" err="1">
                <a:solidFill>
                  <a:schemeClr val="tx1"/>
                </a:solidFill>
                <a:effectLst/>
                <a:latin typeface="+mn-lt"/>
                <a:ea typeface="+mn-ea"/>
                <a:cs typeface="+mn-cs"/>
              </a:rPr>
              <a:t>Diffie</a:t>
            </a:r>
            <a:r>
              <a:rPr lang="en-US" altLang="zh-CN" sz="1200" kern="1200" dirty="0">
                <a:solidFill>
                  <a:schemeClr val="tx1"/>
                </a:solidFill>
                <a:effectLst/>
                <a:latin typeface="+mn-lt"/>
                <a:ea typeface="+mn-ea"/>
                <a:cs typeface="+mn-cs"/>
              </a:rPr>
              <a:t>-Hellman</a:t>
            </a:r>
          </a:p>
          <a:p>
            <a:r>
              <a:rPr lang="zh-CN" altLang="zh-CN" sz="1200" kern="1200" dirty="0">
                <a:solidFill>
                  <a:schemeClr val="tx1"/>
                </a:solidFill>
                <a:effectLst/>
                <a:latin typeface="+mn-lt"/>
                <a:ea typeface="+mn-ea"/>
                <a:cs typeface="+mn-cs"/>
              </a:rPr>
              <a:t>首先，节点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随机产生一个正整数</a:t>
            </a:r>
            <a:r>
              <a:rPr lang="en-US" altLang="zh-CN" sz="1200" kern="1200" dirty="0">
                <a:solidFill>
                  <a:schemeClr val="tx1"/>
                </a:solidFill>
                <a:effectLst/>
                <a:latin typeface="+mn-lt"/>
                <a:ea typeface="+mn-ea"/>
                <a:cs typeface="+mn-cs"/>
              </a:rPr>
              <a:t>k</a:t>
            </a:r>
            <a:r>
              <a:rPr lang="en-US" altLang="zh-CN" sz="1200" kern="1200" baseline="-250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作为自己的私钥，并计算出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的公钥</a:t>
            </a:r>
            <a:r>
              <a:rPr lang="en-US" altLang="zh-CN" sz="1200" kern="1200" dirty="0">
                <a:solidFill>
                  <a:schemeClr val="tx1"/>
                </a:solidFill>
                <a:effectLst/>
                <a:latin typeface="+mn-lt"/>
                <a:ea typeface="+mn-ea"/>
                <a:cs typeface="+mn-cs"/>
              </a:rPr>
              <a:t>k</a:t>
            </a:r>
            <a:r>
              <a:rPr lang="en-US" altLang="zh-CN" sz="1200" kern="1200" baseline="-25000" dirty="0">
                <a:solidFill>
                  <a:schemeClr val="tx1"/>
                </a:solidFill>
                <a:effectLst/>
                <a:latin typeface="+mn-lt"/>
                <a:ea typeface="+mn-ea"/>
                <a:cs typeface="+mn-cs"/>
              </a:rPr>
              <a:t>A </a:t>
            </a:r>
            <a:r>
              <a:rPr lang="en-US" altLang="zh-CN" sz="1200" kern="1200" dirty="0">
                <a:solidFill>
                  <a:schemeClr val="tx1"/>
                </a:solidFill>
                <a:effectLst/>
                <a:latin typeface="+mn-lt"/>
                <a:ea typeface="+mn-ea"/>
                <a:cs typeface="+mn-cs"/>
              </a:rPr>
              <a:t>× G</a:t>
            </a:r>
            <a:r>
              <a:rPr lang="zh-CN" altLang="zh-CN" sz="1200" kern="1200" dirty="0">
                <a:solidFill>
                  <a:schemeClr val="tx1"/>
                </a:solidFill>
                <a:effectLst/>
                <a:latin typeface="+mn-lt"/>
                <a:ea typeface="+mn-ea"/>
                <a:cs typeface="+mn-cs"/>
              </a:rPr>
              <a:t>，发送给节点</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同样地，节点</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随机产生一个正整数</a:t>
            </a:r>
            <a:r>
              <a:rPr lang="en-US" altLang="zh-CN" sz="1200" kern="1200" dirty="0">
                <a:solidFill>
                  <a:schemeClr val="tx1"/>
                </a:solidFill>
                <a:effectLst/>
                <a:latin typeface="+mn-lt"/>
                <a:ea typeface="+mn-ea"/>
                <a:cs typeface="+mn-cs"/>
              </a:rPr>
              <a:t>k</a:t>
            </a:r>
            <a:r>
              <a:rPr lang="en-US" altLang="zh-CN" sz="1200" kern="1200" baseline="-250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作为自己的私钥，并计算出</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的公钥</a:t>
            </a:r>
            <a:r>
              <a:rPr lang="en-US" altLang="zh-CN" sz="1200" kern="1200" dirty="0">
                <a:solidFill>
                  <a:schemeClr val="tx1"/>
                </a:solidFill>
                <a:effectLst/>
                <a:latin typeface="+mn-lt"/>
                <a:ea typeface="+mn-ea"/>
                <a:cs typeface="+mn-cs"/>
              </a:rPr>
              <a:t>k</a:t>
            </a:r>
            <a:r>
              <a:rPr lang="en-US" altLang="zh-CN" sz="1200" kern="1200" baseline="-25000" dirty="0">
                <a:solidFill>
                  <a:schemeClr val="tx1"/>
                </a:solidFill>
                <a:effectLst/>
                <a:latin typeface="+mn-lt"/>
                <a:ea typeface="+mn-ea"/>
                <a:cs typeface="+mn-cs"/>
              </a:rPr>
              <a:t>B </a:t>
            </a:r>
            <a:r>
              <a:rPr lang="en-US" altLang="zh-CN" sz="1200" kern="1200" dirty="0">
                <a:solidFill>
                  <a:schemeClr val="tx1"/>
                </a:solidFill>
                <a:effectLst/>
                <a:latin typeface="+mn-lt"/>
                <a:ea typeface="+mn-ea"/>
                <a:cs typeface="+mn-cs"/>
              </a:rPr>
              <a:t>× G</a:t>
            </a:r>
            <a:r>
              <a:rPr lang="zh-CN" altLang="zh-CN" sz="1200" kern="1200" dirty="0">
                <a:solidFill>
                  <a:schemeClr val="tx1"/>
                </a:solidFill>
                <a:effectLst/>
                <a:latin typeface="+mn-lt"/>
                <a:ea typeface="+mn-ea"/>
                <a:cs typeface="+mn-cs"/>
              </a:rPr>
              <a:t>，发送给节点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双方用自己的私钥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对方的公钥，基于椭圆曲线的性质，结果相同，这就是双方共享的会话密钥。</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ECDLP</a:t>
            </a:r>
            <a:r>
              <a:rPr lang="zh-CN" altLang="en-US" dirty="0"/>
              <a:t>即椭圆曲线离散对数问题，其定义是在一个椭圆曲线</a:t>
            </a:r>
            <a:r>
              <a:rPr lang="en-US" altLang="zh-CN" dirty="0"/>
              <a:t>E</a:t>
            </a:r>
            <a:r>
              <a:rPr lang="zh-CN" altLang="en-US" dirty="0"/>
              <a:t>上，有一个阶为</a:t>
            </a:r>
            <a:r>
              <a:rPr lang="en-US" altLang="zh-CN" dirty="0"/>
              <a:t>n</a:t>
            </a:r>
            <a:r>
              <a:rPr lang="zh-CN" altLang="en-US" dirty="0"/>
              <a:t>的基点</a:t>
            </a:r>
            <a:r>
              <a:rPr lang="en-US" altLang="zh-CN" dirty="0"/>
              <a:t>P</a:t>
            </a:r>
            <a:r>
              <a:rPr lang="zh-CN" altLang="en-US" dirty="0"/>
              <a:t>，存在一个整数</a:t>
            </a:r>
            <a:r>
              <a:rPr lang="en-US" altLang="zh-CN" dirty="0"/>
              <a:t>l</a:t>
            </a:r>
            <a:r>
              <a:rPr lang="zh-CN" altLang="en-US" dirty="0"/>
              <a:t>使得</a:t>
            </a:r>
            <a:r>
              <a:rPr lang="en-US" altLang="zh-CN" dirty="0"/>
              <a:t>Q=</a:t>
            </a:r>
            <a:r>
              <a:rPr lang="en-US" altLang="zh-CN" dirty="0" err="1"/>
              <a:t>lP</a:t>
            </a:r>
            <a:r>
              <a:rPr lang="zh-CN" altLang="en-US" dirty="0"/>
              <a:t>，该整数</a:t>
            </a:r>
            <a:r>
              <a:rPr lang="en-US" altLang="zh-CN" dirty="0"/>
              <a:t>l</a:t>
            </a:r>
            <a:r>
              <a:rPr lang="zh-CN" altLang="en-US" dirty="0"/>
              <a:t>称为点</a:t>
            </a:r>
            <a:r>
              <a:rPr lang="en-US" altLang="zh-CN" dirty="0"/>
              <a:t>Q</a:t>
            </a:r>
            <a:r>
              <a:rPr lang="zh-CN" altLang="en-US" dirty="0"/>
              <a:t>基于</a:t>
            </a:r>
            <a:r>
              <a:rPr lang="en-US" altLang="zh-CN" dirty="0"/>
              <a:t>P</a:t>
            </a:r>
            <a:r>
              <a:rPr lang="zh-CN" altLang="en-US" dirty="0"/>
              <a:t>的离散对数。</a:t>
            </a:r>
          </a:p>
          <a:p>
            <a:r>
              <a:rPr lang="zh-CN" altLang="en-US" dirty="0"/>
              <a:t>当我们知道点</a:t>
            </a:r>
            <a:r>
              <a:rPr lang="en-US" altLang="zh-CN" dirty="0"/>
              <a:t>P</a:t>
            </a:r>
            <a:r>
              <a:rPr lang="zh-CN" altLang="en-US" dirty="0"/>
              <a:t>与整数</a:t>
            </a:r>
            <a:r>
              <a:rPr lang="en-US" altLang="zh-CN" dirty="0"/>
              <a:t>l</a:t>
            </a:r>
            <a:r>
              <a:rPr lang="zh-CN" altLang="en-US" dirty="0"/>
              <a:t>时，基于</a:t>
            </a:r>
            <a:r>
              <a:rPr lang="en-US" altLang="zh-CN" dirty="0"/>
              <a:t>4P=2P+2P</a:t>
            </a:r>
            <a:r>
              <a:rPr lang="zh-CN" altLang="en-US" dirty="0"/>
              <a:t>，</a:t>
            </a:r>
            <a:r>
              <a:rPr lang="en-US" altLang="zh-CN" dirty="0"/>
              <a:t>8P=4P+4P</a:t>
            </a:r>
            <a:r>
              <a:rPr lang="zh-CN" altLang="en-US" dirty="0"/>
              <a:t>这样的理论，可以非常容易地通过</a:t>
            </a:r>
            <a:r>
              <a:rPr lang="en-US" altLang="zh-CN" dirty="0"/>
              <a:t>2</a:t>
            </a:r>
            <a:r>
              <a:rPr lang="en-US" altLang="zh-CN" baseline="30000" dirty="0"/>
              <a:t>n</a:t>
            </a:r>
            <a:r>
              <a:rPr lang="zh-CN" altLang="en-US" dirty="0"/>
              <a:t>的方法快速迭代算出</a:t>
            </a:r>
            <a:r>
              <a:rPr lang="en-US" altLang="zh-CN" dirty="0"/>
              <a:t>Q</a:t>
            </a:r>
            <a:r>
              <a:rPr lang="zh-CN" altLang="en-US" dirty="0"/>
              <a:t>，但是反之，当我们仅知道</a:t>
            </a:r>
            <a:r>
              <a:rPr lang="en-US" altLang="zh-CN" dirty="0"/>
              <a:t>P</a:t>
            </a:r>
            <a:r>
              <a:rPr lang="zh-CN" altLang="en-US" dirty="0"/>
              <a:t>与</a:t>
            </a:r>
            <a:r>
              <a:rPr lang="en-US" altLang="zh-CN" dirty="0"/>
              <a:t>Q</a:t>
            </a:r>
            <a:r>
              <a:rPr lang="zh-CN" altLang="en-US" dirty="0"/>
              <a:t>时，只能逐个计算</a:t>
            </a:r>
            <a:r>
              <a:rPr lang="en-US" altLang="zh-CN" dirty="0"/>
              <a:t>P,2P,3P</a:t>
            </a:r>
            <a:r>
              <a:rPr lang="zh-CN" altLang="en-US" dirty="0"/>
              <a:t>直到找到</a:t>
            </a:r>
            <a:r>
              <a:rPr lang="en-US" altLang="zh-CN" dirty="0" err="1"/>
              <a:t>lP</a:t>
            </a:r>
            <a:r>
              <a:rPr lang="zh-CN" altLang="en-US" dirty="0"/>
              <a:t>与</a:t>
            </a:r>
            <a:r>
              <a:rPr lang="en-US" altLang="zh-CN" dirty="0"/>
              <a:t>Q</a:t>
            </a:r>
            <a:r>
              <a:rPr lang="zh-CN" altLang="en-US" dirty="0"/>
              <a:t>相等，但是这样的计算量在椭圆曲线参数量较大时将无法实际实现。</a:t>
            </a:r>
          </a:p>
          <a:p>
            <a:r>
              <a:rPr lang="zh-CN" altLang="en-US" dirty="0"/>
              <a:t>正是由于椭圆曲线具有该特性，其在密码学中应用广泛。在用户交易验证中，我们为了保证攻击者即使知道公钥也难以计算出私钥，采用椭圆曲线数字签名算法。</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2390619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Elliptic Curve </a:t>
            </a:r>
            <a:r>
              <a:rPr lang="en-US" altLang="zh-CN" sz="1200" kern="1200" dirty="0" err="1">
                <a:solidFill>
                  <a:schemeClr val="tx1"/>
                </a:solidFill>
                <a:effectLst/>
                <a:latin typeface="+mn-lt"/>
                <a:ea typeface="+mn-ea"/>
                <a:cs typeface="+mn-cs"/>
              </a:rPr>
              <a:t>Diffie</a:t>
            </a:r>
            <a:r>
              <a:rPr lang="en-US" altLang="zh-CN" sz="1200" kern="1200" dirty="0">
                <a:solidFill>
                  <a:schemeClr val="tx1"/>
                </a:solidFill>
                <a:effectLst/>
                <a:latin typeface="+mn-lt"/>
                <a:ea typeface="+mn-ea"/>
                <a:cs typeface="+mn-cs"/>
              </a:rPr>
              <a:t>-Hellman</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zh-CN" sz="1200" kern="1200" dirty="0">
                <a:solidFill>
                  <a:schemeClr val="tx1"/>
                </a:solidFill>
                <a:effectLst/>
                <a:latin typeface="+mn-lt"/>
                <a:ea typeface="+mn-ea"/>
                <a:cs typeface="+mn-cs"/>
              </a:rPr>
              <a:t>尽管如此，刚刚介绍的</a:t>
            </a:r>
            <a:r>
              <a:rPr lang="en-US" altLang="zh-CN" sz="1200" kern="1200" dirty="0">
                <a:solidFill>
                  <a:schemeClr val="tx1"/>
                </a:solidFill>
                <a:effectLst/>
                <a:latin typeface="+mn-lt"/>
                <a:ea typeface="+mn-ea"/>
                <a:cs typeface="+mn-cs"/>
              </a:rPr>
              <a:t>ECDH</a:t>
            </a:r>
            <a:r>
              <a:rPr lang="zh-CN" altLang="zh-CN" sz="1200" kern="1200" dirty="0">
                <a:solidFill>
                  <a:schemeClr val="tx1"/>
                </a:solidFill>
                <a:effectLst/>
                <a:latin typeface="+mn-lt"/>
                <a:ea typeface="+mn-ea"/>
                <a:cs typeface="+mn-cs"/>
              </a:rPr>
              <a:t>密钥交换算法也不是十全十美的，容易遭受中间人的攻击，因为它不支持对协商密钥的认证功能。</a:t>
            </a:r>
          </a:p>
          <a:p>
            <a:r>
              <a:rPr lang="zh-CN" altLang="zh-CN" sz="1200" kern="1200" dirty="0">
                <a:solidFill>
                  <a:schemeClr val="tx1"/>
                </a:solidFill>
                <a:effectLst/>
                <a:latin typeface="+mn-lt"/>
                <a:ea typeface="+mn-ea"/>
                <a:cs typeface="+mn-cs"/>
              </a:rPr>
              <a:t>假设现在有一个中间人，他可以从公开信道上截获</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互相发送的公钥，虽然他无法反推出节点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的私钥，但是他可以伪造一个公钥 </a:t>
            </a:r>
            <a:r>
              <a:rPr lang="en-US" altLang="zh-CN" sz="1200" kern="1200" dirty="0" err="1">
                <a:solidFill>
                  <a:schemeClr val="tx1"/>
                </a:solidFill>
                <a:effectLst/>
                <a:latin typeface="+mn-lt"/>
                <a:ea typeface="+mn-ea"/>
                <a:cs typeface="+mn-cs"/>
              </a:rPr>
              <a:t>k</a:t>
            </a:r>
            <a:r>
              <a:rPr lang="en-US" altLang="zh-CN" sz="1200" kern="1200" baseline="-25000" dirty="0" err="1">
                <a:solidFill>
                  <a:schemeClr val="tx1"/>
                </a:solidFill>
                <a:effectLst/>
                <a:latin typeface="+mn-lt"/>
                <a:ea typeface="+mn-ea"/>
                <a:cs typeface="+mn-cs"/>
              </a:rPr>
              <a:t>M</a:t>
            </a:r>
            <a:r>
              <a:rPr lang="en-US" altLang="zh-CN" sz="1200" kern="1200" dirty="0">
                <a:solidFill>
                  <a:schemeClr val="tx1"/>
                </a:solidFill>
                <a:effectLst/>
                <a:latin typeface="+mn-lt"/>
                <a:ea typeface="+mn-ea"/>
                <a:cs typeface="+mn-cs"/>
              </a:rPr>
              <a:t> × G</a:t>
            </a:r>
            <a:r>
              <a:rPr lang="zh-CN" altLang="zh-CN" sz="1200" kern="1200" dirty="0">
                <a:solidFill>
                  <a:schemeClr val="tx1"/>
                </a:solidFill>
                <a:effectLst/>
                <a:latin typeface="+mn-lt"/>
                <a:ea typeface="+mn-ea"/>
                <a:cs typeface="+mn-cs"/>
              </a:rPr>
              <a:t>，分别发送给节点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，并和他们形成共享密钥，而真正的通信节点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却不知情。</a:t>
            </a:r>
          </a:p>
          <a:p>
            <a:r>
              <a:rPr lang="zh-CN" altLang="zh-CN" sz="1200" kern="1200" dirty="0">
                <a:solidFill>
                  <a:schemeClr val="tx1"/>
                </a:solidFill>
                <a:effectLst/>
                <a:latin typeface="+mn-lt"/>
                <a:ea typeface="+mn-ea"/>
                <a:cs typeface="+mn-cs"/>
              </a:rPr>
              <a:t>需要指出的是，以太坊上的节点通信过程虽然基于</a:t>
            </a:r>
            <a:r>
              <a:rPr lang="en-US" altLang="zh-CN" sz="1200" kern="1200" dirty="0">
                <a:solidFill>
                  <a:schemeClr val="tx1"/>
                </a:solidFill>
                <a:effectLst/>
                <a:latin typeface="+mn-lt"/>
                <a:ea typeface="+mn-ea"/>
                <a:cs typeface="+mn-cs"/>
              </a:rPr>
              <a:t>ECDH</a:t>
            </a:r>
            <a:r>
              <a:rPr lang="zh-CN" altLang="zh-CN" sz="1200" kern="1200" dirty="0">
                <a:solidFill>
                  <a:schemeClr val="tx1"/>
                </a:solidFill>
                <a:effectLst/>
                <a:latin typeface="+mn-lt"/>
                <a:ea typeface="+mn-ea"/>
                <a:cs typeface="+mn-cs"/>
              </a:rPr>
              <a:t>算法，但流程更为复杂、安全。</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具体流程可以查阅报告第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页。以太坊上使用</a:t>
            </a:r>
            <a:r>
              <a:rPr lang="en-US" altLang="zh-CN" sz="1200" kern="1200" dirty="0" err="1">
                <a:solidFill>
                  <a:schemeClr val="tx1"/>
                </a:solidFill>
                <a:effectLst/>
                <a:latin typeface="+mn-lt"/>
                <a:ea typeface="+mn-ea"/>
                <a:cs typeface="+mn-cs"/>
              </a:rPr>
              <a:t>RLPx</a:t>
            </a:r>
            <a:r>
              <a:rPr lang="zh-CN" altLang="zh-CN" sz="1200" kern="1200">
                <a:solidFill>
                  <a:schemeClr val="tx1"/>
                </a:solidFill>
                <a:effectLst/>
                <a:latin typeface="+mn-lt"/>
                <a:ea typeface="+mn-ea"/>
                <a:cs typeface="+mn-cs"/>
              </a:rPr>
              <a:t>协议进行通信加密。它实现了完备的前向安全性，也就是说，在每次建立连接时使用不同的临时密钥，即使现有的密钥泄露也不会导致之前信道上的信息被破解。</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由于无法直接应用传统数据库的安全机制——用户管理和存取控制，所以区块链系统主要基于数字签名与验证来确保数字货币的所有权以及交易的不可伪造、不可否认的特性；</a:t>
            </a:r>
          </a:p>
          <a:p>
            <a:r>
              <a:rPr lang="zh-CN" altLang="en-US" dirty="0"/>
              <a:t>以太坊的交易数据中只包含了发送者的ECDSA签名，并不包含发送者的公钥和发送者的地址，因为基于ECDSA签名、原始交易数据和椭圆曲线参数可以恢复出发送者的公钥，然后对公钥进行SHA3哈希运算，即可计算出发送者的账户地址。如果交易受到篡改，计算通过交易哈希值和签名得到的地址便是错误的，即无法通过篡改发送者签名过的交易来攻击发送者的账户。</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在有限域GF（p）上，设计一个六元组T，表示为T=(p,a,b,G,n,h)，六元组T中a,b属于Fp，a和b满足方程y2=x3+ax+b mod p，G=(xG,yG)为椭圆曲线上的基点，并且基点G的阶n是一个大素数整数，T中的h为余因子并且为整数，满足h=#E(Fp)/n。</a:t>
            </a:r>
          </a:p>
          <a:p>
            <a:r>
              <a:t>生成：用私钥对交易数据进行签名，将签名、椭圆曲线参数、交易数据发给接收方</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关于椭圆曲线数字签名的验证过程，我们的输入是椭圆曲线参数组，公钥</a:t>
            </a:r>
            <a:r>
              <a:rPr lang="en-US" altLang="zh-CN" dirty="0"/>
              <a:t>Q</a:t>
            </a:r>
            <a:r>
              <a:rPr lang="zh-CN" altLang="en-US" dirty="0"/>
              <a:t>，消息</a:t>
            </a:r>
            <a:r>
              <a:rPr lang="en-US" altLang="zh-CN" dirty="0"/>
              <a:t>m</a:t>
            </a:r>
            <a:r>
              <a:rPr lang="zh-CN" altLang="en-US" dirty="0"/>
              <a:t>和生成的签名，输出是签名是否合法。</a:t>
            </a:r>
          </a:p>
          <a:p>
            <a:r>
              <a:rPr lang="zh-CN" altLang="en-US" b="1" dirty="0"/>
              <a:t>首先</a:t>
            </a:r>
            <a:r>
              <a:rPr lang="zh-CN" altLang="en-US" dirty="0"/>
              <a:t>我们检验</a:t>
            </a:r>
            <a:r>
              <a:rPr lang="en-US" altLang="zh-CN" dirty="0"/>
              <a:t>r</a:t>
            </a:r>
            <a:r>
              <a:rPr lang="zh-CN" altLang="en-US" dirty="0"/>
              <a:t>和</a:t>
            </a:r>
            <a:r>
              <a:rPr lang="en-US" altLang="zh-CN" dirty="0"/>
              <a:t>s</a:t>
            </a:r>
            <a:r>
              <a:rPr lang="zh-CN" altLang="en-US" dirty="0"/>
              <a:t>是否是属于</a:t>
            </a:r>
            <a:r>
              <a:rPr lang="en-US" altLang="zh-CN" dirty="0"/>
              <a:t>1</a:t>
            </a:r>
            <a:r>
              <a:rPr lang="zh-CN" altLang="en-US" dirty="0"/>
              <a:t>到</a:t>
            </a:r>
            <a:r>
              <a:rPr lang="en-US" altLang="zh-CN" dirty="0"/>
              <a:t>n-1</a:t>
            </a:r>
            <a:r>
              <a:rPr lang="zh-CN" altLang="en-US" dirty="0"/>
              <a:t>区间的整数，如果不是的话直接拒绝签名。</a:t>
            </a:r>
            <a:r>
              <a:rPr lang="zh-CN" altLang="en-US" b="1" dirty="0"/>
              <a:t>之后</a:t>
            </a:r>
            <a:r>
              <a:rPr lang="zh-CN" altLang="en-US" dirty="0"/>
              <a:t>利用哈希函数计算消息</a:t>
            </a:r>
            <a:r>
              <a:rPr lang="en-US" altLang="zh-CN" dirty="0"/>
              <a:t>m</a:t>
            </a:r>
            <a:r>
              <a:rPr lang="zh-CN" altLang="en-US" dirty="0"/>
              <a:t>得到</a:t>
            </a:r>
            <a:r>
              <a:rPr lang="en-US" altLang="zh-CN" dirty="0"/>
              <a:t>e</a:t>
            </a:r>
            <a:r>
              <a:rPr lang="zh-CN" altLang="en-US" dirty="0"/>
              <a:t>。计算</a:t>
            </a:r>
            <a:r>
              <a:rPr lang="en-US" altLang="zh-CN" dirty="0"/>
              <a:t>s</a:t>
            </a:r>
            <a:r>
              <a:rPr lang="zh-CN" altLang="en-US" dirty="0"/>
              <a:t>的逆模</a:t>
            </a:r>
            <a:r>
              <a:rPr lang="en-US" altLang="zh-CN" dirty="0"/>
              <a:t>n</a:t>
            </a:r>
            <a:r>
              <a:rPr lang="zh-CN" altLang="en-US" dirty="0"/>
              <a:t>作为参数</a:t>
            </a:r>
            <a:r>
              <a:rPr lang="en-US" altLang="zh-CN" dirty="0"/>
              <a:t>w</a:t>
            </a:r>
            <a:r>
              <a:rPr lang="zh-CN" altLang="en-US" dirty="0"/>
              <a:t>，</a:t>
            </a:r>
            <a:r>
              <a:rPr lang="zh-CN" altLang="en-US" b="1" dirty="0"/>
              <a:t>再计算</a:t>
            </a:r>
            <a:r>
              <a:rPr lang="zh-CN" altLang="en-US" dirty="0"/>
              <a:t>参数</a:t>
            </a:r>
            <a:r>
              <a:rPr lang="en-US" altLang="zh-CN" dirty="0"/>
              <a:t>u1</a:t>
            </a:r>
            <a:r>
              <a:rPr lang="zh-CN" altLang="en-US" dirty="0"/>
              <a:t>和</a:t>
            </a:r>
            <a:r>
              <a:rPr lang="en-US" altLang="zh-CN" dirty="0"/>
              <a:t>u2</a:t>
            </a:r>
            <a:r>
              <a:rPr lang="zh-CN" altLang="en-US" dirty="0"/>
              <a:t>，新的坐标点</a:t>
            </a:r>
            <a:r>
              <a:rPr lang="en-US" altLang="zh-CN" dirty="0"/>
              <a:t>X</a:t>
            </a:r>
            <a:r>
              <a:rPr lang="zh-CN" altLang="en-US" dirty="0"/>
              <a:t>是</a:t>
            </a:r>
            <a:r>
              <a:rPr lang="en-US" altLang="zh-CN" dirty="0"/>
              <a:t>u1</a:t>
            </a:r>
            <a:r>
              <a:rPr lang="zh-CN" altLang="en-US" dirty="0"/>
              <a:t>乘基点</a:t>
            </a:r>
            <a:r>
              <a:rPr lang="en-US" altLang="zh-CN" dirty="0"/>
              <a:t>G</a:t>
            </a:r>
            <a:r>
              <a:rPr lang="zh-CN" altLang="en-US" dirty="0"/>
              <a:t>加</a:t>
            </a:r>
            <a:r>
              <a:rPr lang="en-US" altLang="zh-CN" dirty="0"/>
              <a:t>u2</a:t>
            </a:r>
            <a:r>
              <a:rPr lang="zh-CN" altLang="en-US" dirty="0"/>
              <a:t>乘公钥。如果新的坐标点为无穷远点则拒绝签名，反之我们将</a:t>
            </a:r>
            <a:r>
              <a:rPr lang="en-US" altLang="zh-CN" dirty="0"/>
              <a:t>X</a:t>
            </a:r>
            <a:r>
              <a:rPr lang="zh-CN" altLang="en-US" dirty="0"/>
              <a:t>的横坐标取整得到</a:t>
            </a:r>
            <a:r>
              <a:rPr lang="en-US" altLang="zh-CN" dirty="0"/>
              <a:t>x1</a:t>
            </a:r>
            <a:r>
              <a:rPr lang="zh-CN" altLang="en-US" dirty="0"/>
              <a:t>。如果</a:t>
            </a:r>
            <a:r>
              <a:rPr lang="en-US" altLang="zh-CN" dirty="0"/>
              <a:t>x1</a:t>
            </a:r>
            <a:r>
              <a:rPr lang="zh-CN" altLang="en-US" dirty="0"/>
              <a:t>模</a:t>
            </a:r>
            <a:r>
              <a:rPr lang="en-US" altLang="zh-CN" dirty="0"/>
              <a:t>n</a:t>
            </a:r>
            <a:r>
              <a:rPr lang="zh-CN" altLang="en-US" dirty="0"/>
              <a:t>的值与</a:t>
            </a:r>
            <a:r>
              <a:rPr lang="en-US" altLang="zh-CN" dirty="0"/>
              <a:t>r</a:t>
            </a:r>
            <a:r>
              <a:rPr lang="zh-CN" altLang="en-US" dirty="0"/>
              <a:t>相等，</a:t>
            </a:r>
            <a:r>
              <a:rPr lang="zh-CN" altLang="en-US" b="1" dirty="0"/>
              <a:t>则说明签名合法</a:t>
            </a:r>
            <a:r>
              <a:rPr lang="zh-CN" altLang="en-US" dirty="0"/>
              <a:t>。</a:t>
            </a:r>
          </a:p>
          <a:p>
            <a:r>
              <a:rPr lang="zh-CN" altLang="en-US" dirty="0"/>
              <a:t>可以将其作为接受签名的原因是，如果</a:t>
            </a:r>
            <a:r>
              <a:rPr lang="en-US" altLang="zh-CN" dirty="0"/>
              <a:t>m</a:t>
            </a:r>
            <a:r>
              <a:rPr lang="zh-CN" altLang="en-US" dirty="0"/>
              <a:t>的签名合法，则我们知道，</a:t>
            </a:r>
            <a:r>
              <a:rPr lang="en-US" altLang="zh-CN" dirty="0"/>
              <a:t>s</a:t>
            </a:r>
            <a:r>
              <a:rPr lang="zh-CN" altLang="en-US" dirty="0"/>
              <a:t>是由消息</a:t>
            </a:r>
            <a:r>
              <a:rPr lang="en-US" altLang="zh-CN" dirty="0"/>
              <a:t>m</a:t>
            </a:r>
            <a:r>
              <a:rPr lang="zh-CN" altLang="en-US" dirty="0"/>
              <a:t>的哈希值加上私钥乘</a:t>
            </a:r>
            <a:r>
              <a:rPr lang="en-US" altLang="zh-CN" dirty="0"/>
              <a:t>r</a:t>
            </a:r>
            <a:r>
              <a:rPr lang="zh-CN" altLang="en-US" dirty="0"/>
              <a:t>再与随机数</a:t>
            </a:r>
            <a:r>
              <a:rPr lang="en-US" altLang="zh-CN" dirty="0"/>
              <a:t>k</a:t>
            </a:r>
            <a:r>
              <a:rPr lang="zh-CN" altLang="en-US" dirty="0"/>
              <a:t>相乘模</a:t>
            </a:r>
            <a:r>
              <a:rPr lang="en-US" altLang="zh-CN" dirty="0"/>
              <a:t>n</a:t>
            </a:r>
            <a:r>
              <a:rPr lang="zh-CN" altLang="en-US" dirty="0"/>
              <a:t>得到的。将</a:t>
            </a:r>
            <a:r>
              <a:rPr lang="en-US" altLang="zh-CN" dirty="0"/>
              <a:t>k</a:t>
            </a:r>
            <a:r>
              <a:rPr lang="zh-CN" altLang="en-US" dirty="0"/>
              <a:t>移到等式左边可得新式子，整理便知随机整数</a:t>
            </a:r>
            <a:r>
              <a:rPr lang="en-US" altLang="zh-CN" dirty="0"/>
              <a:t>k</a:t>
            </a:r>
            <a:r>
              <a:rPr lang="zh-CN" altLang="en-US" dirty="0"/>
              <a:t>即</a:t>
            </a:r>
            <a:r>
              <a:rPr lang="en-US" altLang="zh-CN" dirty="0"/>
              <a:t>u1+u2d</a:t>
            </a:r>
            <a:r>
              <a:rPr lang="zh-CN" altLang="en-US" dirty="0"/>
              <a:t>。那么新的坐标点</a:t>
            </a:r>
            <a:r>
              <a:rPr lang="en-US" altLang="zh-CN" dirty="0"/>
              <a:t>X</a:t>
            </a:r>
            <a:r>
              <a:rPr lang="zh-CN" altLang="en-US" dirty="0"/>
              <a:t>也就是</a:t>
            </a:r>
            <a:r>
              <a:rPr lang="en-US" altLang="zh-CN" dirty="0"/>
              <a:t>k</a:t>
            </a:r>
            <a:r>
              <a:rPr lang="zh-CN" altLang="en-US" dirty="0"/>
              <a:t>个基点相加，</a:t>
            </a:r>
            <a:r>
              <a:rPr lang="zh-CN" dirty="0"/>
              <a:t>其</a:t>
            </a:r>
            <a:r>
              <a:rPr lang="zh-CN" altLang="en-US" dirty="0"/>
              <a:t>横坐标与</a:t>
            </a:r>
            <a:r>
              <a:rPr lang="en-US" altLang="zh-CN" dirty="0"/>
              <a:t>r</a:t>
            </a:r>
            <a:r>
              <a:rPr lang="zh-CN" altLang="en-US" dirty="0"/>
              <a:t>相等。</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签名验证过程可以通过压缩多个签名或者将多个签名的验证等式聚合来降低验证成本和提高验证效率，这正是下文中提到的聚合签名和批验证的作用。而组测试则是针对批验证中发现的错误批次进行筛选和剔除其中的无效签名。</a:t>
            </a:r>
          </a:p>
          <a:p>
            <a:r>
              <a:rPr dirty="0" err="1"/>
              <a:t>签名聚合算法能够将来自多个用户的n条消息聚合成一个短签名。因此，签名验证的数量可以从</a:t>
            </a:r>
            <a:r>
              <a:rPr dirty="0"/>
              <a:t> n </a:t>
            </a:r>
            <a:r>
              <a:rPr dirty="0" err="1"/>
              <a:t>减少到</a:t>
            </a:r>
            <a:r>
              <a:rPr dirty="0"/>
              <a:t> 1。聚合签名可以有效降低存储空间和验证过程中网络流量成本，尤其对签名频次较低但验证频次较高的业务场景有显著效果。但是，聚合签名方案更侧重于压缩签名和公钥的大小，而不是提高签名的验证效率。</a:t>
            </a:r>
          </a:p>
          <a:p>
            <a:r>
              <a:rPr dirty="0"/>
              <a:t>在批验证思想中，n个消息将被作为一个整体执行签名代替了逐个对每个消息执行签名，从而可以将n次签名运算减少到1次签名运算。如果计算结果相等，则这批ECDSA签名合法，反之这批ECDSA签名中包含至少一个无效签名。</a:t>
            </a:r>
          </a:p>
          <a:p>
            <a:r>
              <a:rPr dirty="0"/>
              <a:t>为什么会有无效签名：在公有链中，任何节点都可以加入区块链网络，这其中也包括恶意攻击者。加入公有链的恶意节点可以使用带有伪造签名的虚假交易淹没网络，并发起拒绝服务 (</a:t>
            </a:r>
            <a:r>
              <a:rPr dirty="0" err="1"/>
              <a:t>DoS</a:t>
            </a:r>
            <a:r>
              <a:rPr dirty="0"/>
              <a:t>) </a:t>
            </a:r>
            <a:r>
              <a:rPr dirty="0" err="1"/>
              <a:t>攻击以延迟合法交易服务。海量无效签名的验证占用了节点大量的计算资源</a:t>
            </a:r>
            <a:r>
              <a:rPr dirty="0"/>
              <a:t>。</a:t>
            </a:r>
          </a:p>
          <a:p>
            <a:r>
              <a:rPr dirty="0"/>
              <a:t>组测试不断的将错误批次递归执行拆分批验证，最后可以剔除所有的无效签名。组测试算法可用二叉树结构形象化表示，如图所示。二叉树顶层的根节点包含所有待识别的ECDSA签名，而其下一层的每个子节点分别包含根节点的一半签名。遵循此规律，二叉树可以被不断递归拆分，直到叶子节点中只包含一个签名或此节点包含的签名批验证结果为真。</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总结来看，我们介绍了区块链与</a:t>
            </a:r>
            <a:r>
              <a:rPr lang="en-US" altLang="zh-CN" dirty="0"/>
              <a:t>P2P</a:t>
            </a:r>
            <a:r>
              <a:rPr lang="zh-CN" altLang="en-US" dirty="0"/>
              <a:t>网络的背景，结合最新研究与应用阐述了以太坊中节点网络的构建，讲解了节点加密通信，用户交易验证等方案与过程。我们也提出了以下几点思考。</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以太坊中的</a:t>
            </a:r>
            <a:r>
              <a:rPr b="1" dirty="0"/>
              <a:t>网络安全</a:t>
            </a:r>
            <a:r>
              <a:rPr dirty="0"/>
              <a:t>，核心在于由UDP和TCP协议构成的P2P网络</a:t>
            </a:r>
            <a:r>
              <a:rPr lang="zh-CN" dirty="0"/>
              <a:t>，由于其去中心的分布式架构和公有链无准入要求的特点，以太坊在安全方面存在劣势，而我们认为目前深度学习与P2P网络的结合仍不够深入，能动性更强的AI for science可能是推动深度学习与P2P网络深度融合的可行方案。</a:t>
            </a:r>
          </a:p>
          <a:p>
            <a:r>
              <a:rPr lang="zh-CN" altLang="en-US" dirty="0">
                <a:sym typeface="+mn-ea"/>
              </a:rPr>
              <a:t>每一笔在以太坊发起的</a:t>
            </a:r>
            <a:r>
              <a:rPr lang="zh-CN" altLang="en-US" b="1" dirty="0">
                <a:sym typeface="+mn-ea"/>
              </a:rPr>
              <a:t>交易</a:t>
            </a:r>
            <a:r>
              <a:rPr lang="zh-CN" altLang="en-US" dirty="0">
                <a:sym typeface="+mn-ea"/>
              </a:rPr>
              <a:t>，它的过程都会被全网广播让所有节点验证。这样虽然保证了每笔交易的安全性，但是也给用户造成很大的</a:t>
            </a:r>
            <a:r>
              <a:rPr lang="zh-CN" altLang="en-US" b="1" dirty="0">
                <a:sym typeface="+mn-ea"/>
              </a:rPr>
              <a:t>隐私问题</a:t>
            </a:r>
            <a:r>
              <a:rPr lang="zh-CN" altLang="en-US" dirty="0">
                <a:sym typeface="+mn-ea"/>
              </a:rPr>
              <a:t>。从密码学的角度，</a:t>
            </a:r>
            <a:r>
              <a:rPr lang="zh-CN" altLang="en-US" b="1" dirty="0">
                <a:sym typeface="+mn-ea"/>
              </a:rPr>
              <a:t>零知识证明</a:t>
            </a:r>
            <a:r>
              <a:rPr lang="zh-CN" altLang="en-US" dirty="0">
                <a:sym typeface="+mn-ea"/>
              </a:rPr>
              <a:t>可以在无需泄露数据本身情况下证明某些数据运算。当一笔交易引入零知识证明，仅交易的双方知道交易具体信息，而其他区块链节点查看的数据只能验证交易的有效性和金额的正确性，但不能得到交易双方和交易金额等其他信息。</a:t>
            </a:r>
            <a:r>
              <a:rPr lang="zh-CN" altLang="en-US" b="1" dirty="0">
                <a:sym typeface="+mn-ea"/>
              </a:rPr>
              <a:t>环签名技术</a:t>
            </a:r>
            <a:r>
              <a:rPr lang="zh-CN" altLang="en-US" dirty="0">
                <a:sym typeface="+mn-ea"/>
              </a:rPr>
              <a:t>可视为一种弱化的零知识证明，它是一种特殊的群签名组成的协议。在其中，你需要证明的是，你拥有着这组群签名中的任意一个签名的签署权，但别人只知道你是成员之一 ，却不知道这组环签名代表的资产具体的持有者是谁。</a:t>
            </a:r>
          </a:p>
          <a:p>
            <a:endParaRPr lang="zh-CN" altLang="en-US" dirty="0"/>
          </a:p>
          <a:p>
            <a:endParaRPr 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现阶段，我们处在Web2.0时代，Web3.0还处于早期阶段，以太坊正是Web3.0的一个组成部分。通过对前沿研究的总结梳理，本文说明了以太坊在节点加密与用户交易验证层面的安全优势，也指出了其安全性仍有较大进步空间。我们期待在未来，Web3.0可以通过分布式存储保护数据安全、数据隐私和用户的数据所有权，让用户拥有一个更加智能化、个性化的互联网时代。</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2023/1/6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1671651"/>
            <a:ext cx="12209296" cy="2877923"/>
          </a:xfrm>
          <a:prstGeom prst="rect">
            <a:avLst/>
          </a:prstGeom>
        </p:spPr>
      </p:pic>
      <p:sp>
        <p:nvSpPr>
          <p:cNvPr id="8" name="矩形 7"/>
          <p:cNvSpPr/>
          <p:nvPr/>
        </p:nvSpPr>
        <p:spPr>
          <a:xfrm>
            <a:off x="0" y="1671652"/>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69728" y="2567301"/>
            <a:ext cx="10967720" cy="922020"/>
          </a:xfrm>
          <a:prstGeom prst="rect">
            <a:avLst/>
          </a:prstGeom>
          <a:noFill/>
        </p:spPr>
        <p:txBody>
          <a:bodyPr wrap="square" rtlCol="0">
            <a:spAutoFit/>
          </a:bodyPr>
          <a:lstStyle/>
          <a:p>
            <a:pPr algn="dist"/>
            <a:r>
              <a:rPr sz="5400" b="1" dirty="0" err="1" smtClean="0">
                <a:solidFill>
                  <a:schemeClr val="bg1">
                    <a:lumMod val="95000"/>
                  </a:schemeClr>
                </a:solidFill>
                <a:latin typeface="微软雅黑" panose="020B0503020204020204" pitchFamily="34" charset="-122"/>
                <a:ea typeface="微软雅黑" panose="020B0503020204020204" pitchFamily="34" charset="-122"/>
              </a:rPr>
              <a:t>以太坊中的网络通信与交易安全</a:t>
            </a:r>
            <a:endParaRPr sz="5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6" name="TextBox 10"/>
          <p:cNvSpPr txBox="1"/>
          <p:nvPr/>
        </p:nvSpPr>
        <p:spPr>
          <a:xfrm>
            <a:off x="2565806" y="3907546"/>
            <a:ext cx="7060388" cy="520700"/>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en-US" altLang="zh-CN" sz="2800" dirty="0">
                <a:solidFill>
                  <a:schemeClr val="bg1">
                    <a:lumMod val="95000"/>
                  </a:schemeClr>
                </a:solidFill>
                <a:latin typeface="Times New Roman" panose="02020603050405020304" charset="0"/>
                <a:ea typeface="微软雅黑" panose="020B0503020204020204" pitchFamily="34" charset="-122"/>
                <a:cs typeface="Times New Roman" panose="02020603050405020304" charset="0"/>
              </a:rPr>
              <a:t>2022.12.14</a:t>
            </a:r>
          </a:p>
        </p:txBody>
      </p:sp>
      <p:sp>
        <p:nvSpPr>
          <p:cNvPr id="13" name="TextBox 6"/>
          <p:cNvSpPr txBox="1"/>
          <p:nvPr/>
        </p:nvSpPr>
        <p:spPr>
          <a:xfrm>
            <a:off x="1243310" y="4853719"/>
            <a:ext cx="309626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14723"/>
                </a:solidFill>
                <a:latin typeface="微软雅黑" panose="020B0503020204020204" pitchFamily="34" charset="-122"/>
                <a:ea typeface="微软雅黑" panose="020B0503020204020204" pitchFamily="34" charset="-122"/>
              </a:rPr>
              <a:t>答辩人</a:t>
            </a:r>
            <a:r>
              <a:rPr lang="zh-CN" altLang="en-US" dirty="0">
                <a:solidFill>
                  <a:srgbClr val="014723"/>
                </a:solidFill>
                <a:latin typeface="微软雅黑" panose="020B0503020204020204" pitchFamily="34" charset="-122"/>
                <a:ea typeface="微软雅黑" panose="020B0503020204020204" pitchFamily="34" charset="-122"/>
              </a:rPr>
              <a:t>：</a:t>
            </a:r>
            <a:r>
              <a:rPr lang="en-US" altLang="zh-CN" dirty="0">
                <a:solidFill>
                  <a:srgbClr val="014723"/>
                </a:solidFill>
                <a:latin typeface="微软雅黑" panose="020B0503020204020204" pitchFamily="34" charset="-122"/>
                <a:ea typeface="微软雅黑" panose="020B0503020204020204" pitchFamily="34" charset="-122"/>
              </a:rPr>
              <a:t>   </a:t>
            </a:r>
            <a:r>
              <a:rPr lang="zh-CN" altLang="en-US" dirty="0">
                <a:solidFill>
                  <a:srgbClr val="014723"/>
                </a:solidFill>
                <a:latin typeface="微软雅黑" panose="020B0503020204020204" pitchFamily="34" charset="-122"/>
                <a:ea typeface="微软雅黑" panose="020B0503020204020204" pitchFamily="34" charset="-122"/>
              </a:rPr>
              <a:t>冯雁霞</a:t>
            </a:r>
            <a:r>
              <a:rPr lang="en-US" altLang="zh-CN" dirty="0">
                <a:solidFill>
                  <a:srgbClr val="014723"/>
                </a:solidFill>
                <a:latin typeface="微软雅黑" panose="020B0503020204020204" pitchFamily="34" charset="-122"/>
                <a:ea typeface="微软雅黑" panose="020B0503020204020204" pitchFamily="34" charset="-122"/>
              </a:rPr>
              <a:t>  </a:t>
            </a:r>
            <a:r>
              <a:rPr lang="zh-CN" altLang="en-US" dirty="0">
                <a:solidFill>
                  <a:srgbClr val="014723"/>
                </a:solidFill>
                <a:latin typeface="微软雅黑" panose="020B0503020204020204" pitchFamily="34" charset="-122"/>
                <a:ea typeface="微软雅黑" panose="020B0503020204020204" pitchFamily="34" charset="-122"/>
              </a:rPr>
              <a:t>钟珊珊</a:t>
            </a:r>
          </a:p>
        </p:txBody>
      </p:sp>
      <p:sp>
        <p:nvSpPr>
          <p:cNvPr id="14" name="TextBox 7"/>
          <p:cNvSpPr txBox="1"/>
          <p:nvPr/>
        </p:nvSpPr>
        <p:spPr>
          <a:xfrm>
            <a:off x="1233167" y="5390294"/>
            <a:ext cx="5816600" cy="1013460"/>
          </a:xfrm>
          <a:prstGeom prst="rect">
            <a:avLst/>
          </a:prstGeom>
          <a:noFill/>
        </p:spPr>
        <p:txBody>
          <a:bodyPr wrap="none" lIns="91416" tIns="45708" rIns="91416" bIns="45708" rtlCol="0">
            <a:spAutoFit/>
          </a:bodyPr>
          <a:lstStyle/>
          <a:p>
            <a:pPr algn="l">
              <a:lnSpc>
                <a:spcPct val="150000"/>
              </a:lnSpc>
            </a:pPr>
            <a:r>
              <a:rPr lang="zh-CN" altLang="en-US" sz="2000" b="1" dirty="0">
                <a:solidFill>
                  <a:srgbClr val="014723"/>
                </a:solidFill>
                <a:latin typeface="微软雅黑" panose="020B0503020204020204" pitchFamily="34" charset="-122"/>
                <a:ea typeface="微软雅黑" panose="020B0503020204020204" pitchFamily="34" charset="-122"/>
              </a:rPr>
              <a:t>小组成员</a:t>
            </a:r>
            <a:r>
              <a:rPr lang="zh-CN" altLang="en-US" sz="2000" dirty="0">
                <a:solidFill>
                  <a:srgbClr val="014723"/>
                </a:solidFill>
                <a:latin typeface="微软雅黑" panose="020B0503020204020204" pitchFamily="34" charset="-122"/>
                <a:ea typeface="微软雅黑" panose="020B0503020204020204" pitchFamily="34" charset="-122"/>
              </a:rPr>
              <a:t>：</a:t>
            </a:r>
            <a:r>
              <a:rPr lang="zh-CN" altLang="en-US" sz="2000" dirty="0">
                <a:solidFill>
                  <a:srgbClr val="014723"/>
                </a:solidFill>
                <a:latin typeface="微软雅黑" panose="020B0503020204020204" pitchFamily="34" charset="-122"/>
                <a:ea typeface="微软雅黑" panose="020B0503020204020204" pitchFamily="34" charset="-122"/>
                <a:sym typeface="+mn-ea"/>
              </a:rPr>
              <a:t>冯雁霞</a:t>
            </a:r>
            <a:r>
              <a:rPr lang="en-US" altLang="zh-CN" sz="2000" dirty="0">
                <a:solidFill>
                  <a:srgbClr val="014723"/>
                </a:solidFill>
                <a:latin typeface="微软雅黑" panose="020B0503020204020204" pitchFamily="34" charset="-122"/>
                <a:ea typeface="微软雅黑" panose="020B0503020204020204" pitchFamily="34" charset="-122"/>
                <a:sym typeface="+mn-ea"/>
              </a:rPr>
              <a:t>  22214447  </a:t>
            </a:r>
            <a:r>
              <a:rPr lang="zh-CN" altLang="en-US" sz="2000" dirty="0">
                <a:solidFill>
                  <a:srgbClr val="014723"/>
                </a:solidFill>
                <a:latin typeface="微软雅黑" panose="020B0503020204020204" pitchFamily="34" charset="-122"/>
                <a:ea typeface="微软雅黑" panose="020B0503020204020204" pitchFamily="34" charset="-122"/>
                <a:sym typeface="+mn-ea"/>
              </a:rPr>
              <a:t>钟珊珊</a:t>
            </a:r>
            <a:r>
              <a:rPr lang="en-US" altLang="zh-CN" sz="2000" dirty="0">
                <a:solidFill>
                  <a:srgbClr val="014723"/>
                </a:solidFill>
                <a:latin typeface="微软雅黑" panose="020B0503020204020204" pitchFamily="34" charset="-122"/>
                <a:ea typeface="微软雅黑" panose="020B0503020204020204" pitchFamily="34" charset="-122"/>
                <a:sym typeface="+mn-ea"/>
              </a:rPr>
              <a:t>  22214624</a:t>
            </a:r>
          </a:p>
          <a:p>
            <a:pPr algn="l">
              <a:lnSpc>
                <a:spcPct val="150000"/>
              </a:lnSpc>
            </a:pPr>
            <a:r>
              <a:rPr lang="en-US" altLang="zh-CN" sz="2000" dirty="0">
                <a:solidFill>
                  <a:srgbClr val="014723"/>
                </a:solidFill>
                <a:latin typeface="微软雅黑" panose="020B0503020204020204" pitchFamily="34" charset="-122"/>
                <a:ea typeface="微软雅黑" panose="020B0503020204020204" pitchFamily="34" charset="-122"/>
                <a:sym typeface="+mn-ea"/>
              </a:rPr>
              <a:t>                 </a:t>
            </a:r>
            <a:r>
              <a:rPr lang="zh-CN" altLang="en-US" sz="2000" dirty="0">
                <a:solidFill>
                  <a:srgbClr val="014723"/>
                </a:solidFill>
                <a:latin typeface="微软雅黑" panose="020B0503020204020204" pitchFamily="34" charset="-122"/>
                <a:ea typeface="微软雅黑" panose="020B0503020204020204" pitchFamily="34" charset="-122"/>
                <a:sym typeface="+mn-ea"/>
              </a:rPr>
              <a:t>刘小慧</a:t>
            </a:r>
            <a:r>
              <a:rPr lang="en-US" altLang="zh-CN" sz="2000" dirty="0">
                <a:solidFill>
                  <a:srgbClr val="014723"/>
                </a:solidFill>
                <a:latin typeface="微软雅黑" panose="020B0503020204020204" pitchFamily="34" charset="-122"/>
                <a:ea typeface="微软雅黑" panose="020B0503020204020204" pitchFamily="34" charset="-122"/>
                <a:sym typeface="+mn-ea"/>
              </a:rPr>
              <a:t>  22214506  </a:t>
            </a:r>
            <a:r>
              <a:rPr lang="zh-CN" altLang="en-US" sz="2000" dirty="0">
                <a:solidFill>
                  <a:srgbClr val="014723"/>
                </a:solidFill>
                <a:latin typeface="微软雅黑" panose="020B0503020204020204" pitchFamily="34" charset="-122"/>
                <a:ea typeface="微软雅黑" panose="020B0503020204020204" pitchFamily="34" charset="-122"/>
                <a:sym typeface="+mn-ea"/>
              </a:rPr>
              <a:t>田晨阳</a:t>
            </a:r>
            <a:r>
              <a:rPr lang="en-US" altLang="zh-CN" sz="2000" dirty="0">
                <a:solidFill>
                  <a:srgbClr val="014723"/>
                </a:solidFill>
                <a:latin typeface="微软雅黑" panose="020B0503020204020204" pitchFamily="34" charset="-122"/>
                <a:ea typeface="微软雅黑" panose="020B0503020204020204" pitchFamily="34" charset="-122"/>
                <a:sym typeface="+mn-ea"/>
              </a:rPr>
              <a:t>  22214547</a:t>
            </a:r>
          </a:p>
        </p:txBody>
      </p:sp>
      <p:sp>
        <p:nvSpPr>
          <p:cNvPr id="11" name="Freeform 7"/>
          <p:cNvSpPr>
            <a:spLocks noChangeAspect="1" noEditPoints="1"/>
          </p:cNvSpPr>
          <p:nvPr/>
        </p:nvSpPr>
        <p:spPr bwMode="auto">
          <a:xfrm>
            <a:off x="683303" y="481936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683225" y="54467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14723"/>
          </a:solidFill>
          <a:ln>
            <a:noFill/>
          </a:ln>
        </p:spPr>
        <p:txBody>
          <a:bodyPr vert="horz" wrap="square" lIns="91416" tIns="45708" rIns="91416" bIns="45708" numCol="1" anchor="t" anchorCtr="0" compatLnSpc="1"/>
          <a:lstStyle/>
          <a:p>
            <a:endParaRPr lang="zh-CN" altLang="en-US" sz="2800">
              <a:solidFill>
                <a:srgbClr val="C00000"/>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333912"/>
            <a:ext cx="3433000" cy="1072662"/>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1</a:t>
            </a:fld>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3300"/>
              </a:solidFill>
            </a:endParaRPr>
          </a:p>
        </p:txBody>
      </p:sp>
      <p:sp>
        <p:nvSpPr>
          <p:cNvPr id="2" name="圆角矩形 1"/>
          <p:cNvSpPr/>
          <p:nvPr/>
        </p:nvSpPr>
        <p:spPr>
          <a:xfrm>
            <a:off x="-1556426" y="1998319"/>
            <a:ext cx="5261917" cy="2861362"/>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642044" y="120457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642044" y="217250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642044" y="314042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642044" y="410835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642044" y="5076279"/>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6746944" y="120457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引言背景</a:t>
            </a:r>
          </a:p>
        </p:txBody>
      </p:sp>
      <p:sp>
        <p:nvSpPr>
          <p:cNvPr id="60" name="圆角矩形 59"/>
          <p:cNvSpPr/>
          <p:nvPr/>
        </p:nvSpPr>
        <p:spPr>
          <a:xfrm>
            <a:off x="6746944" y="217250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以太坊节点网络构建</a:t>
            </a:r>
          </a:p>
        </p:txBody>
      </p:sp>
      <p:sp>
        <p:nvSpPr>
          <p:cNvPr id="61" name="圆角矩形 60"/>
          <p:cNvSpPr/>
          <p:nvPr/>
        </p:nvSpPr>
        <p:spPr>
          <a:xfrm>
            <a:off x="6746944" y="314042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以太坊节点加密通信</a:t>
            </a:r>
          </a:p>
        </p:txBody>
      </p:sp>
      <p:sp>
        <p:nvSpPr>
          <p:cNvPr id="62" name="圆角矩形 61"/>
          <p:cNvSpPr/>
          <p:nvPr/>
        </p:nvSpPr>
        <p:spPr>
          <a:xfrm>
            <a:off x="6746944" y="410835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以太坊用户交易验证</a:t>
            </a:r>
          </a:p>
        </p:txBody>
      </p:sp>
      <p:sp>
        <p:nvSpPr>
          <p:cNvPr id="63" name="圆角矩形 62"/>
          <p:cNvSpPr/>
          <p:nvPr/>
        </p:nvSpPr>
        <p:spPr>
          <a:xfrm>
            <a:off x="6746944" y="5076279"/>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总结思考</a:t>
            </a:r>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sp>
        <p:nvSpPr>
          <p:cNvPr id="4" name="灯片编号占位符 3"/>
          <p:cNvSpPr>
            <a:spLocks noGrp="1"/>
          </p:cNvSpPr>
          <p:nvPr>
            <p:ph type="sldNum" sz="quarter" idx="12"/>
          </p:nvPr>
        </p:nvSpPr>
        <p:spPr/>
        <p:txBody>
          <a:bodyPr/>
          <a:lstStyle/>
          <a:p>
            <a:fld id="{A8537B7A-7510-410A-AA53-45D600DA0276}" type="slidenum">
              <a:rPr lang="zh-CN" altLang="en-US" smtClean="0"/>
              <a:t>2</a:t>
            </a:fld>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引言背景</a:t>
            </a: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Part.01</a:t>
            </a:r>
          </a:p>
        </p:txBody>
      </p:sp>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3</a:t>
            </a:fld>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961005" cy="38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104381" y="1121882"/>
            <a:ext cx="2689225"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区块链平台</a:t>
            </a:r>
          </a:p>
        </p:txBody>
      </p:sp>
      <p:pic>
        <p:nvPicPr>
          <p:cNvPr id="66" name="图片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4" name="图片 3"/>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1196569" y="3372709"/>
            <a:ext cx="5355081" cy="1215087"/>
          </a:xfrm>
          <a:prstGeom prst="rect">
            <a:avLst/>
          </a:prstGeom>
        </p:spPr>
      </p:pic>
      <p:sp>
        <p:nvSpPr>
          <p:cNvPr id="3" name="内容占位符 2"/>
          <p:cNvSpPr>
            <a:spLocks noGrp="1"/>
          </p:cNvSpPr>
          <p:nvPr/>
        </p:nvSpPr>
        <p:spPr>
          <a:xfrm>
            <a:off x="596719" y="1561141"/>
            <a:ext cx="11116887" cy="17043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sz="2000"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以太坊是目前最流行的区块链平台之一</a:t>
            </a:r>
            <a:r>
              <a:rPr lang="zh-CN" altLang="en-US" sz="2000" spc="1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spc="1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buFont typeface="Wingdings" panose="05000000000000000000" charset="0"/>
              <a:buChar char="p"/>
            </a:pPr>
            <a:r>
              <a:rPr lang="en-US" altLang="zh-CN" sz="2000"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区块链技术是一种全新的去中心化基础架构与分布式计算范式。</a:t>
            </a:r>
          </a:p>
        </p:txBody>
      </p:sp>
      <p:sp>
        <p:nvSpPr>
          <p:cNvPr id="5" name="菱形 4"/>
          <p:cNvSpPr/>
          <p:nvPr/>
        </p:nvSpPr>
        <p:spPr>
          <a:xfrm>
            <a:off x="1135621" y="2700177"/>
            <a:ext cx="355600" cy="355600"/>
          </a:xfrm>
          <a:prstGeom prst="diamond">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菱形 5"/>
          <p:cNvSpPr/>
          <p:nvPr/>
        </p:nvSpPr>
        <p:spPr>
          <a:xfrm>
            <a:off x="1135346" y="4918702"/>
            <a:ext cx="355600" cy="355600"/>
          </a:xfrm>
          <a:prstGeom prst="diamond">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菱形 6"/>
          <p:cNvSpPr/>
          <p:nvPr/>
        </p:nvSpPr>
        <p:spPr>
          <a:xfrm>
            <a:off x="1135346" y="5633249"/>
            <a:ext cx="355600" cy="355600"/>
          </a:xfrm>
          <a:prstGeom prst="diamond">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625841" y="2688161"/>
            <a:ext cx="5249545" cy="368300"/>
          </a:xfrm>
          <a:prstGeom prst="rect">
            <a:avLst/>
          </a:prstGeom>
          <a:noFill/>
        </p:spPr>
        <p:txBody>
          <a:bodyPr wrap="square" rtlCol="0">
            <a:spAutoFit/>
          </a:bodyPr>
          <a:lstStyle/>
          <a:p>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利用加密链式区块结构来</a:t>
            </a:r>
            <a:r>
              <a:rPr lang="zh-CN" altLang="en-US"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验证与存储</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数据</a:t>
            </a:r>
          </a:p>
        </p:txBody>
      </p:sp>
      <p:sp>
        <p:nvSpPr>
          <p:cNvPr id="10" name="文本框 9"/>
          <p:cNvSpPr txBox="1"/>
          <p:nvPr/>
        </p:nvSpPr>
        <p:spPr>
          <a:xfrm>
            <a:off x="1625840" y="5620549"/>
            <a:ext cx="5782877" cy="369332"/>
          </a:xfrm>
          <a:prstGeom prst="rect">
            <a:avLst/>
          </a:prstGeom>
          <a:noFill/>
        </p:spPr>
        <p:txBody>
          <a:bodyPr wrap="square" rtlCol="0">
            <a:spAutoFit/>
          </a:bodyPr>
          <a:lstStyle/>
          <a:p>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用户交易成功认证后，使用广播的方式</a:t>
            </a:r>
            <a:r>
              <a:rPr lang="zh-CN" altLang="en-US"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传播交易信息</a:t>
            </a:r>
          </a:p>
        </p:txBody>
      </p:sp>
      <p:sp>
        <p:nvSpPr>
          <p:cNvPr id="12" name="灯片编号占位符 11"/>
          <p:cNvSpPr>
            <a:spLocks noGrp="1"/>
          </p:cNvSpPr>
          <p:nvPr>
            <p:ph type="sldNum" sz="quarter" idx="12"/>
          </p:nvPr>
        </p:nvSpPr>
        <p:spPr/>
        <p:txBody>
          <a:bodyPr/>
          <a:lstStyle/>
          <a:p>
            <a:fld id="{A8537B7A-7510-410A-AA53-45D600DA0276}" type="slidenum">
              <a:rPr lang="zh-CN" altLang="en-US" smtClean="0"/>
              <a:t>4</a:t>
            </a:fld>
            <a:endParaRPr lang="zh-CN" altLang="en-US" dirty="0"/>
          </a:p>
        </p:txBody>
      </p:sp>
      <p:sp>
        <p:nvSpPr>
          <p:cNvPr id="33" name="文本框 32">
            <a:extLst>
              <a:ext uri="{FF2B5EF4-FFF2-40B4-BE49-F238E27FC236}">
                <a16:creationId xmlns:a16="http://schemas.microsoft.com/office/drawing/2014/main" id="{D09A3F8A-1B31-490D-90BE-8F1B72A6F074}"/>
              </a:ext>
            </a:extLst>
          </p:cNvPr>
          <p:cNvSpPr txBox="1"/>
          <p:nvPr/>
        </p:nvSpPr>
        <p:spPr>
          <a:xfrm>
            <a:off x="1625841" y="4951448"/>
            <a:ext cx="7123304" cy="369332"/>
          </a:xfrm>
          <a:prstGeom prst="rect">
            <a:avLst/>
          </a:prstGeom>
          <a:noFill/>
        </p:spPr>
        <p:txBody>
          <a:bodyPr wrap="square" rtlCol="0">
            <a:spAutoFit/>
          </a:bodyPr>
          <a:lstStyle/>
          <a:p>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采用对等式网络（</a:t>
            </a:r>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P2P</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网络）</a:t>
            </a:r>
            <a:r>
              <a:rPr lang="zh-CN" altLang="en-US"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连接</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所有节点</a:t>
            </a:r>
          </a:p>
        </p:txBody>
      </p:sp>
      <p:pic>
        <p:nvPicPr>
          <p:cNvPr id="14" name="图片 13">
            <a:extLst>
              <a:ext uri="{FF2B5EF4-FFF2-40B4-BE49-F238E27FC236}">
                <a16:creationId xmlns:a16="http://schemas.microsoft.com/office/drawing/2014/main" id="{650490E4-2552-4AC1-A9C6-05BE8E028C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32451" y="2895870"/>
            <a:ext cx="3856535" cy="3127829"/>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rot="5400000">
            <a:off x="4412615" y="-1206500"/>
            <a:ext cx="3473450" cy="11543665"/>
          </a:xfrm>
          <a:prstGeom prst="rect">
            <a:avLst/>
          </a:prstGeom>
          <a:gradFill>
            <a:gsLst>
              <a:gs pos="0">
                <a:srgbClr val="014723"/>
              </a:gs>
              <a:gs pos="0">
                <a:srgbClr val="014723">
                  <a:alpha val="9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22272" y="1528840"/>
            <a:ext cx="2961005" cy="38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25450" y="1101090"/>
            <a:ext cx="2689225"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1.2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以太坊的</a:t>
            </a: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P2P</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网络</a:t>
            </a:r>
          </a:p>
        </p:txBody>
      </p:sp>
      <p:pic>
        <p:nvPicPr>
          <p:cNvPr id="66" name="图片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1" name="矩形 40"/>
          <p:cNvSpPr/>
          <p:nvPr/>
        </p:nvSpPr>
        <p:spPr>
          <a:xfrm>
            <a:off x="759460" y="1928495"/>
            <a:ext cx="2741295" cy="504190"/>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a:solidFill>
                  <a:schemeClr val="bg1"/>
                </a:solidFill>
                <a:latin typeface="微软雅黑" panose="020B0503020204020204" pitchFamily="34" charset="-122"/>
                <a:ea typeface="微软雅黑" panose="020B0503020204020204" pitchFamily="34" charset="-122"/>
              </a:rPr>
              <a:t>以太坊的</a:t>
            </a:r>
            <a:r>
              <a:rPr lang="en-US" altLang="zh-CN" sz="2000" spc="300" dirty="0">
                <a:solidFill>
                  <a:schemeClr val="bg1"/>
                </a:solidFill>
                <a:latin typeface="微软雅黑" panose="020B0503020204020204" pitchFamily="34" charset="-122"/>
                <a:ea typeface="微软雅黑" panose="020B0503020204020204" pitchFamily="34" charset="-122"/>
              </a:rPr>
              <a:t>P2P</a:t>
            </a:r>
            <a:r>
              <a:rPr lang="zh-CN" altLang="en-US" sz="2000" spc="300" dirty="0">
                <a:solidFill>
                  <a:schemeClr val="bg1"/>
                </a:solidFill>
                <a:latin typeface="微软雅黑" panose="020B0503020204020204" pitchFamily="34" charset="-122"/>
                <a:ea typeface="微软雅黑" panose="020B0503020204020204" pitchFamily="34" charset="-122"/>
              </a:rPr>
              <a:t>网络</a:t>
            </a:r>
          </a:p>
        </p:txBody>
      </p:sp>
      <p:sp>
        <p:nvSpPr>
          <p:cNvPr id="45" name="左大括号 44"/>
          <p:cNvSpPr/>
          <p:nvPr/>
        </p:nvSpPr>
        <p:spPr>
          <a:xfrm>
            <a:off x="3677920" y="1751330"/>
            <a:ext cx="173355" cy="859155"/>
          </a:xfrm>
          <a:prstGeom prst="leftBrace">
            <a:avLst>
              <a:gd name="adj1" fmla="val 17131"/>
              <a:gd name="adj2"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文本框 1"/>
          <p:cNvSpPr txBox="1"/>
          <p:nvPr/>
        </p:nvSpPr>
        <p:spPr>
          <a:xfrm>
            <a:off x="4028440" y="1674495"/>
            <a:ext cx="6136005" cy="368300"/>
          </a:xfrm>
          <a:prstGeom prst="rect">
            <a:avLst/>
          </a:prstGeom>
          <a:noFill/>
        </p:spPr>
        <p:txBody>
          <a:bodyPr wrap="square" rtlCol="0">
            <a:spAutoFit/>
          </a:bodyPr>
          <a:lstStyle/>
          <a:p>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UDP</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网络</a:t>
            </a:r>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节点之间互相广播用于节点发现</a:t>
            </a:r>
          </a:p>
        </p:txBody>
      </p:sp>
      <p:sp>
        <p:nvSpPr>
          <p:cNvPr id="12" name="文本框 11"/>
          <p:cNvSpPr txBox="1"/>
          <p:nvPr/>
        </p:nvSpPr>
        <p:spPr>
          <a:xfrm>
            <a:off x="4028440" y="2356485"/>
            <a:ext cx="6136005" cy="368300"/>
          </a:xfrm>
          <a:prstGeom prst="rect">
            <a:avLst/>
          </a:prstGeom>
          <a:noFill/>
        </p:spPr>
        <p:txBody>
          <a:bodyPr wrap="square" rtlCol="0">
            <a:spAutoFit/>
          </a:bodyPr>
          <a:lstStyle/>
          <a:p>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TCP</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网络</a:t>
            </a:r>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节点之间互相连接用于传输数据</a:t>
            </a:r>
          </a:p>
        </p:txBody>
      </p:sp>
      <p:sp>
        <p:nvSpPr>
          <p:cNvPr id="13" name="文本框 12"/>
          <p:cNvSpPr txBox="1"/>
          <p:nvPr/>
        </p:nvSpPr>
        <p:spPr>
          <a:xfrm>
            <a:off x="808355" y="2981325"/>
            <a:ext cx="2407285" cy="398780"/>
          </a:xfrm>
          <a:prstGeom prst="rect">
            <a:avLst/>
          </a:prstGeom>
          <a:noFill/>
        </p:spPr>
        <p:txBody>
          <a:bodyPr wrap="square" rtlCol="0">
            <a:spAutoFit/>
          </a:bodyPr>
          <a:lstStyle/>
          <a:p>
            <a:pPr algn="ctr"/>
            <a:r>
              <a:rPr lang="en-US" altLang="zh-CN" sz="2000" b="1" spc="100" dirty="0" err="1">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Kademlia </a:t>
            </a:r>
            <a:r>
              <a:rPr lang="zh-CN" altLang="en-US" sz="2000"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协议</a:t>
            </a:r>
          </a:p>
        </p:txBody>
      </p:sp>
      <p:sp>
        <p:nvSpPr>
          <p:cNvPr id="14" name="文本框 13"/>
          <p:cNvSpPr txBox="1"/>
          <p:nvPr/>
        </p:nvSpPr>
        <p:spPr>
          <a:xfrm>
            <a:off x="600075" y="3349625"/>
            <a:ext cx="3385820" cy="1753235"/>
          </a:xfrm>
          <a:prstGeom prst="rect">
            <a:avLst/>
          </a:prstGeom>
          <a:noFill/>
        </p:spPr>
        <p:txBody>
          <a:bodyPr wrap="square" rtlCol="0">
            <a:spAutoFit/>
          </a:bodyPr>
          <a:lstStyle/>
          <a:p>
            <a:pPr marL="285750" indent="-285750" algn="l">
              <a:lnSpc>
                <a:spcPct val="200000"/>
              </a:lnSpc>
              <a:buFont typeface="Arial" panose="020B0604020202020204" pitchFamily="34" charset="0"/>
              <a:buChar char="•"/>
            </a:pP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UDP</a:t>
            </a:r>
          </a:p>
          <a:p>
            <a:pPr marL="285750" indent="-285750" algn="l">
              <a:lnSpc>
                <a:spcPct val="200000"/>
              </a:lnSpc>
              <a:buFont typeface="Arial" panose="020B0604020202020204" pitchFamily="34" charset="0"/>
              <a:buChar char="•"/>
            </a:pP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通过构建节点路由表</a:t>
            </a:r>
          </a:p>
          <a:p>
            <a:pPr marL="285750" indent="-285750" algn="l">
              <a:lnSpc>
                <a:spcPct val="200000"/>
              </a:lnSpc>
              <a:buFont typeface="Arial" panose="020B0604020202020204" pitchFamily="34" charset="0"/>
              <a:buChar char="•"/>
            </a:pP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实现节点发现和资源定位</a:t>
            </a:r>
          </a:p>
        </p:txBody>
      </p:sp>
      <p:sp>
        <p:nvSpPr>
          <p:cNvPr id="16" name="文本框 15"/>
          <p:cNvSpPr txBox="1"/>
          <p:nvPr/>
        </p:nvSpPr>
        <p:spPr>
          <a:xfrm>
            <a:off x="4199255" y="2983230"/>
            <a:ext cx="2407285" cy="398780"/>
          </a:xfrm>
          <a:prstGeom prst="rect">
            <a:avLst/>
          </a:prstGeom>
          <a:noFill/>
        </p:spPr>
        <p:txBody>
          <a:bodyPr wrap="square" rtlCol="0">
            <a:spAutoFit/>
          </a:bodyPr>
          <a:lstStyle/>
          <a:p>
            <a:pPr algn="ctr"/>
            <a:r>
              <a:rPr lang="en-US" altLang="zh-CN" sz="2000" b="1" spc="100" dirty="0" err="1">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RLPx </a:t>
            </a:r>
            <a:r>
              <a:rPr lang="zh-CN" altLang="en-US" sz="2000"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协议</a:t>
            </a:r>
          </a:p>
        </p:txBody>
      </p:sp>
      <p:sp>
        <p:nvSpPr>
          <p:cNvPr id="17" name="文本框 16"/>
          <p:cNvSpPr txBox="1"/>
          <p:nvPr/>
        </p:nvSpPr>
        <p:spPr>
          <a:xfrm>
            <a:off x="4067175" y="3349625"/>
            <a:ext cx="4187825" cy="2861310"/>
          </a:xfrm>
          <a:prstGeom prst="rect">
            <a:avLst/>
          </a:prstGeom>
          <a:noFill/>
        </p:spPr>
        <p:txBody>
          <a:bodyPr wrap="square" rtlCol="0">
            <a:spAutoFit/>
          </a:bodyPr>
          <a:lstStyle/>
          <a:p>
            <a:pPr marL="285750" indent="-285750" algn="l">
              <a:lnSpc>
                <a:spcPct val="200000"/>
              </a:lnSpc>
              <a:buFont typeface="Arial" panose="020B0604020202020204" pitchFamily="34" charset="0"/>
              <a:buChar char="•"/>
            </a:pP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TCP</a:t>
            </a:r>
          </a:p>
          <a:p>
            <a:pPr marL="285750" indent="-285750" algn="l">
              <a:lnSpc>
                <a:spcPct val="200000"/>
              </a:lnSpc>
              <a:buFont typeface="Arial" panose="020B0604020202020204" pitchFamily="34" charset="0"/>
              <a:buChar char="•"/>
            </a:pPr>
            <a:r>
              <a:rPr lang="zh-CN" altLang="en-US" spc="100" dirty="0">
                <a:uFillTx/>
                <a:latin typeface="微软雅黑" panose="020B0503020204020204" pitchFamily="34" charset="-122"/>
                <a:ea typeface="微软雅黑" panose="020B0503020204020204" pitchFamily="34" charset="-122"/>
                <a:cs typeface="微软雅黑" panose="020B0503020204020204" pitchFamily="34" charset="-122"/>
                <a:sym typeface="+mn-ea"/>
              </a:rPr>
              <a:t>确定一对临时密钥</a:t>
            </a:r>
          </a:p>
          <a:p>
            <a:pPr marL="285750" indent="-285750" algn="l">
              <a:lnSpc>
                <a:spcPct val="200000"/>
              </a:lnSpc>
              <a:buFont typeface="Arial" panose="020B0604020202020204" pitchFamily="34" charset="0"/>
              <a:buChar char="•"/>
            </a:pPr>
            <a:r>
              <a:rPr lang="zh-CN" altLang="en-US" spc="100" dirty="0">
                <a:uFillTx/>
                <a:latin typeface="微软雅黑" panose="020B0503020204020204" pitchFamily="34" charset="-122"/>
                <a:ea typeface="微软雅黑" panose="020B0503020204020204" pitchFamily="34" charset="-122"/>
                <a:cs typeface="微软雅黑" panose="020B0503020204020204" pitchFamily="34" charset="-122"/>
                <a:sym typeface="+mn-ea"/>
              </a:rPr>
              <a:t>实现节点进行通信加密</a:t>
            </a:r>
          </a:p>
          <a:p>
            <a:pPr marL="285750" indent="-285750" algn="l">
              <a:lnSpc>
                <a:spcPct val="200000"/>
              </a:lnSpc>
              <a:buFont typeface="Arial" panose="020B0604020202020204" pitchFamily="34" charset="0"/>
              <a:buChar char="•"/>
            </a:pPr>
            <a:r>
              <a:rPr lang="zh-CN" altLang="en-US" spc="100" dirty="0">
                <a:uFillTx/>
                <a:latin typeface="微软雅黑" panose="020B0503020204020204" pitchFamily="34" charset="-122"/>
                <a:ea typeface="微软雅黑" panose="020B0503020204020204" pitchFamily="34" charset="-122"/>
                <a:cs typeface="微软雅黑" panose="020B0503020204020204" pitchFamily="34" charset="-122"/>
                <a:sym typeface="+mn-ea"/>
              </a:rPr>
              <a:t>实现通信双方共享密钥的基础为ECDH算法</a:t>
            </a:r>
            <a:endPar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文本框 18"/>
          <p:cNvSpPr txBox="1"/>
          <p:nvPr/>
        </p:nvSpPr>
        <p:spPr>
          <a:xfrm>
            <a:off x="8371840" y="2974975"/>
            <a:ext cx="3384550" cy="398780"/>
          </a:xfrm>
          <a:prstGeom prst="rect">
            <a:avLst/>
          </a:prstGeom>
          <a:noFill/>
        </p:spPr>
        <p:txBody>
          <a:bodyPr wrap="square" rtlCol="0">
            <a:spAutoFit/>
          </a:bodyPr>
          <a:lstStyle/>
          <a:p>
            <a:pPr algn="ctr"/>
            <a:r>
              <a:rPr lang="zh-CN" altLang="en-US" sz="2000" b="1" spc="100" dirty="0">
                <a:solidFill>
                  <a:schemeClr val="tx1"/>
                </a:solidFill>
                <a:uFillTx/>
                <a:latin typeface="微软雅黑" panose="020B0503020204020204" pitchFamily="34" charset="-122"/>
                <a:ea typeface="微软雅黑" panose="020B0503020204020204" pitchFamily="34" charset="-122"/>
                <a:sym typeface="+mn-ea"/>
              </a:rPr>
              <a:t>身份认证与协议握手</a:t>
            </a:r>
            <a:endParaRPr lang="zh-CN" altLang="en-US" sz="2000"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文本框 19"/>
          <p:cNvSpPr txBox="1"/>
          <p:nvPr/>
        </p:nvSpPr>
        <p:spPr>
          <a:xfrm>
            <a:off x="8163560" y="3343275"/>
            <a:ext cx="3919220" cy="645160"/>
          </a:xfrm>
          <a:prstGeom prst="rect">
            <a:avLst/>
          </a:prstGeom>
          <a:noFill/>
        </p:spPr>
        <p:txBody>
          <a:bodyPr wrap="square" rtlCol="0">
            <a:spAutoFit/>
          </a:bodyPr>
          <a:lstStyle/>
          <a:p>
            <a:pPr marL="285750" indent="-285750" algn="l">
              <a:lnSpc>
                <a:spcPct val="200000"/>
              </a:lnSpc>
              <a:buFont typeface="Arial" panose="020B0604020202020204" pitchFamily="34" charset="0"/>
              <a:buChar char="•"/>
            </a:pPr>
            <a:r>
              <a:rPr lang="zh-CN" altLang="en-US" spc="100" dirty="0">
                <a:solidFill>
                  <a:schemeClr val="tx1"/>
                </a:solidFill>
                <a:uFillTx/>
                <a:latin typeface="微软雅黑" panose="020B0503020204020204" pitchFamily="34" charset="-122"/>
                <a:ea typeface="微软雅黑" panose="020B0503020204020204" pitchFamily="34" charset="-122"/>
                <a:sym typeface="+mn-ea"/>
              </a:rPr>
              <a:t>通信双方协议版本协商的过程</a:t>
            </a:r>
            <a:endPar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2" name="直接连接符 31"/>
          <p:cNvCxnSpPr/>
          <p:nvPr/>
        </p:nvCxnSpPr>
        <p:spPr>
          <a:xfrm>
            <a:off x="3891915" y="2844165"/>
            <a:ext cx="12700" cy="3416300"/>
          </a:xfrm>
          <a:prstGeom prst="line">
            <a:avLst/>
          </a:prstGeom>
          <a:ln cmpd="dbl">
            <a:prstDash val="dash"/>
          </a:ln>
        </p:spPr>
        <p:style>
          <a:lnRef idx="2">
            <a:schemeClr val="accent1"/>
          </a:lnRef>
          <a:fillRef idx="0">
            <a:schemeClr val="accent1"/>
          </a:fillRef>
          <a:effectRef idx="1">
            <a:schemeClr val="accent1"/>
          </a:effectRef>
          <a:fontRef idx="minor">
            <a:schemeClr val="tx1"/>
          </a:fontRef>
        </p:style>
      </p:cxnSp>
      <p:cxnSp>
        <p:nvCxnSpPr>
          <p:cNvPr id="33" name="直接连接符 32"/>
          <p:cNvCxnSpPr/>
          <p:nvPr/>
        </p:nvCxnSpPr>
        <p:spPr>
          <a:xfrm>
            <a:off x="8049260" y="2873375"/>
            <a:ext cx="34290" cy="3416300"/>
          </a:xfrm>
          <a:prstGeom prst="line">
            <a:avLst/>
          </a:prstGeom>
          <a:ln cmpd="dbl">
            <a:prstDash val="dash"/>
          </a:ln>
        </p:spPr>
        <p:style>
          <a:lnRef idx="2">
            <a:schemeClr val="accent1"/>
          </a:lnRef>
          <a:fillRef idx="0">
            <a:schemeClr val="accent1"/>
          </a:fillRef>
          <a:effectRef idx="1">
            <a:schemeClr val="accent1"/>
          </a:effectRef>
          <a:fontRef idx="minor">
            <a:schemeClr val="tx1"/>
          </a:fontRef>
        </p:style>
      </p:cxnSp>
      <p:sp>
        <p:nvSpPr>
          <p:cNvPr id="4" name="灯片编号占位符 3"/>
          <p:cNvSpPr>
            <a:spLocks noGrp="1"/>
          </p:cNvSpPr>
          <p:nvPr>
            <p:ph type="sldNum" sz="quarter" idx="12"/>
          </p:nvPr>
        </p:nvSpPr>
        <p:spPr/>
        <p:txBody>
          <a:bodyPr/>
          <a:lstStyle/>
          <a:p>
            <a:fld id="{A8537B7A-7510-410A-AA53-45D600DA0276}" type="slidenum">
              <a:rPr lang="zh-CN" altLang="en-US" smtClean="0"/>
              <a:t>5</a:t>
            </a:fld>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425752" y="1515505"/>
            <a:ext cx="2438400" cy="133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76425" y="1101090"/>
            <a:ext cx="2689225" cy="383939"/>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a:t>
            </a:r>
            <a:r>
              <a:rPr lang="en-US" sz="1865" b="1" dirty="0">
                <a:solidFill>
                  <a:schemeClr val="tx1">
                    <a:lumMod val="65000"/>
                    <a:lumOff val="35000"/>
                  </a:schemeClr>
                </a:solidFill>
                <a:latin typeface="微软雅黑" panose="020B0503020204020204" pitchFamily="34" charset="-122"/>
                <a:ea typeface="微软雅黑" panose="020B0503020204020204" pitchFamily="34" charset="-122"/>
              </a:rPr>
              <a:t>3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以太坊的交易验证</a:t>
            </a:r>
          </a:p>
        </p:txBody>
      </p:sp>
      <p:pic>
        <p:nvPicPr>
          <p:cNvPr id="66" name="图片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12" name="图片 11" descr="背景p3"/>
          <p:cNvPicPr>
            <a:picLocks noChangeAspect="1"/>
          </p:cNvPicPr>
          <p:nvPr/>
        </p:nvPicPr>
        <p:blipFill>
          <a:blip r:embed="rId4"/>
          <a:stretch>
            <a:fillRect/>
          </a:stretch>
        </p:blipFill>
        <p:spPr>
          <a:xfrm>
            <a:off x="1356858" y="2810823"/>
            <a:ext cx="9131824" cy="3432984"/>
          </a:xfrm>
          <a:prstGeom prst="rect">
            <a:avLst/>
          </a:prstGeom>
        </p:spPr>
      </p:pic>
      <p:sp>
        <p:nvSpPr>
          <p:cNvPr id="13" name="文本框 12"/>
          <p:cNvSpPr txBox="1"/>
          <p:nvPr/>
        </p:nvSpPr>
        <p:spPr>
          <a:xfrm>
            <a:off x="425450" y="1635760"/>
            <a:ext cx="6752590" cy="971356"/>
          </a:xfrm>
          <a:prstGeom prst="rect">
            <a:avLst/>
          </a:prstGeom>
          <a:noFill/>
        </p:spPr>
        <p:txBody>
          <a:bodyPr wrap="square" rtlCol="0">
            <a:spAutoFit/>
          </a:bodyPr>
          <a:lstStyle/>
          <a:p>
            <a:pPr marL="285750" indent="-285750">
              <a:lnSpc>
                <a:spcPct val="17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以太坊是以交易为基础的状态转移系统</a:t>
            </a:r>
          </a:p>
          <a:p>
            <a:pPr marL="285750" indent="-285750">
              <a:lnSpc>
                <a:spcPct val="170000"/>
              </a:lnSpc>
              <a:buFont typeface="Wingdings" panose="05000000000000000000" charset="0"/>
              <a:buChar char="p"/>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ECDSA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（数字签名与验证）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确保交易的不可伪造</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灯片编号占位符 2"/>
          <p:cNvSpPr>
            <a:spLocks noGrp="1"/>
          </p:cNvSpPr>
          <p:nvPr>
            <p:ph type="sldNum" sz="quarter" idx="12"/>
          </p:nvPr>
        </p:nvSpPr>
        <p:spPr/>
        <p:txBody>
          <a:bodyPr/>
          <a:lstStyle/>
          <a:p>
            <a:fld id="{A8537B7A-7510-410A-AA53-45D600DA0276}" type="slidenum">
              <a:rPr lang="zh-CN" altLang="en-US" smtClean="0"/>
              <a:t>6</a:t>
            </a:fld>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以太坊节点网络构建</a:t>
            </a: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Part.02</a:t>
            </a:r>
          </a:p>
        </p:txBody>
      </p:sp>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7</a:t>
            </a:fld>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15748" y="-8518"/>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532369" y="1138640"/>
            <a:ext cx="1625296" cy="383939"/>
          </a:xfrm>
          <a:prstGeom prst="rect">
            <a:avLst/>
          </a:prstGeom>
          <a:noFill/>
        </p:spPr>
        <p:txBody>
          <a:bodyPr wrap="square" lIns="0" tIns="48000" rIns="0" bIns="48000" rtlCol="0">
            <a:spAutoFit/>
          </a:bodyPr>
          <a:lstStyle/>
          <a:p>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2.1 P2P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网络</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6" name="文本框 35"/>
          <p:cNvSpPr txBox="1"/>
          <p:nvPr/>
        </p:nvSpPr>
        <p:spPr>
          <a:xfrm>
            <a:off x="500470" y="1715693"/>
            <a:ext cx="11355122" cy="879664"/>
          </a:xfrm>
          <a:prstGeom prst="rect">
            <a:avLst/>
          </a:prstGeom>
          <a:noFill/>
        </p:spPr>
        <p:txBody>
          <a:bodyPr wrap="square">
            <a:spAutoFit/>
          </a:bodyPr>
          <a:lstStyle/>
          <a:p>
            <a:pPr algn="just">
              <a:lnSpc>
                <a:spcPct val="150000"/>
              </a:lnSpc>
            </a:pPr>
            <a:r>
              <a:rPr lang="en-US" altLang="zh-CN" sz="1800" dirty="0" err="1">
                <a:solidFill>
                  <a:schemeClr val="tx1"/>
                </a:solidFill>
                <a:latin typeface="微软雅黑" panose="020B0503020204020204" pitchFamily="34" charset="-122"/>
                <a:ea typeface="微软雅黑" panose="020B0503020204020204" pitchFamily="34" charset="-122"/>
              </a:rPr>
              <a:t>Kademlia</a:t>
            </a:r>
            <a:r>
              <a:rPr lang="en-US" altLang="zh-CN"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rPr>
              <a:t>协议被应用于以太坊中实现路由。</a:t>
            </a:r>
            <a:r>
              <a:rPr lang="zh-CN" altLang="en-US" dirty="0">
                <a:solidFill>
                  <a:schemeClr val="tx1"/>
                </a:solidFill>
                <a:latin typeface="微软雅黑" panose="020B0503020204020204" pitchFamily="34" charset="-122"/>
                <a:ea typeface="微软雅黑" panose="020B0503020204020204" pitchFamily="34" charset="-122"/>
              </a:rPr>
              <a:t>基于 </a:t>
            </a:r>
            <a:r>
              <a:rPr lang="en-US" altLang="zh-CN" dirty="0" err="1">
                <a:solidFill>
                  <a:schemeClr val="tx1"/>
                </a:solidFill>
                <a:latin typeface="微软雅黑" panose="020B0503020204020204" pitchFamily="34" charset="-122"/>
                <a:ea typeface="微软雅黑" panose="020B0503020204020204" pitchFamily="34" charset="-122"/>
              </a:rPr>
              <a:t>Kademlia</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协议的 </a:t>
            </a:r>
            <a:r>
              <a:rPr lang="en-US" altLang="zh-CN" dirty="0">
                <a:solidFill>
                  <a:schemeClr val="tx1"/>
                </a:solidFill>
                <a:latin typeface="微软雅黑" panose="020B0503020204020204" pitchFamily="34" charset="-122"/>
                <a:ea typeface="微软雅黑" panose="020B0503020204020204" pitchFamily="34" charset="-122"/>
              </a:rPr>
              <a:t>P2P </a:t>
            </a:r>
            <a:r>
              <a:rPr lang="zh-CN" altLang="en-US" dirty="0">
                <a:solidFill>
                  <a:schemeClr val="tx1"/>
                </a:solidFill>
                <a:latin typeface="微软雅黑" panose="020B0503020204020204" pitchFamily="34" charset="-122"/>
                <a:ea typeface="微软雅黑" panose="020B0503020204020204" pitchFamily="34" charset="-122"/>
              </a:rPr>
              <a:t>网络结构如下图所示，</a:t>
            </a:r>
            <a:r>
              <a:rPr lang="en-US" altLang="zh-CN" dirty="0" err="1">
                <a:solidFill>
                  <a:schemeClr val="tx1"/>
                </a:solidFill>
                <a:latin typeface="微软雅黑" panose="020B0503020204020204" pitchFamily="34" charset="-122"/>
                <a:ea typeface="微软雅黑" panose="020B0503020204020204" pitchFamily="34" charset="-122"/>
              </a:rPr>
              <a:t>Kademlia</a:t>
            </a:r>
            <a:r>
              <a:rPr lang="zh-CN" altLang="en-US" dirty="0">
                <a:solidFill>
                  <a:schemeClr val="tx1"/>
                </a:solidFill>
                <a:latin typeface="微软雅黑" panose="020B0503020204020204" pitchFamily="34" charset="-122"/>
                <a:ea typeface="微软雅黑" panose="020B0503020204020204" pitchFamily="34" charset="-122"/>
              </a:rPr>
              <a:t>协议属于</a:t>
            </a:r>
            <a:r>
              <a:rPr lang="en-US" altLang="zh-CN" dirty="0">
                <a:solidFill>
                  <a:schemeClr val="tx1"/>
                </a:solidFill>
                <a:latin typeface="微软雅黑" panose="020B0503020204020204" pitchFamily="34" charset="-122"/>
                <a:ea typeface="微软雅黑" panose="020B0503020204020204" pitchFamily="34" charset="-122"/>
              </a:rPr>
              <a:t>UDP</a:t>
            </a:r>
            <a:r>
              <a:rPr lang="zh-CN" altLang="en-US" dirty="0">
                <a:solidFill>
                  <a:schemeClr val="tx1"/>
                </a:solidFill>
                <a:latin typeface="微软雅黑" panose="020B0503020204020204" pitchFamily="34" charset="-122"/>
                <a:ea typeface="微软雅黑" panose="020B0503020204020204" pitchFamily="34" charset="-122"/>
              </a:rPr>
              <a:t>部分，通过构建节点路由表，在</a:t>
            </a:r>
            <a:r>
              <a:rPr lang="en-US" altLang="zh-CN" dirty="0">
                <a:solidFill>
                  <a:schemeClr val="tx1"/>
                </a:solidFill>
                <a:latin typeface="微软雅黑" panose="020B0503020204020204" pitchFamily="34" charset="-122"/>
                <a:ea typeface="微软雅黑" panose="020B0503020204020204" pitchFamily="34" charset="-122"/>
              </a:rPr>
              <a:t>TCP</a:t>
            </a:r>
            <a:r>
              <a:rPr lang="zh-CN" altLang="en-US" dirty="0">
                <a:solidFill>
                  <a:schemeClr val="tx1"/>
                </a:solidFill>
                <a:latin typeface="微软雅黑" panose="020B0503020204020204" pitchFamily="34" charset="-122"/>
                <a:ea typeface="微软雅黑" panose="020B0503020204020204" pitchFamily="34" charset="-122"/>
              </a:rPr>
              <a:t>的支持下实现节点发现和资源定位。</a:t>
            </a: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8954" y="3019554"/>
            <a:ext cx="10838153" cy="3066878"/>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8</a:t>
            </a:fld>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2368" y="1129114"/>
            <a:ext cx="3933305" cy="383939"/>
          </a:xfrm>
          <a:prstGeom prst="rect">
            <a:avLst/>
          </a:prstGeom>
          <a:noFill/>
        </p:spPr>
        <p:txBody>
          <a:bodyPr wrap="square" lIns="0" tIns="48000" rIns="0" bIns="48000" rtlCol="0">
            <a:spAutoFit/>
          </a:bodyPr>
          <a:lstStyle/>
          <a:p>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2.2 P2P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网络安全性：优劣势</a:t>
            </a:r>
          </a:p>
        </p:txBody>
      </p:sp>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15748" y="-8518"/>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35795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6" name="文本框 35"/>
          <p:cNvSpPr txBox="1"/>
          <p:nvPr/>
        </p:nvSpPr>
        <p:spPr>
          <a:xfrm>
            <a:off x="425752" y="1814967"/>
            <a:ext cx="5232098" cy="4198393"/>
          </a:xfrm>
          <a:prstGeom prst="rect">
            <a:avLst/>
          </a:prstGeom>
          <a:noFill/>
        </p:spPr>
        <p:txBody>
          <a:bodyPr wrap="square">
            <a:spAutoFit/>
          </a:bodyPr>
          <a:lstStyle/>
          <a:p>
            <a:pPr algn="just">
              <a:lnSpc>
                <a:spcPct val="150000"/>
              </a:lnSpc>
            </a:pPr>
            <a:r>
              <a:rPr lang="zh-CN" altLang="en-US" sz="1800" b="1" dirty="0">
                <a:solidFill>
                  <a:schemeClr val="tx1"/>
                </a:solidFill>
                <a:latin typeface="微软雅黑" panose="020B0503020204020204" pitchFamily="34" charset="-122"/>
                <a:ea typeface="微软雅黑" panose="020B0503020204020204" pitchFamily="34" charset="-122"/>
              </a:rPr>
              <a:t>优势：</a:t>
            </a:r>
            <a:r>
              <a:rPr lang="en-US" altLang="zh-CN" sz="1800" dirty="0">
                <a:solidFill>
                  <a:schemeClr val="tx1"/>
                </a:solidFill>
                <a:latin typeface="微软雅黑" panose="020B0503020204020204" pitchFamily="34" charset="-122"/>
                <a:ea typeface="微软雅黑" panose="020B0503020204020204" pitchFamily="34" charset="-122"/>
              </a:rPr>
              <a:t>P2P </a:t>
            </a:r>
            <a:r>
              <a:rPr lang="zh-CN" altLang="en-US" sz="1800" dirty="0">
                <a:solidFill>
                  <a:schemeClr val="tx1"/>
                </a:solidFill>
                <a:latin typeface="微软雅黑" panose="020B0503020204020204" pitchFamily="34" charset="-122"/>
                <a:ea typeface="微软雅黑" panose="020B0503020204020204" pitchFamily="34" charset="-122"/>
              </a:rPr>
              <a:t>网络节点物理位置分散，每一个节点大都同时具有信息消费者、信息提供者和信息通讯等三方面的功能。与攻击中心化服务器相比，</a:t>
            </a:r>
            <a:r>
              <a:rPr lang="zh-CN" altLang="en-US" sz="1800" b="1" dirty="0">
                <a:solidFill>
                  <a:schemeClr val="tx1"/>
                </a:solidFill>
                <a:latin typeface="微软雅黑" panose="020B0503020204020204" pitchFamily="34" charset="-122"/>
                <a:ea typeface="微软雅黑" panose="020B0503020204020204" pitchFamily="34" charset="-122"/>
              </a:rPr>
              <a:t>黑客很难通过攻击某一个节点获得大量用户信息，从而更改全局账本</a:t>
            </a:r>
            <a:r>
              <a:rPr lang="zh-CN" altLang="en-US" sz="1800" dirty="0">
                <a:solidFill>
                  <a:schemeClr val="tx1"/>
                </a:solidFill>
                <a:latin typeface="微软雅黑" panose="020B0503020204020204" pitchFamily="34" charset="-122"/>
                <a:ea typeface="微软雅黑" panose="020B0503020204020204" pitchFamily="34" charset="-122"/>
              </a:rPr>
              <a:t>。</a:t>
            </a:r>
            <a:endParaRPr lang="en-US" altLang="zh-CN" sz="1800" dirty="0">
              <a:solidFill>
                <a:schemeClr val="tx1"/>
              </a:solidFill>
              <a:latin typeface="微软雅黑" panose="020B0503020204020204" pitchFamily="34" charset="-122"/>
              <a:ea typeface="微软雅黑" panose="020B0503020204020204" pitchFamily="34" charset="-122"/>
            </a:endParaRPr>
          </a:p>
          <a:p>
            <a:pPr algn="just">
              <a:lnSpc>
                <a:spcPct val="150000"/>
              </a:lnSpc>
            </a:pPr>
            <a:r>
              <a:rPr lang="zh-CN" altLang="en-US" b="1" dirty="0">
                <a:solidFill>
                  <a:schemeClr val="tx1"/>
                </a:solidFill>
                <a:latin typeface="微软雅黑" panose="020B0503020204020204" pitchFamily="34" charset="-122"/>
                <a:ea typeface="微软雅黑" panose="020B0503020204020204" pitchFamily="34" charset="-122"/>
              </a:rPr>
              <a:t>劣势：</a:t>
            </a:r>
            <a:r>
              <a:rPr lang="en-US" altLang="zh-CN" dirty="0">
                <a:solidFill>
                  <a:schemeClr val="tx1"/>
                </a:solidFill>
                <a:latin typeface="微软雅黑" panose="020B0503020204020204" pitchFamily="34" charset="-122"/>
                <a:ea typeface="微软雅黑" panose="020B0503020204020204" pitchFamily="34" charset="-122"/>
              </a:rPr>
              <a:t>P2P </a:t>
            </a:r>
            <a:r>
              <a:rPr lang="zh-CN" altLang="en-US" dirty="0">
                <a:solidFill>
                  <a:schemeClr val="tx1"/>
                </a:solidFill>
                <a:latin typeface="微软雅黑" panose="020B0503020204020204" pitchFamily="34" charset="-122"/>
                <a:ea typeface="微软雅黑" panose="020B0503020204020204" pitchFamily="34" charset="-122"/>
              </a:rPr>
              <a:t>网络节点</a:t>
            </a:r>
            <a:r>
              <a:rPr lang="zh-CN" altLang="en-US" b="1" dirty="0">
                <a:solidFill>
                  <a:schemeClr val="tx1"/>
                </a:solidFill>
                <a:latin typeface="微软雅黑" panose="020B0503020204020204" pitchFamily="34" charset="-122"/>
                <a:ea typeface="微软雅黑" panose="020B0503020204020204" pitchFamily="34" charset="-122"/>
              </a:rPr>
              <a:t>准入要求极低</a:t>
            </a:r>
            <a:r>
              <a:rPr lang="zh-CN" altLang="en-US" dirty="0">
                <a:solidFill>
                  <a:schemeClr val="tx1"/>
                </a:solidFill>
                <a:latin typeface="微软雅黑" panose="020B0503020204020204" pitchFamily="34" charset="-122"/>
                <a:ea typeface="微软雅黑" panose="020B0503020204020204" pitchFamily="34" charset="-122"/>
              </a:rPr>
              <a:t>，与专业服务器相比安全漏洞多防护能力差，黑客很容易针对少量关键节点发起网络路由攻击或者直接入侵，通过日蚀攻击</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和路由攻击等获得利益。</a:t>
            </a:r>
            <a:endParaRPr lang="en-US" altLang="zh-CN" dirty="0">
              <a:solidFill>
                <a:schemeClr val="tx1"/>
              </a:solidFill>
              <a:latin typeface="微软雅黑" panose="020B0503020204020204" pitchFamily="34" charset="-122"/>
              <a:ea typeface="微软雅黑" panose="020B0503020204020204" pitchFamily="34" charset="-122"/>
            </a:endParaRPr>
          </a:p>
          <a:p>
            <a:pPr algn="just">
              <a:lnSpc>
                <a:spcPct val="150000"/>
              </a:lnSpc>
            </a:pPr>
            <a:endParaRPr lang="en-US" altLang="zh-CN" dirty="0">
              <a:solidFill>
                <a:schemeClr val="tx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0749" y="2015478"/>
            <a:ext cx="4549067" cy="3413771"/>
          </a:xfrm>
          <a:prstGeom prst="rect">
            <a:avLst/>
          </a:prstGeom>
        </p:spPr>
      </p:pic>
      <p:sp>
        <p:nvSpPr>
          <p:cNvPr id="3" name="灯片编号占位符 2"/>
          <p:cNvSpPr>
            <a:spLocks noGrp="1"/>
          </p:cNvSpPr>
          <p:nvPr>
            <p:ph type="sldNum" sz="quarter" idx="12"/>
          </p:nvPr>
        </p:nvSpPr>
        <p:spPr>
          <a:xfrm>
            <a:off x="9029700" y="6356350"/>
            <a:ext cx="2743200" cy="365125"/>
          </a:xfrm>
        </p:spPr>
        <p:txBody>
          <a:bodyPr/>
          <a:lstStyle/>
          <a:p>
            <a:fld id="{A8537B7A-7510-410A-AA53-45D600DA0276}" type="slidenum">
              <a:rPr lang="zh-CN" altLang="en-US" smtClean="0"/>
              <a:t>9</a:t>
            </a:fld>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2368" y="1129114"/>
            <a:ext cx="3933305" cy="383939"/>
          </a:xfrm>
          <a:prstGeom prst="rect">
            <a:avLst/>
          </a:prstGeom>
          <a:noFill/>
        </p:spPr>
        <p:txBody>
          <a:bodyPr wrap="square" lIns="0" tIns="48000" rIns="0" bIns="48000" rtlCol="0">
            <a:spAutoFit/>
          </a:bodyPr>
          <a:lstStyle/>
          <a:p>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2.3 P2P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网络安全性：应对机制</a:t>
            </a:r>
          </a:p>
        </p:txBody>
      </p:sp>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15748" y="-8518"/>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35795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6" name="文本框 35"/>
          <p:cNvSpPr txBox="1"/>
          <p:nvPr/>
        </p:nvSpPr>
        <p:spPr>
          <a:xfrm>
            <a:off x="425752" y="1814967"/>
            <a:ext cx="11355122" cy="2690288"/>
          </a:xfrm>
          <a:prstGeom prst="rect">
            <a:avLst/>
          </a:prstGeom>
          <a:noFill/>
        </p:spPr>
        <p:txBody>
          <a:bodyPr wrap="square">
            <a:spAutoFit/>
          </a:bodyPr>
          <a:lstStyle/>
          <a:p>
            <a:pPr algn="just">
              <a:lnSpc>
                <a:spcPct val="150000"/>
              </a:lnSpc>
              <a:spcBef>
                <a:spcPts val="600"/>
              </a:spcBef>
              <a:tabLst>
                <a:tab pos="359410" algn="l"/>
              </a:tabLst>
            </a:pPr>
            <a:r>
              <a:rPr lang="zh-CN" altLang="en-US" sz="1800" dirty="0">
                <a:solidFill>
                  <a:schemeClr val="tx1"/>
                </a:solidFill>
                <a:latin typeface="微软雅黑" panose="020B0503020204020204" pitchFamily="34" charset="-122"/>
                <a:ea typeface="微软雅黑" panose="020B0503020204020204" pitchFamily="34" charset="-122"/>
              </a:rPr>
              <a:t>       近几年，深度学习被应用于检测</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网络安全。</a:t>
            </a:r>
            <a:endParaRPr lang="en-US" altLang="zh-CN" sz="1800" dirty="0">
              <a:solidFill>
                <a:schemeClr val="tx1"/>
              </a:solidFill>
              <a:latin typeface="微软雅黑" panose="020B0503020204020204" pitchFamily="34" charset="-122"/>
              <a:ea typeface="微软雅黑" panose="020B0503020204020204" pitchFamily="34" charset="-122"/>
            </a:endParaRPr>
          </a:p>
          <a:p>
            <a:pPr algn="just">
              <a:lnSpc>
                <a:spcPct val="150000"/>
              </a:lnSpc>
              <a:spcBef>
                <a:spcPts val="600"/>
              </a:spcBef>
              <a:tabLst>
                <a:tab pos="359410" algn="l"/>
              </a:tabLst>
            </a:pPr>
            <a:r>
              <a:rPr lang="zh-CN" altLang="en-US" sz="1800" dirty="0">
                <a:solidFill>
                  <a:schemeClr val="tx1"/>
                </a:solidFill>
                <a:latin typeface="微软雅黑" panose="020B0503020204020204" pitchFamily="34" charset="-122"/>
                <a:ea typeface="微软雅黑" panose="020B0503020204020204" pitchFamily="34" charset="-122"/>
              </a:rPr>
              <a:t>       针对</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僵尸网络检测，</a:t>
            </a:r>
            <a:r>
              <a:rPr lang="zh-CN" altLang="en-US" sz="1800" b="1" dirty="0">
                <a:solidFill>
                  <a:schemeClr val="tx1"/>
                </a:solidFill>
                <a:latin typeface="微软雅黑" panose="020B0503020204020204" pitchFamily="34" charset="-122"/>
                <a:ea typeface="微软雅黑" panose="020B0503020204020204" pitchFamily="34" charset="-122"/>
              </a:rPr>
              <a:t>林宏刚等</a:t>
            </a:r>
            <a:r>
              <a:rPr lang="zh-CN" altLang="en-US" sz="1800" dirty="0">
                <a:solidFill>
                  <a:schemeClr val="tx1"/>
                </a:solidFill>
                <a:latin typeface="微软雅黑" panose="020B0503020204020204" pitchFamily="34" charset="-122"/>
                <a:ea typeface="微软雅黑" panose="020B0503020204020204" pitchFamily="34" charset="-122"/>
              </a:rPr>
              <a:t>提出一种基于</a:t>
            </a:r>
            <a:r>
              <a:rPr lang="zh-CN" altLang="en-US" sz="1800" b="1" dirty="0">
                <a:solidFill>
                  <a:schemeClr val="tx1"/>
                </a:solidFill>
                <a:latin typeface="微软雅黑" panose="020B0503020204020204" pitchFamily="34" charset="-122"/>
                <a:ea typeface="微软雅黑" panose="020B0503020204020204" pitchFamily="34" charset="-122"/>
              </a:rPr>
              <a:t>图神经网络</a:t>
            </a:r>
            <a:r>
              <a:rPr lang="zh-CN" altLang="en-US" sz="1800" dirty="0">
                <a:solidFill>
                  <a:schemeClr val="tx1"/>
                </a:solidFill>
                <a:latin typeface="微软雅黑" panose="020B0503020204020204" pitchFamily="34" charset="-122"/>
                <a:ea typeface="微软雅黑" panose="020B0503020204020204" pitchFamily="34" charset="-122"/>
              </a:rPr>
              <a:t>的</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僵尸网络节点交互特征及网络拓扑结构信息实现检测，</a:t>
            </a:r>
            <a:r>
              <a:rPr lang="zh-CN" altLang="en-US" sz="1800" b="1" dirty="0">
                <a:solidFill>
                  <a:schemeClr val="tx1"/>
                </a:solidFill>
                <a:latin typeface="微软雅黑" panose="020B0503020204020204" pitchFamily="34" charset="-122"/>
                <a:ea typeface="微软雅黑" panose="020B0503020204020204" pitchFamily="34" charset="-122"/>
              </a:rPr>
              <a:t>邹福泰等</a:t>
            </a:r>
            <a:r>
              <a:rPr lang="zh-CN" altLang="en-US" sz="1800" dirty="0">
                <a:solidFill>
                  <a:schemeClr val="tx1"/>
                </a:solidFill>
                <a:latin typeface="微软雅黑" panose="020B0503020204020204" pitchFamily="34" charset="-122"/>
                <a:ea typeface="微软雅黑" panose="020B0503020204020204" pitchFamily="34" charset="-122"/>
              </a:rPr>
              <a:t>基于</a:t>
            </a:r>
            <a:r>
              <a:rPr lang="zh-CN" altLang="en-US" sz="1800" b="1" dirty="0">
                <a:solidFill>
                  <a:schemeClr val="tx1"/>
                </a:solidFill>
                <a:latin typeface="微软雅黑" panose="020B0503020204020204" pitchFamily="34" charset="-122"/>
                <a:ea typeface="微软雅黑" panose="020B0503020204020204" pitchFamily="34" charset="-122"/>
              </a:rPr>
              <a:t>生成对抗网络</a:t>
            </a:r>
            <a:r>
              <a:rPr lang="zh-CN" altLang="en-US" sz="1800" dirty="0">
                <a:solidFill>
                  <a:schemeClr val="tx1"/>
                </a:solidFill>
                <a:latin typeface="微软雅黑" panose="020B0503020204020204" pitchFamily="34" charset="-122"/>
                <a:ea typeface="微软雅黑" panose="020B0503020204020204" pitchFamily="34" charset="-122"/>
              </a:rPr>
              <a:t>生成僵尸网络特征样本，这些方法有效提高</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僵尸网络检测能力和泛化能力，降低误报率。针对</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网络流量异常问题，</a:t>
            </a:r>
            <a:r>
              <a:rPr lang="zh-CN" altLang="en-US" sz="1800" b="1" dirty="0">
                <a:solidFill>
                  <a:schemeClr val="tx1"/>
                </a:solidFill>
                <a:latin typeface="微软雅黑" panose="020B0503020204020204" pitchFamily="34" charset="-122"/>
                <a:ea typeface="微软雅黑" panose="020B0503020204020204" pitchFamily="34" charset="-122"/>
              </a:rPr>
              <a:t>张龙等</a:t>
            </a:r>
            <a:r>
              <a:rPr lang="zh-CN" altLang="en-US" sz="1800" dirty="0">
                <a:solidFill>
                  <a:schemeClr val="tx1"/>
                </a:solidFill>
                <a:latin typeface="微软雅黑" panose="020B0503020204020204" pitchFamily="34" charset="-122"/>
                <a:ea typeface="微软雅黑" panose="020B0503020204020204" pitchFamily="34" charset="-122"/>
              </a:rPr>
              <a:t>提出基于</a:t>
            </a:r>
            <a:r>
              <a:rPr lang="zh-CN" altLang="en-US" sz="1800" b="1" dirty="0">
                <a:solidFill>
                  <a:schemeClr val="tx1"/>
                </a:solidFill>
                <a:latin typeface="微软雅黑" panose="020B0503020204020204" pitchFamily="34" charset="-122"/>
                <a:ea typeface="微软雅黑" panose="020B0503020204020204" pitchFamily="34" charset="-122"/>
              </a:rPr>
              <a:t>深度学习</a:t>
            </a:r>
            <a:r>
              <a:rPr lang="zh-CN" altLang="en-US" sz="1800" dirty="0">
                <a:solidFill>
                  <a:schemeClr val="tx1"/>
                </a:solidFill>
                <a:latin typeface="微软雅黑" panose="020B0503020204020204" pitchFamily="34" charset="-122"/>
                <a:ea typeface="微软雅黑" panose="020B0503020204020204" pitchFamily="34" charset="-122"/>
              </a:rPr>
              <a:t>的流量分类与异常检测方法。</a:t>
            </a:r>
            <a:endParaRPr lang="en-US" altLang="zh-CN" sz="1800" dirty="0">
              <a:solidFill>
                <a:schemeClr val="tx1"/>
              </a:solidFill>
              <a:latin typeface="微软雅黑" panose="020B0503020204020204" pitchFamily="34" charset="-122"/>
              <a:ea typeface="微软雅黑" panose="020B0503020204020204" pitchFamily="34" charset="-122"/>
            </a:endParaRPr>
          </a:p>
          <a:p>
            <a:pPr algn="just">
              <a:lnSpc>
                <a:spcPct val="150000"/>
              </a:lnSpc>
              <a:spcBef>
                <a:spcPts val="600"/>
              </a:spcBef>
              <a:tabLst>
                <a:tab pos="359410" algn="l"/>
              </a:tabLst>
            </a:pPr>
            <a:r>
              <a:rPr lang="zh-CN" altLang="en-US" sz="1800" dirty="0">
                <a:solidFill>
                  <a:schemeClr val="tx1"/>
                </a:solidFill>
                <a:latin typeface="微软雅黑" panose="020B0503020204020204" pitchFamily="34" charset="-122"/>
                <a:ea typeface="微软雅黑" panose="020B0503020204020204" pitchFamily="34" charset="-122"/>
              </a:rPr>
              <a:t>       从深度学习在</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网络的应用上看，深度学习往往用于检测</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网络是否遭受攻击，是一种有效的</a:t>
            </a:r>
            <a:r>
              <a:rPr lang="zh-CN" altLang="en-US" sz="1800" b="1" dirty="0">
                <a:solidFill>
                  <a:schemeClr val="tx1"/>
                </a:solidFill>
                <a:latin typeface="微软雅黑" panose="020B0503020204020204" pitchFamily="34" charset="-122"/>
                <a:ea typeface="微软雅黑" panose="020B0503020204020204" pitchFamily="34" charset="-122"/>
              </a:rPr>
              <a:t>监督机制</a:t>
            </a:r>
            <a:r>
              <a:rPr lang="zh-CN" altLang="en-US" sz="1800" dirty="0">
                <a:solidFill>
                  <a:schemeClr val="tx1"/>
                </a:solidFill>
                <a:latin typeface="微软雅黑" panose="020B0503020204020204" pitchFamily="34" charset="-122"/>
                <a:ea typeface="微软雅黑" panose="020B0503020204020204" pitchFamily="34" charset="-122"/>
              </a:rPr>
              <a:t>，但</a:t>
            </a:r>
            <a:r>
              <a:rPr lang="zh-CN" altLang="en-US" sz="1800" b="1" dirty="0">
                <a:solidFill>
                  <a:schemeClr val="tx1"/>
                </a:solidFill>
                <a:latin typeface="微软雅黑" panose="020B0503020204020204" pitchFamily="34" charset="-122"/>
                <a:ea typeface="微软雅黑" panose="020B0503020204020204" pitchFamily="34" charset="-122"/>
              </a:rPr>
              <a:t>无法从根本上</a:t>
            </a:r>
            <a:r>
              <a:rPr lang="zh-CN" altLang="en-US" sz="1800" dirty="0">
                <a:solidFill>
                  <a:schemeClr val="tx1"/>
                </a:solidFill>
                <a:latin typeface="微软雅黑" panose="020B0503020204020204" pitchFamily="34" charset="-122"/>
                <a:ea typeface="微软雅黑" panose="020B0503020204020204" pitchFamily="34" charset="-122"/>
              </a:rPr>
              <a:t>提高</a:t>
            </a:r>
            <a:r>
              <a:rPr lang="en-US" altLang="zh-CN" sz="1800" dirty="0">
                <a:solidFill>
                  <a:schemeClr val="tx1"/>
                </a:solidFill>
                <a:latin typeface="微软雅黑" panose="020B0503020204020204" pitchFamily="34" charset="-122"/>
                <a:ea typeface="微软雅黑" panose="020B0503020204020204" pitchFamily="34" charset="-122"/>
              </a:rPr>
              <a:t>P2P</a:t>
            </a:r>
            <a:r>
              <a:rPr lang="zh-CN" altLang="en-US" sz="1800" dirty="0">
                <a:solidFill>
                  <a:schemeClr val="tx1"/>
                </a:solidFill>
                <a:latin typeface="微软雅黑" panose="020B0503020204020204" pitchFamily="34" charset="-122"/>
                <a:ea typeface="微软雅黑" panose="020B0503020204020204" pitchFamily="34" charset="-122"/>
              </a:rPr>
              <a:t>网络安全性。</a:t>
            </a:r>
          </a:p>
        </p:txBody>
      </p:sp>
      <p:sp>
        <p:nvSpPr>
          <p:cNvPr id="3" name="灯片编号占位符 2"/>
          <p:cNvSpPr>
            <a:spLocks noGrp="1"/>
          </p:cNvSpPr>
          <p:nvPr>
            <p:ph type="sldNum" sz="quarter" idx="12"/>
          </p:nvPr>
        </p:nvSpPr>
        <p:spPr/>
        <p:txBody>
          <a:bodyPr/>
          <a:lstStyle/>
          <a:p>
            <a:fld id="{A8537B7A-7510-410A-AA53-45D600DA0276}" type="slidenum">
              <a:rPr lang="zh-CN" altLang="en-US" smtClean="0"/>
              <a:t>10</a:t>
            </a:fld>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2368" y="1129114"/>
            <a:ext cx="3933305" cy="383939"/>
          </a:xfrm>
          <a:prstGeom prst="rect">
            <a:avLst/>
          </a:prstGeom>
          <a:noFill/>
        </p:spPr>
        <p:txBody>
          <a:bodyPr wrap="square" lIns="0" tIns="48000" rIns="0" bIns="48000" rtlCol="0">
            <a:spAutoFit/>
          </a:bodyPr>
          <a:lstStyle/>
          <a:p>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2.3 P2P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网络安全性：应对机制</a:t>
            </a:r>
          </a:p>
        </p:txBody>
      </p:sp>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15748" y="-8518"/>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50000"/>
                    <a:lumOff val="50000"/>
                  </a:schemeClr>
                </a:solidFill>
                <a:latin typeface="微软雅黑" panose="020B0503020204020204" pitchFamily="34" charset="-122"/>
                <a:ea typeface="微软雅黑" panose="020B0503020204020204" pitchFamily="34" charset="-122"/>
                <a:sym typeface="+mn-ea"/>
              </a:rPr>
              <a:t>节点加密通信</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35795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6" name="文本框 35"/>
          <p:cNvSpPr txBox="1"/>
          <p:nvPr/>
        </p:nvSpPr>
        <p:spPr>
          <a:xfrm>
            <a:off x="425752" y="1814967"/>
            <a:ext cx="11355122" cy="2690288"/>
          </a:xfrm>
          <a:prstGeom prst="rect">
            <a:avLst/>
          </a:prstGeom>
          <a:noFill/>
        </p:spPr>
        <p:txBody>
          <a:bodyPr wrap="square">
            <a:spAutoFit/>
          </a:bodyPr>
          <a:lstStyle/>
          <a:p>
            <a:pPr marL="285750" indent="-285750" algn="just">
              <a:lnSpc>
                <a:spcPct val="150000"/>
              </a:lnSpc>
              <a:spcBef>
                <a:spcPts val="600"/>
              </a:spcBef>
              <a:buFont typeface="Arial" panose="020B0604020202020204" pitchFamily="34" charset="0"/>
              <a:buChar char="•"/>
              <a:tabLst>
                <a:tab pos="359410" algn="l"/>
              </a:tabLst>
            </a:pPr>
            <a:r>
              <a:rPr lang="zh-CN" altLang="en-US" sz="1800" dirty="0">
                <a:solidFill>
                  <a:schemeClr val="tx1"/>
                </a:solidFill>
                <a:latin typeface="微软雅黑" panose="020B0503020204020204" pitchFamily="34" charset="-122"/>
                <a:ea typeface="微软雅黑" panose="020B0503020204020204" pitchFamily="34" charset="-122"/>
              </a:rPr>
              <a:t>为了从根本上提高节点网络安全性，防止网络层攻击，</a:t>
            </a:r>
            <a:r>
              <a:rPr lang="zh-CN" altLang="en-US" sz="1800" b="1" dirty="0">
                <a:solidFill>
                  <a:schemeClr val="tx1"/>
                </a:solidFill>
                <a:latin typeface="微软雅黑" panose="020B0503020204020204" pitchFamily="34" charset="-122"/>
                <a:ea typeface="微软雅黑" panose="020B0503020204020204" pitchFamily="34" charset="-122"/>
              </a:rPr>
              <a:t>高镇等</a:t>
            </a:r>
            <a:r>
              <a:rPr lang="zh-CN" altLang="en-US" sz="1800" dirty="0">
                <a:solidFill>
                  <a:schemeClr val="tx1"/>
                </a:solidFill>
                <a:latin typeface="微软雅黑" panose="020B0503020204020204" pitchFamily="34" charset="-122"/>
                <a:ea typeface="微软雅黑" panose="020B0503020204020204" pitchFamily="34" charset="-122"/>
              </a:rPr>
              <a:t>在以太坊源码的基础上加入了</a:t>
            </a:r>
            <a:r>
              <a:rPr lang="zh-CN" altLang="en-US" sz="1800" b="1" dirty="0">
                <a:solidFill>
                  <a:schemeClr val="tx1"/>
                </a:solidFill>
                <a:latin typeface="微软雅黑" panose="020B0503020204020204" pitchFamily="34" charset="-122"/>
                <a:ea typeface="微软雅黑" panose="020B0503020204020204" pitchFamily="34" charset="-122"/>
              </a:rPr>
              <a:t>二次验证与数据恢复过程</a:t>
            </a:r>
            <a:r>
              <a:rPr lang="zh-CN" altLang="en-US" sz="1800" dirty="0">
                <a:solidFill>
                  <a:schemeClr val="tx1"/>
                </a:solidFill>
                <a:latin typeface="微软雅黑" panose="020B0503020204020204" pitchFamily="34" charset="-122"/>
                <a:ea typeface="微软雅黑" panose="020B0503020204020204" pitchFamily="34" charset="-122"/>
              </a:rPr>
              <a:t>。</a:t>
            </a:r>
            <a:endParaRPr lang="en-US" altLang="zh-CN" sz="1800" dirty="0">
              <a:solidFill>
                <a:schemeClr val="tx1"/>
              </a:solidFill>
              <a:latin typeface="微软雅黑" panose="020B0503020204020204" pitchFamily="34" charset="-122"/>
              <a:ea typeface="微软雅黑" panose="020B0503020204020204" pitchFamily="34" charset="-122"/>
            </a:endParaRPr>
          </a:p>
          <a:p>
            <a:pPr marL="285750" indent="-285750" algn="just">
              <a:lnSpc>
                <a:spcPct val="150000"/>
              </a:lnSpc>
              <a:spcBef>
                <a:spcPts val="600"/>
              </a:spcBef>
              <a:buFont typeface="Arial" panose="020B0604020202020204" pitchFamily="34" charset="0"/>
              <a:buChar char="•"/>
              <a:tabLst>
                <a:tab pos="359410" algn="l"/>
              </a:tabLst>
            </a:pPr>
            <a:r>
              <a:rPr lang="zh-CN" altLang="en-US" sz="1800" dirty="0">
                <a:solidFill>
                  <a:schemeClr val="tx1"/>
                </a:solidFill>
                <a:latin typeface="微软雅黑" panose="020B0503020204020204" pitchFamily="34" charset="-122"/>
                <a:ea typeface="微软雅黑" panose="020B0503020204020204" pitchFamily="34" charset="-122"/>
              </a:rPr>
              <a:t>为了更好地研究僵尸网络威胁，</a:t>
            </a:r>
            <a:r>
              <a:rPr lang="zh-CN" altLang="en-US" sz="1800" b="1" dirty="0">
                <a:solidFill>
                  <a:schemeClr val="tx1"/>
                </a:solidFill>
                <a:latin typeface="微软雅黑" panose="020B0503020204020204" pitchFamily="34" charset="-122"/>
                <a:ea typeface="微软雅黑" panose="020B0503020204020204" pitchFamily="34" charset="-122"/>
              </a:rPr>
              <a:t>赵昊等</a:t>
            </a:r>
            <a:r>
              <a:rPr lang="en-US" altLang="zh-CN" sz="1800" b="1" dirty="0">
                <a:solidFill>
                  <a:schemeClr val="tx1"/>
                </a:solidFill>
                <a:latin typeface="微软雅黑" panose="020B0503020204020204" pitchFamily="34" charset="-122"/>
                <a:ea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rPr>
              <a:t>采用</a:t>
            </a:r>
            <a:r>
              <a:rPr lang="zh-CN" altLang="en-US" sz="1800" b="1" dirty="0">
                <a:solidFill>
                  <a:schemeClr val="tx1"/>
                </a:solidFill>
                <a:latin typeface="微软雅黑" panose="020B0503020204020204" pitchFamily="34" charset="-122"/>
                <a:ea typeface="微软雅黑" panose="020B0503020204020204" pitchFamily="34" charset="-122"/>
              </a:rPr>
              <a:t>分层混合拓扑结构</a:t>
            </a:r>
            <a:r>
              <a:rPr lang="zh-CN" altLang="en-US" sz="1800" dirty="0">
                <a:solidFill>
                  <a:schemeClr val="tx1"/>
                </a:solidFill>
                <a:latin typeface="微软雅黑" panose="020B0503020204020204" pitchFamily="34" charset="-122"/>
                <a:ea typeface="微软雅黑" panose="020B0503020204020204" pitchFamily="34" charset="-122"/>
              </a:rPr>
              <a:t>，在僵尸子网层构建基于智能合约的命令传输通道，建立可信度评价机制判断节点真实性，从流量和终端两大层面增强网络的对抗性。</a:t>
            </a:r>
            <a:endParaRPr lang="en-US" altLang="zh-CN" sz="1800" dirty="0">
              <a:solidFill>
                <a:schemeClr val="tx1"/>
              </a:solidFill>
              <a:latin typeface="微软雅黑" panose="020B0503020204020204" pitchFamily="34" charset="-122"/>
              <a:ea typeface="微软雅黑" panose="020B0503020204020204" pitchFamily="34" charset="-122"/>
            </a:endParaRPr>
          </a:p>
          <a:p>
            <a:pPr marL="285750" indent="-285750" algn="just">
              <a:lnSpc>
                <a:spcPct val="150000"/>
              </a:lnSpc>
              <a:spcBef>
                <a:spcPts val="600"/>
              </a:spcBef>
              <a:buFont typeface="Arial" panose="020B0604020202020204" pitchFamily="34" charset="0"/>
              <a:buChar char="•"/>
              <a:tabLst>
                <a:tab pos="359410" algn="l"/>
              </a:tabLst>
            </a:pPr>
            <a:r>
              <a:rPr lang="zh-CN" altLang="en-US" sz="1800" dirty="0">
                <a:solidFill>
                  <a:schemeClr val="tx1"/>
                </a:solidFill>
                <a:latin typeface="微软雅黑" panose="020B0503020204020204" pitchFamily="34" charset="-122"/>
                <a:ea typeface="微软雅黑" panose="020B0503020204020204" pitchFamily="34" charset="-122"/>
              </a:rPr>
              <a:t>为防止权力的过度集中，可以设计防 </a:t>
            </a:r>
            <a:r>
              <a:rPr lang="en-US" altLang="zh-CN" sz="1800" dirty="0">
                <a:solidFill>
                  <a:schemeClr val="tx1"/>
                </a:solidFill>
                <a:latin typeface="微软雅黑" panose="020B0503020204020204" pitchFamily="34" charset="-122"/>
                <a:ea typeface="微软雅黑" panose="020B0503020204020204" pitchFamily="34" charset="-122"/>
              </a:rPr>
              <a:t>ASIC </a:t>
            </a:r>
            <a:r>
              <a:rPr lang="zh-CN" altLang="en-US" sz="1800" dirty="0">
                <a:solidFill>
                  <a:schemeClr val="tx1"/>
                </a:solidFill>
                <a:latin typeface="微软雅黑" panose="020B0503020204020204" pitchFamily="34" charset="-122"/>
                <a:ea typeface="微软雅黑" panose="020B0503020204020204" pitchFamily="34" charset="-122"/>
              </a:rPr>
              <a:t>挖矿的</a:t>
            </a:r>
            <a:r>
              <a:rPr lang="zh-CN" altLang="en-US" sz="1800" b="1" dirty="0">
                <a:solidFill>
                  <a:schemeClr val="tx1"/>
                </a:solidFill>
                <a:latin typeface="微软雅黑" panose="020B0503020204020204" pitchFamily="34" charset="-122"/>
                <a:ea typeface="微软雅黑" panose="020B0503020204020204" pitchFamily="34" charset="-122"/>
              </a:rPr>
              <a:t>共识协议</a:t>
            </a:r>
            <a:r>
              <a:rPr lang="en-US" altLang="zh-CN" sz="1800" dirty="0">
                <a:solidFill>
                  <a:schemeClr val="tx1"/>
                </a:solidFill>
                <a:latin typeface="微软雅黑" panose="020B0503020204020204" pitchFamily="34" charset="-122"/>
                <a:ea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rPr>
              <a:t>也可以用</a:t>
            </a:r>
            <a:r>
              <a:rPr lang="zh-CN" altLang="en-US" sz="1800" b="1" dirty="0">
                <a:solidFill>
                  <a:schemeClr val="tx1"/>
                </a:solidFill>
                <a:latin typeface="微软雅黑" panose="020B0503020204020204" pitchFamily="34" charset="-122"/>
                <a:ea typeface="微软雅黑" panose="020B0503020204020204" pitchFamily="34" charset="-122"/>
              </a:rPr>
              <a:t>密码抽签技术</a:t>
            </a:r>
            <a:r>
              <a:rPr lang="zh-CN" altLang="en-US" sz="1800" dirty="0">
                <a:solidFill>
                  <a:schemeClr val="tx1"/>
                </a:solidFill>
                <a:latin typeface="微软雅黑" panose="020B0503020204020204" pitchFamily="34" charset="-122"/>
                <a:ea typeface="微软雅黑" panose="020B0503020204020204" pitchFamily="34" charset="-122"/>
              </a:rPr>
              <a:t>增加共识层数。为防止 </a:t>
            </a:r>
            <a:r>
              <a:rPr lang="en-US" altLang="zh-CN" sz="1800" dirty="0">
                <a:solidFill>
                  <a:schemeClr val="tx1"/>
                </a:solidFill>
                <a:latin typeface="微软雅黑" panose="020B0503020204020204" pitchFamily="34" charset="-122"/>
                <a:ea typeface="微软雅黑" panose="020B0503020204020204" pitchFamily="34" charset="-122"/>
              </a:rPr>
              <a:t>DDoS </a:t>
            </a:r>
            <a:r>
              <a:rPr lang="zh-CN" altLang="en-US" sz="1800" dirty="0">
                <a:solidFill>
                  <a:schemeClr val="tx1"/>
                </a:solidFill>
                <a:latin typeface="微软雅黑" panose="020B0503020204020204" pitchFamily="34" charset="-122"/>
                <a:ea typeface="微软雅黑" panose="020B0503020204020204" pitchFamily="34" charset="-122"/>
              </a:rPr>
              <a:t>攻击，开发者在设计激励机制时要</a:t>
            </a:r>
            <a:r>
              <a:rPr lang="zh-CN" altLang="en-US" sz="1800" b="1" dirty="0">
                <a:solidFill>
                  <a:schemeClr val="tx1"/>
                </a:solidFill>
                <a:latin typeface="微软雅黑" panose="020B0503020204020204" pitchFamily="34" charset="-122"/>
                <a:ea typeface="微软雅黑" panose="020B0503020204020204" pitchFamily="34" charset="-122"/>
              </a:rPr>
              <a:t>考虑到 </a:t>
            </a:r>
            <a:r>
              <a:rPr lang="en-US" altLang="zh-CN" sz="1800" b="1" dirty="0">
                <a:solidFill>
                  <a:schemeClr val="tx1"/>
                </a:solidFill>
                <a:latin typeface="微软雅黑" panose="020B0503020204020204" pitchFamily="34" charset="-122"/>
                <a:ea typeface="微软雅黑" panose="020B0503020204020204" pitchFamily="34" charset="-122"/>
              </a:rPr>
              <a:t>DDoS </a:t>
            </a:r>
            <a:r>
              <a:rPr lang="zh-CN" altLang="en-US" sz="1800" b="1" dirty="0">
                <a:solidFill>
                  <a:schemeClr val="tx1"/>
                </a:solidFill>
                <a:latin typeface="微软雅黑" panose="020B0503020204020204" pitchFamily="34" charset="-122"/>
                <a:ea typeface="微软雅黑" panose="020B0503020204020204" pitchFamily="34" charset="-122"/>
              </a:rPr>
              <a:t>攻击的成本</a:t>
            </a:r>
            <a:r>
              <a:rPr lang="zh-CN" altLang="en-US" sz="1800" dirty="0">
                <a:solidFill>
                  <a:schemeClr val="tx1"/>
                </a:solidFill>
                <a:latin typeface="微软雅黑" panose="020B0503020204020204" pitchFamily="34" charset="-122"/>
                <a:ea typeface="微软雅黑" panose="020B0503020204020204" pitchFamily="34" charset="-122"/>
              </a:rPr>
              <a:t>问题。</a:t>
            </a:r>
          </a:p>
        </p:txBody>
      </p:sp>
      <p:sp>
        <p:nvSpPr>
          <p:cNvPr id="3" name="灯片编号占位符 2"/>
          <p:cNvSpPr>
            <a:spLocks noGrp="1"/>
          </p:cNvSpPr>
          <p:nvPr>
            <p:ph type="sldNum" sz="quarter" idx="12"/>
          </p:nvPr>
        </p:nvSpPr>
        <p:spPr/>
        <p:txBody>
          <a:bodyPr/>
          <a:lstStyle/>
          <a:p>
            <a:fld id="{A8537B7A-7510-410A-AA53-45D600DA0276}" type="slidenum">
              <a:rPr lang="zh-CN" altLang="en-US" smtClean="0"/>
              <a:t>11</a:t>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以太坊节点加密通信</a:t>
            </a: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Part.03</a:t>
            </a:r>
          </a:p>
        </p:txBody>
      </p:sp>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12</a:t>
            </a:fld>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81330" y="1108710"/>
            <a:ext cx="2200910"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3.1 </a:t>
            </a:r>
            <a:r>
              <a:rPr lang="en-US" altLang="zh-CN" sz="1865" b="1" dirty="0" err="1">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RLPx</a:t>
            </a: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传输协议</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矩形 3"/>
          <p:cNvSpPr/>
          <p:nvPr/>
        </p:nvSpPr>
        <p:spPr>
          <a:xfrm>
            <a:off x="1501775" y="3265170"/>
            <a:ext cx="1794510" cy="1788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a:stCxn id="4" idx="1"/>
            <a:endCxn id="4" idx="3"/>
          </p:cNvCxnSpPr>
          <p:nvPr/>
        </p:nvCxnSpPr>
        <p:spPr>
          <a:xfrm>
            <a:off x="1501960" y="4159065"/>
            <a:ext cx="1794510" cy="0"/>
          </a:xfrm>
          <a:prstGeom prst="line">
            <a:avLst/>
          </a:prstGeom>
          <a:ln w="19050"/>
        </p:spPr>
        <p:style>
          <a:lnRef idx="1">
            <a:schemeClr val="dk1"/>
          </a:lnRef>
          <a:fillRef idx="0">
            <a:schemeClr val="dk1"/>
          </a:fillRef>
          <a:effectRef idx="0">
            <a:schemeClr val="dk1"/>
          </a:effectRef>
          <a:fontRef idx="minor">
            <a:schemeClr val="tx1"/>
          </a:fontRef>
        </p:style>
      </p:cxnSp>
      <p:sp>
        <p:nvSpPr>
          <p:cNvPr id="7" name="文本框 6"/>
          <p:cNvSpPr txBox="1"/>
          <p:nvPr/>
        </p:nvSpPr>
        <p:spPr>
          <a:xfrm>
            <a:off x="1474470" y="3552190"/>
            <a:ext cx="1849120" cy="1385570"/>
          </a:xfrm>
          <a:prstGeom prst="rect">
            <a:avLst/>
          </a:prstGeom>
          <a:noFill/>
        </p:spPr>
        <p:txBody>
          <a:bodyPr wrap="square" rtlCol="0">
            <a:noAutofit/>
          </a:bodyPr>
          <a:lstStyle/>
          <a:p>
            <a:pPr algn="ctr"/>
            <a:r>
              <a:rPr lang="zh-CN" altLang="en-US" dirty="0">
                <a:latin typeface="微软雅黑" panose="020B0503020204020204" pitchFamily="34" charset="-122"/>
                <a:ea typeface="微软雅黑" panose="020B0503020204020204" pitchFamily="34" charset="-122"/>
              </a:rPr>
              <a:t>节点发现协议</a:t>
            </a:r>
          </a:p>
          <a:p>
            <a:pPr algn="ctr"/>
            <a:endParaRPr lang="en-US" altLang="zh-CN" dirty="0">
              <a:latin typeface="微软雅黑" panose="020B0503020204020204" pitchFamily="34" charset="-122"/>
              <a:ea typeface="微软雅黑" panose="020B0503020204020204" pitchFamily="34" charset="-122"/>
            </a:endParaRPr>
          </a:p>
          <a:p>
            <a:pPr algn="ct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UDP</a:t>
            </a:r>
          </a:p>
        </p:txBody>
      </p:sp>
      <p:sp>
        <p:nvSpPr>
          <p:cNvPr id="11" name="文本框 10"/>
          <p:cNvSpPr txBox="1"/>
          <p:nvPr/>
        </p:nvSpPr>
        <p:spPr>
          <a:xfrm>
            <a:off x="3746500" y="2491105"/>
            <a:ext cx="1603375" cy="2121535"/>
          </a:xfrm>
          <a:prstGeom prst="rect">
            <a:avLst/>
          </a:prstGeom>
          <a:noFill/>
        </p:spPr>
        <p:txBody>
          <a:bodyPr wrap="square" rtlCol="0">
            <a:noAutofit/>
          </a:bodyPr>
          <a:lstStyle/>
          <a:p>
            <a:pPr algn="ctr"/>
            <a:r>
              <a:rPr lang="en-US" altLang="zh-CN" dirty="0">
                <a:latin typeface="微软雅黑" panose="020B0503020204020204" pitchFamily="34" charset="-122"/>
                <a:ea typeface="微软雅黑" panose="020B0503020204020204" pitchFamily="34" charset="-122"/>
              </a:rPr>
              <a:t>ETH</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LES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PIP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p>
          <a:p>
            <a:pPr algn="ctr"/>
            <a:endParaRPr lang="en-US" altLang="zh-CN" dirty="0">
              <a:latin typeface="微软雅黑" panose="020B0503020204020204" pitchFamily="34" charset="-122"/>
              <a:ea typeface="微软雅黑" panose="020B0503020204020204" pitchFamily="34" charset="-122"/>
            </a:endParaRPr>
          </a:p>
          <a:p>
            <a:pPr algn="ctr"/>
            <a:endParaRPr lang="en-US" altLang="zh-CN" dirty="0">
              <a:latin typeface="微软雅黑" panose="020B0503020204020204" pitchFamily="34" charset="-122"/>
              <a:ea typeface="微软雅黑" panose="020B0503020204020204" pitchFamily="34" charset="-122"/>
            </a:endParaRPr>
          </a:p>
          <a:p>
            <a:pPr algn="ctr"/>
            <a:r>
              <a:rPr lang="en-US" altLang="zh-CN" dirty="0" err="1">
                <a:latin typeface="微软雅黑" panose="020B0503020204020204" pitchFamily="34" charset="-122"/>
                <a:ea typeface="微软雅黑" panose="020B0503020204020204" pitchFamily="34" charset="-122"/>
              </a:rPr>
              <a:t>RLPx</a:t>
            </a:r>
            <a:r>
              <a:rPr lang="zh-CN" altLang="en-US" dirty="0">
                <a:latin typeface="微软雅黑" panose="020B0503020204020204" pitchFamily="34" charset="-122"/>
                <a:ea typeface="微软雅黑" panose="020B0503020204020204" pitchFamily="34" charset="-122"/>
              </a:rPr>
              <a:t>协议</a:t>
            </a:r>
            <a:endParaRPr lang="en-US" altLang="zh-CN" dirty="0">
              <a:latin typeface="微软雅黑" panose="020B0503020204020204" pitchFamily="34" charset="-122"/>
              <a:ea typeface="微软雅黑" panose="020B0503020204020204" pitchFamily="34" charset="-122"/>
            </a:endParaRPr>
          </a:p>
          <a:p>
            <a:pPr algn="ctr"/>
            <a:endParaRPr lang="en-US" altLang="zh-CN" dirty="0">
              <a:latin typeface="微软雅黑" panose="020B0503020204020204" pitchFamily="34" charset="-122"/>
              <a:ea typeface="微软雅黑" panose="020B0503020204020204" pitchFamily="34" charset="-122"/>
            </a:endParaRPr>
          </a:p>
          <a:p>
            <a:pPr algn="ct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TCP</a:t>
            </a:r>
          </a:p>
        </p:txBody>
      </p:sp>
      <p:sp>
        <p:nvSpPr>
          <p:cNvPr id="48" name="矩形 47"/>
          <p:cNvSpPr/>
          <p:nvPr/>
        </p:nvSpPr>
        <p:spPr>
          <a:xfrm>
            <a:off x="3651250" y="3265805"/>
            <a:ext cx="1794510" cy="1788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p:nvPr/>
        </p:nvCxnSpPr>
        <p:spPr>
          <a:xfrm>
            <a:off x="3651435" y="4159700"/>
            <a:ext cx="1794510" cy="0"/>
          </a:xfrm>
          <a:prstGeom prst="line">
            <a:avLst/>
          </a:prstGeom>
          <a:ln w="19050"/>
        </p:spPr>
        <p:style>
          <a:lnRef idx="1">
            <a:schemeClr val="dk1"/>
          </a:lnRef>
          <a:fillRef idx="0">
            <a:schemeClr val="dk1"/>
          </a:fillRef>
          <a:effectRef idx="0">
            <a:schemeClr val="dk1"/>
          </a:effectRef>
          <a:fontRef idx="minor">
            <a:schemeClr val="tx1"/>
          </a:fontRef>
        </p:style>
      </p:cxnSp>
      <p:sp>
        <p:nvSpPr>
          <p:cNvPr id="51" name="矩形 50"/>
          <p:cNvSpPr/>
          <p:nvPr/>
        </p:nvSpPr>
        <p:spPr>
          <a:xfrm>
            <a:off x="3651250" y="2371725"/>
            <a:ext cx="1794510" cy="89344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2525423" y="5411607"/>
            <a:ext cx="1985241" cy="430887"/>
          </a:xfrm>
          <a:prstGeom prst="rect">
            <a:avLst/>
          </a:prstGeom>
          <a:noFill/>
        </p:spPr>
        <p:txBody>
          <a:bodyPr wrap="square" rtlCol="0">
            <a:spAutoFit/>
          </a:bodyPr>
          <a:lstStyle/>
          <a:p>
            <a:pPr algn="ctr"/>
            <a:r>
              <a:rPr lang="en-US" altLang="zh-CN" sz="2200" b="1" dirty="0">
                <a:latin typeface="Times New Roman" panose="02020603050405020304" charset="0"/>
                <a:cs typeface="Times New Roman" panose="02020603050405020304" charset="0"/>
              </a:rPr>
              <a:t>(a) devp2p</a:t>
            </a:r>
          </a:p>
        </p:txBody>
      </p:sp>
      <p:cxnSp>
        <p:nvCxnSpPr>
          <p:cNvPr id="53" name="直接箭头连接符 52"/>
          <p:cNvCxnSpPr/>
          <p:nvPr/>
        </p:nvCxnSpPr>
        <p:spPr>
          <a:xfrm>
            <a:off x="7119805" y="2496379"/>
            <a:ext cx="17780" cy="2754630"/>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flipH="1">
            <a:off x="7148135" y="3208930"/>
            <a:ext cx="1749425" cy="4032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p:nvPr/>
        </p:nvCxnSpPr>
        <p:spPr>
          <a:xfrm>
            <a:off x="7118535" y="2654663"/>
            <a:ext cx="1781175" cy="39878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9" name="文本框 58"/>
          <p:cNvSpPr txBox="1"/>
          <p:nvPr/>
        </p:nvSpPr>
        <p:spPr>
          <a:xfrm>
            <a:off x="6115685" y="2091690"/>
            <a:ext cx="3806190" cy="368300"/>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Initiator             Recipient</a:t>
            </a:r>
          </a:p>
        </p:txBody>
      </p:sp>
      <p:sp>
        <p:nvSpPr>
          <p:cNvPr id="60" name="左大括号 59"/>
          <p:cNvSpPr/>
          <p:nvPr/>
        </p:nvSpPr>
        <p:spPr>
          <a:xfrm flipH="1">
            <a:off x="8930005" y="2654935"/>
            <a:ext cx="115570" cy="956310"/>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65" name="直接箭头连接符 64"/>
          <p:cNvCxnSpPr/>
          <p:nvPr/>
        </p:nvCxnSpPr>
        <p:spPr>
          <a:xfrm>
            <a:off x="8890185" y="2467169"/>
            <a:ext cx="18415" cy="2761615"/>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66" name="文本框 65"/>
          <p:cNvSpPr txBox="1"/>
          <p:nvPr/>
        </p:nvSpPr>
        <p:spPr>
          <a:xfrm>
            <a:off x="7670800" y="2529205"/>
            <a:ext cx="697230" cy="337185"/>
          </a:xfrm>
          <a:prstGeom prst="rect">
            <a:avLst/>
          </a:prstGeom>
          <a:noFill/>
        </p:spPr>
        <p:txBody>
          <a:bodyPr wrap="square" rtlCol="0">
            <a:spAutoFit/>
          </a:bodyPr>
          <a:lstStyle/>
          <a:p>
            <a:pPr algn="ctr"/>
            <a:r>
              <a:rPr lang="en-US" altLang="zh-CN" sz="1600">
                <a:latin typeface="微软雅黑" panose="020B0503020204020204" pitchFamily="34" charset="-122"/>
                <a:ea typeface="微软雅黑" panose="020B0503020204020204" pitchFamily="34" charset="-122"/>
              </a:rPr>
              <a:t>auth</a:t>
            </a:r>
          </a:p>
        </p:txBody>
      </p:sp>
      <p:sp>
        <p:nvSpPr>
          <p:cNvPr id="67" name="文本框 66"/>
          <p:cNvSpPr txBox="1"/>
          <p:nvPr/>
        </p:nvSpPr>
        <p:spPr>
          <a:xfrm>
            <a:off x="7429500" y="3383280"/>
            <a:ext cx="1398905" cy="337185"/>
          </a:xfrm>
          <a:prstGeom prst="rect">
            <a:avLst/>
          </a:prstGeom>
          <a:noFill/>
        </p:spPr>
        <p:txBody>
          <a:bodyPr wrap="square" rtlCol="0">
            <a:spAutoFit/>
          </a:bodyPr>
          <a:lstStyle/>
          <a:p>
            <a:pPr algn="ctr"/>
            <a:r>
              <a:rPr lang="en-US" altLang="zh-CN" sz="1600">
                <a:latin typeface="微软雅黑" panose="020B0503020204020204" pitchFamily="34" charset="-122"/>
                <a:ea typeface="微软雅黑" panose="020B0503020204020204" pitchFamily="34" charset="-122"/>
              </a:rPr>
              <a:t>auth-ack</a:t>
            </a:r>
          </a:p>
        </p:txBody>
      </p:sp>
      <p:sp>
        <p:nvSpPr>
          <p:cNvPr id="68" name="文本框 67"/>
          <p:cNvSpPr txBox="1"/>
          <p:nvPr/>
        </p:nvSpPr>
        <p:spPr>
          <a:xfrm>
            <a:off x="9104630" y="2939415"/>
            <a:ext cx="1486535" cy="368300"/>
          </a:xfrm>
          <a:prstGeom prst="rect">
            <a:avLst/>
          </a:prstGeom>
          <a:noFill/>
        </p:spPr>
        <p:txBody>
          <a:bodyPr wrap="square" rtlCol="0">
            <a:spAutoFit/>
          </a:bodyPr>
          <a:lstStyle/>
          <a:p>
            <a:pPr algn="ctr"/>
            <a:r>
              <a:rPr lang="zh-CN" altLang="en-US" b="1">
                <a:solidFill>
                  <a:srgbClr val="014723"/>
                </a:solidFill>
                <a:latin typeface="微软雅黑" panose="020B0503020204020204" pitchFamily="34" charset="-122"/>
                <a:ea typeface="微软雅黑" panose="020B0503020204020204" pitchFamily="34" charset="-122"/>
              </a:rPr>
              <a:t>第一次握手</a:t>
            </a:r>
          </a:p>
        </p:txBody>
      </p:sp>
      <p:cxnSp>
        <p:nvCxnSpPr>
          <p:cNvPr id="69" name="直接箭头连接符 68"/>
          <p:cNvCxnSpPr/>
          <p:nvPr/>
        </p:nvCxnSpPr>
        <p:spPr>
          <a:xfrm>
            <a:off x="7118535" y="4237083"/>
            <a:ext cx="1781175" cy="39878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p:cNvCxnSpPr/>
          <p:nvPr/>
        </p:nvCxnSpPr>
        <p:spPr>
          <a:xfrm flipH="1">
            <a:off x="7134800" y="4237630"/>
            <a:ext cx="1749425" cy="4032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72" name="文本框 71"/>
          <p:cNvSpPr txBox="1"/>
          <p:nvPr/>
        </p:nvSpPr>
        <p:spPr>
          <a:xfrm>
            <a:off x="7068820" y="3973830"/>
            <a:ext cx="876300" cy="337185"/>
          </a:xfrm>
          <a:prstGeom prst="rect">
            <a:avLst/>
          </a:prstGeom>
          <a:noFill/>
        </p:spPr>
        <p:txBody>
          <a:bodyPr wrap="square" rtlCol="0">
            <a:spAutoFit/>
          </a:bodyPr>
          <a:lstStyle/>
          <a:p>
            <a:pPr algn="ctr"/>
            <a:r>
              <a:rPr lang="en-US" altLang="zh-CN" sz="1600">
                <a:latin typeface="微软雅黑" panose="020B0503020204020204" pitchFamily="34" charset="-122"/>
                <a:ea typeface="微软雅黑" panose="020B0503020204020204" pitchFamily="34" charset="-122"/>
              </a:rPr>
              <a:t>Hello</a:t>
            </a:r>
          </a:p>
        </p:txBody>
      </p:sp>
      <p:sp>
        <p:nvSpPr>
          <p:cNvPr id="73" name="文本框 72"/>
          <p:cNvSpPr txBox="1"/>
          <p:nvPr/>
        </p:nvSpPr>
        <p:spPr>
          <a:xfrm>
            <a:off x="8155305" y="3969385"/>
            <a:ext cx="876300" cy="337185"/>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Hello</a:t>
            </a:r>
          </a:p>
        </p:txBody>
      </p:sp>
      <p:sp>
        <p:nvSpPr>
          <p:cNvPr id="74" name="左大括号 73"/>
          <p:cNvSpPr/>
          <p:nvPr/>
        </p:nvSpPr>
        <p:spPr>
          <a:xfrm flipH="1">
            <a:off x="8930005" y="4026535"/>
            <a:ext cx="115570" cy="829310"/>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75" name="文本框 74"/>
          <p:cNvSpPr txBox="1"/>
          <p:nvPr/>
        </p:nvSpPr>
        <p:spPr>
          <a:xfrm>
            <a:off x="9104630" y="4311015"/>
            <a:ext cx="1486535" cy="368300"/>
          </a:xfrm>
          <a:prstGeom prst="rect">
            <a:avLst/>
          </a:prstGeom>
          <a:noFill/>
        </p:spPr>
        <p:txBody>
          <a:bodyPr wrap="square" rtlCol="0">
            <a:spAutoFit/>
          </a:bodyPr>
          <a:lstStyle/>
          <a:p>
            <a:pPr algn="ctr"/>
            <a:r>
              <a:rPr lang="zh-CN" altLang="en-US" b="1" dirty="0">
                <a:solidFill>
                  <a:srgbClr val="014723"/>
                </a:solidFill>
                <a:latin typeface="微软雅黑" panose="020B0503020204020204" pitchFamily="34" charset="-122"/>
                <a:ea typeface="微软雅黑" panose="020B0503020204020204" pitchFamily="34" charset="-122"/>
              </a:rPr>
              <a:t>第二次握手</a:t>
            </a:r>
          </a:p>
        </p:txBody>
      </p:sp>
      <p:sp>
        <p:nvSpPr>
          <p:cNvPr id="76" name="文本框 75"/>
          <p:cNvSpPr txBox="1"/>
          <p:nvPr/>
        </p:nvSpPr>
        <p:spPr>
          <a:xfrm>
            <a:off x="7307262" y="5411608"/>
            <a:ext cx="3042285" cy="430887"/>
          </a:xfrm>
          <a:prstGeom prst="rect">
            <a:avLst/>
          </a:prstGeom>
          <a:noFill/>
        </p:spPr>
        <p:txBody>
          <a:bodyPr wrap="square" rtlCol="0">
            <a:spAutoFit/>
          </a:bodyPr>
          <a:lstStyle/>
          <a:p>
            <a:pPr algn="ctr"/>
            <a:r>
              <a:rPr lang="en-US" altLang="zh-CN" sz="2200" b="1" dirty="0">
                <a:latin typeface="Times New Roman" panose="02020603050405020304" charset="0"/>
                <a:cs typeface="Times New Roman" panose="02020603050405020304" charset="0"/>
              </a:rPr>
              <a:t>(b) </a:t>
            </a:r>
            <a:r>
              <a:rPr lang="en-US" altLang="zh-CN" sz="2200" b="1" dirty="0" err="1">
                <a:latin typeface="Times New Roman" panose="02020603050405020304" charset="0"/>
                <a:cs typeface="Times New Roman" panose="02020603050405020304" charset="0"/>
              </a:rPr>
              <a:t>RLPx</a:t>
            </a:r>
            <a:r>
              <a:rPr lang="en-US" altLang="zh-CN" sz="2200" b="1" dirty="0">
                <a:latin typeface="Times New Roman" panose="02020603050405020304" charset="0"/>
                <a:cs typeface="Times New Roman" panose="02020603050405020304" charset="0"/>
              </a:rPr>
              <a:t> </a:t>
            </a:r>
            <a:r>
              <a:rPr lang="zh-CN" altLang="en-US" sz="2200" b="1" dirty="0">
                <a:latin typeface="Times New Roman" panose="02020603050405020304" charset="0"/>
                <a:cs typeface="Times New Roman" panose="02020603050405020304" charset="0"/>
              </a:rPr>
              <a:t>两阶段握手</a:t>
            </a:r>
            <a:endParaRPr lang="en-US" altLang="zh-CN" sz="2200" b="1" dirty="0">
              <a:latin typeface="Times New Roman" panose="02020603050405020304" charset="0"/>
              <a:cs typeface="Times New Roman" panose="02020603050405020304" charset="0"/>
            </a:endParaRPr>
          </a:p>
        </p:txBody>
      </p:sp>
      <p:sp>
        <p:nvSpPr>
          <p:cNvPr id="3" name="灯片编号占位符 2"/>
          <p:cNvSpPr>
            <a:spLocks noGrp="1"/>
          </p:cNvSpPr>
          <p:nvPr>
            <p:ph type="sldNum" sz="quarter" idx="12"/>
          </p:nvPr>
        </p:nvSpPr>
        <p:spPr/>
        <p:txBody>
          <a:bodyPr/>
          <a:lstStyle/>
          <a:p>
            <a:fld id="{A8537B7A-7510-410A-AA53-45D600DA0276}" type="slidenum">
              <a:rPr lang="zh-CN" altLang="en-US" smtClean="0"/>
              <a:t>13</a:t>
            </a:fld>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19" name="直接箭头连接符 18"/>
          <p:cNvCxnSpPr/>
          <p:nvPr/>
        </p:nvCxnSpPr>
        <p:spPr>
          <a:xfrm>
            <a:off x="4619878" y="3274628"/>
            <a:ext cx="2446655" cy="1905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2207260" y="2913380"/>
            <a:ext cx="2469515" cy="2153285"/>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生成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a:t>
            </a:r>
            <a:r>
              <a:rPr lang="zh-CN" altLang="en-US" sz="2000" dirty="0">
                <a:latin typeface="微软雅黑" panose="020B0503020204020204" pitchFamily="34" charset="-122"/>
                <a:ea typeface="微软雅黑" panose="020B0503020204020204" pitchFamily="34" charset="-122"/>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 </a:t>
            </a:r>
            <a:r>
              <a:rPr lang="en-US" altLang="zh-CN" sz="2000" i="1" dirty="0">
                <a:latin typeface="Times New Roman" panose="02020603050405020304" charset="0"/>
                <a:ea typeface="微软雅黑" panose="020B0503020204020204" pitchFamily="34" charset="-122"/>
                <a:cs typeface="Times New Roman" panose="02020603050405020304" charset="0"/>
              </a:rPr>
              <a:t>G</a:t>
            </a: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1400" dirty="0">
              <a:latin typeface="微软雅黑" panose="020B0503020204020204" pitchFamily="34" charset="-122"/>
              <a:ea typeface="微软雅黑" panose="020B0503020204020204" pitchFamily="34" charset="-122"/>
            </a:endParaRPr>
          </a:p>
          <a:p>
            <a:pPr algn="ctr"/>
            <a:r>
              <a:rPr lang="zh-CN" altLang="en-US" sz="2000" dirty="0">
                <a:latin typeface="Times New Roman" panose="02020603050405020304" charset="0"/>
                <a:ea typeface="微软雅黑" panose="020B0503020204020204" pitchFamily="34" charset="-122"/>
                <a:cs typeface="Times New Roman" panose="02020603050405020304" charset="0"/>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  </a:t>
            </a:r>
            <a:r>
              <a:rPr lang="en-US" altLang="zh-CN" sz="2000" dirty="0">
                <a:latin typeface="Times New Roman" panose="02020603050405020304" charset="0"/>
                <a:ea typeface="微软雅黑" panose="020B0503020204020204" pitchFamily="34" charset="-122"/>
                <a:cs typeface="Times New Roman" panose="02020603050405020304" charset="0"/>
              </a:rPr>
              <a:t>(</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 </a:t>
            </a:r>
            <a:r>
              <a:rPr lang="en-US" altLang="zh-CN" sz="2000" i="1" dirty="0">
                <a:latin typeface="Times New Roman" panose="02020603050405020304" charset="0"/>
                <a:ea typeface="微软雅黑" panose="020B0503020204020204" pitchFamily="34" charset="-122"/>
                <a:cs typeface="Times New Roman" panose="02020603050405020304" charset="0"/>
              </a:rPr>
              <a:t>G</a:t>
            </a:r>
            <a:r>
              <a:rPr lang="en-US" altLang="zh-CN" sz="2000" dirty="0">
                <a:latin typeface="Times New Roman" panose="02020603050405020304" charset="0"/>
                <a:ea typeface="微软雅黑" panose="020B0503020204020204" pitchFamily="34" charset="-122"/>
                <a:cs typeface="Times New Roman" panose="02020603050405020304" charset="0"/>
              </a:rPr>
              <a:t>)</a:t>
            </a:r>
          </a:p>
        </p:txBody>
      </p:sp>
      <p:sp>
        <p:nvSpPr>
          <p:cNvPr id="8" name="文本框 7"/>
          <p:cNvSpPr txBox="1"/>
          <p:nvPr/>
        </p:nvSpPr>
        <p:spPr>
          <a:xfrm>
            <a:off x="6887210" y="3465195"/>
            <a:ext cx="2795270" cy="1722120"/>
          </a:xfrm>
          <a:prstGeom prst="rect">
            <a:avLst/>
          </a:prstGeom>
          <a:noFill/>
        </p:spPr>
        <p:txBody>
          <a:bodyPr wrap="square" rtlCol="0">
            <a:spAutoFit/>
          </a:bodyPr>
          <a:lstStyle/>
          <a:p>
            <a:pPr algn="ctr">
              <a:lnSpc>
                <a:spcPct val="150000"/>
              </a:lnSpc>
            </a:pPr>
            <a:r>
              <a:rPr lang="zh-CN" altLang="en-US" sz="2000" dirty="0">
                <a:latin typeface="微软雅黑" panose="020B0503020204020204" pitchFamily="34" charset="-122"/>
                <a:ea typeface="微软雅黑" panose="020B0503020204020204" pitchFamily="34" charset="-122"/>
              </a:rPr>
              <a:t>生成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a:t>
            </a:r>
            <a:r>
              <a:rPr lang="zh-CN" altLang="en-US" sz="2000" dirty="0">
                <a:latin typeface="微软雅黑" panose="020B0503020204020204" pitchFamily="34" charset="-122"/>
                <a:ea typeface="微软雅黑" panose="020B0503020204020204" pitchFamily="34" charset="-122"/>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 </a:t>
            </a:r>
            <a:r>
              <a:rPr lang="en-US" altLang="zh-CN" sz="2000" i="1" dirty="0">
                <a:latin typeface="Times New Roman" panose="02020603050405020304" charset="0"/>
                <a:ea typeface="微软雅黑" panose="020B0503020204020204" pitchFamily="34" charset="-122"/>
                <a:cs typeface="Times New Roman" panose="02020603050405020304" charset="0"/>
              </a:rPr>
              <a:t>G</a:t>
            </a:r>
          </a:p>
          <a:p>
            <a:pPr algn="ctr">
              <a:lnSpc>
                <a:spcPct val="150000"/>
              </a:lnSpc>
            </a:pPr>
            <a:endParaRPr lang="en-US" altLang="zh-CN" sz="2000" i="1" dirty="0">
              <a:latin typeface="Times New Roman" panose="02020603050405020304" charset="0"/>
              <a:ea typeface="微软雅黑" panose="020B0503020204020204" pitchFamily="34" charset="-122"/>
              <a:cs typeface="Times New Roman" panose="02020603050405020304" charset="0"/>
            </a:endParaRPr>
          </a:p>
          <a:p>
            <a:pPr algn="ctr">
              <a:lnSpc>
                <a:spcPct val="80000"/>
              </a:lnSpc>
            </a:pPr>
            <a:endParaRPr lang="en-US" altLang="zh-CN" sz="2000" i="1" dirty="0">
              <a:latin typeface="Times New Roman" panose="02020603050405020304" charset="0"/>
              <a:ea typeface="微软雅黑" panose="020B0503020204020204" pitchFamily="34" charset="-122"/>
              <a:cs typeface="Times New Roman" panose="02020603050405020304" charset="0"/>
            </a:endParaRPr>
          </a:p>
          <a:p>
            <a:pPr algn="ctr">
              <a:lnSpc>
                <a:spcPct val="150000"/>
              </a:lnSpc>
            </a:pPr>
            <a:r>
              <a:rPr lang="zh-CN" altLang="en-US" sz="2000" dirty="0">
                <a:latin typeface="Times New Roman" panose="02020603050405020304" charset="0"/>
                <a:ea typeface="微软雅黑" panose="020B0503020204020204" pitchFamily="34" charset="-122"/>
                <a:cs typeface="Times New Roman" panose="02020603050405020304" charset="0"/>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 </a:t>
            </a:r>
            <a:r>
              <a:rPr lang="en-US" altLang="zh-CN" sz="2000" dirty="0">
                <a:latin typeface="Times New Roman" panose="02020603050405020304" charset="0"/>
                <a:ea typeface="微软雅黑" panose="020B0503020204020204" pitchFamily="34" charset="-122"/>
                <a:cs typeface="Times New Roman" panose="02020603050405020304" charset="0"/>
              </a:rPr>
              <a:t>(</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 </a:t>
            </a:r>
            <a:r>
              <a:rPr lang="en-US" altLang="zh-CN" sz="2000" i="1" dirty="0">
                <a:latin typeface="Times New Roman" panose="02020603050405020304" charset="0"/>
                <a:ea typeface="微软雅黑" panose="020B0503020204020204" pitchFamily="34" charset="-122"/>
                <a:cs typeface="Times New Roman" panose="02020603050405020304" charset="0"/>
              </a:rPr>
              <a:t>G</a:t>
            </a:r>
            <a:r>
              <a:rPr lang="en-US" altLang="zh-CN" sz="2000" dirty="0">
                <a:latin typeface="Times New Roman" panose="02020603050405020304" charset="0"/>
                <a:ea typeface="微软雅黑" panose="020B0503020204020204" pitchFamily="34" charset="-122"/>
                <a:cs typeface="Times New Roman" panose="02020603050405020304" charset="0"/>
              </a:rPr>
              <a:t>)</a:t>
            </a:r>
          </a:p>
        </p:txBody>
      </p:sp>
      <p:cxnSp>
        <p:nvCxnSpPr>
          <p:cNvPr id="32" name="直接箭头连接符 31"/>
          <p:cNvCxnSpPr/>
          <p:nvPr/>
        </p:nvCxnSpPr>
        <p:spPr>
          <a:xfrm flipH="1" flipV="1">
            <a:off x="4641763" y="4447998"/>
            <a:ext cx="2482850" cy="762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a:xfrm>
            <a:off x="4619701" y="2627036"/>
            <a:ext cx="0" cy="3028950"/>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9" name="Picture 11" descr="Alice"/>
          <p:cNvPicPr>
            <a:picLocks noChangeAspect="1" noChangeArrowheads="1"/>
          </p:cNvPicPr>
          <p:nvPr/>
        </p:nvPicPr>
        <p:blipFill>
          <a:blip r:embed="rId4">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064510" y="1704975"/>
            <a:ext cx="777240" cy="958850"/>
          </a:xfrm>
          <a:prstGeom prst="rect">
            <a:avLst/>
          </a:prstGeom>
          <a:noFill/>
          <a:ln>
            <a:noFill/>
          </a:ln>
        </p:spPr>
      </p:pic>
      <p:pic>
        <p:nvPicPr>
          <p:cNvPr id="12" name="Picture 24" descr="Bob"/>
          <p:cNvPicPr>
            <a:picLocks noChangeAspect="1" noChangeArrowheads="1"/>
          </p:cNvPicPr>
          <p:nvPr/>
        </p:nvPicPr>
        <p:blipFill>
          <a:blip r:embed="rId5">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7999095" y="1694815"/>
            <a:ext cx="948055" cy="969010"/>
          </a:xfrm>
          <a:prstGeom prst="rect">
            <a:avLst/>
          </a:prstGeom>
          <a:noFill/>
          <a:ln>
            <a:noFill/>
          </a:ln>
        </p:spPr>
      </p:pic>
      <p:sp>
        <p:nvSpPr>
          <p:cNvPr id="13" name="文本框 12"/>
          <p:cNvSpPr txBox="1"/>
          <p:nvPr/>
        </p:nvSpPr>
        <p:spPr>
          <a:xfrm>
            <a:off x="3940810" y="2122805"/>
            <a:ext cx="1320800" cy="398780"/>
          </a:xfrm>
          <a:prstGeom prst="rect">
            <a:avLst/>
          </a:prstGeom>
          <a:noFill/>
        </p:spPr>
        <p:txBody>
          <a:bodyPr wrap="square" rtlCol="0">
            <a:spAutoFit/>
          </a:bodyPr>
          <a:lstStyle/>
          <a:p>
            <a:pPr algn="ct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a:t>
            </a:r>
          </a:p>
        </p:txBody>
      </p:sp>
      <p:sp>
        <p:nvSpPr>
          <p:cNvPr id="14" name="文本框 13"/>
          <p:cNvSpPr txBox="1"/>
          <p:nvPr/>
        </p:nvSpPr>
        <p:spPr>
          <a:xfrm>
            <a:off x="6343650" y="2122805"/>
            <a:ext cx="1320800" cy="398780"/>
          </a:xfrm>
          <a:prstGeom prst="rect">
            <a:avLst/>
          </a:prstGeom>
          <a:noFill/>
        </p:spPr>
        <p:txBody>
          <a:bodyPr wrap="square" rtlCol="0">
            <a:spAutoFit/>
          </a:bodyPr>
          <a:lstStyle/>
          <a:p>
            <a:pPr algn="ct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a:t>
            </a:r>
          </a:p>
        </p:txBody>
      </p:sp>
      <p:cxnSp>
        <p:nvCxnSpPr>
          <p:cNvPr id="17" name="直接箭头连接符 16"/>
          <p:cNvCxnSpPr/>
          <p:nvPr/>
        </p:nvCxnSpPr>
        <p:spPr>
          <a:xfrm>
            <a:off x="7103186" y="2627036"/>
            <a:ext cx="18415" cy="2940050"/>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8" name="文本框 17"/>
          <p:cNvSpPr txBox="1"/>
          <p:nvPr/>
        </p:nvSpPr>
        <p:spPr>
          <a:xfrm>
            <a:off x="5296535" y="2868295"/>
            <a:ext cx="1137920" cy="368300"/>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发送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i="1" dirty="0">
                <a:latin typeface="Times New Roman" panose="02020603050405020304" charset="0"/>
                <a:cs typeface="Times New Roman" panose="02020603050405020304" charset="0"/>
              </a:rPr>
              <a:t>k</a:t>
            </a:r>
            <a:r>
              <a:rPr lang="en-US" altLang="zh-CN" i="1" baseline="-25000" dirty="0">
                <a:latin typeface="Times New Roman" panose="02020603050405020304" charset="0"/>
                <a:cs typeface="Times New Roman" panose="02020603050405020304" charset="0"/>
              </a:rPr>
              <a:t>A </a:t>
            </a:r>
            <a:r>
              <a:rPr lang="en-US" altLang="zh-CN" i="1" dirty="0">
                <a:latin typeface="Times New Roman" panose="02020603050405020304" charset="0"/>
                <a:cs typeface="Times New Roman" panose="02020603050405020304" charset="0"/>
              </a:rPr>
              <a:t>G</a:t>
            </a:r>
          </a:p>
        </p:txBody>
      </p:sp>
      <p:sp>
        <p:nvSpPr>
          <p:cNvPr id="21" name="文本框 20"/>
          <p:cNvSpPr txBox="1"/>
          <p:nvPr/>
        </p:nvSpPr>
        <p:spPr>
          <a:xfrm>
            <a:off x="5292090" y="4064000"/>
            <a:ext cx="1137920" cy="368300"/>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发送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i="1" dirty="0">
                <a:latin typeface="Times New Roman" panose="02020603050405020304" charset="0"/>
                <a:cs typeface="Times New Roman" panose="02020603050405020304" charset="0"/>
              </a:rPr>
              <a:t>k</a:t>
            </a:r>
            <a:r>
              <a:rPr lang="en-US" altLang="zh-CN" i="1" baseline="-25000" dirty="0">
                <a:latin typeface="Times New Roman" panose="02020603050405020304" charset="0"/>
                <a:cs typeface="Times New Roman" panose="02020603050405020304" charset="0"/>
              </a:rPr>
              <a:t>B </a:t>
            </a:r>
            <a:r>
              <a:rPr lang="en-US" altLang="zh-CN" i="1" dirty="0">
                <a:latin typeface="Times New Roman" panose="02020603050405020304" charset="0"/>
                <a:cs typeface="Times New Roman" panose="02020603050405020304" charset="0"/>
              </a:rPr>
              <a:t>G</a:t>
            </a:r>
          </a:p>
        </p:txBody>
      </p:sp>
      <p:cxnSp>
        <p:nvCxnSpPr>
          <p:cNvPr id="2" name="直接连接符 1"/>
          <p:cNvCxnSpPr/>
          <p:nvPr/>
        </p:nvCxnSpPr>
        <p:spPr>
          <a:xfrm flipV="1">
            <a:off x="425752" y="1521220"/>
            <a:ext cx="2827020" cy="76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6"/>
          <p:cNvSpPr txBox="1"/>
          <p:nvPr/>
        </p:nvSpPr>
        <p:spPr>
          <a:xfrm>
            <a:off x="307975" y="1108710"/>
            <a:ext cx="2893060"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3.2 ECDH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密钥交换算法</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灯片编号占位符 5"/>
          <p:cNvSpPr>
            <a:spLocks noGrp="1"/>
          </p:cNvSpPr>
          <p:nvPr>
            <p:ph type="sldNum" sz="quarter" idx="12"/>
          </p:nvPr>
        </p:nvSpPr>
        <p:spPr/>
        <p:txBody>
          <a:bodyPr/>
          <a:lstStyle/>
          <a:p>
            <a:fld id="{A8537B7A-7510-410A-AA53-45D600DA0276}" type="slidenum">
              <a:rPr lang="zh-CN" altLang="en-US" smtClean="0"/>
              <a:t>14</a:t>
            </a:fld>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95935" y="1146810"/>
            <a:ext cx="3095625" cy="382270"/>
          </a:xfrm>
          <a:prstGeom prst="rect">
            <a:avLst/>
          </a:prstGeom>
          <a:noFill/>
        </p:spPr>
        <p:txBody>
          <a:bodyPr wrap="square" lIns="0" tIns="48000" rIns="0" bIns="48000" rtlCol="0">
            <a:spAutoFit/>
          </a:bodyPr>
          <a:lstStyle/>
          <a:p>
            <a:pPr algn="l"/>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3.3 ECDLP</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的难解性</a:t>
            </a:r>
          </a:p>
        </p:txBody>
      </p:sp>
      <p:pic>
        <p:nvPicPr>
          <p:cNvPr id="3" name="图片 2" descr="QQ截图"/>
          <p:cNvPicPr>
            <a:picLocks noChangeAspect="1"/>
          </p:cNvPicPr>
          <p:nvPr/>
        </p:nvPicPr>
        <p:blipFill rotWithShape="1">
          <a:blip r:embed="rId3"/>
          <a:srcRect l="2534"/>
          <a:stretch/>
        </p:blipFill>
        <p:spPr>
          <a:xfrm>
            <a:off x="42529" y="1668145"/>
            <a:ext cx="5176535" cy="4781550"/>
          </a:xfrm>
          <a:prstGeom prst="rect">
            <a:avLst/>
          </a:prstGeom>
        </p:spPr>
      </p:pic>
      <p:sp>
        <p:nvSpPr>
          <p:cNvPr id="2" name="文本框 1"/>
          <p:cNvSpPr txBox="1"/>
          <p:nvPr/>
        </p:nvSpPr>
        <p:spPr>
          <a:xfrm>
            <a:off x="5388610" y="1857375"/>
            <a:ext cx="6556375" cy="3830955"/>
          </a:xfrm>
          <a:prstGeom prst="rect">
            <a:avLst/>
          </a:prstGeom>
          <a:noFill/>
        </p:spPr>
        <p:txBody>
          <a:bodyPr wrap="square" rtlCol="0">
            <a:spAutoFit/>
          </a:bodyPr>
          <a:lstStyle/>
          <a:p>
            <a:pPr>
              <a:lnSpc>
                <a:spcPct val="150000"/>
              </a:lnSpc>
            </a:pPr>
            <a:r>
              <a:rPr lang="zh-CN" altLang="en-US">
                <a:latin typeface="微软雅黑" panose="020B0503020204020204" pitchFamily="34" charset="-122"/>
                <a:ea typeface="微软雅黑" panose="020B0503020204020204" pitchFamily="34" charset="-122"/>
              </a:rPr>
              <a:t>在定义于有限域</a:t>
            </a:r>
            <a:r>
              <a:rPr lang="en-US" altLang="zh-CN">
                <a:latin typeface="Times New Roman" panose="02020603050405020304" charset="0"/>
                <a:cs typeface="Times New Roman" panose="02020603050405020304" charset="0"/>
              </a:rPr>
              <a:t>F</a:t>
            </a:r>
            <a:r>
              <a:rPr lang="en-US" altLang="zh-CN" baseline="-25000">
                <a:latin typeface="Times New Roman" panose="02020603050405020304" charset="0"/>
                <a:cs typeface="Times New Roman" panose="02020603050405020304" charset="0"/>
              </a:rPr>
              <a:t>q</a:t>
            </a:r>
            <a:r>
              <a:rPr lang="zh-CN" altLang="en-US">
                <a:latin typeface="微软雅黑" panose="020B0503020204020204" pitchFamily="34" charset="-122"/>
                <a:ea typeface="微软雅黑" panose="020B0503020204020204" pitchFamily="34" charset="-122"/>
              </a:rPr>
              <a:t>的椭圆曲线</a:t>
            </a:r>
            <a:r>
              <a:rPr lang="en-US" altLang="zh-CN">
                <a:latin typeface="Times New Roman" panose="02020603050405020304" charset="0"/>
                <a:cs typeface="Times New Roman" panose="02020603050405020304" charset="0"/>
              </a:rPr>
              <a:t>E</a:t>
            </a:r>
            <a:r>
              <a:rPr lang="zh-CN" altLang="en-US">
                <a:latin typeface="微软雅黑" panose="020B0503020204020204" pitchFamily="34" charset="-122"/>
                <a:ea typeface="微软雅黑" panose="020B0503020204020204" pitchFamily="34" charset="-122"/>
              </a:rPr>
              <a:t>上，</a:t>
            </a:r>
            <a:r>
              <a:rPr lang="zh-CN" altLang="en-US" b="1">
                <a:latin typeface="微软雅黑" panose="020B0503020204020204" pitchFamily="34" charset="-122"/>
                <a:ea typeface="微软雅黑" panose="020B0503020204020204" pitchFamily="34" charset="-122"/>
              </a:rPr>
              <a:t>基点</a:t>
            </a:r>
            <a:r>
              <a:rPr lang="en-US" altLang="zh-CN" b="1">
                <a:latin typeface="Times New Roman" panose="02020603050405020304" charset="0"/>
                <a:cs typeface="Times New Roman" panose="02020603050405020304" charset="0"/>
              </a:rPr>
              <a:t>P</a:t>
            </a:r>
            <a:r>
              <a:rPr lang="en-US" altLang="zh-CN">
                <a:latin typeface="Times New Roman" panose="02020603050405020304" charset="0"/>
                <a:cs typeface="Times New Roman" panose="02020603050405020304" charset="0"/>
              </a:rPr>
              <a:t>∈E(F</a:t>
            </a:r>
            <a:r>
              <a:rPr lang="en-US" altLang="zh-CN" baseline="-25000">
                <a:latin typeface="Times New Roman" panose="02020603050405020304" charset="0"/>
                <a:cs typeface="Times New Roman" panose="02020603050405020304" charset="0"/>
              </a:rPr>
              <a:t>q</a:t>
            </a:r>
            <a:r>
              <a:rPr lang="en-US" altLang="zh-CN">
                <a:latin typeface="Times New Roman" panose="02020603050405020304" charset="0"/>
                <a:cs typeface="Times New Roman" panose="02020603050405020304" charset="0"/>
              </a:rPr>
              <a:t>)</a:t>
            </a:r>
            <a:r>
              <a:rPr lang="zh-CN" altLang="en-US">
                <a:latin typeface="微软雅黑" panose="020B0503020204020204" pitchFamily="34" charset="-122"/>
                <a:ea typeface="微软雅黑" panose="020B0503020204020204" pitchFamily="34" charset="-122"/>
              </a:rPr>
              <a:t>，阶为</a:t>
            </a:r>
            <a:r>
              <a:rPr lang="en-US" altLang="zh-CN">
                <a:latin typeface="Times New Roman" panose="02020603050405020304" charset="0"/>
                <a:cs typeface="Times New Roman" panose="02020603050405020304" charset="0"/>
              </a:rPr>
              <a:t>n</a:t>
            </a:r>
            <a:r>
              <a:rPr lang="zh-CN" altLang="en-US">
                <a:latin typeface="微软雅黑" panose="020B0503020204020204" pitchFamily="34" charset="-122"/>
                <a:ea typeface="微软雅黑" panose="020B0503020204020204" pitchFamily="34" charset="-122"/>
              </a:rPr>
              <a:t>，</a:t>
            </a:r>
          </a:p>
          <a:p>
            <a:pPr>
              <a:lnSpc>
                <a:spcPct val="150000"/>
              </a:lnSpc>
            </a:pPr>
            <a:r>
              <a:rPr lang="zh-CN" altLang="en-US">
                <a:latin typeface="微软雅黑" panose="020B0503020204020204" pitchFamily="34" charset="-122"/>
                <a:ea typeface="微软雅黑" panose="020B0503020204020204" pitchFamily="34" charset="-122"/>
              </a:rPr>
              <a:t>点</a:t>
            </a:r>
            <a:r>
              <a:rPr lang="en-US" altLang="zh-CN">
                <a:latin typeface="Times New Roman" panose="02020603050405020304" charset="0"/>
                <a:cs typeface="Times New Roman" panose="02020603050405020304" charset="0"/>
              </a:rPr>
              <a:t>Q∈&lt;P&gt;</a:t>
            </a:r>
            <a:r>
              <a:rPr lang="zh-CN" altLang="en-US">
                <a:latin typeface="微软雅黑" panose="020B0503020204020204" pitchFamily="34" charset="-122"/>
                <a:ea typeface="微软雅黑" panose="020B0503020204020204" pitchFamily="34" charset="-122"/>
              </a:rPr>
              <a:t>，寻找一个</a:t>
            </a:r>
            <a:r>
              <a:rPr lang="zh-CN" altLang="en-US" b="1">
                <a:latin typeface="微软雅黑" panose="020B0503020204020204" pitchFamily="34" charset="-122"/>
                <a:ea typeface="微软雅黑" panose="020B0503020204020204" pitchFamily="34" charset="-122"/>
              </a:rPr>
              <a:t>整数</a:t>
            </a:r>
            <a:r>
              <a:rPr lang="en-US" altLang="zh-CN" b="1">
                <a:latin typeface="Times New Roman" panose="02020603050405020304" charset="0"/>
                <a:cs typeface="Times New Roman" panose="02020603050405020304" charset="0"/>
              </a:rPr>
              <a:t>l</a:t>
            </a:r>
            <a:r>
              <a:rPr lang="en-US" altLang="zh-CN">
                <a:latin typeface="Times New Roman" panose="02020603050405020304" charset="0"/>
                <a:cs typeface="Times New Roman" panose="02020603050405020304" charset="0"/>
              </a:rPr>
              <a:t>∈[0,n-1] </a:t>
            </a:r>
            <a:r>
              <a:rPr lang="zh-CN" altLang="en-US">
                <a:latin typeface="微软雅黑" panose="020B0503020204020204" pitchFamily="34" charset="-122"/>
                <a:ea typeface="微软雅黑" panose="020B0503020204020204" pitchFamily="34" charset="-122"/>
              </a:rPr>
              <a:t>使得</a:t>
            </a:r>
            <a:r>
              <a:rPr lang="en-US" altLang="zh-CN"/>
              <a:t> </a:t>
            </a:r>
            <a:r>
              <a:rPr lang="en-US" altLang="zh-CN">
                <a:latin typeface="Times New Roman" panose="02020603050405020304" charset="0"/>
                <a:cs typeface="Times New Roman" panose="02020603050405020304" charset="0"/>
              </a:rPr>
              <a:t>Q=lP</a:t>
            </a:r>
            <a:r>
              <a:rPr lang="zh-CN" altLang="en-US">
                <a:latin typeface="微软雅黑" panose="020B0503020204020204" pitchFamily="34" charset="-122"/>
                <a:ea typeface="微软雅黑" panose="020B0503020204020204" pitchFamily="34" charset="-122"/>
              </a:rPr>
              <a:t>，</a:t>
            </a:r>
          </a:p>
          <a:p>
            <a:pPr>
              <a:lnSpc>
                <a:spcPct val="150000"/>
              </a:lnSpc>
            </a:pPr>
            <a:r>
              <a:rPr lang="zh-CN" altLang="en-US">
                <a:latin typeface="微软雅黑" panose="020B0503020204020204" pitchFamily="34" charset="-122"/>
                <a:ea typeface="微软雅黑" panose="020B0503020204020204" pitchFamily="34" charset="-122"/>
              </a:rPr>
              <a:t>整数</a:t>
            </a:r>
            <a:r>
              <a:rPr lang="en-US" altLang="zh-CN"/>
              <a:t> </a:t>
            </a:r>
            <a:r>
              <a:rPr lang="en-US" altLang="zh-CN">
                <a:latin typeface="Times New Roman" panose="02020603050405020304" charset="0"/>
                <a:cs typeface="Times New Roman" panose="02020603050405020304" charset="0"/>
              </a:rPr>
              <a:t>l </a:t>
            </a:r>
            <a:r>
              <a:rPr lang="zh-CN" altLang="en-US">
                <a:latin typeface="微软雅黑" panose="020B0503020204020204" pitchFamily="34" charset="-122"/>
                <a:ea typeface="微软雅黑" panose="020B0503020204020204" pitchFamily="34" charset="-122"/>
              </a:rPr>
              <a:t>称为</a:t>
            </a:r>
            <a:r>
              <a:rPr lang="en-US" altLang="zh-CN"/>
              <a:t> </a:t>
            </a:r>
            <a:r>
              <a:rPr lang="en-US" altLang="zh-CN">
                <a:latin typeface="Times New Roman" panose="02020603050405020304" charset="0"/>
                <a:cs typeface="Times New Roman" panose="02020603050405020304" charset="0"/>
              </a:rPr>
              <a:t>Q </a:t>
            </a:r>
            <a:r>
              <a:rPr lang="zh-CN" altLang="en-US">
                <a:latin typeface="微软雅黑" panose="020B0503020204020204" pitchFamily="34" charset="-122"/>
                <a:ea typeface="微软雅黑" panose="020B0503020204020204" pitchFamily="34" charset="-122"/>
              </a:rPr>
              <a:t>的基于</a:t>
            </a:r>
            <a:r>
              <a:rPr lang="en-US" altLang="zh-CN"/>
              <a:t> </a:t>
            </a:r>
            <a:r>
              <a:rPr lang="en-US" altLang="zh-CN">
                <a:latin typeface="Times New Roman" panose="02020603050405020304" charset="0"/>
                <a:cs typeface="Times New Roman" panose="02020603050405020304" charset="0"/>
              </a:rPr>
              <a:t>P </a:t>
            </a:r>
            <a:r>
              <a:rPr lang="zh-CN" altLang="en-US">
                <a:latin typeface="微软雅黑" panose="020B0503020204020204" pitchFamily="34" charset="-122"/>
                <a:ea typeface="微软雅黑" panose="020B0503020204020204" pitchFamily="34" charset="-122"/>
              </a:rPr>
              <a:t>的离散对数，表示为</a:t>
            </a:r>
            <a:r>
              <a:rPr lang="en-US" altLang="zh-CN">
                <a:latin typeface="微软雅黑" panose="020B0503020204020204" pitchFamily="34" charset="-122"/>
                <a:ea typeface="微软雅黑" panose="020B0503020204020204" pitchFamily="34" charset="-122"/>
              </a:rPr>
              <a:t> </a:t>
            </a:r>
            <a:r>
              <a:rPr lang="en-US" altLang="zh-CN">
                <a:latin typeface="Times New Roman" panose="02020603050405020304" charset="0"/>
                <a:cs typeface="Times New Roman" panose="02020603050405020304" charset="0"/>
              </a:rPr>
              <a:t>l = log</a:t>
            </a:r>
            <a:r>
              <a:rPr lang="en-US" altLang="zh-CN" baseline="-25000">
                <a:latin typeface="Times New Roman" panose="02020603050405020304" charset="0"/>
                <a:cs typeface="Times New Roman" panose="02020603050405020304" charset="0"/>
              </a:rPr>
              <a:t>p</a:t>
            </a:r>
            <a:r>
              <a:rPr lang="en-US" altLang="zh-CN" baseline="30000">
                <a:latin typeface="Times New Roman" panose="02020603050405020304" charset="0"/>
                <a:cs typeface="Times New Roman" panose="02020603050405020304" charset="0"/>
              </a:rPr>
              <a:t>Q</a:t>
            </a:r>
            <a:r>
              <a:rPr lang="zh-CN" altLang="en-US">
                <a:latin typeface="微软雅黑" panose="020B0503020204020204" pitchFamily="34" charset="-122"/>
                <a:ea typeface="微软雅黑" panose="020B0503020204020204" pitchFamily="34" charset="-122"/>
              </a:rPr>
              <a:t>。</a:t>
            </a:r>
          </a:p>
          <a:p>
            <a:pPr>
              <a:lnSpc>
                <a:spcPct val="150000"/>
              </a:lnSpc>
            </a:pPr>
            <a:endParaRPr lang="zh-CN" altLang="en-US">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已知基点</a:t>
            </a:r>
            <a:r>
              <a:rPr lang="en-US" altLang="zh-CN">
                <a:latin typeface="微软雅黑" panose="020B0503020204020204" pitchFamily="34" charset="-122"/>
                <a:ea typeface="微软雅黑" panose="020B0503020204020204" pitchFamily="34" charset="-122"/>
              </a:rPr>
              <a:t>P</a:t>
            </a:r>
            <a:r>
              <a:rPr lang="zh-CN" altLang="en-US">
                <a:latin typeface="微软雅黑" panose="020B0503020204020204" pitchFamily="34" charset="-122"/>
                <a:ea typeface="微软雅黑" panose="020B0503020204020204" pitchFamily="34" charset="-122"/>
              </a:rPr>
              <a:t>与整数</a:t>
            </a:r>
            <a:r>
              <a:rPr lang="en-US" altLang="zh-CN">
                <a:latin typeface="微软雅黑" panose="020B0503020204020204" pitchFamily="34" charset="-122"/>
                <a:ea typeface="微软雅黑" panose="020B0503020204020204" pitchFamily="34" charset="-122"/>
              </a:rPr>
              <a:t>l</a:t>
            </a:r>
            <a:r>
              <a:rPr lang="zh-CN" altLang="en-US">
                <a:latin typeface="微软雅黑" panose="020B0503020204020204" pitchFamily="34" charset="-122"/>
                <a:ea typeface="微软雅黑" panose="020B0503020204020204" pitchFamily="34" charset="-122"/>
              </a:rPr>
              <a:t>时，可以很容易的计算出</a:t>
            </a:r>
            <a:r>
              <a:rPr lang="en-US" altLang="zh-CN">
                <a:latin typeface="微软雅黑" panose="020B0503020204020204" pitchFamily="34" charset="-122"/>
                <a:ea typeface="微软雅黑" panose="020B0503020204020204" pitchFamily="34" charset="-122"/>
              </a:rPr>
              <a:t>Q</a:t>
            </a:r>
          </a:p>
          <a:p>
            <a:pPr>
              <a:lnSpc>
                <a:spcPct val="150000"/>
              </a:lnSpc>
            </a:pPr>
            <a:r>
              <a:rPr lang="zh-CN" altLang="en-US">
                <a:latin typeface="微软雅黑" panose="020B0503020204020204" pitchFamily="34" charset="-122"/>
                <a:ea typeface="微软雅黑" panose="020B0503020204020204" pitchFamily="34" charset="-122"/>
              </a:rPr>
              <a:t>当仅知道</a:t>
            </a:r>
            <a:r>
              <a:rPr lang="en-US" altLang="zh-CN">
                <a:latin typeface="微软雅黑" panose="020B0503020204020204" pitchFamily="34" charset="-122"/>
                <a:ea typeface="微软雅黑" panose="020B0503020204020204" pitchFamily="34" charset="-122"/>
              </a:rPr>
              <a:t>P</a:t>
            </a:r>
            <a:r>
              <a:rPr lang="zh-CN" altLang="en-US">
                <a:latin typeface="微软雅黑" panose="020B0503020204020204" pitchFamily="34" charset="-122"/>
                <a:ea typeface="微软雅黑" panose="020B0503020204020204" pitchFamily="34" charset="-122"/>
              </a:rPr>
              <a:t>与</a:t>
            </a:r>
            <a:r>
              <a:rPr lang="en-US" altLang="zh-CN">
                <a:latin typeface="微软雅黑" panose="020B0503020204020204" pitchFamily="34" charset="-122"/>
                <a:ea typeface="微软雅黑" panose="020B0503020204020204" pitchFamily="34" charset="-122"/>
              </a:rPr>
              <a:t>Q</a:t>
            </a:r>
            <a:r>
              <a:rPr lang="zh-CN" altLang="en-US">
                <a:latin typeface="微软雅黑" panose="020B0503020204020204" pitchFamily="34" charset="-122"/>
                <a:ea typeface="微软雅黑" panose="020B0503020204020204" pitchFamily="34" charset="-122"/>
              </a:rPr>
              <a:t>时，只能通过穷举法计算</a:t>
            </a:r>
            <a:r>
              <a:rPr lang="en-US" altLang="zh-CN">
                <a:latin typeface="微软雅黑" panose="020B0503020204020204" pitchFamily="34" charset="-122"/>
                <a:ea typeface="微软雅黑" panose="020B0503020204020204" pitchFamily="34" charset="-122"/>
              </a:rPr>
              <a:t> </a:t>
            </a:r>
            <a:r>
              <a:rPr lang="en-US" altLang="zh-CN" b="1">
                <a:latin typeface="Times New Roman" panose="02020603050405020304" charset="0"/>
                <a:ea typeface="微软雅黑" panose="020B0503020204020204" pitchFamily="34" charset="-122"/>
                <a:cs typeface="Times New Roman" panose="02020603050405020304" charset="0"/>
              </a:rPr>
              <a:t>l</a:t>
            </a: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当选择参数量较大的椭圆曲线时，穷举的计算量将无法实现</a:t>
            </a:r>
          </a:p>
          <a:p>
            <a:pPr>
              <a:lnSpc>
                <a:spcPct val="150000"/>
              </a:lnSpc>
            </a:pPr>
            <a:endParaRPr lang="zh-CN" altLang="en-US">
              <a:latin typeface="微软雅黑" panose="020B0503020204020204" pitchFamily="34" charset="-122"/>
              <a:ea typeface="微软雅黑" panose="020B0503020204020204" pitchFamily="34" charset="-122"/>
            </a:endParaRPr>
          </a:p>
          <a:p>
            <a:pPr>
              <a:lnSpc>
                <a:spcPct val="150000"/>
              </a:lnSpc>
            </a:pPr>
            <a:r>
              <a:rPr lang="en-US" altLang="zh-CN">
                <a:latin typeface="微软雅黑" panose="020B0503020204020204" pitchFamily="34" charset="-122"/>
                <a:ea typeface="微软雅黑" panose="020B0503020204020204" pitchFamily="34" charset="-122"/>
                <a:sym typeface="+mn-ea"/>
              </a:rPr>
              <a:t>ECDLP同时属于NP问题与co-NP问题</a:t>
            </a:r>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A8537B7A-7510-410A-AA53-45D600DA0276}" type="slidenum">
              <a:rPr lang="zh-CN" altLang="en-US" smtClean="0"/>
              <a:t>15</a:t>
            </a:fld>
            <a:endParaRPr lang="zh-CN" altLang="en-US"/>
          </a:p>
        </p:txBody>
      </p:sp>
      <p:sp>
        <p:nvSpPr>
          <p:cNvPr id="39"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0" name="矩形 39"/>
          <p:cNvSpPr/>
          <p:nvPr/>
        </p:nvSpPr>
        <p:spPr>
          <a:xfrm>
            <a:off x="66354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1" name="直接连接符 40"/>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43"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44"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节点加密通信</a:t>
            </a:r>
          </a:p>
        </p:txBody>
      </p:sp>
      <p:sp>
        <p:nvSpPr>
          <p:cNvPr id="45"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46"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47" name="直接连接符 46"/>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Tree>
    <p:extLst>
      <p:ext uri="{BB962C8B-B14F-4D97-AF65-F5344CB8AC3E}">
        <p14:creationId xmlns:p14="http://schemas.microsoft.com/office/powerpoint/2010/main" val="29712494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19" name="直接箭头连接符 18"/>
          <p:cNvCxnSpPr/>
          <p:nvPr/>
        </p:nvCxnSpPr>
        <p:spPr>
          <a:xfrm>
            <a:off x="4619878" y="3274628"/>
            <a:ext cx="2446655" cy="1905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2207260" y="2913380"/>
            <a:ext cx="2469515" cy="2153285"/>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生成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a:t>
            </a:r>
            <a:r>
              <a:rPr lang="zh-CN" altLang="en-US" sz="2000" dirty="0">
                <a:latin typeface="微软雅黑" panose="020B0503020204020204" pitchFamily="34" charset="-122"/>
                <a:ea typeface="微软雅黑" panose="020B0503020204020204" pitchFamily="34" charset="-122"/>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 </a:t>
            </a:r>
            <a:r>
              <a:rPr lang="en-US" altLang="zh-CN" sz="2000" i="1" dirty="0">
                <a:latin typeface="Times New Roman" panose="02020603050405020304" charset="0"/>
                <a:ea typeface="微软雅黑" panose="020B0503020204020204" pitchFamily="34" charset="-122"/>
                <a:cs typeface="Times New Roman" panose="02020603050405020304" charset="0"/>
              </a:rPr>
              <a:t>G</a:t>
            </a: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2000" dirty="0">
              <a:latin typeface="微软雅黑" panose="020B0503020204020204" pitchFamily="34" charset="-122"/>
              <a:ea typeface="微软雅黑" panose="020B0503020204020204" pitchFamily="34" charset="-122"/>
            </a:endParaRPr>
          </a:p>
          <a:p>
            <a:pPr algn="ctr"/>
            <a:endParaRPr lang="en-US" altLang="zh-CN" sz="1400" dirty="0">
              <a:latin typeface="微软雅黑" panose="020B0503020204020204" pitchFamily="34" charset="-122"/>
              <a:ea typeface="微软雅黑" panose="020B0503020204020204" pitchFamily="34" charset="-122"/>
            </a:endParaRPr>
          </a:p>
          <a:p>
            <a:pPr algn="ctr"/>
            <a:r>
              <a:rPr lang="zh-CN" altLang="en-US" sz="2000" dirty="0">
                <a:latin typeface="Times New Roman" panose="02020603050405020304" charset="0"/>
                <a:ea typeface="微软雅黑" panose="020B0503020204020204" pitchFamily="34" charset="-122"/>
                <a:cs typeface="Times New Roman" panose="02020603050405020304" charset="0"/>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  </a:t>
            </a:r>
            <a:r>
              <a:rPr lang="en-US" altLang="zh-CN" sz="2000" dirty="0">
                <a:latin typeface="Times New Roman" panose="02020603050405020304" charset="0"/>
                <a:ea typeface="微软雅黑" panose="020B0503020204020204" pitchFamily="34" charset="-122"/>
                <a:cs typeface="Times New Roman" panose="02020603050405020304" charset="0"/>
              </a:rPr>
              <a:t>(</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 </a:t>
            </a:r>
            <a:r>
              <a:rPr lang="en-US" altLang="zh-CN" sz="2000" i="1" dirty="0">
                <a:latin typeface="Times New Roman" panose="02020603050405020304" charset="0"/>
                <a:ea typeface="微软雅黑" panose="020B0503020204020204" pitchFamily="34" charset="-122"/>
                <a:cs typeface="Times New Roman" panose="02020603050405020304" charset="0"/>
              </a:rPr>
              <a:t>G</a:t>
            </a:r>
            <a:r>
              <a:rPr lang="en-US" altLang="zh-CN" sz="2000" dirty="0">
                <a:latin typeface="Times New Roman" panose="02020603050405020304" charset="0"/>
                <a:ea typeface="微软雅黑" panose="020B0503020204020204" pitchFamily="34" charset="-122"/>
                <a:cs typeface="Times New Roman" panose="02020603050405020304" charset="0"/>
              </a:rPr>
              <a:t>)</a:t>
            </a:r>
          </a:p>
        </p:txBody>
      </p:sp>
      <p:sp>
        <p:nvSpPr>
          <p:cNvPr id="8" name="文本框 7"/>
          <p:cNvSpPr txBox="1"/>
          <p:nvPr/>
        </p:nvSpPr>
        <p:spPr>
          <a:xfrm>
            <a:off x="6887210" y="3465195"/>
            <a:ext cx="2795270" cy="1722120"/>
          </a:xfrm>
          <a:prstGeom prst="rect">
            <a:avLst/>
          </a:prstGeom>
          <a:noFill/>
        </p:spPr>
        <p:txBody>
          <a:bodyPr wrap="square" rtlCol="0">
            <a:spAutoFit/>
          </a:bodyPr>
          <a:lstStyle/>
          <a:p>
            <a:pPr algn="ctr">
              <a:lnSpc>
                <a:spcPct val="150000"/>
              </a:lnSpc>
            </a:pPr>
            <a:r>
              <a:rPr lang="zh-CN" altLang="en-US" sz="2000" dirty="0">
                <a:latin typeface="微软雅黑" panose="020B0503020204020204" pitchFamily="34" charset="-122"/>
                <a:ea typeface="微软雅黑" panose="020B0503020204020204" pitchFamily="34" charset="-122"/>
              </a:rPr>
              <a:t>生成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a:t>
            </a:r>
            <a:r>
              <a:rPr lang="zh-CN" altLang="en-US" sz="2000" dirty="0">
                <a:latin typeface="微软雅黑" panose="020B0503020204020204" pitchFamily="34" charset="-122"/>
                <a:ea typeface="微软雅黑" panose="020B0503020204020204" pitchFamily="34" charset="-122"/>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 </a:t>
            </a:r>
            <a:r>
              <a:rPr lang="en-US" altLang="zh-CN" sz="2000" i="1" dirty="0">
                <a:latin typeface="Times New Roman" panose="02020603050405020304" charset="0"/>
                <a:ea typeface="微软雅黑" panose="020B0503020204020204" pitchFamily="34" charset="-122"/>
                <a:cs typeface="Times New Roman" panose="02020603050405020304" charset="0"/>
              </a:rPr>
              <a:t>G</a:t>
            </a:r>
          </a:p>
          <a:p>
            <a:pPr algn="ctr">
              <a:lnSpc>
                <a:spcPct val="150000"/>
              </a:lnSpc>
            </a:pPr>
            <a:endParaRPr lang="en-US" altLang="zh-CN" sz="2000" i="1" dirty="0">
              <a:latin typeface="Times New Roman" panose="02020603050405020304" charset="0"/>
              <a:ea typeface="微软雅黑" panose="020B0503020204020204" pitchFamily="34" charset="-122"/>
              <a:cs typeface="Times New Roman" panose="02020603050405020304" charset="0"/>
            </a:endParaRPr>
          </a:p>
          <a:p>
            <a:pPr algn="ctr">
              <a:lnSpc>
                <a:spcPct val="80000"/>
              </a:lnSpc>
            </a:pPr>
            <a:endParaRPr lang="en-US" altLang="zh-CN" sz="2000" i="1" dirty="0">
              <a:latin typeface="Times New Roman" panose="02020603050405020304" charset="0"/>
              <a:ea typeface="微软雅黑" panose="020B0503020204020204" pitchFamily="34" charset="-122"/>
              <a:cs typeface="Times New Roman" panose="02020603050405020304" charset="0"/>
            </a:endParaRPr>
          </a:p>
          <a:p>
            <a:pPr algn="ctr">
              <a:lnSpc>
                <a:spcPct val="150000"/>
              </a:lnSpc>
            </a:pPr>
            <a:r>
              <a:rPr lang="zh-CN" altLang="en-US" sz="2000" dirty="0">
                <a:latin typeface="Times New Roman" panose="02020603050405020304" charset="0"/>
                <a:ea typeface="微软雅黑" panose="020B0503020204020204" pitchFamily="34" charset="-122"/>
                <a:cs typeface="Times New Roman" panose="02020603050405020304" charset="0"/>
              </a:rPr>
              <a:t>计算 </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B </a:t>
            </a:r>
            <a:r>
              <a:rPr lang="en-US" altLang="zh-CN" sz="2000" dirty="0">
                <a:latin typeface="Times New Roman" panose="02020603050405020304" charset="0"/>
                <a:ea typeface="微软雅黑" panose="020B0503020204020204" pitchFamily="34" charset="-122"/>
                <a:cs typeface="Times New Roman" panose="02020603050405020304" charset="0"/>
              </a:rPr>
              <a:t>(</a:t>
            </a:r>
            <a:r>
              <a:rPr lang="en-US" altLang="zh-CN" sz="2000" i="1" dirty="0">
                <a:latin typeface="Times New Roman" panose="02020603050405020304" charset="0"/>
                <a:ea typeface="微软雅黑" panose="020B0503020204020204" pitchFamily="34" charset="-122"/>
                <a:cs typeface="Times New Roman" panose="02020603050405020304" charset="0"/>
              </a:rPr>
              <a:t>k</a:t>
            </a:r>
            <a:r>
              <a:rPr lang="en-US" altLang="zh-CN" sz="2000" i="1" baseline="-25000" dirty="0">
                <a:latin typeface="Times New Roman" panose="02020603050405020304" charset="0"/>
                <a:ea typeface="微软雅黑" panose="020B0503020204020204" pitchFamily="34" charset="-122"/>
                <a:cs typeface="Times New Roman" panose="02020603050405020304" charset="0"/>
              </a:rPr>
              <a:t>A </a:t>
            </a:r>
            <a:r>
              <a:rPr lang="en-US" altLang="zh-CN" sz="2000" i="1" dirty="0">
                <a:latin typeface="Times New Roman" panose="02020603050405020304" charset="0"/>
                <a:ea typeface="微软雅黑" panose="020B0503020204020204" pitchFamily="34" charset="-122"/>
                <a:cs typeface="Times New Roman" panose="02020603050405020304" charset="0"/>
              </a:rPr>
              <a:t>G</a:t>
            </a:r>
            <a:r>
              <a:rPr lang="en-US" altLang="zh-CN" sz="2000" dirty="0">
                <a:latin typeface="Times New Roman" panose="02020603050405020304" charset="0"/>
                <a:ea typeface="微软雅黑" panose="020B0503020204020204" pitchFamily="34" charset="-122"/>
                <a:cs typeface="Times New Roman" panose="02020603050405020304" charset="0"/>
              </a:rPr>
              <a:t>)</a:t>
            </a:r>
          </a:p>
        </p:txBody>
      </p:sp>
      <p:cxnSp>
        <p:nvCxnSpPr>
          <p:cNvPr id="32" name="直接箭头连接符 31"/>
          <p:cNvCxnSpPr/>
          <p:nvPr/>
        </p:nvCxnSpPr>
        <p:spPr>
          <a:xfrm flipH="1" flipV="1">
            <a:off x="4641763" y="4447998"/>
            <a:ext cx="2482850" cy="762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a:xfrm>
            <a:off x="4619701" y="2627036"/>
            <a:ext cx="0" cy="3028950"/>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9" name="Picture 11" descr="Alice"/>
          <p:cNvPicPr>
            <a:picLocks noChangeAspect="1" noChangeArrowheads="1"/>
          </p:cNvPicPr>
          <p:nvPr/>
        </p:nvPicPr>
        <p:blipFill>
          <a:blip r:embed="rId4">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064510" y="1704975"/>
            <a:ext cx="777240" cy="958850"/>
          </a:xfrm>
          <a:prstGeom prst="rect">
            <a:avLst/>
          </a:prstGeom>
          <a:noFill/>
          <a:ln>
            <a:noFill/>
          </a:ln>
        </p:spPr>
      </p:pic>
      <p:pic>
        <p:nvPicPr>
          <p:cNvPr id="12" name="Picture 24" descr="Bob"/>
          <p:cNvPicPr>
            <a:picLocks noChangeAspect="1" noChangeArrowheads="1"/>
          </p:cNvPicPr>
          <p:nvPr/>
        </p:nvPicPr>
        <p:blipFill>
          <a:blip r:embed="rId5">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7999095" y="1694815"/>
            <a:ext cx="948055" cy="969010"/>
          </a:xfrm>
          <a:prstGeom prst="rect">
            <a:avLst/>
          </a:prstGeom>
          <a:noFill/>
          <a:ln>
            <a:noFill/>
          </a:ln>
        </p:spPr>
      </p:pic>
      <p:sp>
        <p:nvSpPr>
          <p:cNvPr id="13" name="文本框 12"/>
          <p:cNvSpPr txBox="1"/>
          <p:nvPr/>
        </p:nvSpPr>
        <p:spPr>
          <a:xfrm>
            <a:off x="3940810" y="2122805"/>
            <a:ext cx="1320800" cy="398780"/>
          </a:xfrm>
          <a:prstGeom prst="rect">
            <a:avLst/>
          </a:prstGeom>
          <a:noFill/>
        </p:spPr>
        <p:txBody>
          <a:bodyPr wrap="square" rtlCol="0">
            <a:spAutoFit/>
          </a:bodyPr>
          <a:lstStyle/>
          <a:p>
            <a:pPr algn="ct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a:t>
            </a:r>
          </a:p>
        </p:txBody>
      </p:sp>
      <p:sp>
        <p:nvSpPr>
          <p:cNvPr id="14" name="文本框 13"/>
          <p:cNvSpPr txBox="1"/>
          <p:nvPr/>
        </p:nvSpPr>
        <p:spPr>
          <a:xfrm>
            <a:off x="6343650" y="2122805"/>
            <a:ext cx="1320800" cy="398780"/>
          </a:xfrm>
          <a:prstGeom prst="rect">
            <a:avLst/>
          </a:prstGeom>
          <a:noFill/>
        </p:spPr>
        <p:txBody>
          <a:bodyPr wrap="square" rtlCol="0">
            <a:spAutoFit/>
          </a:bodyPr>
          <a:lstStyle/>
          <a:p>
            <a:pPr algn="ct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a:t>
            </a:r>
          </a:p>
        </p:txBody>
      </p:sp>
      <p:cxnSp>
        <p:nvCxnSpPr>
          <p:cNvPr id="17" name="直接箭头连接符 16"/>
          <p:cNvCxnSpPr/>
          <p:nvPr/>
        </p:nvCxnSpPr>
        <p:spPr>
          <a:xfrm>
            <a:off x="7103186" y="2627036"/>
            <a:ext cx="18415" cy="2940050"/>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8" name="文本框 17"/>
          <p:cNvSpPr txBox="1"/>
          <p:nvPr/>
        </p:nvSpPr>
        <p:spPr>
          <a:xfrm>
            <a:off x="5296535" y="2868295"/>
            <a:ext cx="1137920" cy="368300"/>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发送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i="1" dirty="0">
                <a:latin typeface="Times New Roman" panose="02020603050405020304" charset="0"/>
                <a:cs typeface="Times New Roman" panose="02020603050405020304" charset="0"/>
              </a:rPr>
              <a:t>k</a:t>
            </a:r>
            <a:r>
              <a:rPr lang="en-US" altLang="zh-CN" i="1" baseline="-25000" dirty="0">
                <a:latin typeface="Times New Roman" panose="02020603050405020304" charset="0"/>
                <a:cs typeface="Times New Roman" panose="02020603050405020304" charset="0"/>
              </a:rPr>
              <a:t>A </a:t>
            </a:r>
            <a:r>
              <a:rPr lang="en-US" altLang="zh-CN" i="1" dirty="0">
                <a:latin typeface="Times New Roman" panose="02020603050405020304" charset="0"/>
                <a:cs typeface="Times New Roman" panose="02020603050405020304" charset="0"/>
              </a:rPr>
              <a:t>G</a:t>
            </a:r>
          </a:p>
        </p:txBody>
      </p:sp>
      <p:sp>
        <p:nvSpPr>
          <p:cNvPr id="21" name="文本框 20"/>
          <p:cNvSpPr txBox="1"/>
          <p:nvPr/>
        </p:nvSpPr>
        <p:spPr>
          <a:xfrm>
            <a:off x="5292090" y="4064000"/>
            <a:ext cx="1137920" cy="368300"/>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发送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i="1" dirty="0">
                <a:latin typeface="Times New Roman" panose="02020603050405020304" charset="0"/>
                <a:cs typeface="Times New Roman" panose="02020603050405020304" charset="0"/>
              </a:rPr>
              <a:t>k</a:t>
            </a:r>
            <a:r>
              <a:rPr lang="en-US" altLang="zh-CN" i="1" baseline="-25000" dirty="0">
                <a:latin typeface="Times New Roman" panose="02020603050405020304" charset="0"/>
                <a:cs typeface="Times New Roman" panose="02020603050405020304" charset="0"/>
              </a:rPr>
              <a:t>B </a:t>
            </a:r>
            <a:r>
              <a:rPr lang="en-US" altLang="zh-CN" i="1" dirty="0">
                <a:latin typeface="Times New Roman" panose="02020603050405020304" charset="0"/>
                <a:cs typeface="Times New Roman" panose="02020603050405020304" charset="0"/>
              </a:rPr>
              <a:t>G</a:t>
            </a:r>
          </a:p>
        </p:txBody>
      </p:sp>
      <p:pic>
        <p:nvPicPr>
          <p:cNvPr id="11" name="Picture 12" descr="Eve"/>
          <p:cNvPicPr>
            <a:picLocks noChangeAspect="1" noChangeArrowheads="1"/>
          </p:cNvPicPr>
          <p:nvPr/>
        </p:nvPicPr>
        <p:blipFill>
          <a:blip r:embed="rId6" cstate="email">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5397500" y="4932045"/>
            <a:ext cx="1226185" cy="1468755"/>
          </a:xfrm>
          <a:prstGeom prst="rect">
            <a:avLst/>
          </a:prstGeom>
          <a:noFill/>
          <a:ln>
            <a:noFill/>
          </a:ln>
        </p:spPr>
      </p:pic>
      <p:cxnSp>
        <p:nvCxnSpPr>
          <p:cNvPr id="2" name="直接连接符 1"/>
          <p:cNvCxnSpPr/>
          <p:nvPr/>
        </p:nvCxnSpPr>
        <p:spPr>
          <a:xfrm flipV="1">
            <a:off x="425752" y="1521220"/>
            <a:ext cx="2827020" cy="76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6"/>
          <p:cNvSpPr txBox="1"/>
          <p:nvPr/>
        </p:nvSpPr>
        <p:spPr>
          <a:xfrm>
            <a:off x="307975" y="1108710"/>
            <a:ext cx="2893060"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3.2 ECDH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密钥交换算法</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灯片编号占位符 5"/>
          <p:cNvSpPr>
            <a:spLocks noGrp="1"/>
          </p:cNvSpPr>
          <p:nvPr>
            <p:ph type="sldNum" sz="quarter" idx="12"/>
          </p:nvPr>
        </p:nvSpPr>
        <p:spPr/>
        <p:txBody>
          <a:bodyPr/>
          <a:lstStyle/>
          <a:p>
            <a:fld id="{A8537B7A-7510-410A-AA53-45D600DA0276}" type="slidenum">
              <a:rPr lang="zh-CN" altLang="en-US" smtClean="0"/>
              <a:t>16</a:t>
            </a:fld>
            <a:endParaRPr lang="zh-CN" altLang="en-US"/>
          </a:p>
        </p:txBody>
      </p:sp>
      <p:grpSp>
        <p:nvGrpSpPr>
          <p:cNvPr id="7" name="组合 6"/>
          <p:cNvGrpSpPr/>
          <p:nvPr/>
        </p:nvGrpSpPr>
        <p:grpSpPr>
          <a:xfrm>
            <a:off x="6186488" y="5761593"/>
            <a:ext cx="1137920" cy="369332"/>
            <a:chOff x="5397500" y="6216134"/>
            <a:chExt cx="1137920" cy="369332"/>
          </a:xfrm>
        </p:grpSpPr>
        <p:sp>
          <p:nvSpPr>
            <p:cNvPr id="31" name="文本框 30"/>
            <p:cNvSpPr txBox="1"/>
            <p:nvPr/>
          </p:nvSpPr>
          <p:spPr>
            <a:xfrm>
              <a:off x="5397500" y="6216134"/>
              <a:ext cx="1137920" cy="369332"/>
            </a:xfrm>
            <a:prstGeom prst="rect">
              <a:avLst/>
            </a:prstGeom>
            <a:noFill/>
          </p:spPr>
          <p:txBody>
            <a:bodyPr wrap="square" rtlCol="0">
              <a:spAutoFit/>
            </a:bodyPr>
            <a:lstStyle/>
            <a:p>
              <a:pPr algn="ctr"/>
              <a:r>
                <a:rPr lang="en-US" altLang="zh-CN" i="1" dirty="0" err="1">
                  <a:latin typeface="Times New Roman" panose="02020603050405020304" charset="0"/>
                  <a:cs typeface="Times New Roman" panose="02020603050405020304" charset="0"/>
                </a:rPr>
                <a:t>k</a:t>
              </a:r>
              <a:r>
                <a:rPr lang="en-US" altLang="zh-CN" i="1" baseline="-25000" dirty="0" err="1">
                  <a:latin typeface="Times New Roman" panose="02020603050405020304" charset="0"/>
                  <a:cs typeface="Times New Roman" panose="02020603050405020304" charset="0"/>
                </a:rPr>
                <a:t>M</a:t>
              </a:r>
              <a:r>
                <a:rPr lang="en-US" altLang="zh-CN" i="1" baseline="-25000" dirty="0">
                  <a:latin typeface="Times New Roman" panose="02020603050405020304" charset="0"/>
                  <a:cs typeface="Times New Roman" panose="02020603050405020304" charset="0"/>
                </a:rPr>
                <a:t> </a:t>
              </a:r>
              <a:r>
                <a:rPr lang="en-US" altLang="zh-CN" i="1" dirty="0">
                  <a:latin typeface="Times New Roman" panose="02020603050405020304" charset="0"/>
                  <a:cs typeface="Times New Roman" panose="02020603050405020304" charset="0"/>
                </a:rPr>
                <a:t>G</a:t>
              </a:r>
            </a:p>
          </p:txBody>
        </p:sp>
        <p:sp>
          <p:nvSpPr>
            <p:cNvPr id="5" name="矩形 4"/>
            <p:cNvSpPr/>
            <p:nvPr/>
          </p:nvSpPr>
          <p:spPr>
            <a:xfrm>
              <a:off x="5642264" y="6216134"/>
              <a:ext cx="623454" cy="369332"/>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2" name="直接连接符 1"/>
          <p:cNvCxnSpPr/>
          <p:nvPr/>
        </p:nvCxnSpPr>
        <p:spPr>
          <a:xfrm flipV="1">
            <a:off x="641652" y="1521220"/>
            <a:ext cx="2827020" cy="76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6"/>
          <p:cNvSpPr txBox="1"/>
          <p:nvPr/>
        </p:nvSpPr>
        <p:spPr>
          <a:xfrm>
            <a:off x="241300" y="1108710"/>
            <a:ext cx="2893060"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3.4 </a:t>
            </a:r>
            <a:r>
              <a:rPr lang="zh-CN" sz="1865" b="1" dirty="0">
                <a:solidFill>
                  <a:schemeClr val="tx1">
                    <a:lumMod val="65000"/>
                    <a:lumOff val="35000"/>
                  </a:schemeClr>
                </a:solidFill>
                <a:latin typeface="微软雅黑" panose="020B0503020204020204" pitchFamily="34" charset="-122"/>
                <a:ea typeface="微软雅黑" panose="020B0503020204020204" pitchFamily="34" charset="-122"/>
              </a:rPr>
              <a:t>节点加密通信过程</a:t>
            </a:r>
            <a:endParaRPr lang="zh-CN" sz="1865"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 name="直接箭头连接符 4"/>
          <p:cNvCxnSpPr/>
          <p:nvPr/>
        </p:nvCxnSpPr>
        <p:spPr>
          <a:xfrm flipV="1">
            <a:off x="4430013" y="2465568"/>
            <a:ext cx="3497580" cy="10160"/>
          </a:xfrm>
          <a:prstGeom prst="straightConnector1">
            <a:avLst/>
          </a:prstGeom>
          <a:ln>
            <a:tailEnd type="triangle" w="lg" len="lg"/>
          </a:ln>
        </p:spPr>
        <p:style>
          <a:lnRef idx="2">
            <a:schemeClr val="accent4"/>
          </a:lnRef>
          <a:fillRef idx="0">
            <a:schemeClr val="accent4"/>
          </a:fillRef>
          <a:effectRef idx="1">
            <a:schemeClr val="accent4"/>
          </a:effectRef>
          <a:fontRef idx="minor">
            <a:schemeClr val="tx1"/>
          </a:fontRef>
        </p:style>
      </p:cxnSp>
      <p:sp>
        <p:nvSpPr>
          <p:cNvPr id="6" name="文本框 5"/>
          <p:cNvSpPr txBox="1"/>
          <p:nvPr/>
        </p:nvSpPr>
        <p:spPr>
          <a:xfrm>
            <a:off x="5111750" y="4504690"/>
            <a:ext cx="2400300" cy="368300"/>
          </a:xfrm>
          <a:prstGeom prst="rect">
            <a:avLst/>
          </a:prstGeom>
          <a:noFill/>
        </p:spPr>
        <p:txBody>
          <a:bodyPr wrap="square" rtlCol="0">
            <a:spAutoFit/>
          </a:bodyPr>
          <a:lstStyle/>
          <a:p>
            <a:pPr algn="ctr"/>
            <a:r>
              <a:rPr lang="zh-CN" altLang="en-US" dirty="0">
                <a:latin typeface="Times New Roman" panose="02020603050405020304" charset="0"/>
                <a:ea typeface="微软雅黑" panose="020B0503020204020204" pitchFamily="34" charset="-122"/>
                <a:cs typeface="Times New Roman" panose="02020603050405020304" charset="0"/>
              </a:rPr>
              <a:t>发送 </a:t>
            </a:r>
            <a:r>
              <a:rPr lang="en-US" altLang="zh-CN" b="1" dirty="0" err="1">
                <a:solidFill>
                  <a:schemeClr val="accent6">
                    <a:lumMod val="75000"/>
                  </a:schemeClr>
                </a:solidFill>
                <a:latin typeface="Times New Roman" panose="02020603050405020304" charset="0"/>
                <a:ea typeface="微软雅黑" panose="020B0503020204020204" pitchFamily="34" charset="-122"/>
                <a:cs typeface="Times New Roman" panose="02020603050405020304" charset="0"/>
              </a:rPr>
              <a:t>respAuthMsg</a:t>
            </a:r>
          </a:p>
        </p:txBody>
      </p:sp>
      <p:sp>
        <p:nvSpPr>
          <p:cNvPr id="7" name="文本框 6"/>
          <p:cNvSpPr txBox="1"/>
          <p:nvPr/>
        </p:nvSpPr>
        <p:spPr>
          <a:xfrm>
            <a:off x="215900" y="3180715"/>
            <a:ext cx="4937760" cy="3101975"/>
          </a:xfrm>
          <a:prstGeom prst="rect">
            <a:avLst/>
          </a:prstGeom>
          <a:noFill/>
        </p:spPr>
        <p:txBody>
          <a:bodyPr wrap="square" rtlCol="0">
            <a:spAutoFit/>
          </a:bodyPr>
          <a:lstStyle/>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计算 </a:t>
            </a:r>
            <a:r>
              <a:rPr lang="en-US" altLang="zh-CN" sz="1600" dirty="0">
                <a:latin typeface="Times New Roman" panose="02020603050405020304" charset="0"/>
                <a:ea typeface="微软雅黑" panose="020B0503020204020204" pitchFamily="34" charset="-122"/>
                <a:cs typeface="Times New Roman" panose="02020603050405020304" charset="0"/>
              </a:rPr>
              <a:t>token = </a:t>
            </a:r>
            <a:r>
              <a:rPr lang="en-US" altLang="zh-CN" sz="1600" dirty="0" err="1">
                <a:latin typeface="Times New Roman" panose="02020603050405020304" charset="0"/>
                <a:ea typeface="微软雅黑" panose="020B0503020204020204" pitchFamily="34" charset="-122"/>
                <a:cs typeface="Times New Roman" panose="02020603050405020304" charset="0"/>
              </a:rPr>
              <a:t>iPrv</a:t>
            </a:r>
            <a:r>
              <a:rPr lang="en-US" altLang="zh-CN" sz="1600" dirty="0">
                <a:latin typeface="Times New Roman" panose="02020603050405020304" charset="0"/>
                <a:ea typeface="微软雅黑" panose="020B0503020204020204" pitchFamily="34" charset="-122"/>
                <a:cs typeface="Times New Roman" panose="02020603050405020304" charset="0"/>
              </a:rPr>
              <a:t> × (</a:t>
            </a:r>
            <a:r>
              <a:rPr lang="en-US" altLang="zh-CN" sz="1600" dirty="0" err="1">
                <a:latin typeface="Times New Roman" panose="02020603050405020304" charset="0"/>
                <a:ea typeface="微软雅黑" panose="020B0503020204020204" pitchFamily="34" charset="-122"/>
                <a:cs typeface="Times New Roman" panose="02020603050405020304" charset="0"/>
              </a:rPr>
              <a:t>rPub.X</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rPub.Y</a:t>
            </a:r>
            <a:r>
              <a:rPr lang="en-US" altLang="zh-CN" sz="1600" dirty="0">
                <a:latin typeface="Times New Roman" panose="02020603050405020304" charset="0"/>
                <a:ea typeface="微软雅黑" panose="020B0503020204020204" pitchFamily="34" charset="-122"/>
                <a:cs typeface="Times New Roman" panose="02020603050405020304" charset="0"/>
              </a:rPr>
              <a:t>)</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生成 </a:t>
            </a:r>
            <a:r>
              <a:rPr lang="en-US" altLang="zh-CN" sz="1600" dirty="0" err="1">
                <a:latin typeface="Times New Roman" panose="02020603050405020304" charset="0"/>
                <a:ea typeface="微软雅黑" panose="020B0503020204020204" pitchFamily="34" charset="-122"/>
                <a:cs typeface="Times New Roman" panose="02020603050405020304" charset="0"/>
              </a:rPr>
              <a:t>iRandPrv</a:t>
            </a:r>
            <a:r>
              <a:rPr lang="zh-CN" altLang="en-US" sz="1600" dirty="0">
                <a:latin typeface="Times New Roman" panose="02020603050405020304" charset="0"/>
                <a:ea typeface="微软雅黑" panose="020B0503020204020204" pitchFamily="34" charset="-122"/>
                <a:cs typeface="Times New Roman" panose="02020603050405020304" charset="0"/>
              </a:rPr>
              <a:t>，生成 </a:t>
            </a:r>
            <a:r>
              <a:rPr lang="en-US" altLang="zh-CN" sz="1600" dirty="0" err="1">
                <a:latin typeface="Times New Roman" panose="02020603050405020304" charset="0"/>
                <a:ea typeface="微软雅黑" panose="020B0503020204020204" pitchFamily="34" charset="-122"/>
                <a:cs typeface="Times New Roman" panose="02020603050405020304" charset="0"/>
              </a:rPr>
              <a:t>initNonce</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生成 </a:t>
            </a:r>
            <a:r>
              <a:rPr lang="en-US" altLang="zh-CN" sz="1600" dirty="0">
                <a:latin typeface="Times New Roman" panose="02020603050405020304" charset="0"/>
                <a:ea typeface="微软雅黑" panose="020B0503020204020204" pitchFamily="34" charset="-122"/>
                <a:cs typeface="Times New Roman" panose="02020603050405020304" charset="0"/>
              </a:rPr>
              <a:t>unsigned = </a:t>
            </a:r>
            <a:r>
              <a:rPr lang="en-US" altLang="zh-CN" sz="1600" dirty="0" err="1">
                <a:latin typeface="Times New Roman" panose="02020603050405020304" charset="0"/>
                <a:ea typeface="微软雅黑" panose="020B0503020204020204" pitchFamily="34" charset="-122"/>
                <a:cs typeface="Times New Roman" panose="02020603050405020304" charset="0"/>
              </a:rPr>
              <a:t>initNonce</a:t>
            </a:r>
            <a:r>
              <a:rPr lang="en-US" altLang="zh-CN" dirty="0" err="1">
                <a:latin typeface="Times New Roman" panose="02020603050405020304" charset="0"/>
                <a:ea typeface="微软雅黑" panose="020B0503020204020204" pitchFamily="34" charset="-122"/>
                <a:cs typeface="Times New Roman" panose="02020603050405020304" charset="0"/>
              </a:rPr>
              <a:t> </a:t>
            </a:r>
            <a:r>
              <a:rPr lang="en-US" altLang="zh-CN" dirty="0">
                <a:latin typeface="Times New Roman" panose="02020603050405020304" charset="0"/>
                <a:ea typeface="微软雅黑" panose="020B0503020204020204" pitchFamily="34" charset="-122"/>
                <a:cs typeface="Times New Roman" panose="02020603050405020304" charset="0"/>
              </a:rPr>
              <a:t>⊕</a:t>
            </a:r>
            <a:r>
              <a:rPr lang="en-US" altLang="zh-CN" sz="1600" dirty="0">
                <a:latin typeface="Times New Roman" panose="02020603050405020304" charset="0"/>
                <a:ea typeface="微软雅黑" panose="020B0503020204020204" pitchFamily="34" charset="-122"/>
                <a:cs typeface="Times New Roman" panose="02020603050405020304" charset="0"/>
              </a:rPr>
              <a:t>token</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生成 </a:t>
            </a:r>
            <a:r>
              <a:rPr lang="en-US" altLang="zh-CN" sz="1600" dirty="0">
                <a:latin typeface="Times New Roman" panose="02020603050405020304" charset="0"/>
                <a:ea typeface="微软雅黑" panose="020B0503020204020204" pitchFamily="34" charset="-122"/>
                <a:cs typeface="Times New Roman" panose="02020603050405020304" charset="0"/>
              </a:rPr>
              <a:t>signature = Sign(unsigned, </a:t>
            </a:r>
            <a:r>
              <a:rPr lang="en-US" altLang="zh-CN" sz="1600" dirty="0" err="1">
                <a:latin typeface="Times New Roman" panose="02020603050405020304" charset="0"/>
                <a:ea typeface="微软雅黑" panose="020B0503020204020204" pitchFamily="34" charset="-122"/>
                <a:cs typeface="Times New Roman" panose="02020603050405020304" charset="0"/>
              </a:rPr>
              <a:t>iRandPrv</a:t>
            </a:r>
            <a:r>
              <a:rPr lang="en-US" altLang="zh-CN" sz="1600" dirty="0">
                <a:latin typeface="Times New Roman" panose="02020603050405020304" charset="0"/>
                <a:ea typeface="微软雅黑" panose="020B0503020204020204" pitchFamily="34" charset="-122"/>
                <a:cs typeface="Times New Roman" panose="02020603050405020304" charset="0"/>
              </a:rPr>
              <a:t>)</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用 </a:t>
            </a:r>
            <a:r>
              <a:rPr lang="en-US" altLang="zh-CN" sz="1600" b="1" dirty="0" err="1">
                <a:solidFill>
                  <a:srgbClr val="C00000"/>
                </a:solidFill>
                <a:latin typeface="Times New Roman" panose="02020603050405020304" charset="0"/>
                <a:ea typeface="微软雅黑" panose="020B0503020204020204" pitchFamily="34" charset="-122"/>
                <a:cs typeface="Times New Roman" panose="02020603050405020304" charset="0"/>
              </a:rPr>
              <a:t>rPub</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zh-CN" altLang="en-US" sz="1600" dirty="0">
                <a:latin typeface="Times New Roman" panose="02020603050405020304" charset="0"/>
                <a:ea typeface="微软雅黑" panose="020B0503020204020204" pitchFamily="34" charset="-122"/>
                <a:cs typeface="Times New Roman" panose="02020603050405020304" charset="0"/>
              </a:rPr>
              <a:t>加密打包 </a:t>
            </a:r>
          </a:p>
          <a:p>
            <a:pPr>
              <a:lnSpc>
                <a:spcPct val="110000"/>
              </a:lnSpc>
            </a:pPr>
            <a:r>
              <a:rPr lang="en-US" altLang="zh-CN" sz="1600" b="1" dirty="0" err="1">
                <a:solidFill>
                  <a:schemeClr val="accent1">
                    <a:lumMod val="90000"/>
                    <a:lumOff val="10000"/>
                  </a:schemeClr>
                </a:solidFill>
                <a:latin typeface="Times New Roman" panose="02020603050405020304" charset="0"/>
                <a:ea typeface="微软雅黑" panose="020B0503020204020204" pitchFamily="34" charset="-122"/>
                <a:cs typeface="Times New Roman" panose="02020603050405020304" charset="0"/>
              </a:rPr>
              <a:t>authMsg</a:t>
            </a:r>
            <a:r>
              <a:rPr lang="en-US" altLang="zh-CN" sz="1600" dirty="0">
                <a:latin typeface="Times New Roman" panose="02020603050405020304" charset="0"/>
                <a:ea typeface="微软雅黑" panose="020B0503020204020204" pitchFamily="34" charset="-122"/>
                <a:cs typeface="Times New Roman" panose="02020603050405020304" charset="0"/>
              </a:rPr>
              <a:t> = {</a:t>
            </a:r>
            <a:r>
              <a:rPr lang="en-US" altLang="zh-CN" sz="1600" dirty="0" err="1">
                <a:latin typeface="Times New Roman" panose="02020603050405020304" charset="0"/>
                <a:ea typeface="微软雅黑" panose="020B0503020204020204" pitchFamily="34" charset="-122"/>
                <a:cs typeface="Times New Roman" panose="02020603050405020304" charset="0"/>
              </a:rPr>
              <a:t>initNonce</a:t>
            </a:r>
            <a:r>
              <a:rPr lang="en-US" altLang="zh-CN" sz="1600" dirty="0">
                <a:latin typeface="Times New Roman" panose="02020603050405020304" charset="0"/>
                <a:ea typeface="微软雅黑" panose="020B0503020204020204" pitchFamily="34" charset="-122"/>
                <a:cs typeface="Times New Roman" panose="02020603050405020304" charset="0"/>
              </a:rPr>
              <a:t>, signature, </a:t>
            </a:r>
            <a:r>
              <a:rPr lang="en-US" altLang="zh-CN" sz="1600" dirty="0" err="1">
                <a:latin typeface="Times New Roman" panose="02020603050405020304" charset="0"/>
                <a:ea typeface="微软雅黑" panose="020B0503020204020204" pitchFamily="34" charset="-122"/>
                <a:cs typeface="Times New Roman" panose="02020603050405020304" charset="0"/>
              </a:rPr>
              <a:t>iPub</a:t>
            </a:r>
            <a:r>
              <a:rPr lang="en-US" altLang="zh-CN" sz="1600" dirty="0">
                <a:latin typeface="Times New Roman" panose="02020603050405020304" charset="0"/>
                <a:ea typeface="微软雅黑" panose="020B0503020204020204" pitchFamily="34" charset="-122"/>
                <a:cs typeface="Times New Roman" panose="02020603050405020304" charset="0"/>
              </a:rPr>
              <a:t>, version}</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计算</a:t>
            </a:r>
          </a:p>
          <a:p>
            <a:pPr>
              <a:lnSpc>
                <a:spcPct val="110000"/>
              </a:lnSpc>
            </a:pPr>
            <a:r>
              <a:rPr lang="zh-CN" altLang="en-US"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tokenRand</a:t>
            </a:r>
            <a:r>
              <a:rPr lang="en-US" altLang="zh-CN" sz="1600" dirty="0">
                <a:latin typeface="Times New Roman" panose="02020603050405020304" charset="0"/>
                <a:ea typeface="微软雅黑" panose="020B0503020204020204" pitchFamily="34" charset="-122"/>
                <a:cs typeface="Times New Roman" panose="02020603050405020304" charset="0"/>
              </a:rPr>
              <a:t> = </a:t>
            </a:r>
            <a:r>
              <a:rPr lang="en-US" altLang="zh-CN" sz="1600" dirty="0" err="1">
                <a:latin typeface="Times New Roman" panose="02020603050405020304" charset="0"/>
                <a:ea typeface="微软雅黑" panose="020B0503020204020204" pitchFamily="34" charset="-122"/>
                <a:cs typeface="Times New Roman" panose="02020603050405020304" charset="0"/>
              </a:rPr>
              <a:t>iRandPrv</a:t>
            </a:r>
            <a:r>
              <a:rPr lang="en-US" altLang="zh-CN" sz="1600" dirty="0">
                <a:latin typeface="Times New Roman" panose="02020603050405020304" charset="0"/>
                <a:ea typeface="微软雅黑" panose="020B0503020204020204" pitchFamily="34" charset="-122"/>
                <a:cs typeface="Times New Roman" panose="02020603050405020304" charset="0"/>
              </a:rPr>
              <a:t> ×</a:t>
            </a:r>
          </a:p>
          <a:p>
            <a:pPr>
              <a:lnSpc>
                <a:spcPct val="110000"/>
              </a:lnSpc>
            </a:pPr>
            <a:r>
              <a:rPr lang="en-US" altLang="zh-CN"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rRandPub.X</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rRandPub.Y</a:t>
            </a:r>
            <a:r>
              <a:rPr lang="en-US" altLang="zh-CN" sz="1600" dirty="0">
                <a:latin typeface="Times New Roman" panose="02020603050405020304" charset="0"/>
                <a:ea typeface="微软雅黑" panose="020B0503020204020204" pitchFamily="34" charset="-122"/>
                <a:cs typeface="Times New Roman" panose="02020603050405020304" charset="0"/>
              </a:rPr>
              <a:t>)</a:t>
            </a:r>
            <a:r>
              <a:rPr lang="zh-CN" altLang="en-US" sz="1600" dirty="0">
                <a:latin typeface="Times New Roman" panose="02020603050405020304" charset="0"/>
                <a:ea typeface="微软雅黑" panose="020B0503020204020204" pitchFamily="34" charset="-122"/>
                <a:cs typeface="Times New Roman" panose="02020603050405020304" charset="0"/>
              </a:rPr>
              <a:t>；</a:t>
            </a:r>
          </a:p>
        </p:txBody>
      </p:sp>
      <p:sp>
        <p:nvSpPr>
          <p:cNvPr id="10" name="文本框 9"/>
          <p:cNvSpPr txBox="1"/>
          <p:nvPr/>
        </p:nvSpPr>
        <p:spPr>
          <a:xfrm>
            <a:off x="3827780" y="1321435"/>
            <a:ext cx="4830445" cy="398780"/>
          </a:xfrm>
          <a:prstGeom prst="rect">
            <a:avLst/>
          </a:prstGeom>
          <a:noFill/>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Initiator                                Recipient</a:t>
            </a:r>
          </a:p>
        </p:txBody>
      </p:sp>
      <p:sp>
        <p:nvSpPr>
          <p:cNvPr id="20" name="文本框 19"/>
          <p:cNvSpPr txBox="1"/>
          <p:nvPr/>
        </p:nvSpPr>
        <p:spPr>
          <a:xfrm>
            <a:off x="8094345" y="2939415"/>
            <a:ext cx="4170680" cy="3599815"/>
          </a:xfrm>
          <a:prstGeom prst="rect">
            <a:avLst/>
          </a:prstGeom>
          <a:noFill/>
        </p:spPr>
        <p:txBody>
          <a:bodyPr wrap="square" rtlCol="0">
            <a:spAutoFit/>
          </a:bodyPr>
          <a:lstStyle/>
          <a:p>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用 </a:t>
            </a:r>
            <a:r>
              <a:rPr lang="en-US" altLang="zh-CN" sz="1600" dirty="0" err="1">
                <a:latin typeface="Times New Roman" panose="02020603050405020304" charset="0"/>
                <a:ea typeface="微软雅黑" panose="020B0503020204020204" pitchFamily="34" charset="-122"/>
                <a:cs typeface="Times New Roman" panose="02020603050405020304" charset="0"/>
              </a:rPr>
              <a:t>rPrv</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zh-CN" altLang="en-US" sz="1600" dirty="0">
                <a:latin typeface="Times New Roman" panose="02020603050405020304" charset="0"/>
                <a:ea typeface="微软雅黑" panose="020B0503020204020204" pitchFamily="34" charset="-122"/>
                <a:cs typeface="Times New Roman" panose="02020603050405020304" charset="0"/>
              </a:rPr>
              <a:t>解密 </a:t>
            </a:r>
            <a:r>
              <a:rPr lang="en-US" altLang="zh-CN" sz="1600" b="1" dirty="0" err="1">
                <a:solidFill>
                  <a:schemeClr val="accent1">
                    <a:lumMod val="90000"/>
                    <a:lumOff val="10000"/>
                  </a:schemeClr>
                </a:solidFill>
                <a:latin typeface="Times New Roman" panose="02020603050405020304" charset="0"/>
                <a:ea typeface="微软雅黑" panose="020B0503020204020204" pitchFamily="34" charset="-122"/>
                <a:cs typeface="Times New Roman" panose="02020603050405020304" charset="0"/>
              </a:rPr>
              <a:t>authMsg</a:t>
            </a:r>
            <a:r>
              <a:rPr lang="en-US" altLang="zh-CN" sz="1600" dirty="0">
                <a:latin typeface="Times New Roman" panose="02020603050405020304" charset="0"/>
                <a:ea typeface="微软雅黑" panose="020B0503020204020204" pitchFamily="34" charset="-122"/>
                <a:cs typeface="Times New Roman" panose="02020603050405020304" charset="0"/>
              </a:rPr>
              <a:t> </a:t>
            </a:r>
          </a:p>
          <a:p>
            <a:r>
              <a:rPr lang="zh-CN" altLang="en-US" sz="1600" dirty="0">
                <a:latin typeface="Times New Roman" panose="02020603050405020304" charset="0"/>
                <a:ea typeface="微软雅黑" panose="020B0503020204020204" pitchFamily="34" charset="-122"/>
                <a:cs typeface="Times New Roman" panose="02020603050405020304" charset="0"/>
              </a:rPr>
              <a:t>得到 </a:t>
            </a:r>
            <a:r>
              <a:rPr lang="en-US" altLang="zh-CN" sz="1600" dirty="0" err="1">
                <a:latin typeface="Times New Roman" panose="02020603050405020304" charset="0"/>
                <a:ea typeface="微软雅黑" panose="020B0503020204020204" pitchFamily="34" charset="-122"/>
                <a:cs typeface="Times New Roman" panose="02020603050405020304" charset="0"/>
              </a:rPr>
              <a:t>initNonce</a:t>
            </a:r>
            <a:r>
              <a:rPr lang="zh-CN" altLang="en-US" sz="1600" dirty="0">
                <a:latin typeface="Times New Roman" panose="02020603050405020304" charset="0"/>
                <a:ea typeface="微软雅黑" panose="020B0503020204020204" pitchFamily="34" charset="-122"/>
                <a:cs typeface="Times New Roman" panose="02020603050405020304" charset="0"/>
              </a:rPr>
              <a:t>，</a:t>
            </a:r>
            <a:r>
              <a:rPr lang="en-US" altLang="zh-CN" sz="1600" dirty="0">
                <a:latin typeface="Times New Roman" panose="02020603050405020304" charset="0"/>
                <a:ea typeface="微软雅黑" panose="020B0503020204020204" pitchFamily="34" charset="-122"/>
                <a:cs typeface="Times New Roman" panose="02020603050405020304" charset="0"/>
              </a:rPr>
              <a:t>signature</a:t>
            </a:r>
            <a:r>
              <a:rPr lang="zh-CN" altLang="en-US" sz="1600" dirty="0">
                <a:latin typeface="Times New Roman" panose="02020603050405020304" charset="0"/>
                <a:ea typeface="微软雅黑" panose="020B0503020204020204" pitchFamily="34" charset="-122"/>
                <a:cs typeface="Times New Roman" panose="02020603050405020304" charset="0"/>
              </a:rPr>
              <a:t>，</a:t>
            </a:r>
            <a:r>
              <a:rPr lang="en-US" altLang="zh-CN" sz="1600" b="1" dirty="0" err="1">
                <a:solidFill>
                  <a:srgbClr val="F77E07"/>
                </a:solidFill>
                <a:latin typeface="Times New Roman" panose="02020603050405020304" charset="0"/>
                <a:ea typeface="微软雅黑" panose="020B0503020204020204" pitchFamily="34" charset="-122"/>
                <a:cs typeface="Times New Roman" panose="02020603050405020304" charset="0"/>
              </a:rPr>
              <a:t>iPub</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zh-CN" altLang="en-US" sz="1600" dirty="0">
                <a:latin typeface="Times New Roman" panose="02020603050405020304" charset="0"/>
                <a:ea typeface="微软雅黑" panose="020B0503020204020204" pitchFamily="34" charset="-122"/>
                <a:cs typeface="Times New Roman" panose="02020603050405020304" charset="0"/>
              </a:rPr>
              <a:t>和 </a:t>
            </a:r>
            <a:r>
              <a:rPr lang="en-US" altLang="zh-CN" sz="1600" dirty="0">
                <a:latin typeface="Times New Roman" panose="02020603050405020304" charset="0"/>
                <a:ea typeface="微软雅黑" panose="020B0503020204020204" pitchFamily="34" charset="-122"/>
                <a:cs typeface="Times New Roman" panose="02020603050405020304" charset="0"/>
              </a:rPr>
              <a:t>version</a:t>
            </a:r>
            <a:r>
              <a:rPr lang="zh-CN" altLang="en-US" sz="1600" dirty="0">
                <a:latin typeface="Times New Roman" panose="02020603050405020304" charset="0"/>
                <a:ea typeface="微软雅黑" panose="020B0503020204020204" pitchFamily="34" charset="-122"/>
                <a:cs typeface="Times New Roman" panose="02020603050405020304" charset="0"/>
              </a:rPr>
              <a:t>，</a:t>
            </a:r>
          </a:p>
          <a:p>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计算 </a:t>
            </a:r>
            <a:r>
              <a:rPr lang="en-US" altLang="zh-CN" sz="1600" dirty="0">
                <a:latin typeface="Times New Roman" panose="02020603050405020304" charset="0"/>
                <a:ea typeface="微软雅黑" panose="020B0503020204020204" pitchFamily="34" charset="-122"/>
                <a:cs typeface="Times New Roman" panose="02020603050405020304" charset="0"/>
              </a:rPr>
              <a:t>token = </a:t>
            </a:r>
            <a:r>
              <a:rPr lang="en-US" altLang="zh-CN" sz="1600" dirty="0" err="1">
                <a:latin typeface="Times New Roman" panose="02020603050405020304" charset="0"/>
                <a:ea typeface="微软雅黑" panose="020B0503020204020204" pitchFamily="34" charset="-122"/>
                <a:cs typeface="Times New Roman" panose="02020603050405020304" charset="0"/>
              </a:rPr>
              <a:t>rPrv</a:t>
            </a:r>
            <a:r>
              <a:rPr lang="en-US" altLang="zh-CN" sz="1600" dirty="0">
                <a:latin typeface="Times New Roman" panose="02020603050405020304" charset="0"/>
                <a:ea typeface="微软雅黑" panose="020B0503020204020204" pitchFamily="34" charset="-122"/>
                <a:cs typeface="Times New Roman" panose="02020603050405020304" charset="0"/>
              </a:rPr>
              <a:t> × (</a:t>
            </a:r>
            <a:r>
              <a:rPr lang="en-US" altLang="zh-CN" sz="1600" dirty="0" err="1">
                <a:latin typeface="Times New Roman" panose="02020603050405020304" charset="0"/>
                <a:ea typeface="微软雅黑" panose="020B0503020204020204" pitchFamily="34" charset="-122"/>
                <a:cs typeface="Times New Roman" panose="02020603050405020304" charset="0"/>
              </a:rPr>
              <a:t>iPub.X</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iPub.Y</a:t>
            </a:r>
            <a:r>
              <a:rPr lang="en-US" altLang="zh-CN" sz="1600" dirty="0">
                <a:latin typeface="Times New Roman" panose="02020603050405020304" charset="0"/>
                <a:ea typeface="微软雅黑" panose="020B0503020204020204" pitchFamily="34" charset="-122"/>
                <a:cs typeface="Times New Roman" panose="02020603050405020304" charset="0"/>
              </a:rPr>
              <a:t>)</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计算 </a:t>
            </a:r>
            <a:r>
              <a:rPr lang="en-US" altLang="zh-CN" sz="1600" dirty="0" err="1">
                <a:latin typeface="Times New Roman" panose="02020603050405020304" charset="0"/>
                <a:ea typeface="微软雅黑" panose="020B0503020204020204" pitchFamily="34" charset="-122"/>
                <a:cs typeface="Times New Roman" panose="02020603050405020304" charset="0"/>
              </a:rPr>
              <a:t>initNonce </a:t>
            </a:r>
            <a:r>
              <a:rPr lang="en-US" altLang="zh-CN" sz="2000" dirty="0">
                <a:latin typeface="Times New Roman" panose="02020603050405020304" charset="0"/>
                <a:ea typeface="微软雅黑" panose="020B0503020204020204" pitchFamily="34" charset="-122"/>
                <a:cs typeface="Times New Roman" panose="02020603050405020304" charset="0"/>
              </a:rPr>
              <a:t>⊕</a:t>
            </a:r>
            <a:r>
              <a:rPr lang="en-US" altLang="zh-CN" sz="1600" dirty="0">
                <a:latin typeface="Times New Roman" panose="02020603050405020304" charset="0"/>
                <a:ea typeface="微软雅黑" panose="020B0503020204020204" pitchFamily="34" charset="-122"/>
                <a:cs typeface="Times New Roman" panose="02020603050405020304" charset="0"/>
              </a:rPr>
              <a:t>token </a:t>
            </a:r>
            <a:r>
              <a:rPr lang="zh-CN" altLang="en-US" sz="1600" dirty="0">
                <a:latin typeface="Times New Roman" panose="02020603050405020304" charset="0"/>
                <a:ea typeface="微软雅黑" panose="020B0503020204020204" pitchFamily="34" charset="-122"/>
                <a:cs typeface="Times New Roman" panose="02020603050405020304" charset="0"/>
              </a:rPr>
              <a:t>得到 </a:t>
            </a:r>
            <a:r>
              <a:rPr lang="en-US" altLang="zh-CN" sz="1600" dirty="0">
                <a:latin typeface="Times New Roman" panose="02020603050405020304" charset="0"/>
                <a:ea typeface="微软雅黑" panose="020B0503020204020204" pitchFamily="34" charset="-122"/>
                <a:cs typeface="Times New Roman" panose="02020603050405020304" charset="0"/>
              </a:rPr>
              <a:t>unsigned</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利用 </a:t>
            </a:r>
            <a:r>
              <a:rPr lang="en-US" altLang="zh-CN" sz="1600" dirty="0">
                <a:latin typeface="Times New Roman" panose="02020603050405020304" charset="0"/>
                <a:ea typeface="微软雅黑" panose="020B0503020204020204" pitchFamily="34" charset="-122"/>
                <a:cs typeface="Times New Roman" panose="02020603050405020304" charset="0"/>
              </a:rPr>
              <a:t>signature </a:t>
            </a:r>
            <a:r>
              <a:rPr lang="zh-CN" altLang="en-US" sz="1600" dirty="0">
                <a:latin typeface="Times New Roman" panose="02020603050405020304" charset="0"/>
                <a:ea typeface="微软雅黑" panose="020B0503020204020204" pitchFamily="34" charset="-122"/>
                <a:cs typeface="Times New Roman" panose="02020603050405020304" charset="0"/>
              </a:rPr>
              <a:t>和 </a:t>
            </a:r>
            <a:r>
              <a:rPr lang="en-US" altLang="zh-CN" sz="1600" dirty="0">
                <a:latin typeface="Times New Roman" panose="02020603050405020304" charset="0"/>
                <a:ea typeface="微软雅黑" panose="020B0503020204020204" pitchFamily="34" charset="-122"/>
                <a:cs typeface="Times New Roman" panose="02020603050405020304" charset="0"/>
              </a:rPr>
              <a:t>unsigned </a:t>
            </a:r>
            <a:r>
              <a:rPr lang="zh-CN" altLang="en-US" sz="1600" dirty="0">
                <a:latin typeface="Times New Roman" panose="02020603050405020304" charset="0"/>
                <a:ea typeface="微软雅黑" panose="020B0503020204020204" pitchFamily="34" charset="-122"/>
                <a:cs typeface="Times New Roman" panose="02020603050405020304" charset="0"/>
              </a:rPr>
              <a:t>推导出 </a:t>
            </a:r>
            <a:r>
              <a:rPr lang="en-US" altLang="zh-CN" sz="1600" dirty="0" err="1">
                <a:latin typeface="Times New Roman" panose="02020603050405020304" charset="0"/>
                <a:ea typeface="微软雅黑" panose="020B0503020204020204" pitchFamily="34" charset="-122"/>
                <a:cs typeface="Times New Roman" panose="02020603050405020304" charset="0"/>
              </a:rPr>
              <a:t>iRandPub</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计算 </a:t>
            </a:r>
            <a:r>
              <a:rPr lang="en-US" altLang="zh-CN" sz="1600" dirty="0" err="1">
                <a:latin typeface="Times New Roman" panose="02020603050405020304" charset="0"/>
                <a:ea typeface="微软雅黑" panose="020B0503020204020204" pitchFamily="34" charset="-122"/>
                <a:cs typeface="Times New Roman" panose="02020603050405020304" charset="0"/>
              </a:rPr>
              <a:t>tokenRand</a:t>
            </a:r>
            <a:r>
              <a:rPr lang="en-US" altLang="zh-CN" sz="1600" dirty="0">
                <a:latin typeface="Times New Roman" panose="02020603050405020304" charset="0"/>
                <a:ea typeface="微软雅黑" panose="020B0503020204020204" pitchFamily="34" charset="-122"/>
                <a:cs typeface="Times New Roman" panose="02020603050405020304" charset="0"/>
              </a:rPr>
              <a:t> = </a:t>
            </a:r>
            <a:r>
              <a:rPr lang="en-US" altLang="zh-CN" sz="1600" dirty="0" err="1">
                <a:latin typeface="Times New Roman" panose="02020603050405020304" charset="0"/>
                <a:ea typeface="微软雅黑" panose="020B0503020204020204" pitchFamily="34" charset="-122"/>
                <a:cs typeface="Times New Roman" panose="02020603050405020304" charset="0"/>
              </a:rPr>
              <a:t>rRandPrv</a:t>
            </a:r>
            <a:r>
              <a:rPr lang="en-US" altLang="zh-CN" sz="1600" dirty="0">
                <a:latin typeface="Times New Roman" panose="02020603050405020304" charset="0"/>
                <a:ea typeface="微软雅黑" panose="020B0503020204020204" pitchFamily="34" charset="-122"/>
                <a:cs typeface="Times New Roman" panose="02020603050405020304" charset="0"/>
              </a:rPr>
              <a:t> ×</a:t>
            </a:r>
          </a:p>
          <a:p>
            <a:r>
              <a:rPr lang="en-US" altLang="zh-CN"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iRandPub.X</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en-US" altLang="zh-CN" sz="1600" dirty="0" err="1">
                <a:latin typeface="Times New Roman" panose="02020603050405020304" charset="0"/>
                <a:ea typeface="微软雅黑" panose="020B0503020204020204" pitchFamily="34" charset="-122"/>
                <a:cs typeface="Times New Roman" panose="02020603050405020304" charset="0"/>
              </a:rPr>
              <a:t>iRandPub.Y</a:t>
            </a:r>
            <a:r>
              <a:rPr lang="en-US" altLang="zh-CN" sz="1600" dirty="0">
                <a:latin typeface="Times New Roman" panose="02020603050405020304" charset="0"/>
                <a:ea typeface="微软雅黑" panose="020B0503020204020204" pitchFamily="34" charset="-122"/>
                <a:cs typeface="Times New Roman" panose="02020603050405020304" charset="0"/>
              </a:rPr>
              <a:t>)</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生成 </a:t>
            </a:r>
            <a:r>
              <a:rPr lang="en-US" altLang="zh-CN" sz="1600" dirty="0" err="1">
                <a:latin typeface="Times New Roman" panose="02020603050405020304" charset="0"/>
                <a:ea typeface="微软雅黑" panose="020B0503020204020204" pitchFamily="34" charset="-122"/>
                <a:cs typeface="Times New Roman" panose="02020603050405020304" charset="0"/>
              </a:rPr>
              <a:t>rRandPrv</a:t>
            </a:r>
            <a:r>
              <a:rPr lang="zh-CN" altLang="en-US" sz="1600" dirty="0">
                <a:latin typeface="Times New Roman" panose="02020603050405020304" charset="0"/>
                <a:ea typeface="微软雅黑" panose="020B0503020204020204" pitchFamily="34" charset="-122"/>
                <a:cs typeface="Times New Roman" panose="02020603050405020304" charset="0"/>
              </a:rPr>
              <a:t>，计算 </a:t>
            </a:r>
            <a:r>
              <a:rPr lang="en-US" altLang="zh-CN" sz="1600" dirty="0" err="1">
                <a:latin typeface="Times New Roman" panose="02020603050405020304" charset="0"/>
                <a:ea typeface="微软雅黑" panose="020B0503020204020204" pitchFamily="34" charset="-122"/>
                <a:cs typeface="Times New Roman" panose="02020603050405020304" charset="0"/>
              </a:rPr>
              <a:t>rRandPub</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生成 </a:t>
            </a:r>
            <a:r>
              <a:rPr lang="en-US" altLang="zh-CN" sz="1600" dirty="0" err="1">
                <a:latin typeface="Times New Roman" panose="02020603050405020304" charset="0"/>
                <a:ea typeface="微软雅黑" panose="020B0503020204020204" pitchFamily="34" charset="-122"/>
                <a:cs typeface="Times New Roman" panose="02020603050405020304" charset="0"/>
              </a:rPr>
              <a:t>respNonce</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r>
              <a:rPr lang="zh-CN" altLang="en-US" sz="1600" dirty="0">
                <a:latin typeface="Times New Roman" panose="02020603050405020304" charset="0"/>
                <a:ea typeface="微软雅黑" panose="020B0503020204020204" pitchFamily="34" charset="-122"/>
                <a:cs typeface="Times New Roman" panose="02020603050405020304" charset="0"/>
              </a:rPr>
              <a:t>用</a:t>
            </a:r>
            <a:r>
              <a:rPr lang="zh-CN" altLang="en-US" sz="1600" b="1" dirty="0">
                <a:solidFill>
                  <a:srgbClr val="F77E07"/>
                </a:solidFill>
                <a:latin typeface="Times New Roman" panose="02020603050405020304" charset="0"/>
                <a:ea typeface="微软雅黑" panose="020B0503020204020204" pitchFamily="34" charset="-122"/>
                <a:cs typeface="Times New Roman" panose="02020603050405020304" charset="0"/>
              </a:rPr>
              <a:t> </a:t>
            </a:r>
            <a:r>
              <a:rPr lang="en-US" altLang="zh-CN" sz="1600" b="1" dirty="0" err="1">
                <a:solidFill>
                  <a:srgbClr val="F77E07"/>
                </a:solidFill>
                <a:latin typeface="Times New Roman" panose="02020603050405020304" charset="0"/>
                <a:ea typeface="微软雅黑" panose="020B0503020204020204" pitchFamily="34" charset="-122"/>
                <a:cs typeface="Times New Roman" panose="02020603050405020304" charset="0"/>
              </a:rPr>
              <a:t>iPub</a:t>
            </a:r>
            <a:r>
              <a:rPr lang="en-US" altLang="zh-CN" sz="1600" dirty="0">
                <a:latin typeface="Times New Roman" panose="02020603050405020304" charset="0"/>
                <a:ea typeface="微软雅黑" panose="020B0503020204020204" pitchFamily="34" charset="-122"/>
                <a:cs typeface="Times New Roman" panose="02020603050405020304" charset="0"/>
              </a:rPr>
              <a:t> </a:t>
            </a:r>
            <a:r>
              <a:rPr lang="zh-CN" altLang="en-US" sz="1600" dirty="0">
                <a:latin typeface="Times New Roman" panose="02020603050405020304" charset="0"/>
                <a:ea typeface="微软雅黑" panose="020B0503020204020204" pitchFamily="34" charset="-122"/>
                <a:cs typeface="Times New Roman" panose="02020603050405020304" charset="0"/>
              </a:rPr>
              <a:t>加密打包 </a:t>
            </a:r>
          </a:p>
          <a:p>
            <a:r>
              <a:rPr lang="en-US" altLang="zh-CN" sz="1600" b="1" dirty="0" err="1">
                <a:solidFill>
                  <a:schemeClr val="accent6">
                    <a:lumMod val="75000"/>
                  </a:schemeClr>
                </a:solidFill>
                <a:latin typeface="Times New Roman" panose="02020603050405020304" charset="0"/>
                <a:ea typeface="微软雅黑" panose="020B0503020204020204" pitchFamily="34" charset="-122"/>
                <a:cs typeface="Times New Roman" panose="02020603050405020304" charset="0"/>
              </a:rPr>
              <a:t>respAuthMsg</a:t>
            </a:r>
            <a:r>
              <a:rPr lang="en-US" altLang="zh-CN" sz="1600" dirty="0">
                <a:latin typeface="Times New Roman" panose="02020603050405020304" charset="0"/>
                <a:ea typeface="微软雅黑" panose="020B0503020204020204" pitchFamily="34" charset="-122"/>
                <a:cs typeface="Times New Roman" panose="02020603050405020304" charset="0"/>
              </a:rPr>
              <a:t> = {</a:t>
            </a:r>
            <a:r>
              <a:rPr lang="en-US" altLang="zh-CN" sz="1600" dirty="0" err="1">
                <a:latin typeface="Times New Roman" panose="02020603050405020304" charset="0"/>
                <a:ea typeface="微软雅黑" panose="020B0503020204020204" pitchFamily="34" charset="-122"/>
                <a:cs typeface="Times New Roman" panose="02020603050405020304" charset="0"/>
              </a:rPr>
              <a:t>rRandPub</a:t>
            </a:r>
            <a:r>
              <a:rPr lang="zh-CN" altLang="en-US" sz="1600" dirty="0">
                <a:latin typeface="Times New Roman" panose="02020603050405020304" charset="0"/>
                <a:ea typeface="微软雅黑" panose="020B0503020204020204" pitchFamily="34" charset="-122"/>
                <a:cs typeface="Times New Roman" panose="02020603050405020304" charset="0"/>
              </a:rPr>
              <a:t>，</a:t>
            </a:r>
            <a:r>
              <a:rPr lang="en-US" altLang="zh-CN" sz="1600" dirty="0" err="1">
                <a:latin typeface="Times New Roman" panose="02020603050405020304" charset="0"/>
                <a:ea typeface="微软雅黑" panose="020B0503020204020204" pitchFamily="34" charset="-122"/>
                <a:cs typeface="Times New Roman" panose="02020603050405020304" charset="0"/>
              </a:rPr>
              <a:t>respNonce</a:t>
            </a:r>
            <a:r>
              <a:rPr lang="en-US" altLang="zh-CN" sz="1600" dirty="0">
                <a:latin typeface="Times New Roman" panose="02020603050405020304" charset="0"/>
                <a:ea typeface="微软雅黑" panose="020B0503020204020204" pitchFamily="34" charset="-122"/>
                <a:cs typeface="Times New Roman" panose="02020603050405020304" charset="0"/>
              </a:rPr>
              <a:t>}</a:t>
            </a:r>
            <a:r>
              <a:rPr lang="zh-CN" altLang="en-US" sz="1600" dirty="0">
                <a:latin typeface="Times New Roman" panose="02020603050405020304" charset="0"/>
                <a:ea typeface="微软雅黑" panose="020B0503020204020204" pitchFamily="34" charset="-122"/>
                <a:cs typeface="Times New Roman" panose="02020603050405020304" charset="0"/>
              </a:rPr>
              <a:t>；</a:t>
            </a:r>
            <a:endParaRPr lang="en-US" altLang="zh-CN" sz="1600" dirty="0">
              <a:latin typeface="Times New Roman" panose="02020603050405020304" charset="0"/>
              <a:ea typeface="微软雅黑" panose="020B0503020204020204" pitchFamily="34" charset="-122"/>
              <a:cs typeface="Times New Roman" panose="02020603050405020304" charset="0"/>
            </a:endParaRPr>
          </a:p>
          <a:p>
            <a:pPr algn="ctr"/>
            <a:endParaRPr lang="en-US" altLang="zh-CN" sz="1600" dirty="0">
              <a:latin typeface="Times New Roman" panose="02020603050405020304" charset="0"/>
              <a:ea typeface="微软雅黑" panose="020B0503020204020204" pitchFamily="34" charset="-122"/>
              <a:cs typeface="Times New Roman" panose="02020603050405020304" charset="0"/>
            </a:endParaRPr>
          </a:p>
        </p:txBody>
      </p:sp>
      <p:cxnSp>
        <p:nvCxnSpPr>
          <p:cNvPr id="23" name="直接箭头连接符 22"/>
          <p:cNvCxnSpPr/>
          <p:nvPr/>
        </p:nvCxnSpPr>
        <p:spPr>
          <a:xfrm flipH="1">
            <a:off x="4473488" y="3104903"/>
            <a:ext cx="3470275" cy="14605"/>
          </a:xfrm>
          <a:prstGeom prst="straightConnector1">
            <a:avLst/>
          </a:prstGeom>
          <a:ln>
            <a:tailEnd type="triangle" w="lg" len="lg"/>
          </a:ln>
        </p:spPr>
        <p:style>
          <a:lnRef idx="2">
            <a:schemeClr val="accent2"/>
          </a:lnRef>
          <a:fillRef idx="0">
            <a:schemeClr val="accent2"/>
          </a:fillRef>
          <a:effectRef idx="1">
            <a:schemeClr val="accent2"/>
          </a:effectRef>
          <a:fontRef idx="minor">
            <a:schemeClr val="tx1"/>
          </a:fontRef>
        </p:style>
      </p:cxnSp>
      <p:cxnSp>
        <p:nvCxnSpPr>
          <p:cNvPr id="31" name="直接箭头连接符 30"/>
          <p:cNvCxnSpPr/>
          <p:nvPr/>
        </p:nvCxnSpPr>
        <p:spPr>
          <a:xfrm>
            <a:off x="4423486" y="1784956"/>
            <a:ext cx="0" cy="4068214"/>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 name="直接箭头连接符 39"/>
          <p:cNvCxnSpPr/>
          <p:nvPr/>
        </p:nvCxnSpPr>
        <p:spPr>
          <a:xfrm>
            <a:off x="7943763" y="1784761"/>
            <a:ext cx="0" cy="4083649"/>
          </a:xfrm>
          <a:prstGeom prst="straightConnector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36" name="文本框 35"/>
          <p:cNvSpPr txBox="1"/>
          <p:nvPr/>
        </p:nvSpPr>
        <p:spPr>
          <a:xfrm>
            <a:off x="1925955" y="1972310"/>
            <a:ext cx="2491105" cy="368300"/>
          </a:xfrm>
          <a:prstGeom prst="rect">
            <a:avLst/>
          </a:prstGeom>
          <a:noFill/>
        </p:spPr>
        <p:txBody>
          <a:bodyPr wrap="square" rtlCol="0">
            <a:spAutoFit/>
          </a:bodyPr>
          <a:lstStyle/>
          <a:p>
            <a:pPr algn="ctr"/>
            <a:r>
              <a:rPr lang="zh-CN" altLang="en-US" dirty="0">
                <a:latin typeface="Times New Roman" panose="02020603050405020304" charset="0"/>
                <a:ea typeface="微软雅黑" panose="020B0503020204020204" pitchFamily="34" charset="-122"/>
                <a:cs typeface="Times New Roman" panose="02020603050405020304" charset="0"/>
                <a:sym typeface="+mn-ea"/>
              </a:rPr>
              <a:t>生成 </a:t>
            </a:r>
            <a:r>
              <a:rPr lang="en-US" altLang="zh-CN" dirty="0" err="1">
                <a:latin typeface="Times New Roman" panose="02020603050405020304" charset="0"/>
                <a:ea typeface="微软雅黑" panose="020B0503020204020204" pitchFamily="34" charset="-122"/>
                <a:cs typeface="Times New Roman" panose="02020603050405020304" charset="0"/>
                <a:sym typeface="+mn-ea"/>
              </a:rPr>
              <a:t>iPrv</a:t>
            </a:r>
            <a:r>
              <a:rPr lang="zh-CN" altLang="en-US" dirty="0">
                <a:latin typeface="Times New Roman" panose="02020603050405020304" charset="0"/>
                <a:ea typeface="微软雅黑" panose="020B0503020204020204" pitchFamily="34" charset="-122"/>
                <a:cs typeface="Times New Roman" panose="02020603050405020304" charset="0"/>
                <a:sym typeface="+mn-ea"/>
              </a:rPr>
              <a:t>，计算 </a:t>
            </a:r>
            <a:r>
              <a:rPr lang="en-US" altLang="zh-CN" b="1" dirty="0" err="1">
                <a:solidFill>
                  <a:srgbClr val="F77E07"/>
                </a:solidFill>
                <a:latin typeface="Times New Roman" panose="02020603050405020304" charset="0"/>
                <a:ea typeface="微软雅黑" panose="020B0503020204020204" pitchFamily="34" charset="-122"/>
                <a:cs typeface="Times New Roman" panose="02020603050405020304" charset="0"/>
                <a:sym typeface="+mn-ea"/>
              </a:rPr>
              <a:t>iPub</a:t>
            </a:r>
            <a:r>
              <a:rPr lang="zh-CN" altLang="en-US" dirty="0">
                <a:latin typeface="Times New Roman" panose="02020603050405020304" charset="0"/>
                <a:ea typeface="微软雅黑" panose="020B0503020204020204" pitchFamily="34" charset="-122"/>
                <a:cs typeface="Times New Roman" panose="02020603050405020304" charset="0"/>
                <a:sym typeface="+mn-ea"/>
              </a:rPr>
              <a:t>；</a:t>
            </a:r>
            <a:endParaRPr lang="zh-CN" altLang="en-US"/>
          </a:p>
        </p:txBody>
      </p:sp>
      <p:sp>
        <p:nvSpPr>
          <p:cNvPr id="38" name="文本框 37"/>
          <p:cNvSpPr txBox="1"/>
          <p:nvPr/>
        </p:nvSpPr>
        <p:spPr>
          <a:xfrm>
            <a:off x="5567045" y="2107565"/>
            <a:ext cx="1233170" cy="368300"/>
          </a:xfrm>
          <a:prstGeom prst="rect">
            <a:avLst/>
          </a:prstGeom>
          <a:noFill/>
        </p:spPr>
        <p:txBody>
          <a:bodyPr wrap="square" rtlCol="0">
            <a:spAutoFit/>
          </a:bodyPr>
          <a:lstStyle/>
          <a:p>
            <a:pPr algn="ctr"/>
            <a:r>
              <a:rPr lang="zh-CN" altLang="en-US">
                <a:latin typeface="微软雅黑" panose="020B0503020204020204" pitchFamily="34" charset="-122"/>
                <a:ea typeface="微软雅黑" panose="020B0503020204020204" pitchFamily="34" charset="-122"/>
              </a:rPr>
              <a:t>发送</a:t>
            </a:r>
            <a:r>
              <a:rPr lang="en-US" altLang="zh-CN" b="1">
                <a:solidFill>
                  <a:srgbClr val="F77E07"/>
                </a:solidFill>
                <a:latin typeface="微软雅黑" panose="020B0503020204020204" pitchFamily="34" charset="-122"/>
                <a:ea typeface="微软雅黑" panose="020B0503020204020204" pitchFamily="34" charset="-122"/>
              </a:rPr>
              <a:t> </a:t>
            </a:r>
            <a:r>
              <a:rPr lang="en-US" altLang="zh-CN" b="1">
                <a:solidFill>
                  <a:srgbClr val="F77E07"/>
                </a:solidFill>
                <a:latin typeface="Times New Roman" panose="02020603050405020304" charset="0"/>
                <a:cs typeface="Times New Roman" panose="02020603050405020304" charset="0"/>
              </a:rPr>
              <a:t>iPub</a:t>
            </a:r>
          </a:p>
        </p:txBody>
      </p:sp>
      <p:sp>
        <p:nvSpPr>
          <p:cNvPr id="39" name="文本框 38"/>
          <p:cNvSpPr txBox="1"/>
          <p:nvPr/>
        </p:nvSpPr>
        <p:spPr>
          <a:xfrm>
            <a:off x="8173085" y="2574290"/>
            <a:ext cx="2362200" cy="368300"/>
          </a:xfrm>
          <a:prstGeom prst="rect">
            <a:avLst/>
          </a:prstGeom>
          <a:noFill/>
        </p:spPr>
        <p:txBody>
          <a:bodyPr wrap="square" rtlCol="0">
            <a:spAutoFit/>
          </a:bodyPr>
          <a:lstStyle/>
          <a:p>
            <a:pPr algn="ctr"/>
            <a:r>
              <a:rPr lang="zh-CN" altLang="en-US" dirty="0">
                <a:latin typeface="Times New Roman" panose="02020603050405020304" charset="0"/>
                <a:ea typeface="微软雅黑" panose="020B0503020204020204" pitchFamily="34" charset="-122"/>
                <a:cs typeface="Times New Roman" panose="02020603050405020304" charset="0"/>
                <a:sym typeface="+mn-ea"/>
              </a:rPr>
              <a:t>生成 </a:t>
            </a:r>
            <a:r>
              <a:rPr lang="en-US" altLang="zh-CN" dirty="0">
                <a:latin typeface="Times New Roman" panose="02020603050405020304" charset="0"/>
                <a:ea typeface="微软雅黑" panose="020B0503020204020204" pitchFamily="34" charset="-122"/>
                <a:cs typeface="Times New Roman" panose="02020603050405020304" charset="0"/>
                <a:sym typeface="+mn-ea"/>
              </a:rPr>
              <a:t>r</a:t>
            </a:r>
            <a:r>
              <a:rPr lang="en-US" altLang="zh-CN" dirty="0" err="1">
                <a:latin typeface="Times New Roman" panose="02020603050405020304" charset="0"/>
                <a:ea typeface="微软雅黑" panose="020B0503020204020204" pitchFamily="34" charset="-122"/>
                <a:cs typeface="Times New Roman" panose="02020603050405020304" charset="0"/>
                <a:sym typeface="+mn-ea"/>
              </a:rPr>
              <a:t>Prv</a:t>
            </a:r>
            <a:r>
              <a:rPr lang="zh-CN" altLang="en-US" dirty="0">
                <a:latin typeface="Times New Roman" panose="02020603050405020304" charset="0"/>
                <a:ea typeface="微软雅黑" panose="020B0503020204020204" pitchFamily="34" charset="-122"/>
                <a:cs typeface="Times New Roman" panose="02020603050405020304" charset="0"/>
                <a:sym typeface="+mn-ea"/>
              </a:rPr>
              <a:t>，计算</a:t>
            </a:r>
            <a:r>
              <a:rPr lang="zh-CN" altLang="en-US" b="1" dirty="0">
                <a:solidFill>
                  <a:srgbClr val="C00000"/>
                </a:solidFill>
                <a:latin typeface="Times New Roman" panose="02020603050405020304" charset="0"/>
                <a:ea typeface="微软雅黑" panose="020B0503020204020204" pitchFamily="34" charset="-122"/>
                <a:cs typeface="Times New Roman" panose="02020603050405020304" charset="0"/>
                <a:sym typeface="+mn-ea"/>
              </a:rPr>
              <a:t> </a:t>
            </a:r>
            <a:r>
              <a:rPr lang="en-US" altLang="zh-CN" b="1" dirty="0">
                <a:solidFill>
                  <a:srgbClr val="C00000"/>
                </a:solidFill>
                <a:latin typeface="Times New Roman" panose="02020603050405020304" charset="0"/>
                <a:ea typeface="微软雅黑" panose="020B0503020204020204" pitchFamily="34" charset="-122"/>
                <a:cs typeface="Times New Roman" panose="02020603050405020304" charset="0"/>
                <a:sym typeface="+mn-ea"/>
              </a:rPr>
              <a:t>r</a:t>
            </a:r>
            <a:r>
              <a:rPr lang="en-US" altLang="zh-CN" b="1" dirty="0" err="1">
                <a:solidFill>
                  <a:srgbClr val="C00000"/>
                </a:solidFill>
                <a:latin typeface="Times New Roman" panose="02020603050405020304" charset="0"/>
                <a:ea typeface="微软雅黑" panose="020B0503020204020204" pitchFamily="34" charset="-122"/>
                <a:cs typeface="Times New Roman" panose="02020603050405020304" charset="0"/>
                <a:sym typeface="+mn-ea"/>
              </a:rPr>
              <a:t>Pub</a:t>
            </a:r>
            <a:r>
              <a:rPr lang="zh-CN" altLang="en-US" dirty="0">
                <a:latin typeface="Times New Roman" panose="02020603050405020304" charset="0"/>
                <a:ea typeface="微软雅黑" panose="020B0503020204020204" pitchFamily="34" charset="-122"/>
                <a:cs typeface="Times New Roman" panose="02020603050405020304" charset="0"/>
                <a:sym typeface="+mn-ea"/>
              </a:rPr>
              <a:t>；</a:t>
            </a:r>
            <a:endParaRPr lang="zh-CN" altLang="en-US"/>
          </a:p>
        </p:txBody>
      </p:sp>
      <p:sp>
        <p:nvSpPr>
          <p:cNvPr id="41" name="文本框 40"/>
          <p:cNvSpPr txBox="1"/>
          <p:nvPr/>
        </p:nvSpPr>
        <p:spPr>
          <a:xfrm>
            <a:off x="5516880" y="2766695"/>
            <a:ext cx="1333500" cy="368300"/>
          </a:xfrm>
          <a:prstGeom prst="rect">
            <a:avLst/>
          </a:prstGeom>
          <a:noFill/>
        </p:spPr>
        <p:txBody>
          <a:bodyPr wrap="square" rtlCol="0">
            <a:spAutoFit/>
          </a:bodyPr>
          <a:lstStyle/>
          <a:p>
            <a:pPr algn="ctr"/>
            <a:r>
              <a:rPr lang="zh-CN" altLang="en-US" dirty="0">
                <a:latin typeface="Times New Roman" panose="02020603050405020304" charset="0"/>
                <a:ea typeface="微软雅黑" panose="020B0503020204020204" pitchFamily="34" charset="-122"/>
                <a:cs typeface="Times New Roman" panose="02020603050405020304" charset="0"/>
                <a:sym typeface="+mn-ea"/>
              </a:rPr>
              <a:t>发送 </a:t>
            </a:r>
            <a:r>
              <a:rPr lang="en-US" altLang="zh-CN" b="1" dirty="0" err="1">
                <a:solidFill>
                  <a:srgbClr val="C00000"/>
                </a:solidFill>
                <a:latin typeface="Times New Roman" panose="02020603050405020304" charset="0"/>
                <a:ea typeface="微软雅黑" panose="020B0503020204020204" pitchFamily="34" charset="-122"/>
                <a:cs typeface="Times New Roman" panose="02020603050405020304" charset="0"/>
                <a:sym typeface="+mn-ea"/>
              </a:rPr>
              <a:t>rPub</a:t>
            </a:r>
          </a:p>
        </p:txBody>
      </p:sp>
      <p:cxnSp>
        <p:nvCxnSpPr>
          <p:cNvPr id="42" name="直接箭头连接符 41"/>
          <p:cNvCxnSpPr/>
          <p:nvPr/>
        </p:nvCxnSpPr>
        <p:spPr>
          <a:xfrm flipV="1">
            <a:off x="4412868" y="4013063"/>
            <a:ext cx="3497580" cy="10160"/>
          </a:xfrm>
          <a:prstGeom prst="straightConnector1">
            <a:avLst/>
          </a:prstGeom>
          <a:ln>
            <a:tailEnd type="triangle" w="lg" len="lg"/>
          </a:ln>
        </p:spPr>
        <p:style>
          <a:lnRef idx="2">
            <a:schemeClr val="accent4"/>
          </a:lnRef>
          <a:fillRef idx="0">
            <a:schemeClr val="accent4"/>
          </a:fillRef>
          <a:effectRef idx="1">
            <a:schemeClr val="accent4"/>
          </a:effectRef>
          <a:fontRef idx="minor">
            <a:schemeClr val="tx1"/>
          </a:fontRef>
        </p:style>
      </p:cxnSp>
      <p:sp>
        <p:nvSpPr>
          <p:cNvPr id="43" name="文本框 42"/>
          <p:cNvSpPr txBox="1"/>
          <p:nvPr/>
        </p:nvSpPr>
        <p:spPr>
          <a:xfrm>
            <a:off x="5083175" y="3660140"/>
            <a:ext cx="2303780" cy="368300"/>
          </a:xfrm>
          <a:prstGeom prst="rect">
            <a:avLst/>
          </a:prstGeom>
          <a:noFill/>
        </p:spPr>
        <p:txBody>
          <a:bodyPr wrap="square" rtlCol="0">
            <a:spAutoFit/>
          </a:bodyPr>
          <a:lstStyle/>
          <a:p>
            <a:pPr algn="ctr"/>
            <a:r>
              <a:rPr lang="zh-CN" altLang="en-US" dirty="0">
                <a:latin typeface="Times New Roman" panose="02020603050405020304" charset="0"/>
                <a:ea typeface="微软雅黑" panose="020B0503020204020204" pitchFamily="34" charset="-122"/>
                <a:cs typeface="Times New Roman" panose="02020603050405020304" charset="0"/>
                <a:sym typeface="+mn-ea"/>
              </a:rPr>
              <a:t>发送 </a:t>
            </a:r>
            <a:r>
              <a:rPr lang="en-US" altLang="zh-CN" b="1" dirty="0" err="1">
                <a:solidFill>
                  <a:schemeClr val="accent1">
                    <a:lumMod val="90000"/>
                    <a:lumOff val="10000"/>
                  </a:schemeClr>
                </a:solidFill>
                <a:latin typeface="Times New Roman" panose="02020603050405020304" charset="0"/>
                <a:ea typeface="微软雅黑" panose="020B0503020204020204" pitchFamily="34" charset="-122"/>
                <a:cs typeface="Times New Roman" panose="02020603050405020304" charset="0"/>
                <a:sym typeface="+mn-ea"/>
              </a:rPr>
              <a:t>authMsg</a:t>
            </a:r>
          </a:p>
        </p:txBody>
      </p:sp>
      <p:cxnSp>
        <p:nvCxnSpPr>
          <p:cNvPr id="44" name="直接箭头连接符 43"/>
          <p:cNvCxnSpPr/>
          <p:nvPr/>
        </p:nvCxnSpPr>
        <p:spPr>
          <a:xfrm flipH="1">
            <a:off x="4460788" y="4901318"/>
            <a:ext cx="3470275" cy="14605"/>
          </a:xfrm>
          <a:prstGeom prst="straightConnector1">
            <a:avLst/>
          </a:prstGeom>
          <a:ln>
            <a:tailEnd type="triangle" w="lg" len="lg"/>
          </a:ln>
        </p:spPr>
        <p:style>
          <a:lnRef idx="2">
            <a:schemeClr val="accent2"/>
          </a:lnRef>
          <a:fillRef idx="0">
            <a:schemeClr val="accent2"/>
          </a:fillRef>
          <a:effectRef idx="1">
            <a:schemeClr val="accent2"/>
          </a:effectRef>
          <a:fontRef idx="minor">
            <a:schemeClr val="tx1"/>
          </a:fontRef>
        </p:style>
      </p:cxnSp>
      <p:sp>
        <p:nvSpPr>
          <p:cNvPr id="8" name="灯片编号占位符 7"/>
          <p:cNvSpPr>
            <a:spLocks noGrp="1"/>
          </p:cNvSpPr>
          <p:nvPr>
            <p:ph type="sldNum" sz="quarter" idx="12"/>
          </p:nvPr>
        </p:nvSpPr>
        <p:spPr/>
        <p:txBody>
          <a:bodyPr/>
          <a:lstStyle/>
          <a:p>
            <a:fld id="{A8537B7A-7510-410A-AA53-45D600DA0276}" type="slidenum">
              <a:rPr lang="zh-CN" altLang="en-US" smtClean="0"/>
              <a:t>17</a:t>
            </a:fld>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以太坊用户交易验证</a:t>
            </a: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Part.04</a:t>
            </a:r>
          </a:p>
        </p:txBody>
      </p:sp>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18</a:t>
            </a:fld>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a:off x="425752" y="15415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95935" y="1159510"/>
            <a:ext cx="3095625" cy="382270"/>
          </a:xfrm>
          <a:prstGeom prst="rect">
            <a:avLst/>
          </a:prstGeom>
          <a:noFill/>
        </p:spPr>
        <p:txBody>
          <a:bodyPr wrap="square" lIns="0" tIns="48000" rIns="0" bIns="48000" rtlCol="0">
            <a:spAutoFit/>
          </a:bodyPr>
          <a:lstStyle/>
          <a:p>
            <a:pPr algn="l"/>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4.1 </a:t>
            </a:r>
            <a:r>
              <a:rPr lang="zh-CN" sz="1865" b="1" dirty="0">
                <a:solidFill>
                  <a:schemeClr val="tx1">
                    <a:lumMod val="65000"/>
                    <a:lumOff val="35000"/>
                  </a:schemeClr>
                </a:solidFill>
                <a:latin typeface="微软雅黑" panose="020B0503020204020204" pitchFamily="34" charset="-122"/>
                <a:ea typeface="微软雅黑" panose="020B0503020204020204" pitchFamily="34" charset="-122"/>
              </a:rPr>
              <a:t>以太坊用户交易验证</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43" name="图片 42"/>
          <p:cNvPicPr>
            <a:picLocks noChangeAspect="1"/>
          </p:cNvPicPr>
          <p:nvPr/>
        </p:nvPicPr>
        <p:blipFill>
          <a:blip r:embed="rId4">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4933950" y="3822700"/>
            <a:ext cx="6695440" cy="2608580"/>
          </a:xfrm>
          <a:prstGeom prst="rect">
            <a:avLst/>
          </a:prstGeom>
        </p:spPr>
      </p:pic>
      <p:grpSp>
        <p:nvGrpSpPr>
          <p:cNvPr id="88" name="组合 87"/>
          <p:cNvGrpSpPr/>
          <p:nvPr/>
        </p:nvGrpSpPr>
        <p:grpSpPr>
          <a:xfrm>
            <a:off x="425450" y="1680845"/>
            <a:ext cx="7912099" cy="1094603"/>
            <a:chOff x="551384" y="2224348"/>
            <a:chExt cx="4792914" cy="1094603"/>
          </a:xfrm>
        </p:grpSpPr>
        <p:sp>
          <p:nvSpPr>
            <p:cNvPr id="89" name="学论网-专注原创-www.xuelun.me"/>
            <p:cNvSpPr/>
            <p:nvPr/>
          </p:nvSpPr>
          <p:spPr>
            <a:xfrm>
              <a:off x="740638" y="2224348"/>
              <a:ext cx="4603660" cy="506730"/>
            </a:xfrm>
            <a:prstGeom prst="rect">
              <a:avLst/>
            </a:prstGeom>
          </p:spPr>
          <p:txBody>
            <a:bodyPr wrap="square">
              <a:spAutoFit/>
            </a:bodyPr>
            <a:lstStyle/>
            <a:p>
              <a:pPr>
                <a:lnSpc>
                  <a:spcPct val="150000"/>
                </a:lnSpc>
              </a:pP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由于无法直接应用传统数据库的安全机制</a:t>
              </a:r>
              <a:r>
                <a:rPr lang="en-US" altLang="zh-CN"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用户管理和存取控制</a:t>
              </a:r>
            </a:p>
          </p:txBody>
        </p:sp>
        <p:sp>
          <p:nvSpPr>
            <p:cNvPr id="90" name="学论网-专注原创-www.xuelun.me"/>
            <p:cNvSpPr/>
            <p:nvPr/>
          </p:nvSpPr>
          <p:spPr>
            <a:xfrm>
              <a:off x="551384" y="2346951"/>
              <a:ext cx="72000" cy="972000"/>
            </a:xfrm>
            <a:prstGeom prst="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sp>
        <p:nvSpPr>
          <p:cNvPr id="23" name="右箭头 22"/>
          <p:cNvSpPr/>
          <p:nvPr/>
        </p:nvSpPr>
        <p:spPr>
          <a:xfrm rot="10800000" flipH="1">
            <a:off x="738505" y="2357120"/>
            <a:ext cx="497840" cy="231775"/>
          </a:xfrm>
          <a:prstGeom prst="rightArrow">
            <a:avLst>
              <a:gd name="adj1" fmla="val 66953"/>
              <a:gd name="adj2" fmla="val 608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5" name="文本框 4"/>
          <p:cNvSpPr txBox="1"/>
          <p:nvPr/>
        </p:nvSpPr>
        <p:spPr>
          <a:xfrm>
            <a:off x="1236345" y="2288540"/>
            <a:ext cx="11705590" cy="368300"/>
          </a:xfrm>
          <a:prstGeom prst="rect">
            <a:avLst/>
          </a:prstGeom>
          <a:noFill/>
        </p:spPr>
        <p:txBody>
          <a:bodyPr wrap="square" rtlCol="0">
            <a:spAutoFit/>
          </a:bodyPr>
          <a:lstStyle/>
          <a:p>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区块链系统主要</a:t>
            </a:r>
            <a:r>
              <a:rPr lang="zh-CN" altLang="en-US" b="1"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基于数字签名与验证</a:t>
            </a:r>
            <a:r>
              <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来确保数字货币的所有权以及交易的不可伪造、不可否认的特性</a:t>
            </a:r>
          </a:p>
        </p:txBody>
      </p:sp>
      <p:grpSp>
        <p:nvGrpSpPr>
          <p:cNvPr id="6" name="组合 5"/>
          <p:cNvGrpSpPr/>
          <p:nvPr/>
        </p:nvGrpSpPr>
        <p:grpSpPr>
          <a:xfrm>
            <a:off x="425450" y="2987088"/>
            <a:ext cx="9385937" cy="972000"/>
            <a:chOff x="551384" y="2346951"/>
            <a:chExt cx="5685721" cy="972000"/>
          </a:xfrm>
        </p:grpSpPr>
        <p:sp>
          <p:nvSpPr>
            <p:cNvPr id="7" name="学论网-专注原创-www.xuelun.me"/>
            <p:cNvSpPr/>
            <p:nvPr/>
          </p:nvSpPr>
          <p:spPr>
            <a:xfrm>
              <a:off x="732946" y="2389448"/>
              <a:ext cx="5504159" cy="922020"/>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利用发送者的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ECDSA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签名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原始交易数据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椭圆曲线参数恢复出发送者的公钥</a:t>
              </a: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对公钥进行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SHA3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哈希运算，即可计算出发送者的账户地址</a:t>
              </a:r>
              <a:endParaRPr lang="zh-CN" altLang="en-US" spc="1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学论网-专注原创-www.xuelun.me"/>
            <p:cNvSpPr/>
            <p:nvPr/>
          </p:nvSpPr>
          <p:spPr>
            <a:xfrm>
              <a:off x="551384" y="2346951"/>
              <a:ext cx="72000" cy="972000"/>
            </a:xfrm>
            <a:prstGeom prst="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sp>
        <p:nvSpPr>
          <p:cNvPr id="3" name="灯片编号占位符 2"/>
          <p:cNvSpPr>
            <a:spLocks noGrp="1"/>
          </p:cNvSpPr>
          <p:nvPr>
            <p:ph type="sldNum" sz="quarter" idx="12"/>
          </p:nvPr>
        </p:nvSpPr>
        <p:spPr/>
        <p:txBody>
          <a:bodyPr/>
          <a:lstStyle/>
          <a:p>
            <a:fld id="{A8537B7A-7510-410A-AA53-45D600DA0276}" type="slidenum">
              <a:rPr lang="zh-CN" altLang="en-US" smtClean="0"/>
              <a:t>19</a:t>
            </a:fld>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flipV="1">
            <a:off x="425752" y="1528205"/>
            <a:ext cx="3724910" cy="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95935" y="1146810"/>
            <a:ext cx="4223385" cy="382270"/>
          </a:xfrm>
          <a:prstGeom prst="rect">
            <a:avLst/>
          </a:prstGeom>
          <a:noFill/>
        </p:spPr>
        <p:txBody>
          <a:bodyPr wrap="square" lIns="0" tIns="48000" rIns="0" bIns="48000" rtlCol="0">
            <a:spAutoFit/>
          </a:bodyPr>
          <a:lstStyle/>
          <a:p>
            <a:pPr algn="l"/>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4.2 </a:t>
            </a:r>
            <a:r>
              <a:rPr sz="1865" b="1" dirty="0">
                <a:solidFill>
                  <a:schemeClr val="tx1">
                    <a:lumMod val="65000"/>
                    <a:lumOff val="35000"/>
                  </a:schemeClr>
                </a:solidFill>
                <a:latin typeface="微软雅黑" panose="020B0503020204020204" pitchFamily="34" charset="-122"/>
                <a:ea typeface="微软雅黑" panose="020B0503020204020204" pitchFamily="34" charset="-122"/>
              </a:rPr>
              <a:t>ECDSA数字签名生成与验证</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文本框 3"/>
          <p:cNvSpPr txBox="1"/>
          <p:nvPr/>
        </p:nvSpPr>
        <p:spPr>
          <a:xfrm>
            <a:off x="584200" y="1808480"/>
            <a:ext cx="5090160" cy="4492625"/>
          </a:xfrm>
          <a:prstGeom prst="rect">
            <a:avLst/>
          </a:prstGeom>
          <a:noFill/>
        </p:spPr>
        <p:txBody>
          <a:bodyPr wrap="square" rtlCol="0">
            <a:spAutoFit/>
          </a:bodyPr>
          <a:lstStyle/>
          <a:p>
            <a:pPr>
              <a:lnSpc>
                <a:spcPct val="130000"/>
              </a:lnSpc>
            </a:pPr>
            <a:r>
              <a:rPr sz="2000" i="1">
                <a:latin typeface="Times New Roman" panose="02020603050405020304" charset="0"/>
                <a:ea typeface="微软雅黑" panose="020B0503020204020204" pitchFamily="34" charset="-122"/>
                <a:cs typeface="Times New Roman" panose="02020603050405020304" charset="0"/>
              </a:rPr>
              <a:t>compute</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e=H(m)</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MARK:</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choose</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a</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random</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integer</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k</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and</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k</a:t>
            </a:r>
            <a:r>
              <a:rPr lang="en-US" sz="2000" i="1">
                <a:latin typeface="Times New Roman" panose="02020603050405020304" charset="0"/>
                <a:ea typeface="微软雅黑" panose="020B0503020204020204" pitchFamily="34" charset="-122"/>
                <a:cs typeface="Times New Roman" panose="02020603050405020304" charset="0"/>
              </a:rPr>
              <a:t>∈</a:t>
            </a:r>
            <a:r>
              <a:rPr sz="2000" i="1">
                <a:latin typeface="Times New Roman" panose="02020603050405020304" charset="0"/>
                <a:ea typeface="微软雅黑" panose="020B0503020204020204" pitchFamily="34" charset="-122"/>
                <a:cs typeface="Times New Roman" panose="02020603050405020304" charset="0"/>
              </a:rPr>
              <a:t>[1,n-1]</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compute</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kG=(x</a:t>
            </a:r>
            <a:r>
              <a:rPr sz="2000" i="1" baseline="-25000">
                <a:latin typeface="Times New Roman" panose="02020603050405020304" charset="0"/>
                <a:ea typeface="微软雅黑" panose="020B0503020204020204" pitchFamily="34" charset="-122"/>
                <a:cs typeface="Times New Roman" panose="02020603050405020304" charset="0"/>
              </a:rPr>
              <a:t>1</a:t>
            </a:r>
            <a:r>
              <a:rPr sz="2000" i="1">
                <a:latin typeface="Times New Roman" panose="02020603050405020304" charset="0"/>
                <a:ea typeface="微软雅黑" panose="020B0503020204020204" pitchFamily="34" charset="-122"/>
                <a:cs typeface="Times New Roman" panose="02020603050405020304" charset="0"/>
              </a:rPr>
              <a:t>,y</a:t>
            </a:r>
            <a:r>
              <a:rPr lang="en-US" sz="2000" i="1" baseline="-25000">
                <a:latin typeface="Times New Roman" panose="02020603050405020304" charset="0"/>
                <a:ea typeface="微软雅黑" panose="020B0503020204020204" pitchFamily="34" charset="-122"/>
                <a:cs typeface="Times New Roman" panose="02020603050405020304" charset="0"/>
              </a:rPr>
              <a:t>1</a:t>
            </a:r>
            <a:r>
              <a:rPr sz="2000" i="1">
                <a:latin typeface="Times New Roman" panose="02020603050405020304" charset="0"/>
                <a:ea typeface="微软雅黑" panose="020B0503020204020204" pitchFamily="34" charset="-122"/>
                <a:cs typeface="Times New Roman" panose="02020603050405020304" charset="0"/>
              </a:rPr>
              <a:t>)</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compute</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r=x</a:t>
            </a:r>
            <a:r>
              <a:rPr lang="en-US" sz="2000" i="1" baseline="-25000">
                <a:latin typeface="Times New Roman" panose="02020603050405020304" charset="0"/>
                <a:ea typeface="微软雅黑" panose="020B0503020204020204" pitchFamily="34" charset="-122"/>
                <a:cs typeface="Times New Roman" panose="02020603050405020304" charset="0"/>
              </a:rPr>
              <a:t>1 </a:t>
            </a:r>
            <a:r>
              <a:rPr sz="2000" i="1">
                <a:latin typeface="Times New Roman" panose="02020603050405020304" charset="0"/>
                <a:ea typeface="微软雅黑" panose="020B0503020204020204" pitchFamily="34" charset="-122"/>
                <a:cs typeface="Times New Roman" panose="02020603050405020304" charset="0"/>
              </a:rPr>
              <a:t>mod</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n</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if</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r=0 </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   </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 jump</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MARK</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compute</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s=k</a:t>
            </a:r>
            <a:r>
              <a:rPr lang="en-US" sz="2000" i="1" baseline="30000">
                <a:latin typeface="Times New Roman" panose="02020603050405020304" charset="0"/>
                <a:ea typeface="微软雅黑" panose="020B0503020204020204" pitchFamily="34" charset="-122"/>
                <a:cs typeface="Times New Roman" panose="02020603050405020304" charset="0"/>
              </a:rPr>
              <a:t>-1</a:t>
            </a:r>
            <a:r>
              <a:rPr sz="2000" i="1">
                <a:latin typeface="Times New Roman" panose="02020603050405020304" charset="0"/>
                <a:ea typeface="微软雅黑" panose="020B0503020204020204" pitchFamily="34" charset="-122"/>
                <a:cs typeface="Times New Roman" panose="02020603050405020304" charset="0"/>
              </a:rPr>
              <a:t>(e+dr)</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mod</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n</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if</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s=0</a:t>
            </a:r>
          </a:p>
          <a:p>
            <a:pPr>
              <a:lnSpc>
                <a:spcPct val="130000"/>
              </a:lnSpc>
            </a:pP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jump</a:t>
            </a:r>
            <a:r>
              <a:rPr lang="en-US" sz="2000" i="1">
                <a:latin typeface="Times New Roman" panose="02020603050405020304" charset="0"/>
                <a:ea typeface="微软雅黑" panose="020B0503020204020204" pitchFamily="34" charset="-122"/>
                <a:cs typeface="Times New Roman" panose="02020603050405020304" charset="0"/>
              </a:rPr>
              <a:t> </a:t>
            </a:r>
            <a:r>
              <a:rPr sz="2000" i="1">
                <a:latin typeface="Times New Roman" panose="02020603050405020304" charset="0"/>
                <a:ea typeface="微软雅黑" panose="020B0503020204020204" pitchFamily="34" charset="-122"/>
                <a:cs typeface="Times New Roman" panose="02020603050405020304" charset="0"/>
              </a:rPr>
              <a:t>MARK</a:t>
            </a:r>
          </a:p>
          <a:p>
            <a:pPr>
              <a:lnSpc>
                <a:spcPct val="130000"/>
              </a:lnSpc>
            </a:pPr>
            <a:r>
              <a:rPr sz="2000" i="1">
                <a:latin typeface="Times New Roman" panose="02020603050405020304" charset="0"/>
                <a:ea typeface="微软雅黑" panose="020B0503020204020204" pitchFamily="34" charset="-122"/>
                <a:cs typeface="Times New Roman" panose="02020603050405020304" charset="0"/>
              </a:rPr>
              <a:t>return ((r,s))</a:t>
            </a:r>
          </a:p>
        </p:txBody>
      </p:sp>
      <p:sp>
        <p:nvSpPr>
          <p:cNvPr id="6" name="文本框 5"/>
          <p:cNvSpPr txBox="1"/>
          <p:nvPr/>
        </p:nvSpPr>
        <p:spPr>
          <a:xfrm>
            <a:off x="6086475" y="1515110"/>
            <a:ext cx="5113655" cy="1640205"/>
          </a:xfrm>
          <a:prstGeom prst="rect">
            <a:avLst/>
          </a:prstGeom>
          <a:noFill/>
        </p:spPr>
        <p:txBody>
          <a:bodyPr wrap="square" rtlCol="0">
            <a:spAutoFit/>
          </a:bodyPr>
          <a:lstStyle/>
          <a:p>
            <a:pPr>
              <a:lnSpc>
                <a:spcPct val="140000"/>
              </a:lnSpc>
            </a:pP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ECDSA</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数字签名生成</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输入：</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参数组T=(p,a,b,G,n,h)，私钥</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，消息m</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输出：</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签名(r,s)</a:t>
            </a:r>
            <a:endParaRPr lang="zh-CN" altLang="en-US"/>
          </a:p>
        </p:txBody>
      </p:sp>
      <p:sp>
        <p:nvSpPr>
          <p:cNvPr id="11" name="矩形 10"/>
          <p:cNvSpPr/>
          <p:nvPr/>
        </p:nvSpPr>
        <p:spPr>
          <a:xfrm rot="5400000">
            <a:off x="768985" y="1356360"/>
            <a:ext cx="4722495" cy="5427345"/>
          </a:xfrm>
          <a:prstGeom prst="rect">
            <a:avLst/>
          </a:prstGeom>
          <a:gradFill>
            <a:gsLst>
              <a:gs pos="0">
                <a:srgbClr val="014723"/>
              </a:gs>
              <a:gs pos="0">
                <a:srgbClr val="014723">
                  <a:alpha val="9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pic>
        <p:nvPicPr>
          <p:cNvPr id="2" name="图片 1" descr="数字签名"/>
          <p:cNvPicPr>
            <a:picLocks noChangeAspect="1"/>
          </p:cNvPicPr>
          <p:nvPr/>
        </p:nvPicPr>
        <p:blipFill>
          <a:blip r:embed="rId4">
            <a:clrChange>
              <a:clrFrom>
                <a:srgbClr val="FEFEFE">
                  <a:alpha val="100000"/>
                </a:srgbClr>
              </a:clrFrom>
              <a:clrTo>
                <a:srgbClr val="FEFEFE">
                  <a:alpha val="100000"/>
                  <a:alpha val="0"/>
                </a:srgbClr>
              </a:clrTo>
            </a:clrChange>
          </a:blip>
          <a:stretch>
            <a:fillRect/>
          </a:stretch>
        </p:blipFill>
        <p:spPr>
          <a:xfrm>
            <a:off x="6196965" y="3293745"/>
            <a:ext cx="5635625" cy="3007360"/>
          </a:xfrm>
          <a:prstGeom prst="rect">
            <a:avLst/>
          </a:prstGeom>
        </p:spPr>
      </p:pic>
      <p:sp>
        <p:nvSpPr>
          <p:cNvPr id="5" name="灯片编号占位符 4"/>
          <p:cNvSpPr>
            <a:spLocks noGrp="1"/>
          </p:cNvSpPr>
          <p:nvPr>
            <p:ph type="sldNum" sz="quarter" idx="12"/>
          </p:nvPr>
        </p:nvSpPr>
        <p:spPr/>
        <p:txBody>
          <a:bodyPr/>
          <a:lstStyle/>
          <a:p>
            <a:fld id="{A8537B7A-7510-410A-AA53-45D600DA0276}" type="slidenum">
              <a:rPr lang="zh-CN" altLang="en-US" smtClean="0"/>
              <a:t>20</a:t>
            </a:fld>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flipV="1">
            <a:off x="425752" y="1528205"/>
            <a:ext cx="3724910" cy="6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95935" y="1146810"/>
            <a:ext cx="4223385" cy="382270"/>
          </a:xfrm>
          <a:prstGeom prst="rect">
            <a:avLst/>
          </a:prstGeom>
          <a:noFill/>
        </p:spPr>
        <p:txBody>
          <a:bodyPr wrap="square" lIns="0" tIns="48000" rIns="0" bIns="48000" rtlCol="0">
            <a:spAutoFit/>
          </a:bodyPr>
          <a:lstStyle/>
          <a:p>
            <a:pPr algn="l"/>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4.2 </a:t>
            </a:r>
            <a:r>
              <a:rPr sz="1865" b="1" dirty="0">
                <a:solidFill>
                  <a:schemeClr val="tx1">
                    <a:lumMod val="65000"/>
                    <a:lumOff val="35000"/>
                  </a:schemeClr>
                </a:solidFill>
                <a:latin typeface="微软雅黑" panose="020B0503020204020204" pitchFamily="34" charset="-122"/>
                <a:ea typeface="微软雅黑" panose="020B0503020204020204" pitchFamily="34" charset="-122"/>
              </a:rPr>
              <a:t>ECDSA数字签名生成与验证</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文本框 3"/>
          <p:cNvSpPr txBox="1"/>
          <p:nvPr/>
        </p:nvSpPr>
        <p:spPr>
          <a:xfrm>
            <a:off x="6887210" y="941705"/>
            <a:ext cx="5410200" cy="5692775"/>
          </a:xfrm>
          <a:prstGeom prst="rect">
            <a:avLst/>
          </a:prstGeom>
          <a:noFill/>
        </p:spPr>
        <p:txBody>
          <a:bodyPr wrap="square" rtlCol="0">
            <a:spAutoFit/>
          </a:bodyPr>
          <a:lstStyle/>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if </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r</a:t>
            </a:r>
            <a:r>
              <a:rPr lang="en-US" altLang="zh-CN" sz="2000" i="1">
                <a:latin typeface="Times New Roman" panose="02020603050405020304" charset="0"/>
                <a:ea typeface="微软雅黑" panose="020B0503020204020204" pitchFamily="34" charset="-122"/>
                <a:cs typeface="Times New Roman" panose="02020603050405020304" charset="0"/>
              </a:rPr>
              <a:t>∉</a:t>
            </a:r>
            <a:r>
              <a:rPr lang="zh-CN" altLang="en-US" sz="2000" i="1">
                <a:latin typeface="Times New Roman" panose="02020603050405020304" charset="0"/>
                <a:ea typeface="微软雅黑" panose="020B0503020204020204" pitchFamily="34" charset="-122"/>
                <a:cs typeface="Times New Roman" panose="02020603050405020304" charset="0"/>
              </a:rPr>
              <a:t>[1,n-1] or r</a:t>
            </a:r>
            <a:r>
              <a:rPr lang="en-US" altLang="zh-CN" sz="2000" i="1">
                <a:latin typeface="Times New Roman" panose="02020603050405020304" charset="0"/>
                <a:ea typeface="微软雅黑" panose="020B0503020204020204" pitchFamily="34" charset="-122"/>
                <a:cs typeface="Times New Roman" panose="02020603050405020304" charset="0"/>
              </a:rPr>
              <a:t>≠</a:t>
            </a:r>
            <a:r>
              <a:rPr lang="zh-CN" altLang="en-US" sz="2000" i="1">
                <a:latin typeface="Times New Roman" panose="02020603050405020304" charset="0"/>
                <a:ea typeface="微软雅黑" panose="020B0503020204020204" pitchFamily="34" charset="-122"/>
                <a:cs typeface="Times New Roman" panose="02020603050405020304" charset="0"/>
              </a:rPr>
              <a:t>[r]</a:t>
            </a:r>
            <a:r>
              <a:rPr lang="en-US" altLang="zh-CN" sz="2000" i="1">
                <a:latin typeface="Times New Roman" panose="02020603050405020304" charset="0"/>
                <a:ea typeface="微软雅黑" panose="020B0503020204020204" pitchFamily="34" charset="-122"/>
                <a:cs typeface="Times New Roman" panose="02020603050405020304" charset="0"/>
              </a:rPr>
              <a:t> or s∉</a:t>
            </a:r>
            <a:r>
              <a:rPr lang="zh-CN" altLang="en-US" sz="2000" i="1">
                <a:latin typeface="Times New Roman" panose="02020603050405020304" charset="0"/>
                <a:ea typeface="微软雅黑" panose="020B0503020204020204" pitchFamily="34" charset="-122"/>
                <a:cs typeface="Times New Roman" panose="02020603050405020304" charset="0"/>
                <a:sym typeface="+mn-ea"/>
              </a:rPr>
              <a:t>[1,n-1] or </a:t>
            </a:r>
            <a:r>
              <a:rPr lang="en-US" altLang="zh-CN" sz="2000" i="1">
                <a:latin typeface="Times New Roman" panose="02020603050405020304" charset="0"/>
                <a:ea typeface="微软雅黑" panose="020B0503020204020204" pitchFamily="34" charset="-122"/>
                <a:cs typeface="Times New Roman" panose="02020603050405020304" charset="0"/>
                <a:sym typeface="+mn-ea"/>
              </a:rPr>
              <a:t>s≠</a:t>
            </a:r>
            <a:r>
              <a:rPr lang="zh-CN" altLang="en-US" sz="2000" i="1">
                <a:latin typeface="Times New Roman" panose="02020603050405020304" charset="0"/>
                <a:ea typeface="微软雅黑" panose="020B0503020204020204" pitchFamily="34" charset="-122"/>
                <a:cs typeface="Times New Roman" panose="02020603050405020304" charset="0"/>
                <a:sym typeface="+mn-ea"/>
              </a:rPr>
              <a:t>[</a:t>
            </a:r>
            <a:r>
              <a:rPr lang="en-US" altLang="zh-CN" sz="2000" i="1">
                <a:latin typeface="Times New Roman" panose="02020603050405020304" charset="0"/>
                <a:ea typeface="微软雅黑" panose="020B0503020204020204" pitchFamily="34" charset="-122"/>
                <a:cs typeface="Times New Roman" panose="02020603050405020304" charset="0"/>
                <a:sym typeface="+mn-ea"/>
              </a:rPr>
              <a:t>s</a:t>
            </a:r>
            <a:r>
              <a:rPr lang="zh-CN" altLang="en-US" sz="2000" i="1">
                <a:latin typeface="Times New Roman" panose="02020603050405020304" charset="0"/>
                <a:ea typeface="微软雅黑" panose="020B0503020204020204" pitchFamily="34" charset="-122"/>
                <a:cs typeface="Times New Roman" panose="02020603050405020304" charset="0"/>
                <a:sym typeface="+mn-ea"/>
              </a:rPr>
              <a:t>]</a:t>
            </a:r>
            <a:endParaRPr lang="zh-CN" altLang="en-US" sz="2000" i="1">
              <a:latin typeface="Times New Roman" panose="02020603050405020304" charset="0"/>
              <a:ea typeface="微软雅黑" panose="020B0503020204020204" pitchFamily="34" charset="-122"/>
              <a:cs typeface="Times New Roman" panose="02020603050405020304" charset="0"/>
            </a:endParaRPr>
          </a:p>
          <a:p>
            <a:pPr>
              <a:lnSpc>
                <a:spcPct val="130000"/>
              </a:lnSpc>
            </a:pP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return ("Deny the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signature")</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compute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e=H(m)</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compute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w=</a:t>
            </a:r>
            <a:r>
              <a:rPr lang="en-US" altLang="zh-CN" sz="2000" i="1">
                <a:latin typeface="Times New Roman" panose="02020603050405020304" charset="0"/>
                <a:ea typeface="微软雅黑" panose="020B0503020204020204" pitchFamily="34" charset="-122"/>
                <a:cs typeface="Times New Roman" panose="02020603050405020304" charset="0"/>
              </a:rPr>
              <a:t>s</a:t>
            </a:r>
            <a:r>
              <a:rPr lang="en-US" altLang="zh-CN" sz="2000" i="1" baseline="30000">
                <a:latin typeface="Times New Roman" panose="02020603050405020304" charset="0"/>
                <a:ea typeface="微软雅黑" panose="020B0503020204020204" pitchFamily="34" charset="-122"/>
                <a:cs typeface="Times New Roman" panose="02020603050405020304" charset="0"/>
              </a:rPr>
              <a:t>-1</a:t>
            </a:r>
            <a:r>
              <a:rPr lang="zh-CN" altLang="en-US" sz="2000" i="1">
                <a:latin typeface="Times New Roman" panose="02020603050405020304" charset="0"/>
                <a:ea typeface="微软雅黑" panose="020B0503020204020204" pitchFamily="34" charset="-122"/>
                <a:cs typeface="Times New Roman" panose="02020603050405020304" charset="0"/>
              </a:rPr>
              <a:t> mod n</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compute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u</a:t>
            </a:r>
            <a:r>
              <a:rPr lang="zh-CN" altLang="en-US" sz="2000" i="1" baseline="-25000">
                <a:latin typeface="Times New Roman" panose="02020603050405020304" charset="0"/>
                <a:ea typeface="微软雅黑" panose="020B0503020204020204" pitchFamily="34" charset="-122"/>
                <a:cs typeface="Times New Roman" panose="02020603050405020304" charset="0"/>
              </a:rPr>
              <a:t>1</a:t>
            </a:r>
            <a:r>
              <a:rPr lang="zh-CN" altLang="en-US" sz="2000" i="1">
                <a:latin typeface="Times New Roman" panose="02020603050405020304" charset="0"/>
                <a:ea typeface="微软雅黑" panose="020B0503020204020204" pitchFamily="34" charset="-122"/>
                <a:cs typeface="Times New Roman" panose="02020603050405020304" charset="0"/>
              </a:rPr>
              <a:t>=ew</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mod</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n and</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u</a:t>
            </a:r>
            <a:r>
              <a:rPr lang="zh-CN" altLang="en-US" sz="2000" i="1" baseline="-25000">
                <a:latin typeface="Times New Roman" panose="02020603050405020304" charset="0"/>
                <a:ea typeface="微软雅黑" panose="020B0503020204020204" pitchFamily="34" charset="-122"/>
                <a:cs typeface="Times New Roman" panose="02020603050405020304" charset="0"/>
              </a:rPr>
              <a:t>2</a:t>
            </a:r>
            <a:r>
              <a:rPr lang="zh-CN" altLang="en-US" sz="2000" i="1">
                <a:latin typeface="Times New Roman" panose="02020603050405020304" charset="0"/>
                <a:ea typeface="微软雅黑" panose="020B0503020204020204" pitchFamily="34" charset="-122"/>
                <a:cs typeface="Times New Roman" panose="02020603050405020304" charset="0"/>
              </a:rPr>
              <a:t> =rw mod</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n</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compute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X=</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u</a:t>
            </a:r>
            <a:r>
              <a:rPr lang="zh-CN" altLang="en-US" sz="2000" i="1" baseline="-25000">
                <a:latin typeface="Times New Roman" panose="02020603050405020304" charset="0"/>
                <a:ea typeface="微软雅黑" panose="020B0503020204020204" pitchFamily="34" charset="-122"/>
                <a:cs typeface="Times New Roman" panose="02020603050405020304" charset="0"/>
              </a:rPr>
              <a:t>1</a:t>
            </a:r>
            <a:r>
              <a:rPr lang="zh-CN" altLang="en-US" sz="2000" i="1">
                <a:latin typeface="Times New Roman" panose="02020603050405020304" charset="0"/>
                <a:ea typeface="微软雅黑" panose="020B0503020204020204" pitchFamily="34" charset="-122"/>
                <a:cs typeface="Times New Roman" panose="02020603050405020304" charset="0"/>
              </a:rPr>
              <a:t>G+u</a:t>
            </a:r>
            <a:r>
              <a:rPr lang="zh-CN" altLang="en-US" sz="2000" i="1" baseline="-25000">
                <a:latin typeface="Times New Roman" panose="02020603050405020304" charset="0"/>
                <a:ea typeface="微软雅黑" panose="020B0503020204020204" pitchFamily="34" charset="-122"/>
                <a:cs typeface="Times New Roman" panose="02020603050405020304" charset="0"/>
              </a:rPr>
              <a:t>2</a:t>
            </a:r>
            <a:r>
              <a:rPr lang="zh-CN" altLang="en-US" sz="2000" i="1">
                <a:latin typeface="Times New Roman" panose="02020603050405020304" charset="0"/>
                <a:ea typeface="微软雅黑" panose="020B0503020204020204" pitchFamily="34" charset="-122"/>
                <a:cs typeface="Times New Roman" panose="02020603050405020304" charset="0"/>
              </a:rPr>
              <a:t>Q</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if</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X</a:t>
            </a:r>
            <a:r>
              <a:rPr lang="en-US" altLang="zh-CN" sz="2000" i="1">
                <a:latin typeface="Times New Roman" panose="02020603050405020304" charset="0"/>
                <a:ea typeface="微软雅黑" panose="020B0503020204020204" pitchFamily="34" charset="-122"/>
                <a:cs typeface="Times New Roman" panose="02020603050405020304" charset="0"/>
              </a:rPr>
              <a:t>=∞</a:t>
            </a:r>
            <a:r>
              <a:rPr lang="zh-CN" altLang="en-US" sz="2000" i="1">
                <a:latin typeface="Times New Roman" panose="02020603050405020304" charset="0"/>
                <a:ea typeface="微软雅黑" panose="020B0503020204020204" pitchFamily="34" charset="-122"/>
                <a:cs typeface="Times New Roman" panose="02020603050405020304" charset="0"/>
              </a:rPr>
              <a:t>      </a:t>
            </a:r>
          </a:p>
          <a:p>
            <a:pPr>
              <a:lnSpc>
                <a:spcPct val="130000"/>
              </a:lnSpc>
            </a:pP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return ("Deny</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the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signature")</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x</a:t>
            </a:r>
            <a:r>
              <a:rPr lang="zh-CN" altLang="en-US" sz="2000" i="1" baseline="-25000">
                <a:latin typeface="Times New Roman" panose="02020603050405020304" charset="0"/>
                <a:ea typeface="微软雅黑" panose="020B0503020204020204" pitchFamily="34" charset="-122"/>
                <a:cs typeface="Times New Roman" panose="02020603050405020304" charset="0"/>
              </a:rPr>
              <a:t>1</a:t>
            </a:r>
            <a:r>
              <a:rPr lang="zh-CN" altLang="en-US" sz="2000" i="1">
                <a:latin typeface="Times New Roman" panose="02020603050405020304" charset="0"/>
                <a:ea typeface="微软雅黑" panose="020B0503020204020204" pitchFamily="34" charset="-122"/>
                <a:cs typeface="Times New Roman" panose="02020603050405020304" charset="0"/>
              </a:rPr>
              <a:t> &lt;— [X</a:t>
            </a:r>
            <a:r>
              <a:rPr lang="zh-CN" altLang="en-US" sz="2000" i="1" baseline="-25000">
                <a:latin typeface="Times New Roman" panose="02020603050405020304" charset="0"/>
                <a:ea typeface="微软雅黑" panose="020B0503020204020204" pitchFamily="34" charset="-122"/>
                <a:cs typeface="Times New Roman" panose="02020603050405020304" charset="0"/>
              </a:rPr>
              <a:t>x</a:t>
            </a:r>
            <a:r>
              <a:rPr lang="zh-CN" altLang="en-US" sz="2000" i="1">
                <a:latin typeface="Times New Roman" panose="02020603050405020304" charset="0"/>
                <a:ea typeface="微软雅黑" panose="020B0503020204020204" pitchFamily="34" charset="-122"/>
                <a:cs typeface="Times New Roman" panose="02020603050405020304" charset="0"/>
              </a:rPr>
              <a:t>]</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compute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v=</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x</a:t>
            </a:r>
            <a:r>
              <a:rPr lang="zh-CN" altLang="en-US" sz="2000" i="1" baseline="-25000">
                <a:latin typeface="Times New Roman" panose="02020603050405020304" charset="0"/>
                <a:ea typeface="微软雅黑" panose="020B0503020204020204" pitchFamily="34" charset="-122"/>
                <a:cs typeface="Times New Roman" panose="02020603050405020304" charset="0"/>
              </a:rPr>
              <a:t>1</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mod</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n</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if v=r</a:t>
            </a:r>
          </a:p>
          <a:p>
            <a:pPr>
              <a:lnSpc>
                <a:spcPct val="130000"/>
              </a:lnSpc>
            </a:pP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return ("Accept</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the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signature")</a:t>
            </a:r>
          </a:p>
          <a:p>
            <a:pPr>
              <a:lnSpc>
                <a:spcPct val="130000"/>
              </a:lnSpc>
            </a:pPr>
            <a:r>
              <a:rPr lang="zh-CN" altLang="en-US" sz="2000" i="1">
                <a:latin typeface="Times New Roman" panose="02020603050405020304" charset="0"/>
                <a:ea typeface="微软雅黑" panose="020B0503020204020204" pitchFamily="34" charset="-122"/>
                <a:cs typeface="Times New Roman" panose="02020603050405020304" charset="0"/>
              </a:rPr>
              <a:t>else</a:t>
            </a:r>
          </a:p>
          <a:p>
            <a:pPr>
              <a:lnSpc>
                <a:spcPct val="130000"/>
              </a:lnSpc>
            </a:pP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return ("Deny</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the</a:t>
            </a:r>
            <a:r>
              <a:rPr lang="en-US" altLang="zh-CN" sz="2000" i="1">
                <a:latin typeface="Times New Roman" panose="02020603050405020304" charset="0"/>
                <a:ea typeface="微软雅黑" panose="020B0503020204020204" pitchFamily="34" charset="-122"/>
                <a:cs typeface="Times New Roman" panose="02020603050405020304" charset="0"/>
              </a:rPr>
              <a:t> </a:t>
            </a:r>
            <a:r>
              <a:rPr lang="zh-CN" altLang="en-US" sz="2000" i="1">
                <a:latin typeface="Times New Roman" panose="02020603050405020304" charset="0"/>
                <a:ea typeface="微软雅黑" panose="020B0503020204020204" pitchFamily="34" charset="-122"/>
                <a:cs typeface="Times New Roman" panose="02020603050405020304" charset="0"/>
              </a:rPr>
              <a:t>signature")</a:t>
            </a:r>
          </a:p>
        </p:txBody>
      </p:sp>
      <p:sp>
        <p:nvSpPr>
          <p:cNvPr id="6" name="文本框 5"/>
          <p:cNvSpPr txBox="1"/>
          <p:nvPr/>
        </p:nvSpPr>
        <p:spPr>
          <a:xfrm>
            <a:off x="373380" y="1572895"/>
            <a:ext cx="6161405" cy="1640205"/>
          </a:xfrm>
          <a:prstGeom prst="rect">
            <a:avLst/>
          </a:prstGeom>
          <a:noFill/>
        </p:spPr>
        <p:txBody>
          <a:bodyPr wrap="square" rtlCol="0">
            <a:spAutoFit/>
          </a:bodyPr>
          <a:lstStyle/>
          <a:p>
            <a:pPr>
              <a:lnSpc>
                <a:spcPct val="140000"/>
              </a:lnSpc>
            </a:pP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ECDSA</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数字签名验证</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输入：</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参数组T=(p,a,b,G,n,h)，公钥Q，消息m，签名(r,s)</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输出：</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签名是否合法</a:t>
            </a:r>
            <a:endParaRPr lang="zh-CN" altLang="en-US"/>
          </a:p>
        </p:txBody>
      </p:sp>
      <p:sp>
        <p:nvSpPr>
          <p:cNvPr id="11" name="矩形 10"/>
          <p:cNvSpPr/>
          <p:nvPr/>
        </p:nvSpPr>
        <p:spPr>
          <a:xfrm rot="5400000">
            <a:off x="6402705" y="1090930"/>
            <a:ext cx="5706110" cy="5427345"/>
          </a:xfrm>
          <a:prstGeom prst="rect">
            <a:avLst/>
          </a:prstGeom>
          <a:gradFill>
            <a:gsLst>
              <a:gs pos="0">
                <a:srgbClr val="014723"/>
              </a:gs>
              <a:gs pos="0">
                <a:srgbClr val="014723">
                  <a:alpha val="9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73380" y="3361690"/>
            <a:ext cx="6376670" cy="3138170"/>
          </a:xfrm>
          <a:prstGeom prst="rect">
            <a:avLst/>
          </a:prstGeom>
          <a:noFill/>
        </p:spPr>
        <p:txBody>
          <a:bodyPr wrap="square" rtlCol="0">
            <a:spAutoFit/>
          </a:bodyPr>
          <a:lstStyle/>
          <a:p>
            <a:pPr>
              <a:lnSpc>
                <a:spcPct val="15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可以用</a:t>
            </a:r>
            <a:r>
              <a:rPr lang="en-US" altLang="zh-CN"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latin typeface="Times New Roman" panose="02020603050405020304" charset="0"/>
                <a:ea typeface="微软雅黑" panose="020B0503020204020204" pitchFamily="34" charset="-122"/>
                <a:cs typeface="Times New Roman" panose="02020603050405020304" charset="0"/>
              </a:rPr>
              <a:t>v=r</a:t>
            </a:r>
            <a:r>
              <a:rPr lang="en-US" altLang="zh-CN" b="1">
                <a:latin typeface="Times New Roman" panose="02020603050405020304" charset="0"/>
                <a:ea typeface="微软雅黑" panose="020B0503020204020204" pitchFamily="34" charset="-122"/>
                <a:cs typeface="Times New Roman" panose="02020603050405020304" charset="0"/>
              </a:rPr>
              <a:t> </a:t>
            </a:r>
            <a:r>
              <a:rPr lang="zh-CN" altLang="en-US" b="1">
                <a:latin typeface="微软雅黑" panose="020B0503020204020204" pitchFamily="34" charset="-122"/>
                <a:ea typeface="微软雅黑" panose="020B0503020204020204" pitchFamily="34" charset="-122"/>
                <a:cs typeface="微软雅黑" panose="020B0503020204020204" pitchFamily="34" charset="-122"/>
              </a:rPr>
              <a:t>作为接受签名的原因是</a:t>
            </a:r>
          </a:p>
          <a:p>
            <a:pPr>
              <a:lnSpc>
                <a:spcPct val="15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如果一条消息</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Times New Roman" panose="02020603050405020304" charset="0"/>
                <a:ea typeface="微软雅黑" panose="020B0503020204020204" pitchFamily="34" charset="-122"/>
                <a:cs typeface="Times New Roman" panose="02020603050405020304" charset="0"/>
              </a:rPr>
              <a:t>m</a:t>
            </a:r>
            <a:r>
              <a:rPr lang="en-US" altLang="zh-CN">
                <a:latin typeface="Times New Roman" panose="02020603050405020304" charset="0"/>
                <a:ea typeface="微软雅黑" panose="020B0503020204020204" pitchFamily="34" charset="-122"/>
                <a:cs typeface="Times New Roman" panose="02020603050405020304" charset="0"/>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的签名</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Times New Roman" panose="02020603050405020304" charset="0"/>
                <a:ea typeface="微软雅黑" panose="020B0503020204020204" pitchFamily="34" charset="-122"/>
                <a:cs typeface="Times New Roman" panose="02020603050405020304" charset="0"/>
              </a:rPr>
              <a:t>(r,s)</a:t>
            </a:r>
            <a:r>
              <a:rPr lang="en-US" altLang="zh-CN">
                <a:latin typeface="Times New Roman" panose="02020603050405020304" charset="0"/>
                <a:ea typeface="微软雅黑" panose="020B0503020204020204" pitchFamily="34" charset="-122"/>
                <a:cs typeface="Times New Roman" panose="02020603050405020304" charset="0"/>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确实由合法签名者产生</a:t>
            </a:r>
          </a:p>
          <a:p>
            <a:pPr>
              <a:lnSpc>
                <a:spcPct val="15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那么我们有</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a:latin typeface="Times New Roman" panose="02020603050405020304" charset="0"/>
                <a:ea typeface="微软雅黑" panose="020B0503020204020204" pitchFamily="34" charset="-122"/>
                <a:cs typeface="Times New Roman" panose="02020603050405020304" charset="0"/>
              </a:rPr>
              <a:t>s≡k</a:t>
            </a:r>
            <a:r>
              <a:rPr lang="zh-CN" altLang="en-US" sz="2000" b="1" baseline="30000">
                <a:latin typeface="Times New Roman" panose="02020603050405020304" charset="0"/>
                <a:ea typeface="微软雅黑" panose="020B0503020204020204" pitchFamily="34" charset="-122"/>
                <a:cs typeface="Times New Roman" panose="02020603050405020304" charset="0"/>
              </a:rPr>
              <a:t>-1</a:t>
            </a:r>
            <a:r>
              <a:rPr lang="zh-CN" altLang="en-US" sz="2000" b="1">
                <a:latin typeface="Times New Roman" panose="02020603050405020304" charset="0"/>
                <a:ea typeface="微软雅黑" panose="020B0503020204020204" pitchFamily="34" charset="-122"/>
                <a:cs typeface="Times New Roman" panose="02020603050405020304" charset="0"/>
              </a:rPr>
              <a:t>(e+dr)(mod n)</a:t>
            </a:r>
            <a:endParaRPr lang="zh-CN" altLang="en-US">
              <a:latin typeface="Times New Roman" panose="02020603050405020304" charset="0"/>
              <a:ea typeface="微软雅黑" panose="020B0503020204020204" pitchFamily="34" charset="-122"/>
              <a:cs typeface="Times New Roman" panose="02020603050405020304" charset="0"/>
            </a:endParaRPr>
          </a:p>
          <a:p>
            <a:pPr>
              <a:lnSpc>
                <a:spcPct val="15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重新整理可得：</a:t>
            </a:r>
          </a:p>
          <a:p>
            <a:pPr>
              <a:lnSpc>
                <a:spcPct val="150000"/>
              </a:lnSpc>
            </a:pPr>
            <a:r>
              <a:rPr lang="zh-CN" altLang="en-US" sz="2000">
                <a:latin typeface="Times New Roman" panose="02020603050405020304" charset="0"/>
                <a:ea typeface="微软雅黑" panose="020B0503020204020204" pitchFamily="34" charset="-122"/>
                <a:cs typeface="Times New Roman" panose="02020603050405020304" charset="0"/>
              </a:rPr>
              <a:t>k</a:t>
            </a:r>
            <a:r>
              <a:rPr lang="en-US" altLang="zh-CN" sz="2000">
                <a:latin typeface="Times New Roman" panose="02020603050405020304" charset="0"/>
                <a:ea typeface="微软雅黑" panose="020B0503020204020204" pitchFamily="34" charset="-122"/>
                <a:cs typeface="Times New Roman" panose="02020603050405020304" charset="0"/>
              </a:rPr>
              <a:t> </a:t>
            </a:r>
            <a:r>
              <a:rPr lang="zh-CN" altLang="en-US" sz="2000">
                <a:latin typeface="Times New Roman" panose="02020603050405020304" charset="0"/>
                <a:ea typeface="微软雅黑" panose="020B0503020204020204" pitchFamily="34" charset="-122"/>
                <a:cs typeface="Times New Roman" panose="02020603050405020304" charset="0"/>
                <a:sym typeface="+mn-ea"/>
              </a:rPr>
              <a:t>≡</a:t>
            </a:r>
            <a:r>
              <a:rPr lang="en-US" altLang="zh-CN" sz="2000">
                <a:latin typeface="Times New Roman" panose="02020603050405020304" charset="0"/>
                <a:ea typeface="微软雅黑" panose="020B0503020204020204" pitchFamily="34" charset="-122"/>
                <a:cs typeface="Times New Roman" panose="02020603050405020304" charset="0"/>
                <a:sym typeface="+mn-ea"/>
              </a:rPr>
              <a:t> </a:t>
            </a:r>
            <a:r>
              <a:rPr lang="zh-CN" altLang="en-US" sz="2000">
                <a:latin typeface="Times New Roman" panose="02020603050405020304" charset="0"/>
                <a:ea typeface="微软雅黑" panose="020B0503020204020204" pitchFamily="34" charset="-122"/>
                <a:cs typeface="Times New Roman" panose="02020603050405020304" charset="0"/>
              </a:rPr>
              <a:t>s</a:t>
            </a:r>
            <a:r>
              <a:rPr lang="zh-CN" altLang="en-US" sz="2000" baseline="30000">
                <a:latin typeface="Times New Roman" panose="02020603050405020304" charset="0"/>
                <a:ea typeface="微软雅黑" panose="020B0503020204020204" pitchFamily="34" charset="-122"/>
                <a:cs typeface="Times New Roman" panose="02020603050405020304" charset="0"/>
              </a:rPr>
              <a:t>-1</a:t>
            </a:r>
            <a:r>
              <a:rPr lang="zh-CN" altLang="en-US" sz="2000">
                <a:latin typeface="Times New Roman" panose="02020603050405020304" charset="0"/>
                <a:ea typeface="微软雅黑" panose="020B0503020204020204" pitchFamily="34" charset="-122"/>
                <a:cs typeface="Times New Roman" panose="02020603050405020304" charset="0"/>
              </a:rPr>
              <a:t>(e+dr)</a:t>
            </a:r>
            <a:r>
              <a:rPr lang="en-US" altLang="zh-CN" sz="2000">
                <a:latin typeface="Times New Roman" panose="02020603050405020304" charset="0"/>
                <a:ea typeface="微软雅黑" panose="020B0503020204020204" pitchFamily="34" charset="-122"/>
                <a:cs typeface="Times New Roman" panose="02020603050405020304" charset="0"/>
              </a:rPr>
              <a:t> </a:t>
            </a:r>
            <a:r>
              <a:rPr lang="zh-CN" altLang="en-US" sz="2000">
                <a:latin typeface="Times New Roman" panose="02020603050405020304" charset="0"/>
                <a:ea typeface="微软雅黑" panose="020B0503020204020204" pitchFamily="34" charset="-122"/>
                <a:cs typeface="Times New Roman" panose="02020603050405020304" charset="0"/>
                <a:sym typeface="+mn-ea"/>
              </a:rPr>
              <a:t>≡</a:t>
            </a:r>
            <a:r>
              <a:rPr lang="en-US" altLang="zh-CN" sz="2000">
                <a:latin typeface="Times New Roman" panose="02020603050405020304" charset="0"/>
                <a:ea typeface="微软雅黑" panose="020B0503020204020204" pitchFamily="34" charset="-122"/>
                <a:cs typeface="Times New Roman" panose="02020603050405020304" charset="0"/>
                <a:sym typeface="+mn-ea"/>
              </a:rPr>
              <a:t> </a:t>
            </a:r>
            <a:r>
              <a:rPr lang="zh-CN" altLang="en-US" sz="2000">
                <a:latin typeface="Times New Roman" panose="02020603050405020304" charset="0"/>
                <a:ea typeface="微软雅黑" panose="020B0503020204020204" pitchFamily="34" charset="-122"/>
                <a:cs typeface="Times New Roman" panose="02020603050405020304" charset="0"/>
              </a:rPr>
              <a:t>s</a:t>
            </a:r>
            <a:r>
              <a:rPr lang="zh-CN" altLang="en-US" sz="2000" baseline="30000">
                <a:latin typeface="Times New Roman" panose="02020603050405020304" charset="0"/>
                <a:ea typeface="微软雅黑" panose="020B0503020204020204" pitchFamily="34" charset="-122"/>
                <a:cs typeface="Times New Roman" panose="02020603050405020304" charset="0"/>
              </a:rPr>
              <a:t>-1</a:t>
            </a:r>
            <a:r>
              <a:rPr lang="zh-CN" altLang="en-US" sz="2000">
                <a:latin typeface="Times New Roman" panose="02020603050405020304" charset="0"/>
                <a:ea typeface="微软雅黑" panose="020B0503020204020204" pitchFamily="34" charset="-122"/>
                <a:cs typeface="Times New Roman" panose="02020603050405020304" charset="0"/>
              </a:rPr>
              <a:t>e+s</a:t>
            </a:r>
            <a:r>
              <a:rPr lang="zh-CN" altLang="en-US" sz="2000" baseline="30000">
                <a:latin typeface="Times New Roman" panose="02020603050405020304" charset="0"/>
                <a:ea typeface="微软雅黑" panose="020B0503020204020204" pitchFamily="34" charset="-122"/>
                <a:cs typeface="Times New Roman" panose="02020603050405020304" charset="0"/>
              </a:rPr>
              <a:t>-1</a:t>
            </a:r>
            <a:r>
              <a:rPr lang="zh-CN" altLang="en-US" sz="2000">
                <a:latin typeface="Times New Roman" panose="02020603050405020304" charset="0"/>
                <a:ea typeface="微软雅黑" panose="020B0503020204020204" pitchFamily="34" charset="-122"/>
                <a:cs typeface="Times New Roman" panose="02020603050405020304" charset="0"/>
              </a:rPr>
              <a:t>dr</a:t>
            </a:r>
            <a:r>
              <a:rPr lang="en-US" altLang="zh-CN" sz="2000">
                <a:latin typeface="Times New Roman" panose="02020603050405020304" charset="0"/>
                <a:ea typeface="微软雅黑" panose="020B0503020204020204" pitchFamily="34" charset="-122"/>
                <a:cs typeface="Times New Roman" panose="02020603050405020304" charset="0"/>
              </a:rPr>
              <a:t> </a:t>
            </a:r>
            <a:r>
              <a:rPr lang="zh-CN" altLang="en-US" sz="2000">
                <a:latin typeface="Times New Roman" panose="02020603050405020304" charset="0"/>
                <a:ea typeface="微软雅黑" panose="020B0503020204020204" pitchFamily="34" charset="-122"/>
                <a:cs typeface="Times New Roman" panose="02020603050405020304" charset="0"/>
                <a:sym typeface="+mn-ea"/>
              </a:rPr>
              <a:t>≡</a:t>
            </a:r>
            <a:r>
              <a:rPr lang="en-US" altLang="zh-CN" sz="2000">
                <a:latin typeface="Times New Roman" panose="02020603050405020304" charset="0"/>
                <a:ea typeface="微软雅黑" panose="020B0503020204020204" pitchFamily="34" charset="-122"/>
                <a:cs typeface="Times New Roman" panose="02020603050405020304" charset="0"/>
                <a:sym typeface="+mn-ea"/>
              </a:rPr>
              <a:t> </a:t>
            </a:r>
            <a:r>
              <a:rPr lang="zh-CN" altLang="en-US" sz="2000">
                <a:latin typeface="Times New Roman" panose="02020603050405020304" charset="0"/>
                <a:ea typeface="微软雅黑" panose="020B0503020204020204" pitchFamily="34" charset="-122"/>
                <a:cs typeface="Times New Roman" panose="02020603050405020304" charset="0"/>
              </a:rPr>
              <a:t>we+wrd</a:t>
            </a:r>
            <a:r>
              <a:rPr lang="en-US" altLang="zh-CN" sz="2000">
                <a:latin typeface="Times New Roman" panose="02020603050405020304" charset="0"/>
                <a:ea typeface="微软雅黑" panose="020B0503020204020204" pitchFamily="34" charset="-122"/>
                <a:cs typeface="Times New Roman" panose="02020603050405020304" charset="0"/>
              </a:rPr>
              <a:t> </a:t>
            </a:r>
            <a:r>
              <a:rPr lang="zh-CN" altLang="en-US" sz="2000">
                <a:latin typeface="Times New Roman" panose="02020603050405020304" charset="0"/>
                <a:ea typeface="微软雅黑" panose="020B0503020204020204" pitchFamily="34" charset="-122"/>
                <a:cs typeface="Times New Roman" panose="02020603050405020304" charset="0"/>
                <a:sym typeface="+mn-ea"/>
              </a:rPr>
              <a:t>≡</a:t>
            </a:r>
            <a:r>
              <a:rPr lang="en-US" altLang="zh-CN" sz="2000">
                <a:latin typeface="Times New Roman" panose="02020603050405020304" charset="0"/>
                <a:ea typeface="微软雅黑" panose="020B0503020204020204" pitchFamily="34" charset="-122"/>
                <a:cs typeface="Times New Roman" panose="02020603050405020304" charset="0"/>
                <a:sym typeface="+mn-ea"/>
              </a:rPr>
              <a:t> </a:t>
            </a:r>
            <a:r>
              <a:rPr lang="zh-CN" altLang="en-US" sz="2000">
                <a:latin typeface="Times New Roman" panose="02020603050405020304" charset="0"/>
                <a:ea typeface="微软雅黑" panose="020B0503020204020204" pitchFamily="34" charset="-122"/>
                <a:cs typeface="Times New Roman" panose="02020603050405020304" charset="0"/>
              </a:rPr>
              <a:t>u</a:t>
            </a:r>
            <a:r>
              <a:rPr lang="en-US" altLang="zh-CN" sz="2000" baseline="-25000">
                <a:latin typeface="Times New Roman" panose="02020603050405020304" charset="0"/>
                <a:ea typeface="微软雅黑" panose="020B0503020204020204" pitchFamily="34" charset="-122"/>
                <a:cs typeface="Times New Roman" panose="02020603050405020304" charset="0"/>
              </a:rPr>
              <a:t>1</a:t>
            </a:r>
            <a:r>
              <a:rPr lang="zh-CN" altLang="en-US" sz="2000">
                <a:latin typeface="Times New Roman" panose="02020603050405020304" charset="0"/>
                <a:ea typeface="微软雅黑" panose="020B0503020204020204" pitchFamily="34" charset="-122"/>
                <a:cs typeface="Times New Roman" panose="02020603050405020304" charset="0"/>
              </a:rPr>
              <a:t>+u</a:t>
            </a:r>
            <a:r>
              <a:rPr lang="zh-CN" altLang="en-US" sz="2000" baseline="-25000">
                <a:latin typeface="Times New Roman" panose="02020603050405020304" charset="0"/>
                <a:ea typeface="微软雅黑" panose="020B0503020204020204" pitchFamily="34" charset="-122"/>
                <a:cs typeface="Times New Roman" panose="02020603050405020304" charset="0"/>
              </a:rPr>
              <a:t>2</a:t>
            </a:r>
            <a:r>
              <a:rPr lang="zh-CN" altLang="en-US" sz="2000">
                <a:latin typeface="Times New Roman" panose="02020603050405020304" charset="0"/>
                <a:ea typeface="微软雅黑" panose="020B0503020204020204" pitchFamily="34" charset="-122"/>
                <a:cs typeface="Times New Roman" panose="02020603050405020304" charset="0"/>
              </a:rPr>
              <a:t>d (mod</a:t>
            </a:r>
            <a:r>
              <a:rPr lang="en-US" altLang="zh-CN" sz="2000">
                <a:latin typeface="Times New Roman" panose="02020603050405020304" charset="0"/>
                <a:ea typeface="微软雅黑" panose="020B0503020204020204" pitchFamily="34" charset="-122"/>
                <a:cs typeface="Times New Roman" panose="02020603050405020304" charset="0"/>
              </a:rPr>
              <a:t> </a:t>
            </a:r>
            <a:r>
              <a:rPr lang="zh-CN" altLang="en-US" sz="2000">
                <a:latin typeface="Times New Roman" panose="02020603050405020304" charset="0"/>
                <a:ea typeface="微软雅黑" panose="020B0503020204020204" pitchFamily="34" charset="-122"/>
                <a:cs typeface="Times New Roman" panose="02020603050405020304" charset="0"/>
              </a:rPr>
              <a:t>n)</a:t>
            </a:r>
          </a:p>
          <a:p>
            <a:pPr>
              <a:lnSpc>
                <a:spcPct val="15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于是</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latin typeface="Times New Roman" panose="02020603050405020304" charset="0"/>
                <a:ea typeface="微软雅黑" panose="020B0503020204020204" pitchFamily="34" charset="-122"/>
                <a:cs typeface="Times New Roman" panose="02020603050405020304" charset="0"/>
              </a:rPr>
              <a:t>X=u</a:t>
            </a:r>
            <a:r>
              <a:rPr lang="zh-CN" altLang="en-US" sz="2000" baseline="-25000">
                <a:latin typeface="Times New Roman" panose="02020603050405020304" charset="0"/>
                <a:ea typeface="微软雅黑" panose="020B0503020204020204" pitchFamily="34" charset="-122"/>
                <a:cs typeface="Times New Roman" panose="02020603050405020304" charset="0"/>
              </a:rPr>
              <a:t>1</a:t>
            </a:r>
            <a:r>
              <a:rPr lang="zh-CN" altLang="en-US" sz="2000">
                <a:latin typeface="Times New Roman" panose="02020603050405020304" charset="0"/>
                <a:ea typeface="微软雅黑" panose="020B0503020204020204" pitchFamily="34" charset="-122"/>
                <a:cs typeface="Times New Roman" panose="02020603050405020304" charset="0"/>
              </a:rPr>
              <a:t>G+u</a:t>
            </a:r>
            <a:r>
              <a:rPr lang="zh-CN" altLang="en-US" sz="2000" baseline="-25000">
                <a:latin typeface="Times New Roman" panose="02020603050405020304" charset="0"/>
                <a:ea typeface="微软雅黑" panose="020B0503020204020204" pitchFamily="34" charset="-122"/>
                <a:cs typeface="Times New Roman" panose="02020603050405020304" charset="0"/>
              </a:rPr>
              <a:t>2</a:t>
            </a:r>
            <a:r>
              <a:rPr lang="zh-CN" altLang="en-US" sz="2000">
                <a:latin typeface="Times New Roman" panose="02020603050405020304" charset="0"/>
                <a:ea typeface="微软雅黑" panose="020B0503020204020204" pitchFamily="34" charset="-122"/>
                <a:cs typeface="Times New Roman" panose="02020603050405020304" charset="0"/>
              </a:rPr>
              <a:t>Q=(u</a:t>
            </a:r>
            <a:r>
              <a:rPr lang="zh-CN" altLang="en-US" sz="2000" baseline="-25000">
                <a:latin typeface="Times New Roman" panose="02020603050405020304" charset="0"/>
                <a:ea typeface="微软雅黑" panose="020B0503020204020204" pitchFamily="34" charset="-122"/>
                <a:cs typeface="Times New Roman" panose="02020603050405020304" charset="0"/>
              </a:rPr>
              <a:t>1</a:t>
            </a:r>
            <a:r>
              <a:rPr lang="zh-CN" altLang="en-US" sz="2000">
                <a:latin typeface="Times New Roman" panose="02020603050405020304" charset="0"/>
                <a:ea typeface="微软雅黑" panose="020B0503020204020204" pitchFamily="34" charset="-122"/>
                <a:cs typeface="Times New Roman" panose="02020603050405020304" charset="0"/>
              </a:rPr>
              <a:t>+u</a:t>
            </a:r>
            <a:r>
              <a:rPr lang="zh-CN" altLang="en-US" sz="2000" baseline="-25000">
                <a:latin typeface="Times New Roman" panose="02020603050405020304" charset="0"/>
                <a:ea typeface="微软雅黑" panose="020B0503020204020204" pitchFamily="34" charset="-122"/>
                <a:cs typeface="Times New Roman" panose="02020603050405020304" charset="0"/>
              </a:rPr>
              <a:t>2</a:t>
            </a:r>
            <a:r>
              <a:rPr lang="zh-CN" altLang="en-US" sz="2000">
                <a:latin typeface="Times New Roman" panose="02020603050405020304" charset="0"/>
                <a:ea typeface="微软雅黑" panose="020B0503020204020204" pitchFamily="34" charset="-122"/>
                <a:cs typeface="Times New Roman" panose="02020603050405020304" charset="0"/>
              </a:rPr>
              <a:t>d)G=kG </a:t>
            </a:r>
          </a:p>
        </p:txBody>
      </p:sp>
      <p:sp>
        <p:nvSpPr>
          <p:cNvPr id="5" name="灯片编号占位符 4"/>
          <p:cNvSpPr>
            <a:spLocks noGrp="1"/>
          </p:cNvSpPr>
          <p:nvPr>
            <p:ph type="sldNum" sz="quarter" idx="12"/>
          </p:nvPr>
        </p:nvSpPr>
        <p:spPr/>
        <p:txBody>
          <a:bodyPr/>
          <a:lstStyle/>
          <a:p>
            <a:fld id="{A8537B7A-7510-410A-AA53-45D600DA0276}" type="slidenum">
              <a:rPr lang="zh-CN" altLang="en-US" smtClean="0"/>
              <a:t>21</a:t>
            </a:fld>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a:off x="392097" y="1567575"/>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495935" y="1146810"/>
            <a:ext cx="3095625" cy="382270"/>
          </a:xfrm>
          <a:prstGeom prst="rect">
            <a:avLst/>
          </a:prstGeom>
          <a:noFill/>
        </p:spPr>
        <p:txBody>
          <a:bodyPr wrap="square" lIns="0" tIns="48000" rIns="0" bIns="48000" rtlCol="0">
            <a:spAutoFit/>
          </a:bodyPr>
          <a:lstStyle/>
          <a:p>
            <a:pPr algn="l"/>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4.3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签名方案的改进</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7" name="图片 6" descr="1670638416216"/>
          <p:cNvPicPr>
            <a:picLocks noChangeAspect="1"/>
          </p:cNvPicPr>
          <p:nvPr/>
        </p:nvPicPr>
        <p:blipFill>
          <a:blip r:embed="rId4"/>
          <a:stretch>
            <a:fillRect/>
          </a:stretch>
        </p:blipFill>
        <p:spPr>
          <a:xfrm>
            <a:off x="6635750" y="2763520"/>
            <a:ext cx="5552440" cy="3675380"/>
          </a:xfrm>
          <a:prstGeom prst="rect">
            <a:avLst/>
          </a:prstGeom>
        </p:spPr>
      </p:pic>
      <p:sp>
        <p:nvSpPr>
          <p:cNvPr id="20" name="TextBox 74"/>
          <p:cNvSpPr txBox="1"/>
          <p:nvPr/>
        </p:nvSpPr>
        <p:spPr>
          <a:xfrm>
            <a:off x="766445" y="2577465"/>
            <a:ext cx="1844040" cy="3689350"/>
          </a:xfrm>
          <a:prstGeom prst="rect">
            <a:avLst/>
          </a:prstGeom>
          <a:noFill/>
        </p:spPr>
        <p:txBody>
          <a:bodyPr wrap="square" lIns="0" tIns="0" rIns="0" bIns="0" rtlCol="0">
            <a:noAutofit/>
          </a:bodyPr>
          <a:lstStyle/>
          <a:p>
            <a:pPr algn="just">
              <a:lnSpc>
                <a:spcPct val="150000"/>
              </a:lnSpc>
            </a:pPr>
            <a:r>
              <a:rPr lang="zh-CN" altLang="en-US" dirty="0">
                <a:latin typeface="微软雅黑" panose="020B0503020204020204" pitchFamily="34" charset="-122"/>
                <a:ea typeface="微软雅黑" panose="020B0503020204020204" pitchFamily="34" charset="-122"/>
                <a:sym typeface="+mn-ea"/>
              </a:rPr>
              <a:t>有效降低存储空间和验证过程中网络流量成本；</a:t>
            </a:r>
          </a:p>
          <a:p>
            <a:pPr algn="just">
              <a:lnSpc>
                <a:spcPct val="150000"/>
              </a:lnSpc>
            </a:pPr>
            <a:endParaRPr lang="zh-CN" altLang="en-US" dirty="0">
              <a:latin typeface="微软雅黑" panose="020B0503020204020204" pitchFamily="34" charset="-122"/>
              <a:ea typeface="微软雅黑" panose="020B0503020204020204" pitchFamily="34" charset="-122"/>
              <a:sym typeface="+mn-ea"/>
            </a:endParaRPr>
          </a:p>
          <a:p>
            <a:pPr algn="just">
              <a:lnSpc>
                <a:spcPct val="150000"/>
              </a:lnSpc>
            </a:pPr>
            <a:r>
              <a:rPr lang="zh-CN" altLang="en-US" dirty="0">
                <a:latin typeface="微软雅黑" panose="020B0503020204020204" pitchFamily="34" charset="-122"/>
                <a:ea typeface="微软雅黑" panose="020B0503020204020204" pitchFamily="34" charset="-122"/>
                <a:sym typeface="+mn-ea"/>
              </a:rPr>
              <a:t>更侧重于压缩签名和公钥的大小，</a:t>
            </a:r>
          </a:p>
          <a:p>
            <a:pPr algn="just">
              <a:lnSpc>
                <a:spcPct val="150000"/>
              </a:lnSpc>
            </a:pPr>
            <a:r>
              <a:rPr lang="zh-CN" altLang="en-US" dirty="0">
                <a:latin typeface="微软雅黑" panose="020B0503020204020204" pitchFamily="34" charset="-122"/>
                <a:ea typeface="微软雅黑" panose="020B0503020204020204" pitchFamily="34" charset="-122"/>
                <a:sym typeface="+mn-ea"/>
              </a:rPr>
              <a:t>而不是提高签名的验证效率。</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25" name="矩形 3"/>
          <p:cNvSpPr/>
          <p:nvPr/>
        </p:nvSpPr>
        <p:spPr>
          <a:xfrm>
            <a:off x="591820" y="1788795"/>
            <a:ext cx="2257425" cy="567690"/>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2" name="椭圆 31"/>
          <p:cNvSpPr/>
          <p:nvPr/>
        </p:nvSpPr>
        <p:spPr>
          <a:xfrm>
            <a:off x="401955" y="1864360"/>
            <a:ext cx="440690" cy="440690"/>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44" name="TextBox 82"/>
          <p:cNvSpPr txBox="1"/>
          <p:nvPr/>
        </p:nvSpPr>
        <p:spPr>
          <a:xfrm>
            <a:off x="766445" y="1866900"/>
            <a:ext cx="1874520" cy="368300"/>
          </a:xfrm>
          <a:prstGeom prst="rect">
            <a:avLst/>
          </a:prstGeom>
          <a:noFill/>
        </p:spPr>
        <p:txBody>
          <a:bodyPr wrap="square" lIns="0" tIns="0" rIns="0" bIns="0" rtlCol="0">
            <a:no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400" spc="100" dirty="0">
                <a:solidFill>
                  <a:schemeClr val="bg1"/>
                </a:solidFill>
                <a:uFillTx/>
              </a:rPr>
              <a:t>聚合签名</a:t>
            </a:r>
          </a:p>
        </p:txBody>
      </p:sp>
      <p:sp>
        <p:nvSpPr>
          <p:cNvPr id="8" name="TextBox 74"/>
          <p:cNvSpPr txBox="1"/>
          <p:nvPr/>
        </p:nvSpPr>
        <p:spPr>
          <a:xfrm>
            <a:off x="3507740" y="2541270"/>
            <a:ext cx="2426335" cy="1661795"/>
          </a:xfrm>
          <a:prstGeom prst="rect">
            <a:avLst/>
          </a:prstGeom>
          <a:noFill/>
        </p:spPr>
        <p:txBody>
          <a:bodyPr wrap="square" lIns="0" tIns="0" rIns="0" bIns="0"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如果计算结果相等，则这批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ECDSA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签名合法；</a:t>
            </a:r>
          </a:p>
          <a:p>
            <a:pPr algn="just">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反之这批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ECDSA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签名中包含至少一个无效签名。</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1"/>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5784215" y="1618615"/>
            <a:ext cx="3717925" cy="843915"/>
          </a:xfrm>
          <a:prstGeom prst="rect">
            <a:avLst/>
          </a:prstGeom>
        </p:spPr>
      </p:pic>
      <p:sp>
        <p:nvSpPr>
          <p:cNvPr id="13" name="TextBox 74"/>
          <p:cNvSpPr txBox="1"/>
          <p:nvPr/>
        </p:nvSpPr>
        <p:spPr>
          <a:xfrm>
            <a:off x="3419475" y="5192395"/>
            <a:ext cx="2851785" cy="1246505"/>
          </a:xfrm>
          <a:prstGeom prst="rect">
            <a:avLst/>
          </a:prstGeom>
          <a:noFill/>
        </p:spPr>
        <p:txBody>
          <a:bodyPr wrap="square" lIns="0" tIns="0" rIns="0" bIns="0"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sym typeface="+mn-ea"/>
              </a:rPr>
              <a:t>不断的将错误批次递归执行拆分批验证，最后可以剔除所有的无效签名</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4" name="矩形 3"/>
          <p:cNvSpPr/>
          <p:nvPr/>
        </p:nvSpPr>
        <p:spPr>
          <a:xfrm>
            <a:off x="3609340" y="4441190"/>
            <a:ext cx="2257425" cy="567690"/>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55" name="椭圆 54"/>
          <p:cNvSpPr/>
          <p:nvPr/>
        </p:nvSpPr>
        <p:spPr>
          <a:xfrm>
            <a:off x="3419475" y="4516755"/>
            <a:ext cx="440690" cy="440690"/>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56" name="TextBox 82"/>
          <p:cNvSpPr txBox="1"/>
          <p:nvPr/>
        </p:nvSpPr>
        <p:spPr>
          <a:xfrm>
            <a:off x="3783965" y="4519295"/>
            <a:ext cx="1874520" cy="368300"/>
          </a:xfrm>
          <a:prstGeom prst="rect">
            <a:avLst/>
          </a:prstGeom>
          <a:noFill/>
        </p:spPr>
        <p:txBody>
          <a:bodyPr wrap="square" lIns="0" tIns="0" rIns="0" bIns="0" rtlCol="0">
            <a:no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400" spc="100" dirty="0">
                <a:solidFill>
                  <a:schemeClr val="bg1"/>
                </a:solidFill>
                <a:uFillTx/>
              </a:rPr>
              <a:t>组测试</a:t>
            </a:r>
          </a:p>
        </p:txBody>
      </p:sp>
      <p:sp>
        <p:nvSpPr>
          <p:cNvPr id="57" name="矩形 3"/>
          <p:cNvSpPr/>
          <p:nvPr/>
        </p:nvSpPr>
        <p:spPr>
          <a:xfrm>
            <a:off x="3526790" y="1778635"/>
            <a:ext cx="2257425" cy="567690"/>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58" name="椭圆 57"/>
          <p:cNvSpPr/>
          <p:nvPr/>
        </p:nvSpPr>
        <p:spPr>
          <a:xfrm>
            <a:off x="3336925" y="1854200"/>
            <a:ext cx="440690" cy="440690"/>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59" name="TextBox 82"/>
          <p:cNvSpPr txBox="1"/>
          <p:nvPr/>
        </p:nvSpPr>
        <p:spPr>
          <a:xfrm>
            <a:off x="3701415" y="1856740"/>
            <a:ext cx="1874520" cy="368300"/>
          </a:xfrm>
          <a:prstGeom prst="rect">
            <a:avLst/>
          </a:prstGeom>
          <a:noFill/>
        </p:spPr>
        <p:txBody>
          <a:bodyPr wrap="square" lIns="0" tIns="0" rIns="0" bIns="0" rtlCol="0">
            <a:no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400" spc="100" dirty="0">
                <a:solidFill>
                  <a:schemeClr val="bg1"/>
                </a:solidFill>
                <a:uFillTx/>
              </a:rPr>
              <a:t>批验证</a:t>
            </a:r>
          </a:p>
        </p:txBody>
      </p:sp>
      <p:sp>
        <p:nvSpPr>
          <p:cNvPr id="3" name="灯片编号占位符 2"/>
          <p:cNvSpPr>
            <a:spLocks noGrp="1"/>
          </p:cNvSpPr>
          <p:nvPr>
            <p:ph type="sldNum" sz="quarter" idx="12"/>
          </p:nvPr>
        </p:nvSpPr>
        <p:spPr/>
        <p:txBody>
          <a:bodyPr/>
          <a:lstStyle/>
          <a:p>
            <a:fld id="{A8537B7A-7510-410A-AA53-45D600DA0276}" type="slidenum">
              <a:rPr lang="zh-CN" altLang="en-US" smtClean="0"/>
              <a:t>22</a:t>
            </a:fld>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总结思考</a:t>
            </a: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Part.05</a:t>
            </a:r>
          </a:p>
        </p:txBody>
      </p:sp>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23</a:t>
            </a:fld>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5.1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回顾总结</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69097" y="2044700"/>
            <a:ext cx="8127554" cy="4140000"/>
          </a:xfrm>
          <a:prstGeom prst="rect">
            <a:avLst/>
          </a:prstGeom>
          <a:noFill/>
          <a:ln w="190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1" name="组合 20"/>
          <p:cNvGrpSpPr/>
          <p:nvPr/>
        </p:nvGrpSpPr>
        <p:grpSpPr>
          <a:xfrm>
            <a:off x="3537988" y="2318207"/>
            <a:ext cx="7517996" cy="554591"/>
            <a:chOff x="4910249" y="2522052"/>
            <a:chExt cx="4988899" cy="415943"/>
          </a:xfrm>
        </p:grpSpPr>
        <p:sp>
          <p:nvSpPr>
            <p:cNvPr id="23" name="矩形 22"/>
            <p:cNvSpPr/>
            <p:nvPr/>
          </p:nvSpPr>
          <p:spPr>
            <a:xfrm>
              <a:off x="5296473" y="2522052"/>
              <a:ext cx="4602675" cy="380047"/>
            </a:xfrm>
            <a:prstGeom prst="rect">
              <a:avLst/>
            </a:prstGeom>
          </p:spPr>
          <p:txBody>
            <a:bodyPr wrap="square">
              <a:spAutoFit/>
            </a:bodyPr>
            <a:lstStyle/>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区块链与</a:t>
              </a:r>
              <a:r>
                <a:rPr lang="en-US" altLang="zh-CN" dirty="0">
                  <a:solidFill>
                    <a:schemeClr val="tx1"/>
                  </a:solidFill>
                  <a:latin typeface="微软雅黑" panose="020B0503020204020204" pitchFamily="34" charset="-122"/>
                  <a:ea typeface="微软雅黑" panose="020B0503020204020204" pitchFamily="34" charset="-122"/>
                </a:rPr>
                <a:t>P2P</a:t>
              </a:r>
              <a:r>
                <a:rPr lang="zh-CN" altLang="en-US" dirty="0">
                  <a:solidFill>
                    <a:schemeClr val="tx1"/>
                  </a:solidFill>
                  <a:latin typeface="微软雅黑" panose="020B0503020204020204" pitchFamily="34" charset="-122"/>
                  <a:ea typeface="微软雅黑" panose="020B0503020204020204" pitchFamily="34" charset="-122"/>
                </a:rPr>
                <a:t>网络</a:t>
              </a:r>
            </a:p>
          </p:txBody>
        </p:sp>
        <p:sp>
          <p:nvSpPr>
            <p:cNvPr id="25" name="矩形 24"/>
            <p:cNvSpPr/>
            <p:nvPr/>
          </p:nvSpPr>
          <p:spPr>
            <a:xfrm>
              <a:off x="4910249" y="2570667"/>
              <a:ext cx="349704" cy="367328"/>
            </a:xfrm>
            <a:prstGeom prst="rect">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1</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sp>
        <p:nvSpPr>
          <p:cNvPr id="36" name="矩形 35"/>
          <p:cNvSpPr/>
          <p:nvPr/>
        </p:nvSpPr>
        <p:spPr>
          <a:xfrm>
            <a:off x="3538220" y="3382010"/>
            <a:ext cx="466090" cy="489585"/>
          </a:xfrm>
          <a:prstGeom prst="rect">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2</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39" name="矩形 38"/>
          <p:cNvSpPr/>
          <p:nvPr/>
        </p:nvSpPr>
        <p:spPr>
          <a:xfrm>
            <a:off x="3538220" y="4377690"/>
            <a:ext cx="466090" cy="489585"/>
          </a:xfrm>
          <a:prstGeom prst="rect">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3</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42" name="矩形 41"/>
          <p:cNvSpPr/>
          <p:nvPr/>
        </p:nvSpPr>
        <p:spPr>
          <a:xfrm>
            <a:off x="3538220" y="5373370"/>
            <a:ext cx="466090" cy="489585"/>
          </a:xfrm>
          <a:prstGeom prst="rect">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4</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43" name="矩形 42"/>
          <p:cNvSpPr/>
          <p:nvPr/>
        </p:nvSpPr>
        <p:spPr>
          <a:xfrm>
            <a:off x="806445" y="2044700"/>
            <a:ext cx="2210250" cy="4139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sz="3200" dirty="0">
                <a:latin typeface="微软雅黑" panose="020B0503020204020204" pitchFamily="34" charset="-122"/>
                <a:ea typeface="微软雅黑" panose="020B0503020204020204" pitchFamily="34" charset="-122"/>
              </a:rPr>
              <a:t>回顾总结</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矩形 1"/>
          <p:cNvSpPr/>
          <p:nvPr/>
        </p:nvSpPr>
        <p:spPr>
          <a:xfrm>
            <a:off x="4120006" y="3339287"/>
            <a:ext cx="6935978" cy="506730"/>
          </a:xfrm>
          <a:prstGeom prst="rect">
            <a:avLst/>
          </a:prstGeom>
        </p:spPr>
        <p:txBody>
          <a:bodyPr wrap="square">
            <a:spAutoFit/>
          </a:bodyPr>
          <a:lstStyle/>
          <a:p>
            <a:pPr>
              <a:lnSpc>
                <a:spcPct val="150000"/>
              </a:lnSpc>
            </a:pPr>
            <a:r>
              <a:rPr lang="en-US" altLang="zh-CN" dirty="0" err="1">
                <a:solidFill>
                  <a:schemeClr val="tx1"/>
                </a:solidFill>
                <a:latin typeface="微软雅黑" panose="020B0503020204020204" pitchFamily="34" charset="-122"/>
                <a:ea typeface="微软雅黑" panose="020B0503020204020204" pitchFamily="34" charset="-122"/>
                <a:sym typeface="+mn-ea"/>
              </a:rPr>
              <a:t>Kademlia</a:t>
            </a:r>
            <a:r>
              <a:rPr lang="en-US" altLang="zh-CN" dirty="0">
                <a:solidFill>
                  <a:schemeClr val="tx1"/>
                </a:solidFill>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微软雅黑" panose="020B0503020204020204" pitchFamily="34" charset="-122"/>
                <a:ea typeface="微软雅黑" panose="020B0503020204020204" pitchFamily="34" charset="-122"/>
                <a:sym typeface="+mn-ea"/>
              </a:rPr>
              <a:t>协议；</a:t>
            </a:r>
            <a:r>
              <a:rPr lang="en-US" altLang="zh-CN" dirty="0">
                <a:solidFill>
                  <a:schemeClr val="tx1"/>
                </a:solidFill>
                <a:latin typeface="微软雅黑" panose="020B0503020204020204" pitchFamily="34" charset="-122"/>
                <a:ea typeface="微软雅黑" panose="020B0503020204020204" pitchFamily="34" charset="-122"/>
                <a:sym typeface="+mn-ea"/>
              </a:rPr>
              <a:t>P2P</a:t>
            </a:r>
            <a:r>
              <a:rPr lang="zh-CN" altLang="en-US" dirty="0">
                <a:solidFill>
                  <a:schemeClr val="tx1"/>
                </a:solidFill>
                <a:latin typeface="微软雅黑" panose="020B0503020204020204" pitchFamily="34" charset="-122"/>
                <a:ea typeface="微软雅黑" panose="020B0503020204020204" pitchFamily="34" charset="-122"/>
                <a:sym typeface="+mn-ea"/>
              </a:rPr>
              <a:t>网络安全性优劣势；针对攻击的应对机制</a:t>
            </a:r>
          </a:p>
        </p:txBody>
      </p:sp>
      <p:sp>
        <p:nvSpPr>
          <p:cNvPr id="3" name="矩形 2"/>
          <p:cNvSpPr/>
          <p:nvPr/>
        </p:nvSpPr>
        <p:spPr>
          <a:xfrm>
            <a:off x="4120006" y="4313377"/>
            <a:ext cx="6935978" cy="506730"/>
          </a:xfrm>
          <a:prstGeom prst="rect">
            <a:avLst/>
          </a:prstGeom>
        </p:spPr>
        <p:txBody>
          <a:bodyPr wrap="square">
            <a:spAutoFit/>
          </a:bodyPr>
          <a:lstStyle/>
          <a:p>
            <a:pPr>
              <a:lnSpc>
                <a:spcPct val="150000"/>
              </a:lnSpc>
            </a:pPr>
            <a:r>
              <a:rPr lang="en-US" altLang="zh-CN"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RLPx</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传输协议；</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ECDH</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密钥交换算法；节点加密通信过程</a:t>
            </a:r>
            <a:endPar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p:nvPr/>
        </p:nvSpPr>
        <p:spPr>
          <a:xfrm>
            <a:off x="4120006" y="5312867"/>
            <a:ext cx="6935978" cy="506730"/>
          </a:xfrm>
          <a:prstGeom prst="rect">
            <a:avLst/>
          </a:prstGeom>
        </p:spPr>
        <p:txBody>
          <a:bodyPr wrap="square">
            <a:spAutoFit/>
          </a:bodyPr>
          <a:lstStyle/>
          <a:p>
            <a:pPr>
              <a:lnSpc>
                <a:spcPct val="150000"/>
              </a:lnSpc>
            </a:pPr>
            <a:r>
              <a:rPr lang="zh-CN" dirty="0" err="1">
                <a:solidFill>
                  <a:schemeClr val="tx1"/>
                </a:solidFill>
                <a:latin typeface="微软雅黑" panose="020B0503020204020204" pitchFamily="34" charset="-122"/>
                <a:ea typeface="微软雅黑" panose="020B0503020204020204" pitchFamily="34" charset="-122"/>
                <a:sym typeface="+mn-ea"/>
              </a:rPr>
              <a:t>椭圆曲线数字签名算法与改进方案</a:t>
            </a:r>
            <a:endParaRPr lang="zh-CN" dirty="0">
              <a:solidFill>
                <a:schemeClr val="tx1"/>
              </a:solidFill>
              <a:latin typeface="微软雅黑" panose="020B0503020204020204" pitchFamily="34" charset="-122"/>
              <a:ea typeface="微软雅黑" panose="020B0503020204020204" pitchFamily="34" charset="-122"/>
              <a:sym typeface="+mn-ea"/>
            </a:endParaRPr>
          </a:p>
        </p:txBody>
      </p:sp>
      <p:sp>
        <p:nvSpPr>
          <p:cNvPr id="6" name="灯片编号占位符 5"/>
          <p:cNvSpPr>
            <a:spLocks noGrp="1"/>
          </p:cNvSpPr>
          <p:nvPr>
            <p:ph type="sldNum" sz="quarter" idx="12"/>
          </p:nvPr>
        </p:nvSpPr>
        <p:spPr/>
        <p:txBody>
          <a:bodyPr/>
          <a:lstStyle/>
          <a:p>
            <a:fld id="{A8537B7A-7510-410A-AA53-45D600DA0276}" type="slidenum">
              <a:rPr lang="zh-CN" altLang="en-US" smtClean="0"/>
              <a:t>24</a:t>
            </a:fld>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总结思考</a:t>
            </a:r>
          </a:p>
        </p:txBody>
      </p:sp>
      <p:cxnSp>
        <p:nvCxnSpPr>
          <p:cNvPr id="34" name="直接连接符 33"/>
          <p:cNvCxnSpPr/>
          <p:nvPr/>
        </p:nvCxnSpPr>
        <p:spPr>
          <a:xfrm>
            <a:off x="425752" y="155297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5.2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思考感悟</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grpSp>
        <p:nvGrpSpPr>
          <p:cNvPr id="5" name="组合 4"/>
          <p:cNvGrpSpPr/>
          <p:nvPr/>
        </p:nvGrpSpPr>
        <p:grpSpPr>
          <a:xfrm>
            <a:off x="726491" y="2054989"/>
            <a:ext cx="4909720" cy="3800989"/>
            <a:chOff x="795357" y="1743204"/>
            <a:chExt cx="5300643" cy="3800989"/>
          </a:xfrm>
        </p:grpSpPr>
        <p:sp>
          <p:nvSpPr>
            <p:cNvPr id="18" name="文本框 34"/>
            <p:cNvSpPr>
              <a:spLocks noChangeArrowheads="1"/>
            </p:cNvSpPr>
            <p:nvPr/>
          </p:nvSpPr>
          <p:spPr bwMode="auto">
            <a:xfrm>
              <a:off x="852507" y="1743204"/>
              <a:ext cx="4957743" cy="5530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pPr>
              <a:r>
                <a:rPr lang="en-US" altLang="zh-CN" sz="2000" b="1" dirty="0">
                  <a:solidFill>
                    <a:schemeClr val="accent1"/>
                  </a:solidFill>
                  <a:latin typeface="微软雅黑" panose="020B0503020204020204" pitchFamily="34" charset="-122"/>
                  <a:ea typeface="微软雅黑" panose="020B0503020204020204" pitchFamily="34" charset="-122"/>
                  <a:sym typeface="华文宋体" panose="02010600040101010101" pitchFamily="2" charset="-122"/>
                </a:rPr>
                <a:t>01</a:t>
              </a:r>
              <a:r>
                <a:rPr lang="zh-CN" altLang="en-US" sz="2000" b="1" dirty="0">
                  <a:solidFill>
                    <a:schemeClr val="accent1"/>
                  </a:solidFill>
                  <a:latin typeface="微软雅黑" panose="020B0503020204020204" pitchFamily="34" charset="-122"/>
                  <a:ea typeface="微软雅黑" panose="020B0503020204020204" pitchFamily="34" charset="-122"/>
                  <a:sym typeface="华文宋体" panose="02010600040101010101" pitchFamily="2" charset="-122"/>
                </a:rPr>
                <a:t>、网络安全</a:t>
              </a:r>
              <a:endParaRPr lang="en-US" altLang="zh-CN" sz="2000" b="1" dirty="0">
                <a:solidFill>
                  <a:schemeClr val="accent1"/>
                </a:solidFill>
                <a:latin typeface="微软雅黑" panose="020B0503020204020204" pitchFamily="34" charset="-122"/>
                <a:ea typeface="微软雅黑" panose="020B0503020204020204" pitchFamily="34" charset="-122"/>
                <a:sym typeface="华文宋体" panose="02010600040101010101" pitchFamily="2" charset="-122"/>
              </a:endParaRPr>
            </a:p>
          </p:txBody>
        </p:sp>
        <p:sp>
          <p:nvSpPr>
            <p:cNvPr id="6" name="文本框 34"/>
            <p:cNvSpPr>
              <a:spLocks noChangeArrowheads="1"/>
            </p:cNvSpPr>
            <p:nvPr/>
          </p:nvSpPr>
          <p:spPr bwMode="auto">
            <a:xfrm>
              <a:off x="795357" y="2544453"/>
              <a:ext cx="5300643" cy="299974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marL="285750" indent="-285750">
                <a:lnSpc>
                  <a:spcPct val="150000"/>
                </a:lnSpc>
                <a:buFont typeface="Wingdings" panose="05000000000000000000" charset="0"/>
                <a:buChar char="Ø"/>
                <a:defRPr/>
              </a:pPr>
              <a:r>
                <a:rPr lang="zh-CN" altLang="en-US" dirty="0">
                  <a:solidFill>
                    <a:schemeClr val="tx1"/>
                  </a:solidFill>
                  <a:latin typeface="微软雅黑" panose="020B0503020204020204" pitchFamily="34" charset="-122"/>
                  <a:ea typeface="微软雅黑" panose="020B0503020204020204" pitchFamily="34" charset="-122"/>
                </a:rPr>
                <a:t>以太坊中的网络安全，核心在于由UDP和TCP协议构成的P2P网络。</a:t>
              </a:r>
            </a:p>
            <a:p>
              <a:pPr marL="285750" indent="-285750">
                <a:lnSpc>
                  <a:spcPct val="150000"/>
                </a:lnSpc>
                <a:buFont typeface="Wingdings" panose="05000000000000000000" charset="0"/>
                <a:buChar char="Ø"/>
                <a:defRPr/>
              </a:pPr>
              <a:endParaRPr lang="zh-CN" altLang="en-US"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defRPr/>
              </a:pPr>
              <a:r>
                <a:rPr lang="zh-CN" altLang="en-US" dirty="0">
                  <a:solidFill>
                    <a:schemeClr val="tx1"/>
                  </a:solidFill>
                  <a:latin typeface="微软雅黑" panose="020B0503020204020204" pitchFamily="34" charset="-122"/>
                  <a:ea typeface="微软雅黑" panose="020B0503020204020204" pitchFamily="34" charset="-122"/>
                </a:rPr>
                <a:t>深度学习与P2P网络的结合仍不够深入。</a:t>
              </a:r>
            </a:p>
            <a:p>
              <a:pPr marL="285750" indent="-285750">
                <a:lnSpc>
                  <a:spcPct val="150000"/>
                </a:lnSpc>
                <a:buFont typeface="Wingdings" panose="05000000000000000000" charset="0"/>
                <a:buChar char="Ø"/>
                <a:defRPr/>
              </a:pPr>
              <a:endParaRPr lang="zh-CN" altLang="en-US"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defRPr/>
              </a:pPr>
              <a:r>
                <a:rPr lang="zh-CN" altLang="en-US" dirty="0">
                  <a:solidFill>
                    <a:schemeClr val="tx1"/>
                  </a:solidFill>
                  <a:latin typeface="微软雅黑" panose="020B0503020204020204" pitchFamily="34" charset="-122"/>
                  <a:ea typeface="微软雅黑" panose="020B0503020204020204" pitchFamily="34" charset="-122"/>
                </a:rPr>
                <a:t>能动性更强的</a:t>
              </a:r>
              <a:r>
                <a:rPr lang="zh-CN" altLang="en-US" b="1" dirty="0">
                  <a:solidFill>
                    <a:schemeClr val="tx1"/>
                  </a:solidFill>
                  <a:latin typeface="微软雅黑" panose="020B0503020204020204" pitchFamily="34" charset="-122"/>
                  <a:ea typeface="微软雅黑" panose="020B0503020204020204" pitchFamily="34" charset="-122"/>
                </a:rPr>
                <a:t>AI for science</a:t>
              </a:r>
              <a:r>
                <a:rPr lang="zh-CN" altLang="en-US" dirty="0">
                  <a:solidFill>
                    <a:schemeClr val="tx1"/>
                  </a:solidFill>
                  <a:latin typeface="微软雅黑" panose="020B0503020204020204" pitchFamily="34" charset="-122"/>
                  <a:ea typeface="微软雅黑" panose="020B0503020204020204" pitchFamily="34" charset="-122"/>
                </a:rPr>
                <a:t>可能是推动深度学习与P2P网络深度融合的可行方案。</a:t>
              </a:r>
            </a:p>
          </p:txBody>
        </p:sp>
      </p:grpSp>
      <p:sp>
        <p:nvSpPr>
          <p:cNvPr id="8" name="文本框 34"/>
          <p:cNvSpPr>
            <a:spLocks noChangeArrowheads="1"/>
          </p:cNvSpPr>
          <p:nvPr/>
        </p:nvSpPr>
        <p:spPr bwMode="auto">
          <a:xfrm>
            <a:off x="6608445" y="2054860"/>
            <a:ext cx="4592320" cy="55308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pPr>
            <a:r>
              <a:rPr lang="en-US" altLang="zh-CN" sz="2000" b="1" dirty="0">
                <a:solidFill>
                  <a:schemeClr val="accent1"/>
                </a:solidFill>
                <a:latin typeface="微软雅黑" panose="020B0503020204020204" pitchFamily="34" charset="-122"/>
                <a:ea typeface="微软雅黑" panose="020B0503020204020204" pitchFamily="34" charset="-122"/>
                <a:sym typeface="华文宋体" panose="02010600040101010101" pitchFamily="2" charset="-122"/>
              </a:rPr>
              <a:t>02</a:t>
            </a:r>
            <a:r>
              <a:rPr lang="zh-CN" altLang="en-US" sz="2000" b="1" dirty="0">
                <a:solidFill>
                  <a:schemeClr val="accent1"/>
                </a:solidFill>
                <a:latin typeface="微软雅黑" panose="020B0503020204020204" pitchFamily="34" charset="-122"/>
                <a:ea typeface="微软雅黑" panose="020B0503020204020204" pitchFamily="34" charset="-122"/>
                <a:sym typeface="华文宋体" panose="02010600040101010101" pitchFamily="2" charset="-122"/>
              </a:rPr>
              <a:t>、交易安全</a:t>
            </a:r>
            <a:endParaRPr lang="en-US" altLang="zh-CN" sz="2000" b="1" dirty="0">
              <a:solidFill>
                <a:schemeClr val="accent1"/>
              </a:solidFill>
              <a:latin typeface="微软雅黑" panose="020B0503020204020204" pitchFamily="34" charset="-122"/>
              <a:ea typeface="微软雅黑" panose="020B0503020204020204" pitchFamily="34" charset="-122"/>
              <a:sym typeface="华文宋体" panose="02010600040101010101" pitchFamily="2" charset="-122"/>
            </a:endParaRPr>
          </a:p>
        </p:txBody>
      </p:sp>
      <p:sp>
        <p:nvSpPr>
          <p:cNvPr id="9" name="文本框 34"/>
          <p:cNvSpPr>
            <a:spLocks noChangeArrowheads="1"/>
          </p:cNvSpPr>
          <p:nvPr/>
        </p:nvSpPr>
        <p:spPr bwMode="auto">
          <a:xfrm>
            <a:off x="6635801" y="2856238"/>
            <a:ext cx="4909720" cy="299974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marL="285750" indent="-285750">
              <a:lnSpc>
                <a:spcPct val="150000"/>
              </a:lnSpc>
              <a:buFont typeface="Wingdings" panose="05000000000000000000" charset="0"/>
              <a:buChar char="Ø"/>
              <a:defRPr/>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过程广播可能带来隐私问题。</a:t>
            </a:r>
          </a:p>
          <a:p>
            <a:pPr marL="285750" indent="-285750">
              <a:lnSpc>
                <a:spcPct val="150000"/>
              </a:lnSpc>
              <a:buFont typeface="Wingdings" panose="05000000000000000000" charset="0"/>
              <a:buChar char="Ø"/>
              <a:defRPr/>
            </a:pP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Ø"/>
              <a:defRPr/>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零知识证明可以在无需泄露数据本身情况下证明某些数据运算。</a:t>
            </a:r>
          </a:p>
          <a:p>
            <a:pPr marL="285750" indent="-285750">
              <a:lnSpc>
                <a:spcPct val="150000"/>
              </a:lnSpc>
              <a:buFont typeface="Wingdings" panose="05000000000000000000" charset="0"/>
              <a:buChar char="Ø"/>
              <a:defRPr/>
            </a:pP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Ø"/>
              <a:defRPr/>
            </a:pPr>
            <a:r>
              <a:rPr lang="zh-CN" altLang="en-US" b="1" dirty="0">
                <a:solidFill>
                  <a:schemeClr val="tx1"/>
                </a:solidFill>
                <a:latin typeface="微软雅黑" panose="020B0503020204020204" pitchFamily="34" charset="-122"/>
                <a:ea typeface="微软雅黑" panose="020B0503020204020204" pitchFamily="34" charset="-122"/>
                <a:sym typeface="+mn-ea"/>
              </a:rPr>
              <a:t>环签名技术</a:t>
            </a:r>
            <a:r>
              <a:rPr lang="zh-CN" altLang="en-US" dirty="0">
                <a:latin typeface="微软雅黑" panose="020B0503020204020204" pitchFamily="34" charset="-122"/>
                <a:ea typeface="微软雅黑" panose="020B0503020204020204" pitchFamily="34" charset="-122"/>
                <a:sym typeface="+mn-ea"/>
              </a:rPr>
              <a:t>可视为一种弱化的零知识证明，它是一种特殊的群签名组成的协议。</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2" name="直接连接符 31"/>
          <p:cNvCxnSpPr/>
          <p:nvPr/>
        </p:nvCxnSpPr>
        <p:spPr>
          <a:xfrm>
            <a:off x="5972175" y="2002155"/>
            <a:ext cx="24765" cy="4042410"/>
          </a:xfrm>
          <a:prstGeom prst="line">
            <a:avLst/>
          </a:prstGeom>
          <a:ln cmpd="dbl">
            <a:prstDash val="dash"/>
          </a:ln>
        </p:spPr>
        <p:style>
          <a:lnRef idx="2">
            <a:schemeClr val="accent1"/>
          </a:lnRef>
          <a:fillRef idx="0">
            <a:schemeClr val="accent1"/>
          </a:fillRef>
          <a:effectRef idx="1">
            <a:schemeClr val="accent1"/>
          </a:effectRef>
          <a:fontRef idx="minor">
            <a:schemeClr val="tx1"/>
          </a:fontRef>
        </p:style>
      </p:cxnSp>
      <p:sp>
        <p:nvSpPr>
          <p:cNvPr id="3" name="灯片编号占位符 2"/>
          <p:cNvSpPr>
            <a:spLocks noGrp="1"/>
          </p:cNvSpPr>
          <p:nvPr>
            <p:ph type="sldNum" sz="quarter" idx="12"/>
          </p:nvPr>
        </p:nvSpPr>
        <p:spPr/>
        <p:txBody>
          <a:bodyPr/>
          <a:lstStyle/>
          <a:p>
            <a:fld id="{A8537B7A-7510-410A-AA53-45D600DA0276}" type="slidenum">
              <a:rPr lang="zh-CN" altLang="en-US" smtClean="0"/>
              <a:t>25</a:t>
            </a:fld>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总结思考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4" name="矩形 3"/>
          <p:cNvSpPr/>
          <p:nvPr/>
        </p:nvSpPr>
        <p:spPr>
          <a:xfrm>
            <a:off x="994410" y="2160905"/>
            <a:ext cx="10277475" cy="3936365"/>
          </a:xfrm>
          <a:prstGeom prst="rect">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994230" y="2148411"/>
            <a:ext cx="359773" cy="359773"/>
          </a:xfrm>
          <a:prstGeom prst="diagStrip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958331" y="5735928"/>
            <a:ext cx="359773" cy="359773"/>
          </a:xfrm>
          <a:prstGeom prst="diagStrip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文本框 6"/>
          <p:cNvSpPr txBox="1"/>
          <p:nvPr/>
        </p:nvSpPr>
        <p:spPr>
          <a:xfrm>
            <a:off x="1242695" y="2801620"/>
            <a:ext cx="9780270" cy="2168525"/>
          </a:xfrm>
          <a:prstGeom prst="rect">
            <a:avLst/>
          </a:prstGeom>
          <a:noFill/>
        </p:spPr>
        <p:txBody>
          <a:bodyPr wrap="square" rtlCol="0">
            <a:spAutoFit/>
          </a:bodyPr>
          <a:lstStyle/>
          <a:p>
            <a:pPr marL="285750" indent="-285750">
              <a:lnSpc>
                <a:spcPct val="150000"/>
              </a:lnSpc>
              <a:buFont typeface="Wingdings" panose="05000000000000000000" charset="0"/>
              <a:buChar char="p"/>
            </a:pPr>
            <a:r>
              <a:rPr lang="zh-CN" altLang="en-US">
                <a:latin typeface="微软雅黑" panose="020B0503020204020204" pitchFamily="34" charset="-122"/>
                <a:ea typeface="微软雅黑" panose="020B0503020204020204" pitchFamily="34" charset="-122"/>
                <a:cs typeface="微软雅黑" panose="020B0503020204020204" pitchFamily="34" charset="-122"/>
              </a:rPr>
              <a:t>以太坊是Web3.0的一个组成部分。</a:t>
            </a:r>
          </a:p>
          <a:p>
            <a:pPr marL="285750" indent="-285750">
              <a:lnSpc>
                <a:spcPct val="150000"/>
              </a:lnSpc>
              <a:buFont typeface="Wingdings" panose="05000000000000000000" charset="0"/>
              <a:buChar char="p"/>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p"/>
            </a:pPr>
            <a:r>
              <a:rPr lang="zh-CN" altLang="en-US">
                <a:latin typeface="微软雅黑" panose="020B0503020204020204" pitchFamily="34" charset="-122"/>
                <a:ea typeface="微软雅黑" panose="020B0503020204020204" pitchFamily="34" charset="-122"/>
                <a:cs typeface="微软雅黑" panose="020B0503020204020204" pitchFamily="34" charset="-122"/>
              </a:rPr>
              <a:t>以太坊在节点加密与用户交易验证层面具有安全优势，同时也有较大进步空间。</a:t>
            </a:r>
          </a:p>
          <a:p>
            <a:pPr marL="285750" indent="-285750">
              <a:lnSpc>
                <a:spcPct val="150000"/>
              </a:lnSpc>
              <a:buFont typeface="Wingdings" panose="05000000000000000000" charset="0"/>
              <a:buChar char="p"/>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p"/>
            </a:pPr>
            <a:r>
              <a:rPr lang="zh-CN" altLang="en-US">
                <a:latin typeface="微软雅黑" panose="020B0503020204020204" pitchFamily="34" charset="-122"/>
                <a:ea typeface="微软雅黑" panose="020B0503020204020204" pitchFamily="34" charset="-122"/>
                <a:cs typeface="微软雅黑" panose="020B0503020204020204" pitchFamily="34" charset="-122"/>
              </a:rPr>
              <a:t>我们期待在未来，Web3.0可以通过分布式存储保护数据安全、数据隐私和用户的数据所有权。</a:t>
            </a:r>
          </a:p>
        </p:txBody>
      </p:sp>
      <p:cxnSp>
        <p:nvCxnSpPr>
          <p:cNvPr id="10" name="直接连接符 9"/>
          <p:cNvCxnSpPr/>
          <p:nvPr/>
        </p:nvCxnSpPr>
        <p:spPr>
          <a:xfrm>
            <a:off x="425752" y="155297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5.3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展望未来</a:t>
            </a:r>
          </a:p>
        </p:txBody>
      </p:sp>
      <p:sp>
        <p:nvSpPr>
          <p:cNvPr id="3" name="灯片编号占位符 2"/>
          <p:cNvSpPr>
            <a:spLocks noGrp="1"/>
          </p:cNvSpPr>
          <p:nvPr>
            <p:ph type="sldNum" sz="quarter" idx="12"/>
          </p:nvPr>
        </p:nvSpPr>
        <p:spPr/>
        <p:txBody>
          <a:bodyPr/>
          <a:lstStyle/>
          <a:p>
            <a:fld id="{A8537B7A-7510-410A-AA53-45D600DA0276}" type="slidenum">
              <a:rPr lang="zh-CN" altLang="en-US" smtClean="0"/>
              <a:t>26</a:t>
            </a:fld>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总结思考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10" name="直接连接符 9"/>
          <p:cNvCxnSpPr/>
          <p:nvPr/>
        </p:nvCxnSpPr>
        <p:spPr>
          <a:xfrm>
            <a:off x="425752" y="155297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5.4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参考文献</a:t>
            </a:r>
          </a:p>
        </p:txBody>
      </p:sp>
      <p:pic>
        <p:nvPicPr>
          <p:cNvPr id="12" name="图片 11"/>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884555" y="1736725"/>
            <a:ext cx="4616450" cy="4591050"/>
          </a:xfrm>
          <a:prstGeom prst="rect">
            <a:avLst/>
          </a:prstGeom>
        </p:spPr>
      </p:pic>
      <p:pic>
        <p:nvPicPr>
          <p:cNvPr id="14" name="图片 13"/>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5772785" y="1235075"/>
            <a:ext cx="4489450" cy="5092700"/>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27</a:t>
            </a:fld>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引言背景</a:t>
            </a: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节点网络</a:t>
            </a: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节点加密通信</a:t>
            </a: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交易验证</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总结思考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10" name="直接连接符 9"/>
          <p:cNvCxnSpPr/>
          <p:nvPr/>
        </p:nvCxnSpPr>
        <p:spPr>
          <a:xfrm>
            <a:off x="425752" y="155297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5.4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参考文献</a:t>
            </a:r>
          </a:p>
        </p:txBody>
      </p:sp>
      <p:pic>
        <p:nvPicPr>
          <p:cNvPr id="12" name="图片 11"/>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805180" y="1615440"/>
            <a:ext cx="9674225" cy="5113020"/>
          </a:xfrm>
          <a:prstGeom prst="rect">
            <a:avLst/>
          </a:prstGeom>
        </p:spPr>
      </p:pic>
      <p:sp>
        <p:nvSpPr>
          <p:cNvPr id="3" name="灯片编号占位符 2"/>
          <p:cNvSpPr>
            <a:spLocks noGrp="1"/>
          </p:cNvSpPr>
          <p:nvPr>
            <p:ph type="sldNum" sz="quarter" idx="12"/>
          </p:nvPr>
        </p:nvSpPr>
        <p:spPr/>
        <p:txBody>
          <a:bodyPr/>
          <a:lstStyle/>
          <a:p>
            <a:fld id="{A8537B7A-7510-410A-AA53-45D600DA0276}" type="slidenum">
              <a:rPr lang="zh-CN" altLang="en-US" smtClean="0"/>
              <a:t>28</a:t>
            </a:fld>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fld id="{A8537B7A-7510-410A-AA53-45D600DA0276}" type="slidenum">
              <a:rPr lang="zh-CN" altLang="en-US" smtClean="0"/>
              <a:t>29</a:t>
            </a:fld>
            <a:endParaRPr lang="zh-CN" altLang="en-US"/>
          </a:p>
        </p:txBody>
      </p:sp>
      <p:pic>
        <p:nvPicPr>
          <p:cNvPr id="8" name="图片 7"/>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1671651"/>
            <a:ext cx="12209296" cy="2877923"/>
          </a:xfrm>
          <a:prstGeom prst="rect">
            <a:avLst/>
          </a:prstGeom>
        </p:spPr>
      </p:pic>
      <p:sp>
        <p:nvSpPr>
          <p:cNvPr id="9" name="矩形 8"/>
          <p:cNvSpPr/>
          <p:nvPr/>
        </p:nvSpPr>
        <p:spPr>
          <a:xfrm>
            <a:off x="0" y="1671652"/>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880995" y="2195830"/>
            <a:ext cx="6447155" cy="922020"/>
          </a:xfrm>
          <a:prstGeom prst="rect">
            <a:avLst/>
          </a:prstGeom>
          <a:noFill/>
        </p:spPr>
        <p:txBody>
          <a:bodyPr wrap="square" rtlCol="0">
            <a:spAutoFit/>
          </a:bodyPr>
          <a:lstStyle/>
          <a:p>
            <a:pPr algn="dist"/>
            <a:r>
              <a:rPr lang="zh-CN" altLang="en-US" sz="5400" b="1" dirty="0">
                <a:solidFill>
                  <a:schemeClr val="bg1">
                    <a:lumMod val="95000"/>
                  </a:schemeClr>
                </a:solidFill>
                <a:latin typeface="微软雅黑" panose="020B0503020204020204" pitchFamily="34" charset="-122"/>
                <a:ea typeface="微软雅黑" panose="020B0503020204020204" pitchFamily="34" charset="-122"/>
              </a:rPr>
              <a:t>谢谢老师指正</a:t>
            </a:r>
          </a:p>
        </p:txBody>
      </p:sp>
      <p:sp>
        <p:nvSpPr>
          <p:cNvPr id="16" name="TextBox 10"/>
          <p:cNvSpPr txBox="1"/>
          <p:nvPr/>
        </p:nvSpPr>
        <p:spPr>
          <a:xfrm>
            <a:off x="2565806" y="3907546"/>
            <a:ext cx="7060388" cy="520700"/>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en-US" altLang="zh-CN" sz="2800" dirty="0">
                <a:solidFill>
                  <a:schemeClr val="bg1">
                    <a:lumMod val="95000"/>
                  </a:schemeClr>
                </a:solidFill>
                <a:latin typeface="Times New Roman" panose="02020603050405020304" charset="0"/>
                <a:ea typeface="微软雅黑" panose="020B0503020204020204" pitchFamily="34" charset="-122"/>
                <a:cs typeface="Times New Roman" panose="02020603050405020304" charset="0"/>
              </a:rPr>
              <a:t>2022.12.14</a:t>
            </a:r>
          </a:p>
        </p:txBody>
      </p:sp>
      <p:sp>
        <p:nvSpPr>
          <p:cNvPr id="13" name="TextBox 6"/>
          <p:cNvSpPr txBox="1"/>
          <p:nvPr/>
        </p:nvSpPr>
        <p:spPr>
          <a:xfrm>
            <a:off x="1243310" y="4853719"/>
            <a:ext cx="309626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14723"/>
                </a:solidFill>
                <a:latin typeface="微软雅黑" panose="020B0503020204020204" pitchFamily="34" charset="-122"/>
                <a:ea typeface="微软雅黑" panose="020B0503020204020204" pitchFamily="34" charset="-122"/>
              </a:rPr>
              <a:t>答辩人</a:t>
            </a:r>
            <a:r>
              <a:rPr lang="zh-CN" altLang="en-US" dirty="0">
                <a:solidFill>
                  <a:srgbClr val="014723"/>
                </a:solidFill>
                <a:latin typeface="微软雅黑" panose="020B0503020204020204" pitchFamily="34" charset="-122"/>
                <a:ea typeface="微软雅黑" panose="020B0503020204020204" pitchFamily="34" charset="-122"/>
              </a:rPr>
              <a:t>：</a:t>
            </a:r>
            <a:r>
              <a:rPr lang="en-US" altLang="zh-CN" dirty="0">
                <a:solidFill>
                  <a:srgbClr val="014723"/>
                </a:solidFill>
                <a:latin typeface="微软雅黑" panose="020B0503020204020204" pitchFamily="34" charset="-122"/>
                <a:ea typeface="微软雅黑" panose="020B0503020204020204" pitchFamily="34" charset="-122"/>
              </a:rPr>
              <a:t>   </a:t>
            </a:r>
            <a:r>
              <a:rPr lang="zh-CN" altLang="en-US" dirty="0">
                <a:solidFill>
                  <a:srgbClr val="014723"/>
                </a:solidFill>
                <a:latin typeface="微软雅黑" panose="020B0503020204020204" pitchFamily="34" charset="-122"/>
                <a:ea typeface="微软雅黑" panose="020B0503020204020204" pitchFamily="34" charset="-122"/>
              </a:rPr>
              <a:t>冯雁霞</a:t>
            </a:r>
            <a:r>
              <a:rPr lang="en-US" altLang="zh-CN" dirty="0">
                <a:solidFill>
                  <a:srgbClr val="014723"/>
                </a:solidFill>
                <a:latin typeface="微软雅黑" panose="020B0503020204020204" pitchFamily="34" charset="-122"/>
                <a:ea typeface="微软雅黑" panose="020B0503020204020204" pitchFamily="34" charset="-122"/>
              </a:rPr>
              <a:t>  </a:t>
            </a:r>
            <a:r>
              <a:rPr lang="zh-CN" altLang="en-US" dirty="0">
                <a:solidFill>
                  <a:srgbClr val="014723"/>
                </a:solidFill>
                <a:latin typeface="微软雅黑" panose="020B0503020204020204" pitchFamily="34" charset="-122"/>
                <a:ea typeface="微软雅黑" panose="020B0503020204020204" pitchFamily="34" charset="-122"/>
              </a:rPr>
              <a:t>钟珊珊</a:t>
            </a:r>
          </a:p>
        </p:txBody>
      </p:sp>
      <p:sp>
        <p:nvSpPr>
          <p:cNvPr id="14" name="TextBox 7"/>
          <p:cNvSpPr txBox="1"/>
          <p:nvPr/>
        </p:nvSpPr>
        <p:spPr>
          <a:xfrm>
            <a:off x="1233167" y="5390294"/>
            <a:ext cx="5816600" cy="1013460"/>
          </a:xfrm>
          <a:prstGeom prst="rect">
            <a:avLst/>
          </a:prstGeom>
          <a:noFill/>
        </p:spPr>
        <p:txBody>
          <a:bodyPr wrap="none" lIns="91416" tIns="45708" rIns="91416" bIns="45708" rtlCol="0">
            <a:spAutoFit/>
          </a:bodyPr>
          <a:lstStyle/>
          <a:p>
            <a:pPr algn="l">
              <a:lnSpc>
                <a:spcPct val="150000"/>
              </a:lnSpc>
            </a:pPr>
            <a:r>
              <a:rPr lang="zh-CN" altLang="en-US" sz="2000" b="1" dirty="0">
                <a:solidFill>
                  <a:srgbClr val="014723"/>
                </a:solidFill>
                <a:latin typeface="微软雅黑" panose="020B0503020204020204" pitchFamily="34" charset="-122"/>
                <a:ea typeface="微软雅黑" panose="020B0503020204020204" pitchFamily="34" charset="-122"/>
              </a:rPr>
              <a:t>小组成员</a:t>
            </a:r>
            <a:r>
              <a:rPr lang="zh-CN" altLang="en-US" sz="2000" dirty="0">
                <a:solidFill>
                  <a:srgbClr val="014723"/>
                </a:solidFill>
                <a:latin typeface="微软雅黑" panose="020B0503020204020204" pitchFamily="34" charset="-122"/>
                <a:ea typeface="微软雅黑" panose="020B0503020204020204" pitchFamily="34" charset="-122"/>
              </a:rPr>
              <a:t>：</a:t>
            </a:r>
            <a:r>
              <a:rPr lang="zh-CN" altLang="en-US" sz="2000" dirty="0">
                <a:solidFill>
                  <a:srgbClr val="014723"/>
                </a:solidFill>
                <a:latin typeface="微软雅黑" panose="020B0503020204020204" pitchFamily="34" charset="-122"/>
                <a:ea typeface="微软雅黑" panose="020B0503020204020204" pitchFamily="34" charset="-122"/>
                <a:sym typeface="+mn-ea"/>
              </a:rPr>
              <a:t>冯雁霞</a:t>
            </a:r>
            <a:r>
              <a:rPr lang="en-US" altLang="zh-CN" sz="2000" dirty="0">
                <a:solidFill>
                  <a:srgbClr val="014723"/>
                </a:solidFill>
                <a:latin typeface="微软雅黑" panose="020B0503020204020204" pitchFamily="34" charset="-122"/>
                <a:ea typeface="微软雅黑" panose="020B0503020204020204" pitchFamily="34" charset="-122"/>
                <a:sym typeface="+mn-ea"/>
              </a:rPr>
              <a:t>  22214447  </a:t>
            </a:r>
            <a:r>
              <a:rPr lang="zh-CN" altLang="en-US" sz="2000" dirty="0">
                <a:solidFill>
                  <a:srgbClr val="014723"/>
                </a:solidFill>
                <a:latin typeface="微软雅黑" panose="020B0503020204020204" pitchFamily="34" charset="-122"/>
                <a:ea typeface="微软雅黑" panose="020B0503020204020204" pitchFamily="34" charset="-122"/>
                <a:sym typeface="+mn-ea"/>
              </a:rPr>
              <a:t>钟珊珊</a:t>
            </a:r>
            <a:r>
              <a:rPr lang="en-US" altLang="zh-CN" sz="2000" dirty="0">
                <a:solidFill>
                  <a:srgbClr val="014723"/>
                </a:solidFill>
                <a:latin typeface="微软雅黑" panose="020B0503020204020204" pitchFamily="34" charset="-122"/>
                <a:ea typeface="微软雅黑" panose="020B0503020204020204" pitchFamily="34" charset="-122"/>
                <a:sym typeface="+mn-ea"/>
              </a:rPr>
              <a:t>  22214624</a:t>
            </a:r>
          </a:p>
          <a:p>
            <a:pPr algn="l">
              <a:lnSpc>
                <a:spcPct val="150000"/>
              </a:lnSpc>
            </a:pPr>
            <a:r>
              <a:rPr lang="en-US" altLang="zh-CN" sz="2000" dirty="0">
                <a:solidFill>
                  <a:srgbClr val="014723"/>
                </a:solidFill>
                <a:latin typeface="微软雅黑" panose="020B0503020204020204" pitchFamily="34" charset="-122"/>
                <a:ea typeface="微软雅黑" panose="020B0503020204020204" pitchFamily="34" charset="-122"/>
                <a:sym typeface="+mn-ea"/>
              </a:rPr>
              <a:t>                 </a:t>
            </a:r>
            <a:r>
              <a:rPr lang="zh-CN" altLang="en-US" sz="2000" dirty="0">
                <a:solidFill>
                  <a:srgbClr val="014723"/>
                </a:solidFill>
                <a:latin typeface="微软雅黑" panose="020B0503020204020204" pitchFamily="34" charset="-122"/>
                <a:ea typeface="微软雅黑" panose="020B0503020204020204" pitchFamily="34" charset="-122"/>
                <a:sym typeface="+mn-ea"/>
              </a:rPr>
              <a:t>刘小慧</a:t>
            </a:r>
            <a:r>
              <a:rPr lang="en-US" altLang="zh-CN" sz="2000" dirty="0">
                <a:solidFill>
                  <a:srgbClr val="014723"/>
                </a:solidFill>
                <a:latin typeface="微软雅黑" panose="020B0503020204020204" pitchFamily="34" charset="-122"/>
                <a:ea typeface="微软雅黑" panose="020B0503020204020204" pitchFamily="34" charset="-122"/>
                <a:sym typeface="+mn-ea"/>
              </a:rPr>
              <a:t>  22214506  </a:t>
            </a:r>
            <a:r>
              <a:rPr lang="zh-CN" altLang="en-US" sz="2000" dirty="0">
                <a:solidFill>
                  <a:srgbClr val="014723"/>
                </a:solidFill>
                <a:latin typeface="微软雅黑" panose="020B0503020204020204" pitchFamily="34" charset="-122"/>
                <a:ea typeface="微软雅黑" panose="020B0503020204020204" pitchFamily="34" charset="-122"/>
                <a:sym typeface="+mn-ea"/>
              </a:rPr>
              <a:t>田晨阳</a:t>
            </a:r>
            <a:r>
              <a:rPr lang="en-US" altLang="zh-CN" sz="2000" dirty="0">
                <a:solidFill>
                  <a:srgbClr val="014723"/>
                </a:solidFill>
                <a:latin typeface="微软雅黑" panose="020B0503020204020204" pitchFamily="34" charset="-122"/>
                <a:ea typeface="微软雅黑" panose="020B0503020204020204" pitchFamily="34" charset="-122"/>
                <a:sym typeface="+mn-ea"/>
              </a:rPr>
              <a:t>  22214547</a:t>
            </a:r>
          </a:p>
        </p:txBody>
      </p:sp>
      <p:sp>
        <p:nvSpPr>
          <p:cNvPr id="11" name="Freeform 7"/>
          <p:cNvSpPr>
            <a:spLocks noChangeAspect="1" noEditPoints="1"/>
          </p:cNvSpPr>
          <p:nvPr/>
        </p:nvSpPr>
        <p:spPr bwMode="auto">
          <a:xfrm>
            <a:off x="683303" y="481936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683225" y="54467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14723"/>
          </a:solidFill>
          <a:ln>
            <a:noFill/>
          </a:ln>
        </p:spPr>
        <p:txBody>
          <a:bodyPr vert="horz" wrap="square" lIns="91416" tIns="45708" rIns="91416" bIns="45708" numCol="1" anchor="t" anchorCtr="0" compatLnSpc="1"/>
          <a:lstStyle/>
          <a:p>
            <a:endParaRPr lang="zh-CN" altLang="en-US" sz="2800">
              <a:solidFill>
                <a:srgbClr val="C00000"/>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333912"/>
            <a:ext cx="3433000" cy="1072662"/>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0dd0a4f6-910e-4484-8314-2aed89f158c6"/>
  <p:tag name="COMMONDATA" val="eyJoZGlkIjoiMjliYjJlY2NmMjdkMmY0YjdmOTg1MmIwMTk5YzgzZmEifQ=="/>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55F51"/>
      </a:dk2>
      <a:lt2>
        <a:srgbClr val="E3DED1"/>
      </a:lt2>
      <a:accent1>
        <a:srgbClr val="004723"/>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973</TotalTime>
  <Words>4306</Words>
  <Application>Microsoft Office PowerPoint</Application>
  <PresentationFormat>宽屏</PresentationFormat>
  <Paragraphs>473</Paragraphs>
  <Slides>29</Slides>
  <Notes>29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Impact MT Std</vt:lpstr>
      <vt:lpstr>等线</vt:lpstr>
      <vt:lpstr>等线 Light</vt:lpstr>
      <vt:lpstr>华文宋体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DELL</cp:lastModifiedBy>
  <cp:revision>388</cp:revision>
  <dcterms:created xsi:type="dcterms:W3CDTF">2016-11-24T09:20:00Z</dcterms:created>
  <dcterms:modified xsi:type="dcterms:W3CDTF">2023-01-06T07:50:02Z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BE28846112404A07848440F16E9D2320</vt:lpwstr>
  </property>
</Properties>
</file>