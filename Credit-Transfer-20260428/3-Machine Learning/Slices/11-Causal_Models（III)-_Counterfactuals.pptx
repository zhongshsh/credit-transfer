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1"/>
  </p:sldMasterIdLst>
  <p:notesMasterIdLst>
    <p:notesMasterId r:id="rId83"/>
  </p:notesMasterIdLst>
  <p:sldIdLst>
    <p:sldId id="256" r:id="rId2"/>
    <p:sldId id="290" r:id="rId3"/>
    <p:sldId id="292" r:id="rId4"/>
    <p:sldId id="294" r:id="rId5"/>
    <p:sldId id="295" r:id="rId6"/>
    <p:sldId id="293" r:id="rId7"/>
    <p:sldId id="296" r:id="rId8"/>
    <p:sldId id="297" r:id="rId9"/>
    <p:sldId id="298" r:id="rId10"/>
    <p:sldId id="299" r:id="rId11"/>
    <p:sldId id="300" r:id="rId12"/>
    <p:sldId id="301" r:id="rId13"/>
    <p:sldId id="302" r:id="rId14"/>
    <p:sldId id="303" r:id="rId15"/>
    <p:sldId id="304" r:id="rId16"/>
    <p:sldId id="305" r:id="rId17"/>
    <p:sldId id="306" r:id="rId18"/>
    <p:sldId id="308" r:id="rId19"/>
    <p:sldId id="307" r:id="rId20"/>
    <p:sldId id="309" r:id="rId21"/>
    <p:sldId id="310" r:id="rId22"/>
    <p:sldId id="311" r:id="rId23"/>
    <p:sldId id="312" r:id="rId24"/>
    <p:sldId id="313" r:id="rId25"/>
    <p:sldId id="314" r:id="rId26"/>
    <p:sldId id="315" r:id="rId27"/>
    <p:sldId id="316" r:id="rId28"/>
    <p:sldId id="317" r:id="rId29"/>
    <p:sldId id="318" r:id="rId30"/>
    <p:sldId id="371" r:id="rId31"/>
    <p:sldId id="372" r:id="rId32"/>
    <p:sldId id="319" r:id="rId33"/>
    <p:sldId id="320" r:id="rId34"/>
    <p:sldId id="321" r:id="rId35"/>
    <p:sldId id="322" r:id="rId36"/>
    <p:sldId id="323" r:id="rId37"/>
    <p:sldId id="324" r:id="rId38"/>
    <p:sldId id="325" r:id="rId39"/>
    <p:sldId id="326" r:id="rId40"/>
    <p:sldId id="327" r:id="rId41"/>
    <p:sldId id="328" r:id="rId42"/>
    <p:sldId id="329" r:id="rId43"/>
    <p:sldId id="330" r:id="rId44"/>
    <p:sldId id="331" r:id="rId45"/>
    <p:sldId id="332" r:id="rId46"/>
    <p:sldId id="333" r:id="rId47"/>
    <p:sldId id="334" r:id="rId48"/>
    <p:sldId id="335" r:id="rId49"/>
    <p:sldId id="336" r:id="rId50"/>
    <p:sldId id="337" r:id="rId51"/>
    <p:sldId id="338" r:id="rId52"/>
    <p:sldId id="339" r:id="rId53"/>
    <p:sldId id="340" r:id="rId54"/>
    <p:sldId id="341" r:id="rId55"/>
    <p:sldId id="342" r:id="rId56"/>
    <p:sldId id="343" r:id="rId57"/>
    <p:sldId id="344" r:id="rId58"/>
    <p:sldId id="345" r:id="rId59"/>
    <p:sldId id="346" r:id="rId60"/>
    <p:sldId id="347" r:id="rId61"/>
    <p:sldId id="348" r:id="rId62"/>
    <p:sldId id="349" r:id="rId63"/>
    <p:sldId id="351" r:id="rId64"/>
    <p:sldId id="352" r:id="rId65"/>
    <p:sldId id="353" r:id="rId66"/>
    <p:sldId id="355" r:id="rId67"/>
    <p:sldId id="356" r:id="rId68"/>
    <p:sldId id="357" r:id="rId69"/>
    <p:sldId id="362" r:id="rId70"/>
    <p:sldId id="363" r:id="rId71"/>
    <p:sldId id="364" r:id="rId72"/>
    <p:sldId id="369" r:id="rId73"/>
    <p:sldId id="370" r:id="rId74"/>
    <p:sldId id="359" r:id="rId75"/>
    <p:sldId id="367" r:id="rId76"/>
    <p:sldId id="358" r:id="rId77"/>
    <p:sldId id="360" r:id="rId78"/>
    <p:sldId id="365" r:id="rId79"/>
    <p:sldId id="366" r:id="rId80"/>
    <p:sldId id="368" r:id="rId81"/>
    <p:sldId id="291" r:id="rId8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4267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86" autoAdjust="0"/>
    <p:restoredTop sz="94618"/>
  </p:normalViewPr>
  <p:slideViewPr>
    <p:cSldViewPr snapToGrid="0" snapToObjects="1">
      <p:cViewPr varScale="1">
        <p:scale>
          <a:sx n="100" d="100"/>
          <a:sy n="100" d="100"/>
        </p:scale>
        <p:origin x="96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78DF57-99F5-A345-95F1-374F3F5821B3}" type="datetimeFigureOut">
              <a:rPr lang="en-US" smtClean="0"/>
              <a:t>8/29/2022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0C2682-CAF6-B345-94CF-89C0ABFA7585}" type="slidenum">
              <a:rPr lang="en-US" smtClean="0"/>
              <a:t>‹#›</a:t>
            </a:fld>
            <a:endParaRPr lang="en-US"/>
          </a:p>
        </p:txBody>
      </p:sp>
    </p:spTree>
    <p:extLst>
      <p:ext uri="{BB962C8B-B14F-4D97-AF65-F5344CB8AC3E}">
        <p14:creationId xmlns:p14="http://schemas.microsoft.com/office/powerpoint/2010/main" val="984341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92383"/>
            <a:ext cx="7772400" cy="2387600"/>
          </a:xfrm>
        </p:spPr>
        <p:txBody>
          <a:bodyPr anchor="b">
            <a:normAutofit/>
          </a:bodyPr>
          <a:lstStyle>
            <a:lvl1pPr algn="ctr">
              <a:defRPr sz="4000" baseline="0"/>
            </a:lvl1pPr>
          </a:lstStyle>
          <a:p>
            <a:r>
              <a:rPr lang="en-US"/>
              <a:t>Click to edit Master title style</a:t>
            </a:r>
            <a:endParaRPr lang="en-US" dirty="0"/>
          </a:p>
        </p:txBody>
      </p:sp>
      <p:sp>
        <p:nvSpPr>
          <p:cNvPr id="3" name="Subtitle 2"/>
          <p:cNvSpPr>
            <a:spLocks noGrp="1"/>
          </p:cNvSpPr>
          <p:nvPr>
            <p:ph type="subTitle" idx="1"/>
          </p:nvPr>
        </p:nvSpPr>
        <p:spPr>
          <a:xfrm>
            <a:off x="1143000" y="3647008"/>
            <a:ext cx="6858000" cy="1655762"/>
          </a:xfrm>
        </p:spPr>
        <p:txBody>
          <a:bodyPr>
            <a:normAutofit/>
          </a:bodyPr>
          <a:lstStyle>
            <a:lvl1pPr marL="0" indent="0" algn="ctr">
              <a:lnSpc>
                <a:spcPct val="90000"/>
              </a:lnSpc>
              <a:buNone/>
              <a:defRPr sz="2200" b="0" i="0" baseline="0">
                <a:latin typeface="Calibri Light" charset="0"/>
                <a:ea typeface="Calibri Light" charset="0"/>
                <a:cs typeface="Calibri Light"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AFF02E0F-B7D9-5B44-91C2-C132837D66C6}" type="datetime1">
              <a:rPr lang="en-US" smtClean="0"/>
              <a:t>8/29/2022</a:t>
            </a:fld>
            <a:endParaRPr lang="en-US"/>
          </a:p>
        </p:txBody>
      </p:sp>
      <p:sp>
        <p:nvSpPr>
          <p:cNvPr id="8" name="Slide Number Placeholder 7"/>
          <p:cNvSpPr>
            <a:spLocks noGrp="1"/>
          </p:cNvSpPr>
          <p:nvPr>
            <p:ph type="sldNum" sz="quarter" idx="11"/>
          </p:nvPr>
        </p:nvSpPr>
        <p:spPr/>
        <p:txBody>
          <a:bodyPr/>
          <a:lstStyle/>
          <a:p>
            <a:fld id="{2AEAD966-1EF9-3A44-9B11-0C8090371A9A}" type="slidenum">
              <a:rPr lang="en-US" smtClean="0"/>
              <a:t>‹#›</a:t>
            </a:fld>
            <a:endParaRPr lang="en-US"/>
          </a:p>
        </p:txBody>
      </p:sp>
    </p:spTree>
    <p:extLst>
      <p:ext uri="{BB962C8B-B14F-4D97-AF65-F5344CB8AC3E}">
        <p14:creationId xmlns:p14="http://schemas.microsoft.com/office/powerpoint/2010/main" val="1361429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27099"/>
            <a:ext cx="8446478" cy="5526455"/>
          </a:xfrm>
        </p:spPr>
        <p:txBody>
          <a:bodyPr/>
          <a:lstStyle>
            <a:lvl1pPr marL="91440" marR="0" indent="0" algn="l" defTabSz="914400" rtl="0" eaLnBrk="1" fontAlgn="auto" latinLnBrk="0" hangingPunct="1">
              <a:lnSpc>
                <a:spcPct val="125000"/>
              </a:lnSpc>
              <a:spcBef>
                <a:spcPts val="1000"/>
              </a:spcBef>
              <a:spcAft>
                <a:spcPts val="0"/>
              </a:spcAft>
              <a:buClr>
                <a:schemeClr val="accent2"/>
              </a:buClr>
              <a:buSzPct val="100000"/>
              <a:buFontTx/>
              <a:buNone/>
              <a:tabLst/>
              <a:defRPr sz="2400" baseline="0"/>
            </a:lvl1pPr>
            <a:lvl2pPr marL="320040" indent="-228600">
              <a:lnSpc>
                <a:spcPct val="150000"/>
              </a:lnSpc>
              <a:spcBef>
                <a:spcPts val="1200"/>
              </a:spcBef>
              <a:buClr>
                <a:schemeClr val="accent2"/>
              </a:buClr>
              <a:buSzPct val="125000"/>
              <a:buFont typeface="Arial" charset="0"/>
              <a:buChar char="•"/>
              <a:defRPr sz="2200" baseline="0"/>
            </a:lvl2pPr>
            <a:lvl3pPr marL="640080" marR="0" indent="-274320" algn="l" defTabSz="914400" rtl="0" eaLnBrk="1" fontAlgn="auto" latinLnBrk="0" hangingPunct="1">
              <a:lnSpc>
                <a:spcPct val="125000"/>
              </a:lnSpc>
              <a:spcBef>
                <a:spcPts val="500"/>
              </a:spcBef>
              <a:spcAft>
                <a:spcPts val="0"/>
              </a:spcAft>
              <a:buClr>
                <a:schemeClr val="accent2"/>
              </a:buClr>
              <a:buSzPct val="100000"/>
              <a:buFont typeface="Wingdings" charset="2"/>
              <a:buChar char="Ø"/>
              <a:tabLst/>
              <a:defRPr sz="1800" baseline="0"/>
            </a:lvl3pPr>
            <a:lvl4pPr marL="182880">
              <a:buSzPct val="100000"/>
              <a:buFont typeface="Arial" charset="0"/>
              <a:buChar char="•"/>
              <a:defRPr/>
            </a:lvl4pPr>
            <a:lvl5pPr marL="182880">
              <a:buSzPct val="100000"/>
              <a:buFont typeface="Arial" charset="0"/>
              <a:buChar char="•"/>
              <a:defRPr/>
            </a:lvl5pPr>
          </a:lstStyle>
          <a:p>
            <a:pPr marL="457200" marR="0" lvl="0" indent="-457200" algn="l" defTabSz="914400" rtl="0" eaLnBrk="1" fontAlgn="auto" latinLnBrk="0" hangingPunct="1">
              <a:lnSpc>
                <a:spcPct val="125000"/>
              </a:lnSpc>
              <a:spcBef>
                <a:spcPts val="1000"/>
              </a:spcBef>
              <a:spcAft>
                <a:spcPts val="0"/>
              </a:spcAft>
              <a:buClr>
                <a:schemeClr val="accent2"/>
              </a:buClr>
              <a:buSzPct val="85000"/>
              <a:buFont typeface="Wingdings" charset="2"/>
              <a:buChar char="q"/>
              <a:tabLst/>
              <a:defRPr/>
            </a:pPr>
            <a:r>
              <a:rPr lang="en-US" dirty="0"/>
              <a:t>Click to edit Master text styles</a:t>
            </a:r>
          </a:p>
          <a:p>
            <a:pPr marL="457200" marR="0" lvl="1" indent="-457200" algn="l" defTabSz="914400" rtl="0" eaLnBrk="1" fontAlgn="auto" latinLnBrk="0" hangingPunct="1">
              <a:lnSpc>
                <a:spcPct val="125000"/>
              </a:lnSpc>
              <a:spcBef>
                <a:spcPts val="1000"/>
              </a:spcBef>
              <a:spcAft>
                <a:spcPts val="0"/>
              </a:spcAft>
              <a:buClr>
                <a:schemeClr val="accent2"/>
              </a:buClr>
              <a:buSzPct val="85000"/>
              <a:buFont typeface="Wingdings" charset="2"/>
              <a:buChar char="q"/>
              <a:tabLst/>
              <a:defRPr/>
            </a:pPr>
            <a:r>
              <a:rPr lang="en-US" dirty="0"/>
              <a:t>Second level</a:t>
            </a:r>
          </a:p>
          <a:p>
            <a:pPr marL="457200" marR="0" lvl="2" indent="-457200" algn="l" defTabSz="914400" rtl="0" eaLnBrk="1" fontAlgn="auto" latinLnBrk="0" hangingPunct="1">
              <a:lnSpc>
                <a:spcPct val="125000"/>
              </a:lnSpc>
              <a:spcBef>
                <a:spcPts val="1000"/>
              </a:spcBef>
              <a:spcAft>
                <a:spcPts val="0"/>
              </a:spcAft>
              <a:buClr>
                <a:schemeClr val="accent2"/>
              </a:buClr>
              <a:buSzPct val="85000"/>
              <a:buFont typeface="Wingdings" charset="2"/>
              <a:buChar char="q"/>
              <a:tabLst/>
              <a:defRPr/>
            </a:pPr>
            <a:r>
              <a:rPr lang="en-US" dirty="0"/>
              <a:t>Third level</a:t>
            </a:r>
          </a:p>
          <a:p>
            <a:pPr marL="457200" marR="0" lvl="3" indent="-457200" algn="l" defTabSz="914400" rtl="0" eaLnBrk="1" fontAlgn="auto" latinLnBrk="0" hangingPunct="1">
              <a:lnSpc>
                <a:spcPct val="125000"/>
              </a:lnSpc>
              <a:spcBef>
                <a:spcPts val="1000"/>
              </a:spcBef>
              <a:spcAft>
                <a:spcPts val="0"/>
              </a:spcAft>
              <a:buClr>
                <a:schemeClr val="accent2"/>
              </a:buClr>
              <a:buSzPct val="85000"/>
              <a:buFont typeface="Wingdings" charset="2"/>
              <a:buChar char="q"/>
              <a:tabLst/>
              <a:defRPr/>
            </a:pPr>
            <a:r>
              <a:rPr lang="en-US" dirty="0"/>
              <a:t>Fourth level</a:t>
            </a:r>
          </a:p>
          <a:p>
            <a:pPr marL="457200" marR="0" lvl="4" indent="-457200" algn="l" defTabSz="914400" rtl="0" eaLnBrk="1" fontAlgn="auto" latinLnBrk="0" hangingPunct="1">
              <a:lnSpc>
                <a:spcPct val="125000"/>
              </a:lnSpc>
              <a:spcBef>
                <a:spcPts val="1000"/>
              </a:spcBef>
              <a:spcAft>
                <a:spcPts val="0"/>
              </a:spcAft>
              <a:buClr>
                <a:schemeClr val="accent2"/>
              </a:buClr>
              <a:buSzPct val="85000"/>
              <a:buFont typeface="Wingdings" charset="2"/>
              <a:buChar char="q"/>
              <a:tabLst/>
              <a:defRPr/>
            </a:pPr>
            <a:r>
              <a:rPr lang="en-US" dirty="0"/>
              <a:t>Fifth level</a:t>
            </a:r>
          </a:p>
        </p:txBody>
      </p:sp>
      <p:sp>
        <p:nvSpPr>
          <p:cNvPr id="8" name="Slide Number Placeholder 7"/>
          <p:cNvSpPr>
            <a:spLocks noGrp="1"/>
          </p:cNvSpPr>
          <p:nvPr>
            <p:ph type="sldNum" sz="quarter" idx="11"/>
          </p:nvPr>
        </p:nvSpPr>
        <p:spPr>
          <a:xfrm>
            <a:off x="6634976" y="6453554"/>
            <a:ext cx="1895365" cy="404445"/>
          </a:xfrm>
        </p:spPr>
        <p:txBody>
          <a:bodyPr/>
          <a:lstStyle/>
          <a:p>
            <a:fld id="{2AEAD966-1EF9-3A44-9B11-0C8090371A9A}" type="slidenum">
              <a:rPr lang="en-US" smtClean="0"/>
              <a:t>‹#›</a:t>
            </a:fld>
            <a:endParaRPr lang="en-US"/>
          </a:p>
        </p:txBody>
      </p:sp>
      <p:sp>
        <p:nvSpPr>
          <p:cNvPr id="5" name="Title 4"/>
          <p:cNvSpPr>
            <a:spLocks noGrp="1"/>
          </p:cNvSpPr>
          <p:nvPr>
            <p:ph type="title" hasCustomPrompt="1"/>
          </p:nvPr>
        </p:nvSpPr>
        <p:spPr/>
        <p:txBody>
          <a:bodyPr/>
          <a:lstStyle>
            <a:lvl1pPr marL="0">
              <a:defRPr/>
            </a:lvl1pPr>
          </a:lstStyle>
          <a:p>
            <a:r>
              <a:rPr lang="en-US" dirty="0"/>
              <a:t>Click to edit Master title style Click to edit Master title style</a:t>
            </a:r>
          </a:p>
        </p:txBody>
      </p:sp>
      <p:sp>
        <p:nvSpPr>
          <p:cNvPr id="6" name="Date Placeholder 5"/>
          <p:cNvSpPr>
            <a:spLocks noGrp="1"/>
          </p:cNvSpPr>
          <p:nvPr>
            <p:ph type="dt" sz="half" idx="12"/>
          </p:nvPr>
        </p:nvSpPr>
        <p:spPr/>
        <p:txBody>
          <a:bodyPr/>
          <a:lstStyle/>
          <a:p>
            <a:fld id="{63ADDE33-C9F1-F94F-A20E-DA422DA466DF}" type="datetime1">
              <a:rPr lang="en-US" smtClean="0"/>
              <a:t>8/29/2022</a:t>
            </a:fld>
            <a:endParaRPr lang="en-US" dirty="0"/>
          </a:p>
        </p:txBody>
      </p:sp>
    </p:spTree>
    <p:extLst>
      <p:ext uri="{BB962C8B-B14F-4D97-AF65-F5344CB8AC3E}">
        <p14:creationId xmlns:p14="http://schemas.microsoft.com/office/powerpoint/2010/main" val="102742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p:cNvSpPr>
            <a:spLocks noGrp="1"/>
          </p:cNvSpPr>
          <p:nvPr>
            <p:ph type="dt" sz="half" idx="10"/>
          </p:nvPr>
        </p:nvSpPr>
        <p:spPr/>
        <p:txBody>
          <a:bodyPr/>
          <a:lstStyle/>
          <a:p>
            <a:fld id="{8C3A29FF-E368-A74C-B114-0D397BFB0B6B}" type="datetime1">
              <a:rPr lang="en-US" smtClean="0"/>
              <a:t>8/29/2022</a:t>
            </a:fld>
            <a:endParaRPr lang="en-US"/>
          </a:p>
        </p:txBody>
      </p:sp>
      <p:sp>
        <p:nvSpPr>
          <p:cNvPr id="7" name="Slide Number Placeholder 6"/>
          <p:cNvSpPr>
            <a:spLocks noGrp="1"/>
          </p:cNvSpPr>
          <p:nvPr>
            <p:ph type="sldNum" sz="quarter" idx="11"/>
          </p:nvPr>
        </p:nvSpPr>
        <p:spPr/>
        <p:txBody>
          <a:bodyPr/>
          <a:lstStyle/>
          <a:p>
            <a:fld id="{2AEAD966-1EF9-3A44-9B11-0C8090371A9A}" type="slidenum">
              <a:rPr lang="en-US" smtClean="0"/>
              <a:t>‹#›</a:t>
            </a:fld>
            <a:endParaRPr lang="en-US"/>
          </a:p>
        </p:txBody>
      </p:sp>
    </p:spTree>
    <p:extLst>
      <p:ext uri="{BB962C8B-B14F-4D97-AF65-F5344CB8AC3E}">
        <p14:creationId xmlns:p14="http://schemas.microsoft.com/office/powerpoint/2010/main" val="1434965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C4686DFE-7675-694F-BF91-ABF94FB4A9DC}" type="datetime1">
              <a:rPr lang="en-US" smtClean="0"/>
              <a:t>8/29/2022</a:t>
            </a:fld>
            <a:endParaRPr lang="en-US"/>
          </a:p>
        </p:txBody>
      </p:sp>
      <p:sp>
        <p:nvSpPr>
          <p:cNvPr id="6" name="Slide Number Placeholder 5"/>
          <p:cNvSpPr>
            <a:spLocks noGrp="1"/>
          </p:cNvSpPr>
          <p:nvPr>
            <p:ph type="sldNum" sz="quarter" idx="11"/>
          </p:nvPr>
        </p:nvSpPr>
        <p:spPr/>
        <p:txBody>
          <a:bodyPr/>
          <a:lstStyle/>
          <a:p>
            <a:fld id="{2AEAD966-1EF9-3A44-9B11-0C8090371A9A}" type="slidenum">
              <a:rPr lang="en-US" smtClean="0"/>
              <a:t>‹#›</a:t>
            </a:fld>
            <a:endParaRPr lang="en-US"/>
          </a:p>
        </p:txBody>
      </p:sp>
      <p:sp>
        <p:nvSpPr>
          <p:cNvPr id="4" name="Title 1"/>
          <p:cNvSpPr>
            <a:spLocks noGrp="1"/>
          </p:cNvSpPr>
          <p:nvPr>
            <p:ph type="ctrTitle"/>
          </p:nvPr>
        </p:nvSpPr>
        <p:spPr>
          <a:xfrm>
            <a:off x="674649" y="1092383"/>
            <a:ext cx="8018584" cy="1545309"/>
          </a:xfrm>
        </p:spPr>
        <p:txBody>
          <a:bodyPr anchor="b">
            <a:normAutofit/>
          </a:bodyPr>
          <a:lstStyle>
            <a:lvl1pPr algn="l">
              <a:defRPr sz="3600" baseline="0"/>
            </a:lvl1pPr>
          </a:lstStyle>
          <a:p>
            <a:r>
              <a:rPr lang="en-US"/>
              <a:t>Click to edit Master title style</a:t>
            </a:r>
            <a:endParaRPr lang="en-US" dirty="0"/>
          </a:p>
        </p:txBody>
      </p:sp>
      <p:sp>
        <p:nvSpPr>
          <p:cNvPr id="7" name="Subtitle 2"/>
          <p:cNvSpPr>
            <a:spLocks noGrp="1"/>
          </p:cNvSpPr>
          <p:nvPr>
            <p:ph type="subTitle" idx="1" hasCustomPrompt="1"/>
          </p:nvPr>
        </p:nvSpPr>
        <p:spPr>
          <a:xfrm>
            <a:off x="674647" y="2898164"/>
            <a:ext cx="8018586" cy="3524938"/>
          </a:xfrm>
        </p:spPr>
        <p:txBody>
          <a:bodyPr>
            <a:normAutofit/>
          </a:bodyPr>
          <a:lstStyle>
            <a:lvl1pPr marL="704088" marR="0" indent="-704088" algn="l" defTabSz="914400" rtl="0" eaLnBrk="1" fontAlgn="auto" latinLnBrk="0" hangingPunct="1">
              <a:lnSpc>
                <a:spcPct val="125000"/>
              </a:lnSpc>
              <a:spcBef>
                <a:spcPts val="1000"/>
              </a:spcBef>
              <a:spcAft>
                <a:spcPts val="0"/>
              </a:spcAft>
              <a:buClrTx/>
              <a:buSzTx/>
              <a:buFont typeface="Arial" panose="020B0604020202020204" pitchFamily="34" charset="0"/>
              <a:buNone/>
              <a:tabLst/>
              <a:defRPr sz="2800" b="0" i="0" baseline="0">
                <a:latin typeface="+mn-lt"/>
                <a:ea typeface="Calibri Light" charset="0"/>
                <a:cs typeface="Calibri Light"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1.1. Click to edit Master subtitle style Click to edit Master subtitle style</a:t>
            </a:r>
          </a:p>
        </p:txBody>
      </p:sp>
    </p:spTree>
    <p:extLst>
      <p:ext uri="{BB962C8B-B14F-4D97-AF65-F5344CB8AC3E}">
        <p14:creationId xmlns:p14="http://schemas.microsoft.com/office/powerpoint/2010/main" val="122029002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8968" y="73684"/>
            <a:ext cx="7739333" cy="63552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1001" y="927100"/>
            <a:ext cx="8383858" cy="557910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p:txBody>
      </p:sp>
      <p:sp>
        <p:nvSpPr>
          <p:cNvPr id="4" name="Date Placeholder 3"/>
          <p:cNvSpPr>
            <a:spLocks noGrp="1"/>
          </p:cNvSpPr>
          <p:nvPr>
            <p:ph type="dt" sz="half" idx="2"/>
          </p:nvPr>
        </p:nvSpPr>
        <p:spPr>
          <a:xfrm>
            <a:off x="624468" y="6506208"/>
            <a:ext cx="2061582" cy="351792"/>
          </a:xfrm>
          <a:prstGeom prst="rect">
            <a:avLst/>
          </a:prstGeom>
        </p:spPr>
        <p:txBody>
          <a:bodyPr vert="horz" lIns="91440" tIns="45720" rIns="91440" bIns="45720" rtlCol="0" anchor="ctr"/>
          <a:lstStyle>
            <a:lvl1pPr algn="l">
              <a:defRPr sz="1200">
                <a:solidFill>
                  <a:schemeClr val="tx1">
                    <a:tint val="75000"/>
                  </a:schemeClr>
                </a:solidFill>
              </a:defRPr>
            </a:lvl1pPr>
          </a:lstStyle>
          <a:p>
            <a:fld id="{DDD0BA76-48C3-0745-98CB-B276F38B9A94}" type="datetime1">
              <a:rPr lang="en-US" smtClean="0"/>
              <a:t>8/29/2022</a:t>
            </a:fld>
            <a:endParaRPr lang="en-US"/>
          </a:p>
        </p:txBody>
      </p:sp>
      <p:sp>
        <p:nvSpPr>
          <p:cNvPr id="6" name="Slide Number Placeholder 5"/>
          <p:cNvSpPr>
            <a:spLocks noGrp="1"/>
          </p:cNvSpPr>
          <p:nvPr>
            <p:ph type="sldNum" sz="quarter" idx="4"/>
          </p:nvPr>
        </p:nvSpPr>
        <p:spPr>
          <a:xfrm>
            <a:off x="6556917" y="6506208"/>
            <a:ext cx="2013963" cy="351791"/>
          </a:xfrm>
          <a:prstGeom prst="rect">
            <a:avLst/>
          </a:prstGeom>
        </p:spPr>
        <p:txBody>
          <a:bodyPr vert="horz" lIns="91440" tIns="45720" rIns="91440" bIns="45720" rtlCol="0" anchor="ctr"/>
          <a:lstStyle>
            <a:lvl1pPr algn="r">
              <a:defRPr sz="1200">
                <a:solidFill>
                  <a:schemeClr val="tx1">
                    <a:tint val="75000"/>
                  </a:schemeClr>
                </a:solidFill>
              </a:defRPr>
            </a:lvl1pPr>
          </a:lstStyle>
          <a:p>
            <a:fld id="{2AEAD966-1EF9-3A44-9B11-0C8090371A9A}" type="slidenum">
              <a:rPr lang="en-US" smtClean="0"/>
              <a:t>‹#›</a:t>
            </a:fld>
            <a:endParaRPr lang="en-US"/>
          </a:p>
        </p:txBody>
      </p:sp>
      <p:sp>
        <p:nvSpPr>
          <p:cNvPr id="7" name="Line 5"/>
          <p:cNvSpPr>
            <a:spLocks noChangeShapeType="1"/>
          </p:cNvSpPr>
          <p:nvPr userDrawn="1"/>
        </p:nvSpPr>
        <p:spPr bwMode="auto">
          <a:xfrm>
            <a:off x="446196" y="769170"/>
            <a:ext cx="7662105" cy="0"/>
          </a:xfrm>
          <a:prstGeom prst="line">
            <a:avLst/>
          </a:prstGeom>
          <a:noFill/>
          <a:ln w="25400">
            <a:solidFill>
              <a:srgbClr val="006600"/>
            </a:solidFill>
            <a:round/>
            <a:headEnd/>
            <a:tailEnd/>
          </a:ln>
        </p:spPr>
        <p:txBody>
          <a:bodyPr/>
          <a:lstStyle/>
          <a:p>
            <a:pPr>
              <a:defRPr/>
            </a:pPr>
            <a:endParaRPr lang="zh-CN" altLang="en-US" sz="1350">
              <a:ea typeface="宋体" pitchFamily="2" charset="-122"/>
              <a:cs typeface="+mn-cs"/>
            </a:endParaRPr>
          </a:p>
        </p:txBody>
      </p:sp>
      <p:pic>
        <p:nvPicPr>
          <p:cNvPr id="8" name="Picture 7"/>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8045854" y="9236"/>
            <a:ext cx="1088965" cy="970557"/>
          </a:xfrm>
          <a:prstGeom prst="rect">
            <a:avLst/>
          </a:prstGeom>
        </p:spPr>
      </p:pic>
    </p:spTree>
    <p:extLst>
      <p:ext uri="{BB962C8B-B14F-4D97-AF65-F5344CB8AC3E}">
        <p14:creationId xmlns:p14="http://schemas.microsoft.com/office/powerpoint/2010/main" val="398605517"/>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62" r:id="rId3"/>
    <p:sldLayoutId id="2147483663" r:id="rId4"/>
  </p:sldLayoutIdLst>
  <p:hf hdr="0" ftr="0"/>
  <p:txStyles>
    <p:titleStyle>
      <a:lvl1pPr marL="713232" indent="-713232" algn="l" defTabSz="914400" rtl="0" eaLnBrk="1" latinLnBrk="0" hangingPunct="1">
        <a:lnSpc>
          <a:spcPct val="90000"/>
        </a:lnSpc>
        <a:spcBef>
          <a:spcPct val="0"/>
        </a:spcBef>
        <a:buNone/>
        <a:defRPr sz="3000" b="1" i="0" kern="1200" baseline="0">
          <a:solidFill>
            <a:srgbClr val="42672B"/>
          </a:solidFill>
          <a:latin typeface="+mj-lt"/>
          <a:ea typeface="+mj-ea"/>
          <a:cs typeface="+mj-cs"/>
        </a:defRPr>
      </a:lvl1pPr>
    </p:titleStyle>
    <p:bodyStyle>
      <a:lvl1pPr marL="411480" indent="-411480" algn="l" defTabSz="914400" rtl="0" eaLnBrk="1" latinLnBrk="0" hangingPunct="1">
        <a:lnSpc>
          <a:spcPct val="125000"/>
        </a:lnSpc>
        <a:spcBef>
          <a:spcPts val="1000"/>
        </a:spcBef>
        <a:buFont typeface="Arial" charset="0"/>
        <a:buChar char="•"/>
        <a:defRPr sz="28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charset="2"/>
        <a:buChar char="Ø"/>
        <a:defRPr sz="2400" kern="120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bayes.cs.ucla.edu/PRIMER/"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bayes.cs.ucla.edu/PRIMER/"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bayes.cs.ucla.edu/PRIMER/"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bayes.cs.ucla.edu/PRIMER/"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arxiv.org/abs/1903.03662"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3.png"/></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3.png"/></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3.png"/></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3.png"/></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2.png"/><Relationship Id="rId4" Type="http://schemas.openxmlformats.org/officeDocument/2006/relationships/image" Target="../media/image41.png"/></Relationships>
</file>

<file path=ppt/slides/_rels/slide4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s://ftp.cs.ucla.edu/pub/stat_ser/r321-ijcai05.pdf"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hyperlink" Target="http://openaccess.thecvf.com/content/ICCV2021/papers/Rao_Counterfactual_Attention_Learning_for_Fine-Grained_Visual_Categorization_and_Re-Identification_ICCV_2021_paper.pdf" TargetMode="External"/><Relationship Id="rId7" Type="http://schemas.openxmlformats.org/officeDocument/2006/relationships/hyperlink" Target="https://openaccess.thecvf.com/content/CVPR2021/papers/Chang_Towards_Robust_Classification_Model_by_Counterfactual_and_Invariant_Data_Generation_CVPR_2021_paper.pdf" TargetMode="External"/><Relationship Id="rId2" Type="http://schemas.openxmlformats.org/officeDocument/2006/relationships/hyperlink" Target="https://openaccess.thecvf.com/content/CVPR2021/papers/Niu_Counterfactual_VQA_A_Cause-Effect_Look_at_Language_Bias_CVPR_2021_paper.pdf" TargetMode="External"/><Relationship Id="rId1" Type="http://schemas.openxmlformats.org/officeDocument/2006/relationships/slideLayout" Target="../slideLayouts/slideLayout2.xml"/><Relationship Id="rId6" Type="http://schemas.openxmlformats.org/officeDocument/2006/relationships/hyperlink" Target="https://openaccess.thecvf.com/content/CVPR2022/papers/Khorram_Cycle-Consistent_Counterfactuals_by_Latent_Transformations_CVPR_2022_paper.pdf" TargetMode="External"/><Relationship Id="rId5" Type="http://schemas.openxmlformats.org/officeDocument/2006/relationships/hyperlink" Target="http://openaccess.thecvf.com/content_CVPR_2020/papers/Chen_Counterfactual_Samples_Synthesizing_for_Robust_Visual_Question_Answering_CVPR_2020_paper.pdf" TargetMode="External"/><Relationship Id="rId4" Type="http://schemas.openxmlformats.org/officeDocument/2006/relationships/hyperlink" Target="https://openaccess.thecvf.com/content/CVPR2021/papers/Yue_Counterfactual_Zero-Shot_and_Open-Set_Visual_Recognition_CVPR_2021_paper.pdf" TargetMode="External"/></Relationships>
</file>

<file path=ppt/slides/_rels/slide61.xml.rels><?xml version="1.0" encoding="UTF-8" standalone="yes"?>
<Relationships xmlns="http://schemas.openxmlformats.org/package/2006/relationships"><Relationship Id="rId3" Type="http://schemas.openxmlformats.org/officeDocument/2006/relationships/hyperlink" Target="https://aclanthology.org/2022.acl-long.533.pdf" TargetMode="External"/><Relationship Id="rId2" Type="http://schemas.openxmlformats.org/officeDocument/2006/relationships/hyperlink" Target="https://aclanthology.org/2021.acl-long.422.pdf" TargetMode="External"/><Relationship Id="rId1" Type="http://schemas.openxmlformats.org/officeDocument/2006/relationships/slideLayout" Target="../slideLayouts/slideLayout2.xml"/><Relationship Id="rId6" Type="http://schemas.openxmlformats.org/officeDocument/2006/relationships/hyperlink" Target="https://aclanthology.org/2021.acl-long.523.pdf" TargetMode="External"/><Relationship Id="rId5" Type="http://schemas.openxmlformats.org/officeDocument/2006/relationships/hyperlink" Target="https://aclanthology.org/2021.acl-short.7.pdf" TargetMode="External"/><Relationship Id="rId4" Type="http://schemas.openxmlformats.org/officeDocument/2006/relationships/hyperlink" Target="https://www.aaai.org/AAAI22Papers/AAAI-8503.TianB.pdf" TargetMode="External"/></Relationships>
</file>

<file path=ppt/slides/_rels/slide6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6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7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hyperlink" Target="https://www.inference.vc/causal-inference-3-counterfactuals/" TargetMode="External"/><Relationship Id="rId2" Type="http://schemas.openxmlformats.org/officeDocument/2006/relationships/hyperlink" Target="https://www.bradyneal.com/causal-inference-cours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3291" y="1849765"/>
            <a:ext cx="7772400" cy="2387600"/>
          </a:xfrm>
        </p:spPr>
        <p:txBody>
          <a:bodyPr>
            <a:normAutofit/>
          </a:bodyPr>
          <a:lstStyle/>
          <a:p>
            <a:r>
              <a:rPr lang="en-US" altLang="zh-CN" dirty="0"/>
              <a:t>Causal Models</a:t>
            </a:r>
            <a:br>
              <a:rPr lang="en-US" altLang="zh-CN" dirty="0"/>
            </a:br>
            <a:br>
              <a:rPr lang="en-US" altLang="zh-CN" dirty="0"/>
            </a:br>
            <a:r>
              <a:rPr lang="en-US" altLang="zh-CN" dirty="0"/>
              <a:t>--Counterfactuals</a:t>
            </a:r>
            <a:br>
              <a:rPr lang="en-US" altLang="zh-CN" dirty="0"/>
            </a:br>
            <a:endParaRPr lang="en-US" sz="2800" dirty="0"/>
          </a:p>
        </p:txBody>
      </p:sp>
      <p:sp>
        <p:nvSpPr>
          <p:cNvPr id="4" name="Date Placeholder 3"/>
          <p:cNvSpPr>
            <a:spLocks noGrp="1"/>
          </p:cNvSpPr>
          <p:nvPr>
            <p:ph type="dt" sz="half" idx="10"/>
          </p:nvPr>
        </p:nvSpPr>
        <p:spPr/>
        <p:txBody>
          <a:bodyPr/>
          <a:lstStyle/>
          <a:p>
            <a:fld id="{F4C76427-4A04-CB46-B580-49787B62A594}" type="datetime1">
              <a:rPr lang="en-US" smtClean="0"/>
              <a:t>8/29/2022</a:t>
            </a:fld>
            <a:endParaRPr lang="en-US"/>
          </a:p>
        </p:txBody>
      </p:sp>
      <p:sp>
        <p:nvSpPr>
          <p:cNvPr id="5" name="Slide Number Placeholder 4"/>
          <p:cNvSpPr>
            <a:spLocks noGrp="1"/>
          </p:cNvSpPr>
          <p:nvPr>
            <p:ph type="sldNum" sz="quarter" idx="11"/>
          </p:nvPr>
        </p:nvSpPr>
        <p:spPr/>
        <p:txBody>
          <a:bodyPr/>
          <a:lstStyle/>
          <a:p>
            <a:fld id="{2AEAD966-1EF9-3A44-9B11-0C8090371A9A}" type="slidenum">
              <a:rPr lang="en-US" smtClean="0"/>
              <a:t>1</a:t>
            </a:fld>
            <a:endParaRPr lang="en-US"/>
          </a:p>
        </p:txBody>
      </p:sp>
    </p:spTree>
    <p:extLst>
      <p:ext uri="{BB962C8B-B14F-4D97-AF65-F5344CB8AC3E}">
        <p14:creationId xmlns:p14="http://schemas.microsoft.com/office/powerpoint/2010/main" val="1195067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1">
              <a:buClr>
                <a:schemeClr val="accent6">
                  <a:lumMod val="50000"/>
                </a:schemeClr>
              </a:buClr>
            </a:pPr>
            <a:r>
              <a:rPr lang="en-US" altLang="zh-CN" dirty="0"/>
              <a:t>Counterfactuals Basics</a:t>
            </a:r>
          </a:p>
          <a:p>
            <a:pPr lvl="1">
              <a:buClr>
                <a:schemeClr val="accent6">
                  <a:lumMod val="50000"/>
                </a:schemeClr>
              </a:buClr>
            </a:pPr>
            <a:r>
              <a:rPr lang="en-US" altLang="zh-CN" dirty="0">
                <a:solidFill>
                  <a:schemeClr val="bg1">
                    <a:lumMod val="65000"/>
                  </a:schemeClr>
                </a:solidFill>
              </a:rPr>
              <a:t>Important Application: Mediation</a:t>
            </a:r>
          </a:p>
          <a:p>
            <a:pPr lvl="1">
              <a:buClr>
                <a:schemeClr val="accent6">
                  <a:lumMod val="50000"/>
                </a:schemeClr>
              </a:buClr>
            </a:pPr>
            <a:r>
              <a:rPr lang="en-US" altLang="zh-CN" dirty="0">
                <a:solidFill>
                  <a:schemeClr val="bg1">
                    <a:lumMod val="65000"/>
                  </a:schemeClr>
                </a:solidFill>
              </a:rPr>
              <a:t>Representative Works</a:t>
            </a:r>
          </a:p>
        </p:txBody>
      </p:sp>
      <p:sp>
        <p:nvSpPr>
          <p:cNvPr id="3" name="Slide Number Placeholder 2"/>
          <p:cNvSpPr>
            <a:spLocks noGrp="1"/>
          </p:cNvSpPr>
          <p:nvPr>
            <p:ph type="sldNum" sz="quarter" idx="11"/>
          </p:nvPr>
        </p:nvSpPr>
        <p:spPr/>
        <p:txBody>
          <a:bodyPr/>
          <a:lstStyle/>
          <a:p>
            <a:fld id="{2AEAD966-1EF9-3A44-9B11-0C8090371A9A}" type="slidenum">
              <a:rPr lang="en-US" smtClean="0"/>
              <a:t>2</a:t>
            </a:fld>
            <a:endParaRPr lang="en-US"/>
          </a:p>
        </p:txBody>
      </p:sp>
      <p:sp>
        <p:nvSpPr>
          <p:cNvPr id="4" name="Title 3"/>
          <p:cNvSpPr>
            <a:spLocks noGrp="1"/>
          </p:cNvSpPr>
          <p:nvPr>
            <p:ph type="title"/>
          </p:nvPr>
        </p:nvSpPr>
        <p:spPr/>
        <p:txBody>
          <a:bodyPr/>
          <a:lstStyle/>
          <a:p>
            <a:r>
              <a:rPr lang="en-US" dirty="0"/>
              <a:t>Outline</a:t>
            </a:r>
          </a:p>
        </p:txBody>
      </p:sp>
      <p:sp>
        <p:nvSpPr>
          <p:cNvPr id="5" name="Date Placeholder 4"/>
          <p:cNvSpPr>
            <a:spLocks noGrp="1"/>
          </p:cNvSpPr>
          <p:nvPr>
            <p:ph type="dt" sz="half" idx="12"/>
          </p:nvPr>
        </p:nvSpPr>
        <p:spPr/>
        <p:txBody>
          <a:bodyPr/>
          <a:lstStyle/>
          <a:p>
            <a:fld id="{63ADDE33-C9F1-F94F-A20E-DA422DA466DF}" type="datetime1">
              <a:rPr lang="en-US" smtClean="0"/>
              <a:t>8/29/2022</a:t>
            </a:fld>
            <a:endParaRPr lang="en-US" dirty="0"/>
          </a:p>
        </p:txBody>
      </p:sp>
    </p:spTree>
    <p:extLst>
      <p:ext uri="{BB962C8B-B14F-4D97-AF65-F5344CB8AC3E}">
        <p14:creationId xmlns:p14="http://schemas.microsoft.com/office/powerpoint/2010/main" val="975876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B3E3DB81-AD79-48B0-A0EC-5FEC68FF0A84}"/>
              </a:ext>
            </a:extLst>
          </p:cNvPr>
          <p:cNvSpPr>
            <a:spLocks noGrp="1"/>
          </p:cNvSpPr>
          <p:nvPr>
            <p:ph type="sldNum" sz="quarter" idx="11"/>
          </p:nvPr>
        </p:nvSpPr>
        <p:spPr/>
        <p:txBody>
          <a:bodyPr/>
          <a:lstStyle/>
          <a:p>
            <a:fld id="{2AEAD966-1EF9-3A44-9B11-0C8090371A9A}" type="slidenum">
              <a:rPr lang="en-US" smtClean="0"/>
              <a:t>3</a:t>
            </a:fld>
            <a:endParaRPr lang="en-US"/>
          </a:p>
        </p:txBody>
      </p:sp>
      <p:sp>
        <p:nvSpPr>
          <p:cNvPr id="4" name="标题 3">
            <a:extLst>
              <a:ext uri="{FF2B5EF4-FFF2-40B4-BE49-F238E27FC236}">
                <a16:creationId xmlns:a16="http://schemas.microsoft.com/office/drawing/2014/main" id="{5C7D76CC-3FA9-4500-8F75-5A0D8878EFF2}"/>
              </a:ext>
            </a:extLst>
          </p:cNvPr>
          <p:cNvSpPr>
            <a:spLocks noGrp="1"/>
          </p:cNvSpPr>
          <p:nvPr>
            <p:ph type="title"/>
          </p:nvPr>
        </p:nvSpPr>
        <p:spPr/>
        <p:txBody>
          <a:bodyPr>
            <a:normAutofit fontScale="90000"/>
          </a:bodyPr>
          <a:lstStyle/>
          <a:p>
            <a:r>
              <a:rPr lang="en-US" altLang="zh-CN" dirty="0"/>
              <a:t>Fundamental Problem of Causal Inference</a:t>
            </a:r>
            <a:endParaRPr lang="zh-CN" altLang="en-US" dirty="0"/>
          </a:p>
        </p:txBody>
      </p:sp>
      <p:sp>
        <p:nvSpPr>
          <p:cNvPr id="5" name="日期占位符 4">
            <a:extLst>
              <a:ext uri="{FF2B5EF4-FFF2-40B4-BE49-F238E27FC236}">
                <a16:creationId xmlns:a16="http://schemas.microsoft.com/office/drawing/2014/main" id="{D5642E20-E984-4A2B-9BDD-1E158B948BD6}"/>
              </a:ext>
            </a:extLst>
          </p:cNvPr>
          <p:cNvSpPr>
            <a:spLocks noGrp="1"/>
          </p:cNvSpPr>
          <p:nvPr>
            <p:ph type="dt" sz="half" idx="12"/>
          </p:nvPr>
        </p:nvSpPr>
        <p:spPr/>
        <p:txBody>
          <a:bodyPr/>
          <a:lstStyle/>
          <a:p>
            <a:fld id="{63ADDE33-C9F1-F94F-A20E-DA422DA466DF}" type="datetime1">
              <a:rPr lang="en-US" smtClean="0"/>
              <a:t>8/31/2022</a:t>
            </a:fld>
            <a:endParaRPr lang="en-US" dirty="0"/>
          </a:p>
        </p:txBody>
      </p:sp>
      <mc:AlternateContent xmlns:mc="http://schemas.openxmlformats.org/markup-compatibility/2006">
        <mc:Choice xmlns:a14="http://schemas.microsoft.com/office/drawing/2010/main" Requires="a14">
          <p:sp>
            <p:nvSpPr>
              <p:cNvPr id="25" name="文本框 24">
                <a:extLst>
                  <a:ext uri="{FF2B5EF4-FFF2-40B4-BE49-F238E27FC236}">
                    <a16:creationId xmlns:a16="http://schemas.microsoft.com/office/drawing/2014/main" id="{FCA5B151-724E-4C16-850E-6F98E8D9ADB7}"/>
                  </a:ext>
                </a:extLst>
              </p:cNvPr>
              <p:cNvSpPr txBox="1"/>
              <p:nvPr/>
            </p:nvSpPr>
            <p:spPr>
              <a:xfrm>
                <a:off x="5505450" y="1600200"/>
                <a:ext cx="3514725" cy="1292662"/>
              </a:xfrm>
              <a:prstGeom prst="rect">
                <a:avLst/>
              </a:prstGeom>
              <a:noFill/>
            </p:spPr>
            <p:txBody>
              <a:bodyPr wrap="square" rtlCol="0">
                <a:spAutoFit/>
              </a:bodyPr>
              <a:lstStyle/>
              <a:p>
                <a:pPr/>
                <a14:m>
                  <m:oMath xmlns:m="http://schemas.openxmlformats.org/officeDocument/2006/math">
                    <m:r>
                      <a:rPr lang="en-US" altLang="zh-CN" sz="1300" b="0" i="1" smtClean="0"/>
                      <m:t>𝑇</m:t>
                    </m:r>
                  </m:oMath>
                </a14:m>
                <a:r>
                  <a:rPr lang="zh-CN" altLang="en-US" sz="1300" dirty="0"/>
                  <a:t>      </a:t>
                </a:r>
                <a:r>
                  <a:rPr lang="en-US" altLang="zh-CN" sz="1300" dirty="0"/>
                  <a:t>: observed treatment</a:t>
                </a:r>
              </a:p>
              <a:p>
                <a:pPr/>
                <a14:m>
                  <m:oMath xmlns:m="http://schemas.openxmlformats.org/officeDocument/2006/math">
                    <m:r>
                      <a:rPr lang="en-US" altLang="zh-CN" sz="1300" b="0" i="1" smtClean="0">
                        <a:latin typeface="Cambria Math" panose="02040503050406030204" pitchFamily="18" charset="0"/>
                      </a:rPr>
                      <m:t>𝑌</m:t>
                    </m:r>
                  </m:oMath>
                </a14:m>
                <a:r>
                  <a:rPr lang="zh-CN" altLang="en-US" sz="1300" dirty="0"/>
                  <a:t>      </a:t>
                </a:r>
                <a:r>
                  <a:rPr lang="en-US" altLang="zh-CN" sz="1300" dirty="0"/>
                  <a:t>: observed outcome</a:t>
                </a:r>
              </a:p>
              <a:p>
                <a:pPr/>
                <a14:m>
                  <m:oMath xmlns:m="http://schemas.openxmlformats.org/officeDocument/2006/math">
                    <m:r>
                      <a:rPr lang="en-US" altLang="zh-CN" sz="1300" b="0" i="1" smtClean="0">
                        <a:latin typeface="Cambria Math" panose="02040503050406030204" pitchFamily="18" charset="0"/>
                      </a:rPr>
                      <m:t>𝑖</m:t>
                    </m:r>
                  </m:oMath>
                </a14:m>
                <a:r>
                  <a:rPr lang="zh-CN" altLang="en-US" sz="1300" dirty="0"/>
                  <a:t>      </a:t>
                </a:r>
                <a:r>
                  <a:rPr lang="en-US" altLang="zh-CN" sz="1300" dirty="0"/>
                  <a:t> : used in subscript to denote a specific 	unit / individual</a:t>
                </a:r>
              </a:p>
              <a:p>
                <a:pPr/>
                <a14:m>
                  <m:oMath xmlns:m="http://schemas.openxmlformats.org/officeDocument/2006/math">
                    <m:sSub>
                      <m:sSubPr>
                        <m:ctrlPr>
                          <a:rPr lang="en-US" altLang="zh-CN" sz="1300" i="1">
                            <a:latin typeface="Cambria Math" panose="02040503050406030204" pitchFamily="18" charset="0"/>
                          </a:rPr>
                        </m:ctrlPr>
                      </m:sSubPr>
                      <m:e>
                        <m:r>
                          <a:rPr lang="en-US" altLang="zh-CN" sz="1300" i="1">
                            <a:latin typeface="Cambria Math" panose="02040503050406030204" pitchFamily="18" charset="0"/>
                          </a:rPr>
                          <m:t>𝑌</m:t>
                        </m:r>
                      </m:e>
                      <m:sub>
                        <m:r>
                          <a:rPr lang="en-US" altLang="zh-CN" sz="1300" i="1">
                            <a:latin typeface="Cambria Math" panose="02040503050406030204" pitchFamily="18" charset="0"/>
                          </a:rPr>
                          <m:t>𝑖</m:t>
                        </m:r>
                      </m:sub>
                    </m:sSub>
                    <m:d>
                      <m:dPr>
                        <m:ctrlPr>
                          <a:rPr lang="en-US" altLang="zh-CN" sz="1300" i="1">
                            <a:latin typeface="Cambria Math" panose="02040503050406030204" pitchFamily="18" charset="0"/>
                          </a:rPr>
                        </m:ctrlPr>
                      </m:dPr>
                      <m:e>
                        <m:r>
                          <a:rPr lang="en-US" altLang="zh-CN" sz="1300" i="1">
                            <a:latin typeface="Cambria Math" panose="02040503050406030204" pitchFamily="18" charset="0"/>
                          </a:rPr>
                          <m:t>1</m:t>
                        </m:r>
                      </m:e>
                    </m:d>
                  </m:oMath>
                </a14:m>
                <a:r>
                  <a:rPr lang="en-US" altLang="zh-CN" sz="1300" dirty="0"/>
                  <a:t> : potential outcome under treatment</a:t>
                </a:r>
              </a:p>
              <a:p>
                <a:pPr/>
                <a14:m>
                  <m:oMath xmlns:m="http://schemas.openxmlformats.org/officeDocument/2006/math">
                    <m:sSub>
                      <m:sSubPr>
                        <m:ctrlPr>
                          <a:rPr lang="en-US" altLang="zh-CN" sz="1300" i="1">
                            <a:latin typeface="Cambria Math" panose="02040503050406030204" pitchFamily="18" charset="0"/>
                          </a:rPr>
                        </m:ctrlPr>
                      </m:sSubPr>
                      <m:e>
                        <m:r>
                          <a:rPr lang="en-US" altLang="zh-CN" sz="1300" i="1">
                            <a:latin typeface="Cambria Math" panose="02040503050406030204" pitchFamily="18" charset="0"/>
                          </a:rPr>
                          <m:t>𝑌</m:t>
                        </m:r>
                      </m:e>
                      <m:sub>
                        <m:r>
                          <a:rPr lang="en-US" altLang="zh-CN" sz="1300" i="1">
                            <a:latin typeface="Cambria Math" panose="02040503050406030204" pitchFamily="18" charset="0"/>
                          </a:rPr>
                          <m:t>𝑖</m:t>
                        </m:r>
                      </m:sub>
                    </m:sSub>
                    <m:d>
                      <m:dPr>
                        <m:ctrlPr>
                          <a:rPr lang="en-US" altLang="zh-CN" sz="1300" i="1">
                            <a:latin typeface="Cambria Math" panose="02040503050406030204" pitchFamily="18" charset="0"/>
                          </a:rPr>
                        </m:ctrlPr>
                      </m:dPr>
                      <m:e>
                        <m:r>
                          <a:rPr lang="en-US" altLang="zh-CN" sz="1300" b="0" i="1" smtClean="0">
                            <a:latin typeface="Cambria Math" panose="02040503050406030204" pitchFamily="18" charset="0"/>
                          </a:rPr>
                          <m:t>0</m:t>
                        </m:r>
                      </m:e>
                    </m:d>
                  </m:oMath>
                </a14:m>
                <a:r>
                  <a:rPr lang="zh-CN" altLang="en-US" sz="1300" dirty="0"/>
                  <a:t> </a:t>
                </a:r>
                <a:r>
                  <a:rPr lang="en-US" altLang="zh-CN" sz="1300" dirty="0"/>
                  <a:t>: potential outcome under no treatment</a:t>
                </a:r>
                <a:endParaRPr lang="zh-CN" altLang="en-US" sz="1300" dirty="0"/>
              </a:p>
            </p:txBody>
          </p:sp>
        </mc:Choice>
        <mc:Fallback>
          <p:sp>
            <p:nvSpPr>
              <p:cNvPr id="25" name="文本框 24">
                <a:extLst>
                  <a:ext uri="{FF2B5EF4-FFF2-40B4-BE49-F238E27FC236}">
                    <a16:creationId xmlns:a16="http://schemas.microsoft.com/office/drawing/2014/main" id="{FCA5B151-724E-4C16-850E-6F98E8D9ADB7}"/>
                  </a:ext>
                </a:extLst>
              </p:cNvPr>
              <p:cNvSpPr txBox="1">
                <a:spLocks noRot="1" noChangeAspect="1" noMove="1" noResize="1" noEditPoints="1" noAdjustHandles="1" noChangeArrowheads="1" noChangeShapeType="1" noTextEdit="1"/>
              </p:cNvSpPr>
              <p:nvPr/>
            </p:nvSpPr>
            <p:spPr>
              <a:xfrm>
                <a:off x="5505450" y="1600200"/>
                <a:ext cx="3514725" cy="1292662"/>
              </a:xfrm>
              <a:prstGeom prst="rect">
                <a:avLst/>
              </a:prstGeom>
              <a:blipFill>
                <a:blip r:embed="rId2"/>
                <a:stretch>
                  <a:fillRect t="-472" b="-2830"/>
                </a:stretch>
              </a:blipFill>
            </p:spPr>
            <p:txBody>
              <a:bodyPr/>
              <a:lstStyle/>
              <a:p>
                <a:r>
                  <a:rPr lang="zh-CN" altLang="en-US">
                    <a:noFill/>
                  </a:rPr>
                  <a:t> </a:t>
                </a:r>
              </a:p>
            </p:txBody>
          </p:sp>
        </mc:Fallback>
      </mc:AlternateContent>
      <p:sp>
        <p:nvSpPr>
          <p:cNvPr id="26" name="矩形 25">
            <a:extLst>
              <a:ext uri="{FF2B5EF4-FFF2-40B4-BE49-F238E27FC236}">
                <a16:creationId xmlns:a16="http://schemas.microsoft.com/office/drawing/2014/main" id="{B411258B-484D-4E42-8C9D-7C1D7B73274D}"/>
              </a:ext>
            </a:extLst>
          </p:cNvPr>
          <p:cNvSpPr/>
          <p:nvPr/>
        </p:nvSpPr>
        <p:spPr>
          <a:xfrm>
            <a:off x="5391155" y="1501921"/>
            <a:ext cx="3895720" cy="1507979"/>
          </a:xfrm>
          <a:prstGeom prst="rect">
            <a:avLst/>
          </a:prstGeom>
          <a:noFill/>
          <a:ln w="2857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7" name="文本框 26">
                <a:extLst>
                  <a:ext uri="{FF2B5EF4-FFF2-40B4-BE49-F238E27FC236}">
                    <a16:creationId xmlns:a16="http://schemas.microsoft.com/office/drawing/2014/main" id="{A090DC18-5CF5-4382-9C7E-31A27AD518F2}"/>
                  </a:ext>
                </a:extLst>
              </p:cNvPr>
              <p:cNvSpPr txBox="1"/>
              <p:nvPr/>
            </p:nvSpPr>
            <p:spPr>
              <a:xfrm>
                <a:off x="6312345" y="4164863"/>
                <a:ext cx="2053340" cy="923330"/>
              </a:xfrm>
              <a:prstGeom prst="rect">
                <a:avLst/>
              </a:prstGeom>
              <a:noFill/>
            </p:spPr>
            <p:txBody>
              <a:bodyPr wrap="square" rtlCol="0">
                <a:spAutoFit/>
              </a:bodyPr>
              <a:lstStyle/>
              <a:p>
                <a:r>
                  <a:rPr lang="en-US" altLang="zh-CN" b="1" dirty="0"/>
                  <a:t>Causal effect</a:t>
                </a:r>
              </a:p>
              <a:p>
                <a:endParaRPr lang="en-US" altLang="zh-CN" dirty="0"/>
              </a:p>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𝑖</m:t>
                          </m:r>
                        </m:sub>
                      </m:sSub>
                      <m:d>
                        <m:dPr>
                          <m:ctrlPr>
                            <a:rPr lang="en-US" altLang="zh-CN" i="1">
                              <a:latin typeface="Cambria Math" panose="02040503050406030204" pitchFamily="18" charset="0"/>
                            </a:rPr>
                          </m:ctrlPr>
                        </m:dPr>
                        <m:e>
                          <m:r>
                            <a:rPr lang="en-US" altLang="zh-CN" i="1">
                              <a:latin typeface="Cambria Math" panose="02040503050406030204" pitchFamily="18" charset="0"/>
                            </a:rPr>
                            <m:t>1</m:t>
                          </m:r>
                        </m:e>
                      </m:d>
                      <m:r>
                        <a:rPr lang="en-US" altLang="zh-CN" b="0" i="0"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𝑖</m:t>
                          </m:r>
                        </m:sub>
                      </m:sSub>
                      <m:d>
                        <m:dPr>
                          <m:ctrlPr>
                            <a:rPr lang="en-US" altLang="zh-CN" i="1">
                              <a:latin typeface="Cambria Math" panose="02040503050406030204" pitchFamily="18" charset="0"/>
                            </a:rPr>
                          </m:ctrlPr>
                        </m:dPr>
                        <m:e>
                          <m:r>
                            <a:rPr lang="en-US" altLang="zh-CN" b="0" i="1" smtClean="0">
                              <a:latin typeface="Cambria Math" panose="02040503050406030204" pitchFamily="18" charset="0"/>
                            </a:rPr>
                            <m:t>0</m:t>
                          </m:r>
                        </m:e>
                      </m:d>
                      <m:r>
                        <a:rPr lang="en-US" altLang="zh-CN" b="0" i="1" smtClean="0">
                          <a:latin typeface="Cambria Math" panose="02040503050406030204" pitchFamily="18" charset="0"/>
                        </a:rPr>
                        <m:t>=1</m:t>
                      </m:r>
                    </m:oMath>
                  </m:oMathPara>
                </a14:m>
                <a:endParaRPr lang="zh-CN" altLang="en-US" dirty="0"/>
              </a:p>
            </p:txBody>
          </p:sp>
        </mc:Choice>
        <mc:Fallback>
          <p:sp>
            <p:nvSpPr>
              <p:cNvPr id="27" name="文本框 26">
                <a:extLst>
                  <a:ext uri="{FF2B5EF4-FFF2-40B4-BE49-F238E27FC236}">
                    <a16:creationId xmlns:a16="http://schemas.microsoft.com/office/drawing/2014/main" id="{A090DC18-5CF5-4382-9C7E-31A27AD518F2}"/>
                  </a:ext>
                </a:extLst>
              </p:cNvPr>
              <p:cNvSpPr txBox="1">
                <a:spLocks noRot="1" noChangeAspect="1" noMove="1" noResize="1" noEditPoints="1" noAdjustHandles="1" noChangeArrowheads="1" noChangeShapeType="1" noTextEdit="1"/>
              </p:cNvSpPr>
              <p:nvPr/>
            </p:nvSpPr>
            <p:spPr>
              <a:xfrm>
                <a:off x="6312345" y="4164863"/>
                <a:ext cx="2053340" cy="923330"/>
              </a:xfrm>
              <a:prstGeom prst="rect">
                <a:avLst/>
              </a:prstGeom>
              <a:blipFill>
                <a:blip r:embed="rId3"/>
                <a:stretch>
                  <a:fillRect l="-2374" t="-3289"/>
                </a:stretch>
              </a:blipFill>
            </p:spPr>
            <p:txBody>
              <a:bodyPr/>
              <a:lstStyle/>
              <a:p>
                <a:r>
                  <a:rPr lang="zh-CN" altLang="en-US">
                    <a:noFill/>
                  </a:rPr>
                  <a:t> </a:t>
                </a:r>
              </a:p>
            </p:txBody>
          </p:sp>
        </mc:Fallback>
      </mc:AlternateContent>
      <p:pic>
        <p:nvPicPr>
          <p:cNvPr id="35" name="内容占位符 34">
            <a:extLst>
              <a:ext uri="{FF2B5EF4-FFF2-40B4-BE49-F238E27FC236}">
                <a16:creationId xmlns:a16="http://schemas.microsoft.com/office/drawing/2014/main" id="{CFE4E86C-B9AC-4EB4-A2B6-4E3F284A8DFB}"/>
              </a:ext>
            </a:extLst>
          </p:cNvPr>
          <p:cNvPicPr>
            <a:picLocks noGrp="1" noChangeAspect="1"/>
          </p:cNvPicPr>
          <p:nvPr>
            <p:ph idx="1"/>
          </p:nvPr>
        </p:nvPicPr>
        <p:blipFill>
          <a:blip r:embed="rId4"/>
          <a:stretch>
            <a:fillRect/>
          </a:stretch>
        </p:blipFill>
        <p:spPr>
          <a:xfrm>
            <a:off x="1533469" y="1600200"/>
            <a:ext cx="3157654" cy="3487993"/>
          </a:xfrm>
        </p:spPr>
      </p:pic>
    </p:spTree>
    <p:extLst>
      <p:ext uri="{BB962C8B-B14F-4D97-AF65-F5344CB8AC3E}">
        <p14:creationId xmlns:p14="http://schemas.microsoft.com/office/powerpoint/2010/main" val="2009842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B3E3DB81-AD79-48B0-A0EC-5FEC68FF0A84}"/>
              </a:ext>
            </a:extLst>
          </p:cNvPr>
          <p:cNvSpPr>
            <a:spLocks noGrp="1"/>
          </p:cNvSpPr>
          <p:nvPr>
            <p:ph type="sldNum" sz="quarter" idx="11"/>
          </p:nvPr>
        </p:nvSpPr>
        <p:spPr/>
        <p:txBody>
          <a:bodyPr/>
          <a:lstStyle/>
          <a:p>
            <a:fld id="{2AEAD966-1EF9-3A44-9B11-0C8090371A9A}" type="slidenum">
              <a:rPr lang="en-US" smtClean="0"/>
              <a:t>4</a:t>
            </a:fld>
            <a:endParaRPr lang="en-US"/>
          </a:p>
        </p:txBody>
      </p:sp>
      <p:sp>
        <p:nvSpPr>
          <p:cNvPr id="4" name="标题 3">
            <a:extLst>
              <a:ext uri="{FF2B5EF4-FFF2-40B4-BE49-F238E27FC236}">
                <a16:creationId xmlns:a16="http://schemas.microsoft.com/office/drawing/2014/main" id="{5C7D76CC-3FA9-4500-8F75-5A0D8878EFF2}"/>
              </a:ext>
            </a:extLst>
          </p:cNvPr>
          <p:cNvSpPr>
            <a:spLocks noGrp="1"/>
          </p:cNvSpPr>
          <p:nvPr>
            <p:ph type="title"/>
          </p:nvPr>
        </p:nvSpPr>
        <p:spPr/>
        <p:txBody>
          <a:bodyPr>
            <a:normAutofit fontScale="90000"/>
          </a:bodyPr>
          <a:lstStyle/>
          <a:p>
            <a:r>
              <a:rPr lang="en-US" altLang="zh-CN" dirty="0"/>
              <a:t>Fundamental Problem of Causal Inference</a:t>
            </a:r>
            <a:endParaRPr lang="zh-CN" altLang="en-US" dirty="0"/>
          </a:p>
        </p:txBody>
      </p:sp>
      <p:sp>
        <p:nvSpPr>
          <p:cNvPr id="5" name="日期占位符 4">
            <a:extLst>
              <a:ext uri="{FF2B5EF4-FFF2-40B4-BE49-F238E27FC236}">
                <a16:creationId xmlns:a16="http://schemas.microsoft.com/office/drawing/2014/main" id="{D5642E20-E984-4A2B-9BDD-1E158B948BD6}"/>
              </a:ext>
            </a:extLst>
          </p:cNvPr>
          <p:cNvSpPr>
            <a:spLocks noGrp="1"/>
          </p:cNvSpPr>
          <p:nvPr>
            <p:ph type="dt" sz="half" idx="12"/>
          </p:nvPr>
        </p:nvSpPr>
        <p:spPr/>
        <p:txBody>
          <a:bodyPr/>
          <a:lstStyle/>
          <a:p>
            <a:fld id="{63ADDE33-C9F1-F94F-A20E-DA422DA466DF}" type="datetime1">
              <a:rPr lang="en-US" smtClean="0"/>
              <a:t>8/31/2022</a:t>
            </a:fld>
            <a:endParaRPr lang="en-US" dirty="0"/>
          </a:p>
        </p:txBody>
      </p:sp>
      <mc:AlternateContent xmlns:mc="http://schemas.openxmlformats.org/markup-compatibility/2006">
        <mc:Choice xmlns:a14="http://schemas.microsoft.com/office/drawing/2010/main" Requires="a14">
          <p:sp>
            <p:nvSpPr>
              <p:cNvPr id="25" name="文本框 24">
                <a:extLst>
                  <a:ext uri="{FF2B5EF4-FFF2-40B4-BE49-F238E27FC236}">
                    <a16:creationId xmlns:a16="http://schemas.microsoft.com/office/drawing/2014/main" id="{FCA5B151-724E-4C16-850E-6F98E8D9ADB7}"/>
                  </a:ext>
                </a:extLst>
              </p:cNvPr>
              <p:cNvSpPr txBox="1"/>
              <p:nvPr/>
            </p:nvSpPr>
            <p:spPr>
              <a:xfrm>
                <a:off x="5505450" y="1600200"/>
                <a:ext cx="3514725" cy="1292662"/>
              </a:xfrm>
              <a:prstGeom prst="rect">
                <a:avLst/>
              </a:prstGeom>
              <a:noFill/>
            </p:spPr>
            <p:txBody>
              <a:bodyPr wrap="square" rtlCol="0">
                <a:spAutoFit/>
              </a:bodyPr>
              <a:lstStyle/>
              <a:p>
                <a:pPr/>
                <a14:m>
                  <m:oMath xmlns:m="http://schemas.openxmlformats.org/officeDocument/2006/math">
                    <m:r>
                      <a:rPr lang="en-US" altLang="zh-CN" sz="1300" b="0" i="1" smtClean="0"/>
                      <m:t>𝑇</m:t>
                    </m:r>
                  </m:oMath>
                </a14:m>
                <a:r>
                  <a:rPr lang="zh-CN" altLang="en-US" sz="1300" dirty="0"/>
                  <a:t>      </a:t>
                </a:r>
                <a:r>
                  <a:rPr lang="en-US" altLang="zh-CN" sz="1300" dirty="0"/>
                  <a:t>: observed treatment</a:t>
                </a:r>
              </a:p>
              <a:p>
                <a:pPr/>
                <a14:m>
                  <m:oMath xmlns:m="http://schemas.openxmlformats.org/officeDocument/2006/math">
                    <m:r>
                      <a:rPr lang="en-US" altLang="zh-CN" sz="1300" b="0" i="1" smtClean="0">
                        <a:latin typeface="Cambria Math" panose="02040503050406030204" pitchFamily="18" charset="0"/>
                      </a:rPr>
                      <m:t>𝑌</m:t>
                    </m:r>
                  </m:oMath>
                </a14:m>
                <a:r>
                  <a:rPr lang="zh-CN" altLang="en-US" sz="1300" dirty="0"/>
                  <a:t>      </a:t>
                </a:r>
                <a:r>
                  <a:rPr lang="en-US" altLang="zh-CN" sz="1300" dirty="0"/>
                  <a:t>: observed outcome</a:t>
                </a:r>
              </a:p>
              <a:p>
                <a:pPr/>
                <a14:m>
                  <m:oMath xmlns:m="http://schemas.openxmlformats.org/officeDocument/2006/math">
                    <m:r>
                      <a:rPr lang="en-US" altLang="zh-CN" sz="1300" b="0" i="1" smtClean="0">
                        <a:latin typeface="Cambria Math" panose="02040503050406030204" pitchFamily="18" charset="0"/>
                      </a:rPr>
                      <m:t>𝑖</m:t>
                    </m:r>
                  </m:oMath>
                </a14:m>
                <a:r>
                  <a:rPr lang="zh-CN" altLang="en-US" sz="1300" dirty="0"/>
                  <a:t>      </a:t>
                </a:r>
                <a:r>
                  <a:rPr lang="en-US" altLang="zh-CN" sz="1300" dirty="0"/>
                  <a:t> : used in subscript to denote a specific 	unit / individual</a:t>
                </a:r>
              </a:p>
              <a:p>
                <a:pPr/>
                <a14:m>
                  <m:oMath xmlns:m="http://schemas.openxmlformats.org/officeDocument/2006/math">
                    <m:sSub>
                      <m:sSubPr>
                        <m:ctrlPr>
                          <a:rPr lang="en-US" altLang="zh-CN" sz="1300" i="1">
                            <a:latin typeface="Cambria Math" panose="02040503050406030204" pitchFamily="18" charset="0"/>
                          </a:rPr>
                        </m:ctrlPr>
                      </m:sSubPr>
                      <m:e>
                        <m:r>
                          <a:rPr lang="en-US" altLang="zh-CN" sz="1300" i="1">
                            <a:latin typeface="Cambria Math" panose="02040503050406030204" pitchFamily="18" charset="0"/>
                          </a:rPr>
                          <m:t>𝑌</m:t>
                        </m:r>
                      </m:e>
                      <m:sub>
                        <m:r>
                          <a:rPr lang="en-US" altLang="zh-CN" sz="1300" i="1">
                            <a:latin typeface="Cambria Math" panose="02040503050406030204" pitchFamily="18" charset="0"/>
                          </a:rPr>
                          <m:t>𝑖</m:t>
                        </m:r>
                      </m:sub>
                    </m:sSub>
                    <m:d>
                      <m:dPr>
                        <m:ctrlPr>
                          <a:rPr lang="en-US" altLang="zh-CN" sz="1300" i="1">
                            <a:latin typeface="Cambria Math" panose="02040503050406030204" pitchFamily="18" charset="0"/>
                          </a:rPr>
                        </m:ctrlPr>
                      </m:dPr>
                      <m:e>
                        <m:r>
                          <a:rPr lang="en-US" altLang="zh-CN" sz="1300" i="1">
                            <a:latin typeface="Cambria Math" panose="02040503050406030204" pitchFamily="18" charset="0"/>
                          </a:rPr>
                          <m:t>1</m:t>
                        </m:r>
                      </m:e>
                    </m:d>
                  </m:oMath>
                </a14:m>
                <a:r>
                  <a:rPr lang="en-US" altLang="zh-CN" sz="1300" dirty="0"/>
                  <a:t> : potential outcome under treatment</a:t>
                </a:r>
              </a:p>
              <a:p>
                <a:pPr/>
                <a14:m>
                  <m:oMath xmlns:m="http://schemas.openxmlformats.org/officeDocument/2006/math">
                    <m:sSub>
                      <m:sSubPr>
                        <m:ctrlPr>
                          <a:rPr lang="en-US" altLang="zh-CN" sz="1300" i="1">
                            <a:latin typeface="Cambria Math" panose="02040503050406030204" pitchFamily="18" charset="0"/>
                          </a:rPr>
                        </m:ctrlPr>
                      </m:sSubPr>
                      <m:e>
                        <m:r>
                          <a:rPr lang="en-US" altLang="zh-CN" sz="1300" i="1">
                            <a:latin typeface="Cambria Math" panose="02040503050406030204" pitchFamily="18" charset="0"/>
                          </a:rPr>
                          <m:t>𝑌</m:t>
                        </m:r>
                      </m:e>
                      <m:sub>
                        <m:r>
                          <a:rPr lang="en-US" altLang="zh-CN" sz="1300" i="1">
                            <a:latin typeface="Cambria Math" panose="02040503050406030204" pitchFamily="18" charset="0"/>
                          </a:rPr>
                          <m:t>𝑖</m:t>
                        </m:r>
                      </m:sub>
                    </m:sSub>
                    <m:d>
                      <m:dPr>
                        <m:ctrlPr>
                          <a:rPr lang="en-US" altLang="zh-CN" sz="1300" i="1">
                            <a:latin typeface="Cambria Math" panose="02040503050406030204" pitchFamily="18" charset="0"/>
                          </a:rPr>
                        </m:ctrlPr>
                      </m:dPr>
                      <m:e>
                        <m:r>
                          <a:rPr lang="en-US" altLang="zh-CN" sz="1300" b="0" i="1" smtClean="0">
                            <a:latin typeface="Cambria Math" panose="02040503050406030204" pitchFamily="18" charset="0"/>
                          </a:rPr>
                          <m:t>0</m:t>
                        </m:r>
                      </m:e>
                    </m:d>
                  </m:oMath>
                </a14:m>
                <a:r>
                  <a:rPr lang="zh-CN" altLang="en-US" sz="1300" dirty="0"/>
                  <a:t> </a:t>
                </a:r>
                <a:r>
                  <a:rPr lang="en-US" altLang="zh-CN" sz="1300" dirty="0"/>
                  <a:t>: potential outcome under no treatment</a:t>
                </a:r>
                <a:endParaRPr lang="zh-CN" altLang="en-US" sz="1300" dirty="0"/>
              </a:p>
            </p:txBody>
          </p:sp>
        </mc:Choice>
        <mc:Fallback>
          <p:sp>
            <p:nvSpPr>
              <p:cNvPr id="25" name="文本框 24">
                <a:extLst>
                  <a:ext uri="{FF2B5EF4-FFF2-40B4-BE49-F238E27FC236}">
                    <a16:creationId xmlns:a16="http://schemas.microsoft.com/office/drawing/2014/main" id="{FCA5B151-724E-4C16-850E-6F98E8D9ADB7}"/>
                  </a:ext>
                </a:extLst>
              </p:cNvPr>
              <p:cNvSpPr txBox="1">
                <a:spLocks noRot="1" noChangeAspect="1" noMove="1" noResize="1" noEditPoints="1" noAdjustHandles="1" noChangeArrowheads="1" noChangeShapeType="1" noTextEdit="1"/>
              </p:cNvSpPr>
              <p:nvPr/>
            </p:nvSpPr>
            <p:spPr>
              <a:xfrm>
                <a:off x="5505450" y="1600200"/>
                <a:ext cx="3514725" cy="1292662"/>
              </a:xfrm>
              <a:prstGeom prst="rect">
                <a:avLst/>
              </a:prstGeom>
              <a:blipFill>
                <a:blip r:embed="rId2"/>
                <a:stretch>
                  <a:fillRect t="-472" b="-2830"/>
                </a:stretch>
              </a:blipFill>
            </p:spPr>
            <p:txBody>
              <a:bodyPr/>
              <a:lstStyle/>
              <a:p>
                <a:r>
                  <a:rPr lang="zh-CN" altLang="en-US">
                    <a:noFill/>
                  </a:rPr>
                  <a:t> </a:t>
                </a:r>
              </a:p>
            </p:txBody>
          </p:sp>
        </mc:Fallback>
      </mc:AlternateContent>
      <p:sp>
        <p:nvSpPr>
          <p:cNvPr id="26" name="矩形 25">
            <a:extLst>
              <a:ext uri="{FF2B5EF4-FFF2-40B4-BE49-F238E27FC236}">
                <a16:creationId xmlns:a16="http://schemas.microsoft.com/office/drawing/2014/main" id="{B411258B-484D-4E42-8C9D-7C1D7B73274D}"/>
              </a:ext>
            </a:extLst>
          </p:cNvPr>
          <p:cNvSpPr/>
          <p:nvPr/>
        </p:nvSpPr>
        <p:spPr>
          <a:xfrm>
            <a:off x="5391155" y="1501921"/>
            <a:ext cx="3895720" cy="1507979"/>
          </a:xfrm>
          <a:prstGeom prst="rect">
            <a:avLst/>
          </a:prstGeom>
          <a:noFill/>
          <a:ln w="2857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7" name="文本框 26">
                <a:extLst>
                  <a:ext uri="{FF2B5EF4-FFF2-40B4-BE49-F238E27FC236}">
                    <a16:creationId xmlns:a16="http://schemas.microsoft.com/office/drawing/2014/main" id="{A090DC18-5CF5-4382-9C7E-31A27AD518F2}"/>
                  </a:ext>
                </a:extLst>
              </p:cNvPr>
              <p:cNvSpPr txBox="1"/>
              <p:nvPr/>
            </p:nvSpPr>
            <p:spPr>
              <a:xfrm>
                <a:off x="5750370" y="4164863"/>
                <a:ext cx="2053340" cy="923330"/>
              </a:xfrm>
              <a:prstGeom prst="rect">
                <a:avLst/>
              </a:prstGeom>
              <a:noFill/>
            </p:spPr>
            <p:txBody>
              <a:bodyPr wrap="square" rtlCol="0">
                <a:spAutoFit/>
              </a:bodyPr>
              <a:lstStyle/>
              <a:p>
                <a:r>
                  <a:rPr lang="en-US" altLang="zh-CN" b="1" dirty="0"/>
                  <a:t>Causal effect</a:t>
                </a:r>
              </a:p>
              <a:p>
                <a:endParaRPr lang="en-US" altLang="zh-CN" dirty="0"/>
              </a:p>
              <a:p>
                <a14:m>
                  <m:oMathPara xmlns:m="http://schemas.openxmlformats.org/officeDocument/2006/math">
                    <m:oMathParaPr>
                      <m:jc m:val="centerGroup"/>
                    </m:oMathParaPr>
                    <m:oMath xmlns:m="http://schemas.openxmlformats.org/officeDocument/2006/math">
                      <m:sSub>
                        <m:sSubPr>
                          <m:ctrlPr>
                            <a:rPr lang="en-US" altLang="zh-CN" i="1" smtClean="0">
                              <a:solidFill>
                                <a:schemeClr val="bg1">
                                  <a:lumMod val="75000"/>
                                </a:schemeClr>
                              </a:solidFill>
                              <a:latin typeface="Cambria Math" panose="02040503050406030204" pitchFamily="18" charset="0"/>
                            </a:rPr>
                          </m:ctrlPr>
                        </m:sSubPr>
                        <m:e>
                          <m:r>
                            <a:rPr lang="en-US" altLang="zh-CN" i="1">
                              <a:solidFill>
                                <a:schemeClr val="bg1">
                                  <a:lumMod val="75000"/>
                                </a:schemeClr>
                              </a:solidFill>
                              <a:latin typeface="Cambria Math" panose="02040503050406030204" pitchFamily="18" charset="0"/>
                            </a:rPr>
                            <m:t>𝑌</m:t>
                          </m:r>
                        </m:e>
                        <m:sub>
                          <m:r>
                            <a:rPr lang="en-US" altLang="zh-CN" i="1">
                              <a:solidFill>
                                <a:schemeClr val="bg1">
                                  <a:lumMod val="75000"/>
                                </a:schemeClr>
                              </a:solidFill>
                              <a:latin typeface="Cambria Math" panose="02040503050406030204" pitchFamily="18" charset="0"/>
                            </a:rPr>
                            <m:t>𝑖</m:t>
                          </m:r>
                        </m:sub>
                      </m:sSub>
                      <m:d>
                        <m:dPr>
                          <m:ctrlPr>
                            <a:rPr lang="en-US" altLang="zh-CN" i="1">
                              <a:solidFill>
                                <a:schemeClr val="bg1">
                                  <a:lumMod val="75000"/>
                                </a:schemeClr>
                              </a:solidFill>
                              <a:latin typeface="Cambria Math" panose="02040503050406030204" pitchFamily="18" charset="0"/>
                            </a:rPr>
                          </m:ctrlPr>
                        </m:dPr>
                        <m:e>
                          <m:r>
                            <a:rPr lang="en-US" altLang="zh-CN" i="1">
                              <a:solidFill>
                                <a:schemeClr val="bg1">
                                  <a:lumMod val="75000"/>
                                </a:schemeClr>
                              </a:solidFill>
                              <a:latin typeface="Cambria Math" panose="02040503050406030204" pitchFamily="18" charset="0"/>
                            </a:rPr>
                            <m:t>1</m:t>
                          </m:r>
                        </m:e>
                      </m:d>
                      <m:r>
                        <a:rPr lang="en-US" altLang="zh-CN" b="0" i="0"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𝑖</m:t>
                          </m:r>
                        </m:sub>
                      </m:sSub>
                      <m:d>
                        <m:dPr>
                          <m:ctrlPr>
                            <a:rPr lang="en-US" altLang="zh-CN" i="1">
                              <a:latin typeface="Cambria Math" panose="02040503050406030204" pitchFamily="18" charset="0"/>
                            </a:rPr>
                          </m:ctrlPr>
                        </m:dPr>
                        <m:e>
                          <m:r>
                            <a:rPr lang="en-US" altLang="zh-CN" b="0" i="1" smtClean="0">
                              <a:latin typeface="Cambria Math" panose="02040503050406030204" pitchFamily="18" charset="0"/>
                            </a:rPr>
                            <m:t>0</m:t>
                          </m:r>
                        </m:e>
                      </m:d>
                      <m:r>
                        <a:rPr lang="en-US" altLang="zh-CN" b="0" i="1" smtClean="0">
                          <a:latin typeface="Cambria Math" panose="02040503050406030204" pitchFamily="18" charset="0"/>
                        </a:rPr>
                        <m:t>=</m:t>
                      </m:r>
                      <m:r>
                        <a:rPr lang="en-US" altLang="zh-CN" b="0" i="1" smtClean="0">
                          <a:solidFill>
                            <a:schemeClr val="bg1">
                              <a:lumMod val="75000"/>
                            </a:schemeClr>
                          </a:solidFill>
                          <a:latin typeface="Cambria Math" panose="02040503050406030204" pitchFamily="18" charset="0"/>
                        </a:rPr>
                        <m:t>1</m:t>
                      </m:r>
                    </m:oMath>
                  </m:oMathPara>
                </a14:m>
                <a:endParaRPr lang="zh-CN" altLang="en-US" dirty="0"/>
              </a:p>
            </p:txBody>
          </p:sp>
        </mc:Choice>
        <mc:Fallback>
          <p:sp>
            <p:nvSpPr>
              <p:cNvPr id="27" name="文本框 26">
                <a:extLst>
                  <a:ext uri="{FF2B5EF4-FFF2-40B4-BE49-F238E27FC236}">
                    <a16:creationId xmlns:a16="http://schemas.microsoft.com/office/drawing/2014/main" id="{A090DC18-5CF5-4382-9C7E-31A27AD518F2}"/>
                  </a:ext>
                </a:extLst>
              </p:cNvPr>
              <p:cNvSpPr txBox="1">
                <a:spLocks noRot="1" noChangeAspect="1" noMove="1" noResize="1" noEditPoints="1" noAdjustHandles="1" noChangeArrowheads="1" noChangeShapeType="1" noTextEdit="1"/>
              </p:cNvSpPr>
              <p:nvPr/>
            </p:nvSpPr>
            <p:spPr>
              <a:xfrm>
                <a:off x="5750370" y="4164863"/>
                <a:ext cx="2053340" cy="923330"/>
              </a:xfrm>
              <a:prstGeom prst="rect">
                <a:avLst/>
              </a:prstGeom>
              <a:blipFill>
                <a:blip r:embed="rId3"/>
                <a:stretch>
                  <a:fillRect l="-2374" t="-3289"/>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59D94AD0-1CEC-489F-8BE0-DBC2B1E174BF}"/>
              </a:ext>
            </a:extLst>
          </p:cNvPr>
          <p:cNvSpPr txBox="1"/>
          <p:nvPr/>
        </p:nvSpPr>
        <p:spPr>
          <a:xfrm>
            <a:off x="97424" y="2121377"/>
            <a:ext cx="1724025" cy="307777"/>
          </a:xfrm>
          <a:prstGeom prst="rect">
            <a:avLst/>
          </a:prstGeom>
          <a:noFill/>
        </p:spPr>
        <p:txBody>
          <a:bodyPr wrap="square" rtlCol="0">
            <a:spAutoFit/>
          </a:bodyPr>
          <a:lstStyle/>
          <a:p>
            <a:r>
              <a:rPr lang="en-US" altLang="zh-CN" sz="1400" dirty="0"/>
              <a:t>Counterfactual</a:t>
            </a:r>
            <a:endParaRPr lang="zh-CN" altLang="en-US" sz="1400" dirty="0"/>
          </a:p>
        </p:txBody>
      </p:sp>
      <p:sp>
        <p:nvSpPr>
          <p:cNvPr id="33" name="文本框 32">
            <a:extLst>
              <a:ext uri="{FF2B5EF4-FFF2-40B4-BE49-F238E27FC236}">
                <a16:creationId xmlns:a16="http://schemas.microsoft.com/office/drawing/2014/main" id="{001480AF-8C55-49B0-88D5-A3C83DC7475A}"/>
              </a:ext>
            </a:extLst>
          </p:cNvPr>
          <p:cNvSpPr txBox="1"/>
          <p:nvPr/>
        </p:nvSpPr>
        <p:spPr>
          <a:xfrm>
            <a:off x="411109" y="4661807"/>
            <a:ext cx="771450" cy="307777"/>
          </a:xfrm>
          <a:prstGeom prst="rect">
            <a:avLst/>
          </a:prstGeom>
          <a:noFill/>
        </p:spPr>
        <p:txBody>
          <a:bodyPr wrap="square" rtlCol="0">
            <a:spAutoFit/>
          </a:bodyPr>
          <a:lstStyle/>
          <a:p>
            <a:r>
              <a:rPr lang="en-US" altLang="zh-CN" sz="1400" dirty="0"/>
              <a:t>Factual</a:t>
            </a:r>
            <a:endParaRPr lang="zh-CN" altLang="en-US" sz="1400" dirty="0"/>
          </a:p>
        </p:txBody>
      </p:sp>
      <p:pic>
        <p:nvPicPr>
          <p:cNvPr id="42" name="图片 41">
            <a:extLst>
              <a:ext uri="{FF2B5EF4-FFF2-40B4-BE49-F238E27FC236}">
                <a16:creationId xmlns:a16="http://schemas.microsoft.com/office/drawing/2014/main" id="{E152DFA5-E35F-485E-9230-EA934691199A}"/>
              </a:ext>
            </a:extLst>
          </p:cNvPr>
          <p:cNvPicPr>
            <a:picLocks noChangeAspect="1"/>
          </p:cNvPicPr>
          <p:nvPr/>
        </p:nvPicPr>
        <p:blipFill>
          <a:blip r:embed="rId4"/>
          <a:stretch>
            <a:fillRect/>
          </a:stretch>
        </p:blipFill>
        <p:spPr>
          <a:xfrm>
            <a:off x="1655259" y="1897971"/>
            <a:ext cx="3419475" cy="3400425"/>
          </a:xfrm>
          <a:prstGeom prst="rect">
            <a:avLst/>
          </a:prstGeom>
        </p:spPr>
      </p:pic>
    </p:spTree>
    <p:extLst>
      <p:ext uri="{BB962C8B-B14F-4D97-AF65-F5344CB8AC3E}">
        <p14:creationId xmlns:p14="http://schemas.microsoft.com/office/powerpoint/2010/main" val="3719218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B3E3DB81-AD79-48B0-A0EC-5FEC68FF0A84}"/>
              </a:ext>
            </a:extLst>
          </p:cNvPr>
          <p:cNvSpPr>
            <a:spLocks noGrp="1"/>
          </p:cNvSpPr>
          <p:nvPr>
            <p:ph type="sldNum" sz="quarter" idx="11"/>
          </p:nvPr>
        </p:nvSpPr>
        <p:spPr/>
        <p:txBody>
          <a:bodyPr/>
          <a:lstStyle/>
          <a:p>
            <a:fld id="{2AEAD966-1EF9-3A44-9B11-0C8090371A9A}" type="slidenum">
              <a:rPr lang="en-US" smtClean="0"/>
              <a:t>5</a:t>
            </a:fld>
            <a:endParaRPr lang="en-US" dirty="0"/>
          </a:p>
        </p:txBody>
      </p:sp>
      <p:sp>
        <p:nvSpPr>
          <p:cNvPr id="4" name="标题 3">
            <a:extLst>
              <a:ext uri="{FF2B5EF4-FFF2-40B4-BE49-F238E27FC236}">
                <a16:creationId xmlns:a16="http://schemas.microsoft.com/office/drawing/2014/main" id="{5C7D76CC-3FA9-4500-8F75-5A0D8878EFF2}"/>
              </a:ext>
            </a:extLst>
          </p:cNvPr>
          <p:cNvSpPr>
            <a:spLocks noGrp="1"/>
          </p:cNvSpPr>
          <p:nvPr>
            <p:ph type="title"/>
          </p:nvPr>
        </p:nvSpPr>
        <p:spPr/>
        <p:txBody>
          <a:bodyPr>
            <a:normAutofit fontScale="90000"/>
          </a:bodyPr>
          <a:lstStyle/>
          <a:p>
            <a:r>
              <a:rPr lang="en-US" altLang="zh-CN" dirty="0"/>
              <a:t>Fundamental Problem of Causal Inference</a:t>
            </a:r>
            <a:endParaRPr lang="zh-CN" altLang="en-US" dirty="0"/>
          </a:p>
        </p:txBody>
      </p:sp>
      <p:sp>
        <p:nvSpPr>
          <p:cNvPr id="5" name="日期占位符 4">
            <a:extLst>
              <a:ext uri="{FF2B5EF4-FFF2-40B4-BE49-F238E27FC236}">
                <a16:creationId xmlns:a16="http://schemas.microsoft.com/office/drawing/2014/main" id="{D5642E20-E984-4A2B-9BDD-1E158B948BD6}"/>
              </a:ext>
            </a:extLst>
          </p:cNvPr>
          <p:cNvSpPr>
            <a:spLocks noGrp="1"/>
          </p:cNvSpPr>
          <p:nvPr>
            <p:ph type="dt" sz="half" idx="12"/>
          </p:nvPr>
        </p:nvSpPr>
        <p:spPr/>
        <p:txBody>
          <a:bodyPr/>
          <a:lstStyle/>
          <a:p>
            <a:fld id="{63ADDE33-C9F1-F94F-A20E-DA422DA466DF}" type="datetime1">
              <a:rPr lang="en-US" smtClean="0"/>
              <a:t>8/31/2022</a:t>
            </a:fld>
            <a:endParaRPr lang="en-US" dirty="0"/>
          </a:p>
        </p:txBody>
      </p:sp>
      <mc:AlternateContent xmlns:mc="http://schemas.openxmlformats.org/markup-compatibility/2006">
        <mc:Choice xmlns:a14="http://schemas.microsoft.com/office/drawing/2010/main" Requires="a14">
          <p:sp>
            <p:nvSpPr>
              <p:cNvPr id="25" name="文本框 24">
                <a:extLst>
                  <a:ext uri="{FF2B5EF4-FFF2-40B4-BE49-F238E27FC236}">
                    <a16:creationId xmlns:a16="http://schemas.microsoft.com/office/drawing/2014/main" id="{FCA5B151-724E-4C16-850E-6F98E8D9ADB7}"/>
                  </a:ext>
                </a:extLst>
              </p:cNvPr>
              <p:cNvSpPr txBox="1"/>
              <p:nvPr/>
            </p:nvSpPr>
            <p:spPr>
              <a:xfrm>
                <a:off x="5505450" y="1600200"/>
                <a:ext cx="3514725" cy="1292662"/>
              </a:xfrm>
              <a:prstGeom prst="rect">
                <a:avLst/>
              </a:prstGeom>
              <a:noFill/>
            </p:spPr>
            <p:txBody>
              <a:bodyPr wrap="square" rtlCol="0">
                <a:spAutoFit/>
              </a:bodyPr>
              <a:lstStyle/>
              <a:p>
                <a:pPr/>
                <a14:m>
                  <m:oMath xmlns:m="http://schemas.openxmlformats.org/officeDocument/2006/math">
                    <m:r>
                      <a:rPr lang="en-US" altLang="zh-CN" sz="1300" b="0" i="1" smtClean="0"/>
                      <m:t>𝑇</m:t>
                    </m:r>
                  </m:oMath>
                </a14:m>
                <a:r>
                  <a:rPr lang="zh-CN" altLang="en-US" sz="1300" dirty="0"/>
                  <a:t>      </a:t>
                </a:r>
                <a:r>
                  <a:rPr lang="en-US" altLang="zh-CN" sz="1300" dirty="0"/>
                  <a:t>: observed treatment</a:t>
                </a:r>
              </a:p>
              <a:p>
                <a:pPr/>
                <a14:m>
                  <m:oMath xmlns:m="http://schemas.openxmlformats.org/officeDocument/2006/math">
                    <m:r>
                      <a:rPr lang="en-US" altLang="zh-CN" sz="1300" b="0" i="1" smtClean="0">
                        <a:latin typeface="Cambria Math" panose="02040503050406030204" pitchFamily="18" charset="0"/>
                      </a:rPr>
                      <m:t>𝑌</m:t>
                    </m:r>
                  </m:oMath>
                </a14:m>
                <a:r>
                  <a:rPr lang="zh-CN" altLang="en-US" sz="1300" dirty="0"/>
                  <a:t>      </a:t>
                </a:r>
                <a:r>
                  <a:rPr lang="en-US" altLang="zh-CN" sz="1300" dirty="0"/>
                  <a:t>: observed outcome</a:t>
                </a:r>
              </a:p>
              <a:p>
                <a:pPr/>
                <a14:m>
                  <m:oMath xmlns:m="http://schemas.openxmlformats.org/officeDocument/2006/math">
                    <m:r>
                      <a:rPr lang="en-US" altLang="zh-CN" sz="1300" b="0" i="1" smtClean="0">
                        <a:latin typeface="Cambria Math" panose="02040503050406030204" pitchFamily="18" charset="0"/>
                      </a:rPr>
                      <m:t>𝑖</m:t>
                    </m:r>
                  </m:oMath>
                </a14:m>
                <a:r>
                  <a:rPr lang="zh-CN" altLang="en-US" sz="1300" dirty="0"/>
                  <a:t>      </a:t>
                </a:r>
                <a:r>
                  <a:rPr lang="en-US" altLang="zh-CN" sz="1300" dirty="0"/>
                  <a:t> : used in subscript to denote a specific 	unit / individual</a:t>
                </a:r>
              </a:p>
              <a:p>
                <a:pPr/>
                <a14:m>
                  <m:oMath xmlns:m="http://schemas.openxmlformats.org/officeDocument/2006/math">
                    <m:sSub>
                      <m:sSubPr>
                        <m:ctrlPr>
                          <a:rPr lang="en-US" altLang="zh-CN" sz="1300" i="1">
                            <a:latin typeface="Cambria Math" panose="02040503050406030204" pitchFamily="18" charset="0"/>
                          </a:rPr>
                        </m:ctrlPr>
                      </m:sSubPr>
                      <m:e>
                        <m:r>
                          <a:rPr lang="en-US" altLang="zh-CN" sz="1300" i="1">
                            <a:latin typeface="Cambria Math" panose="02040503050406030204" pitchFamily="18" charset="0"/>
                          </a:rPr>
                          <m:t>𝑌</m:t>
                        </m:r>
                      </m:e>
                      <m:sub>
                        <m:r>
                          <a:rPr lang="en-US" altLang="zh-CN" sz="1300" i="1">
                            <a:latin typeface="Cambria Math" panose="02040503050406030204" pitchFamily="18" charset="0"/>
                          </a:rPr>
                          <m:t>𝑖</m:t>
                        </m:r>
                      </m:sub>
                    </m:sSub>
                    <m:d>
                      <m:dPr>
                        <m:ctrlPr>
                          <a:rPr lang="en-US" altLang="zh-CN" sz="1300" i="1">
                            <a:latin typeface="Cambria Math" panose="02040503050406030204" pitchFamily="18" charset="0"/>
                          </a:rPr>
                        </m:ctrlPr>
                      </m:dPr>
                      <m:e>
                        <m:r>
                          <a:rPr lang="en-US" altLang="zh-CN" sz="1300" i="1">
                            <a:latin typeface="Cambria Math" panose="02040503050406030204" pitchFamily="18" charset="0"/>
                          </a:rPr>
                          <m:t>1</m:t>
                        </m:r>
                      </m:e>
                    </m:d>
                  </m:oMath>
                </a14:m>
                <a:r>
                  <a:rPr lang="en-US" altLang="zh-CN" sz="1300" dirty="0"/>
                  <a:t> : potential outcome under treatment</a:t>
                </a:r>
              </a:p>
              <a:p>
                <a:pPr/>
                <a14:m>
                  <m:oMath xmlns:m="http://schemas.openxmlformats.org/officeDocument/2006/math">
                    <m:sSub>
                      <m:sSubPr>
                        <m:ctrlPr>
                          <a:rPr lang="en-US" altLang="zh-CN" sz="1300" i="1">
                            <a:latin typeface="Cambria Math" panose="02040503050406030204" pitchFamily="18" charset="0"/>
                          </a:rPr>
                        </m:ctrlPr>
                      </m:sSubPr>
                      <m:e>
                        <m:r>
                          <a:rPr lang="en-US" altLang="zh-CN" sz="1300" i="1">
                            <a:latin typeface="Cambria Math" panose="02040503050406030204" pitchFamily="18" charset="0"/>
                          </a:rPr>
                          <m:t>𝑌</m:t>
                        </m:r>
                      </m:e>
                      <m:sub>
                        <m:r>
                          <a:rPr lang="en-US" altLang="zh-CN" sz="1300" i="1">
                            <a:latin typeface="Cambria Math" panose="02040503050406030204" pitchFamily="18" charset="0"/>
                          </a:rPr>
                          <m:t>𝑖</m:t>
                        </m:r>
                      </m:sub>
                    </m:sSub>
                    <m:d>
                      <m:dPr>
                        <m:ctrlPr>
                          <a:rPr lang="en-US" altLang="zh-CN" sz="1300" i="1">
                            <a:latin typeface="Cambria Math" panose="02040503050406030204" pitchFamily="18" charset="0"/>
                          </a:rPr>
                        </m:ctrlPr>
                      </m:dPr>
                      <m:e>
                        <m:r>
                          <a:rPr lang="en-US" altLang="zh-CN" sz="1300" b="0" i="1" smtClean="0">
                            <a:latin typeface="Cambria Math" panose="02040503050406030204" pitchFamily="18" charset="0"/>
                          </a:rPr>
                          <m:t>0</m:t>
                        </m:r>
                      </m:e>
                    </m:d>
                  </m:oMath>
                </a14:m>
                <a:r>
                  <a:rPr lang="zh-CN" altLang="en-US" sz="1300" dirty="0"/>
                  <a:t> </a:t>
                </a:r>
                <a:r>
                  <a:rPr lang="en-US" altLang="zh-CN" sz="1300" dirty="0"/>
                  <a:t>: potential outcome under no treatment</a:t>
                </a:r>
                <a:endParaRPr lang="zh-CN" altLang="en-US" sz="1300" dirty="0"/>
              </a:p>
            </p:txBody>
          </p:sp>
        </mc:Choice>
        <mc:Fallback>
          <p:sp>
            <p:nvSpPr>
              <p:cNvPr id="25" name="文本框 24">
                <a:extLst>
                  <a:ext uri="{FF2B5EF4-FFF2-40B4-BE49-F238E27FC236}">
                    <a16:creationId xmlns:a16="http://schemas.microsoft.com/office/drawing/2014/main" id="{FCA5B151-724E-4C16-850E-6F98E8D9ADB7}"/>
                  </a:ext>
                </a:extLst>
              </p:cNvPr>
              <p:cNvSpPr txBox="1">
                <a:spLocks noRot="1" noChangeAspect="1" noMove="1" noResize="1" noEditPoints="1" noAdjustHandles="1" noChangeArrowheads="1" noChangeShapeType="1" noTextEdit="1"/>
              </p:cNvSpPr>
              <p:nvPr/>
            </p:nvSpPr>
            <p:spPr>
              <a:xfrm>
                <a:off x="5505450" y="1600200"/>
                <a:ext cx="3514725" cy="1292662"/>
              </a:xfrm>
              <a:prstGeom prst="rect">
                <a:avLst/>
              </a:prstGeom>
              <a:blipFill>
                <a:blip r:embed="rId2"/>
                <a:stretch>
                  <a:fillRect t="-472" b="-2830"/>
                </a:stretch>
              </a:blipFill>
            </p:spPr>
            <p:txBody>
              <a:bodyPr/>
              <a:lstStyle/>
              <a:p>
                <a:r>
                  <a:rPr lang="zh-CN" altLang="en-US">
                    <a:noFill/>
                  </a:rPr>
                  <a:t> </a:t>
                </a:r>
              </a:p>
            </p:txBody>
          </p:sp>
        </mc:Fallback>
      </mc:AlternateContent>
      <p:sp>
        <p:nvSpPr>
          <p:cNvPr id="26" name="矩形 25">
            <a:extLst>
              <a:ext uri="{FF2B5EF4-FFF2-40B4-BE49-F238E27FC236}">
                <a16:creationId xmlns:a16="http://schemas.microsoft.com/office/drawing/2014/main" id="{B411258B-484D-4E42-8C9D-7C1D7B73274D}"/>
              </a:ext>
            </a:extLst>
          </p:cNvPr>
          <p:cNvSpPr/>
          <p:nvPr/>
        </p:nvSpPr>
        <p:spPr>
          <a:xfrm>
            <a:off x="5391155" y="1501921"/>
            <a:ext cx="3895720" cy="1507979"/>
          </a:xfrm>
          <a:prstGeom prst="rect">
            <a:avLst/>
          </a:prstGeom>
          <a:noFill/>
          <a:ln w="2857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7" name="文本框 26">
                <a:extLst>
                  <a:ext uri="{FF2B5EF4-FFF2-40B4-BE49-F238E27FC236}">
                    <a16:creationId xmlns:a16="http://schemas.microsoft.com/office/drawing/2014/main" id="{A090DC18-5CF5-4382-9C7E-31A27AD518F2}"/>
                  </a:ext>
                </a:extLst>
              </p:cNvPr>
              <p:cNvSpPr txBox="1"/>
              <p:nvPr/>
            </p:nvSpPr>
            <p:spPr>
              <a:xfrm>
                <a:off x="5750370" y="4164863"/>
                <a:ext cx="2053340" cy="923330"/>
              </a:xfrm>
              <a:prstGeom prst="rect">
                <a:avLst/>
              </a:prstGeom>
              <a:noFill/>
            </p:spPr>
            <p:txBody>
              <a:bodyPr wrap="square" rtlCol="0">
                <a:spAutoFit/>
              </a:bodyPr>
              <a:lstStyle/>
              <a:p>
                <a:r>
                  <a:rPr lang="en-US" altLang="zh-CN" b="1" dirty="0"/>
                  <a:t>Causal effect</a:t>
                </a:r>
              </a:p>
              <a:p>
                <a:endParaRPr lang="en-US" altLang="zh-CN" dirty="0"/>
              </a:p>
              <a:p>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𝑌</m:t>
                          </m:r>
                        </m:e>
                        <m:sub>
                          <m:r>
                            <a:rPr lang="en-US" altLang="zh-CN" i="1">
                              <a:solidFill>
                                <a:schemeClr val="tx1"/>
                              </a:solidFill>
                              <a:latin typeface="Cambria Math" panose="02040503050406030204" pitchFamily="18" charset="0"/>
                            </a:rPr>
                            <m:t>𝑖</m:t>
                          </m:r>
                        </m:sub>
                      </m:sSub>
                      <m:d>
                        <m:dPr>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1</m:t>
                          </m:r>
                        </m:e>
                      </m:d>
                      <m:r>
                        <a:rPr lang="en-US" altLang="zh-CN" b="0" i="0" smtClean="0">
                          <a:latin typeface="Cambria Math" panose="02040503050406030204" pitchFamily="18" charset="0"/>
                        </a:rPr>
                        <m:t>−</m:t>
                      </m:r>
                      <m:sSub>
                        <m:sSubPr>
                          <m:ctrlPr>
                            <a:rPr lang="en-US" altLang="zh-CN" i="1" smtClean="0">
                              <a:solidFill>
                                <a:schemeClr val="bg1">
                                  <a:lumMod val="75000"/>
                                </a:schemeClr>
                              </a:solidFill>
                              <a:latin typeface="Cambria Math" panose="02040503050406030204" pitchFamily="18" charset="0"/>
                            </a:rPr>
                          </m:ctrlPr>
                        </m:sSubPr>
                        <m:e>
                          <m:r>
                            <a:rPr lang="en-US" altLang="zh-CN" i="1">
                              <a:solidFill>
                                <a:schemeClr val="bg1">
                                  <a:lumMod val="75000"/>
                                </a:schemeClr>
                              </a:solidFill>
                              <a:latin typeface="Cambria Math" panose="02040503050406030204" pitchFamily="18" charset="0"/>
                            </a:rPr>
                            <m:t>𝑌</m:t>
                          </m:r>
                        </m:e>
                        <m:sub>
                          <m:r>
                            <a:rPr lang="en-US" altLang="zh-CN" i="1">
                              <a:solidFill>
                                <a:schemeClr val="bg1">
                                  <a:lumMod val="75000"/>
                                </a:schemeClr>
                              </a:solidFill>
                              <a:latin typeface="Cambria Math" panose="02040503050406030204" pitchFamily="18" charset="0"/>
                            </a:rPr>
                            <m:t>𝑖</m:t>
                          </m:r>
                        </m:sub>
                      </m:sSub>
                      <m:d>
                        <m:dPr>
                          <m:ctrlPr>
                            <a:rPr lang="en-US" altLang="zh-CN" i="1">
                              <a:solidFill>
                                <a:schemeClr val="bg1">
                                  <a:lumMod val="75000"/>
                                </a:schemeClr>
                              </a:solidFill>
                              <a:latin typeface="Cambria Math" panose="02040503050406030204" pitchFamily="18" charset="0"/>
                            </a:rPr>
                          </m:ctrlPr>
                        </m:dPr>
                        <m:e>
                          <m:r>
                            <a:rPr lang="en-US" altLang="zh-CN" b="0" i="1" smtClean="0">
                              <a:solidFill>
                                <a:schemeClr val="bg1">
                                  <a:lumMod val="75000"/>
                                </a:schemeClr>
                              </a:solidFill>
                              <a:latin typeface="Cambria Math" panose="02040503050406030204" pitchFamily="18" charset="0"/>
                            </a:rPr>
                            <m:t>0</m:t>
                          </m:r>
                        </m:e>
                      </m:d>
                      <m:r>
                        <a:rPr lang="en-US" altLang="zh-CN" b="0" i="1" smtClean="0">
                          <a:latin typeface="Cambria Math" panose="02040503050406030204" pitchFamily="18" charset="0"/>
                        </a:rPr>
                        <m:t>=</m:t>
                      </m:r>
                      <m:r>
                        <a:rPr lang="en-US" altLang="zh-CN" b="0" i="1" smtClean="0">
                          <a:solidFill>
                            <a:schemeClr val="bg1">
                              <a:lumMod val="75000"/>
                            </a:schemeClr>
                          </a:solidFill>
                          <a:latin typeface="Cambria Math" panose="02040503050406030204" pitchFamily="18" charset="0"/>
                        </a:rPr>
                        <m:t>1</m:t>
                      </m:r>
                    </m:oMath>
                  </m:oMathPara>
                </a14:m>
                <a:endParaRPr lang="zh-CN" altLang="en-US" dirty="0"/>
              </a:p>
            </p:txBody>
          </p:sp>
        </mc:Choice>
        <mc:Fallback>
          <p:sp>
            <p:nvSpPr>
              <p:cNvPr id="27" name="文本框 26">
                <a:extLst>
                  <a:ext uri="{FF2B5EF4-FFF2-40B4-BE49-F238E27FC236}">
                    <a16:creationId xmlns:a16="http://schemas.microsoft.com/office/drawing/2014/main" id="{A090DC18-5CF5-4382-9C7E-31A27AD518F2}"/>
                  </a:ext>
                </a:extLst>
              </p:cNvPr>
              <p:cNvSpPr txBox="1">
                <a:spLocks noRot="1" noChangeAspect="1" noMove="1" noResize="1" noEditPoints="1" noAdjustHandles="1" noChangeArrowheads="1" noChangeShapeType="1" noTextEdit="1"/>
              </p:cNvSpPr>
              <p:nvPr/>
            </p:nvSpPr>
            <p:spPr>
              <a:xfrm>
                <a:off x="5750370" y="4164863"/>
                <a:ext cx="2053340" cy="923330"/>
              </a:xfrm>
              <a:prstGeom prst="rect">
                <a:avLst/>
              </a:prstGeom>
              <a:blipFill>
                <a:blip r:embed="rId3"/>
                <a:stretch>
                  <a:fillRect l="-2374" t="-3289"/>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59D94AD0-1CEC-489F-8BE0-DBC2B1E174BF}"/>
              </a:ext>
            </a:extLst>
          </p:cNvPr>
          <p:cNvSpPr txBox="1"/>
          <p:nvPr/>
        </p:nvSpPr>
        <p:spPr>
          <a:xfrm>
            <a:off x="416452" y="2121377"/>
            <a:ext cx="864601" cy="307777"/>
          </a:xfrm>
          <a:prstGeom prst="rect">
            <a:avLst/>
          </a:prstGeom>
          <a:noFill/>
        </p:spPr>
        <p:txBody>
          <a:bodyPr wrap="square" rtlCol="0">
            <a:spAutoFit/>
          </a:bodyPr>
          <a:lstStyle/>
          <a:p>
            <a:r>
              <a:rPr lang="en-US" altLang="zh-CN" sz="1400" dirty="0"/>
              <a:t>Factual</a:t>
            </a:r>
            <a:endParaRPr lang="zh-CN" altLang="en-US" sz="1400" dirty="0"/>
          </a:p>
        </p:txBody>
      </p:sp>
      <p:sp>
        <p:nvSpPr>
          <p:cNvPr id="33" name="文本框 32">
            <a:extLst>
              <a:ext uri="{FF2B5EF4-FFF2-40B4-BE49-F238E27FC236}">
                <a16:creationId xmlns:a16="http://schemas.microsoft.com/office/drawing/2014/main" id="{001480AF-8C55-49B0-88D5-A3C83DC7475A}"/>
              </a:ext>
            </a:extLst>
          </p:cNvPr>
          <p:cNvSpPr txBox="1"/>
          <p:nvPr/>
        </p:nvSpPr>
        <p:spPr>
          <a:xfrm>
            <a:off x="100742" y="4661807"/>
            <a:ext cx="1361871" cy="307777"/>
          </a:xfrm>
          <a:prstGeom prst="rect">
            <a:avLst/>
          </a:prstGeom>
          <a:noFill/>
        </p:spPr>
        <p:txBody>
          <a:bodyPr wrap="square" rtlCol="0">
            <a:spAutoFit/>
          </a:bodyPr>
          <a:lstStyle/>
          <a:p>
            <a:r>
              <a:rPr lang="en-US" altLang="zh-CN" sz="1400" dirty="0"/>
              <a:t>Counterfactual</a:t>
            </a:r>
            <a:endParaRPr lang="zh-CN" altLang="en-US" sz="1400" dirty="0"/>
          </a:p>
        </p:txBody>
      </p:sp>
      <p:pic>
        <p:nvPicPr>
          <p:cNvPr id="45" name="图片 44">
            <a:extLst>
              <a:ext uri="{FF2B5EF4-FFF2-40B4-BE49-F238E27FC236}">
                <a16:creationId xmlns:a16="http://schemas.microsoft.com/office/drawing/2014/main" id="{363193BC-FD3B-4410-94F7-6AB5F0CE595B}"/>
              </a:ext>
            </a:extLst>
          </p:cNvPr>
          <p:cNvPicPr>
            <a:picLocks noChangeAspect="1"/>
          </p:cNvPicPr>
          <p:nvPr/>
        </p:nvPicPr>
        <p:blipFill>
          <a:blip r:embed="rId4"/>
          <a:stretch>
            <a:fillRect/>
          </a:stretch>
        </p:blipFill>
        <p:spPr>
          <a:xfrm>
            <a:off x="1693418" y="1790700"/>
            <a:ext cx="3400425" cy="3467100"/>
          </a:xfrm>
          <a:prstGeom prst="rect">
            <a:avLst/>
          </a:prstGeom>
        </p:spPr>
      </p:pic>
    </p:spTree>
    <p:extLst>
      <p:ext uri="{BB962C8B-B14F-4D97-AF65-F5344CB8AC3E}">
        <p14:creationId xmlns:p14="http://schemas.microsoft.com/office/powerpoint/2010/main" val="1158749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F6225B94-D68F-402A-91DF-5D4CE3C21B0E}"/>
              </a:ext>
            </a:extLst>
          </p:cNvPr>
          <p:cNvSpPr>
            <a:spLocks noGrp="1"/>
          </p:cNvSpPr>
          <p:nvPr>
            <p:ph type="sldNum" sz="quarter" idx="11"/>
          </p:nvPr>
        </p:nvSpPr>
        <p:spPr/>
        <p:txBody>
          <a:bodyPr/>
          <a:lstStyle/>
          <a:p>
            <a:fld id="{2AEAD966-1EF9-3A44-9B11-0C8090371A9A}" type="slidenum">
              <a:rPr lang="en-US" smtClean="0"/>
              <a:t>6</a:t>
            </a:fld>
            <a:endParaRPr lang="en-US"/>
          </a:p>
        </p:txBody>
      </p:sp>
      <p:sp>
        <p:nvSpPr>
          <p:cNvPr id="5" name="日期占位符 4">
            <a:extLst>
              <a:ext uri="{FF2B5EF4-FFF2-40B4-BE49-F238E27FC236}">
                <a16:creationId xmlns:a16="http://schemas.microsoft.com/office/drawing/2014/main" id="{833F3D21-2FFC-4225-8287-CDB039D6D398}"/>
              </a:ext>
            </a:extLst>
          </p:cNvPr>
          <p:cNvSpPr>
            <a:spLocks noGrp="1"/>
          </p:cNvSpPr>
          <p:nvPr>
            <p:ph type="dt" sz="half" idx="12"/>
          </p:nvPr>
        </p:nvSpPr>
        <p:spPr/>
        <p:txBody>
          <a:bodyPr/>
          <a:lstStyle/>
          <a:p>
            <a:fld id="{63ADDE33-C9F1-F94F-A20E-DA422DA466DF}" type="datetime1">
              <a:rPr lang="en-US" smtClean="0"/>
              <a:t>8/31/2022</a:t>
            </a:fld>
            <a:endParaRPr lang="en-US" dirty="0"/>
          </a:p>
        </p:txBody>
      </p:sp>
      <p:sp>
        <p:nvSpPr>
          <p:cNvPr id="6" name="文本框 5">
            <a:extLst>
              <a:ext uri="{FF2B5EF4-FFF2-40B4-BE49-F238E27FC236}">
                <a16:creationId xmlns:a16="http://schemas.microsoft.com/office/drawing/2014/main" id="{DF672149-5442-4BB3-B7DF-8582BC56F4AB}"/>
              </a:ext>
            </a:extLst>
          </p:cNvPr>
          <p:cNvSpPr txBox="1"/>
          <p:nvPr/>
        </p:nvSpPr>
        <p:spPr>
          <a:xfrm>
            <a:off x="1034044" y="2171067"/>
            <a:ext cx="6385932" cy="1508105"/>
          </a:xfrm>
          <a:prstGeom prst="rect">
            <a:avLst/>
          </a:prstGeom>
          <a:noFill/>
        </p:spPr>
        <p:txBody>
          <a:bodyPr wrap="square" rtlCol="0">
            <a:spAutoFit/>
          </a:bodyPr>
          <a:lstStyle/>
          <a:p>
            <a:pPr algn="ctr"/>
            <a:r>
              <a:rPr lang="en-US" altLang="zh-CN" sz="3000" b="1" dirty="0">
                <a:solidFill>
                  <a:srgbClr val="42672B"/>
                </a:solidFill>
                <a:latin typeface="+mj-lt"/>
                <a:ea typeface="+mj-ea"/>
                <a:cs typeface="+mj-cs"/>
              </a:rPr>
              <a:t>We can compute counterfactuals using a parametric SCM.</a:t>
            </a:r>
            <a:endParaRPr lang="zh-CN" altLang="en-US" sz="3000" b="1" dirty="0">
              <a:solidFill>
                <a:srgbClr val="42672B"/>
              </a:solidFill>
              <a:latin typeface="+mj-lt"/>
              <a:ea typeface="+mj-ea"/>
              <a:cs typeface="+mj-cs"/>
            </a:endParaRPr>
          </a:p>
          <a:p>
            <a:pPr algn="ctr"/>
            <a:endParaRPr lang="zh-CN" altLang="en-US" sz="3200" dirty="0">
              <a:solidFill>
                <a:schemeClr val="accent6">
                  <a:lumMod val="50000"/>
                </a:schemeClr>
              </a:solidFill>
            </a:endParaRPr>
          </a:p>
        </p:txBody>
      </p:sp>
    </p:spTree>
    <p:extLst>
      <p:ext uri="{BB962C8B-B14F-4D97-AF65-F5344CB8AC3E}">
        <p14:creationId xmlns:p14="http://schemas.microsoft.com/office/powerpoint/2010/main" val="3295041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E64B54C-2B0F-4846-8E80-632F1F11B66C}"/>
              </a:ext>
            </a:extLst>
          </p:cNvPr>
          <p:cNvSpPr>
            <a:spLocks noGrp="1"/>
          </p:cNvSpPr>
          <p:nvPr>
            <p:ph type="sldNum" sz="quarter" idx="11"/>
          </p:nvPr>
        </p:nvSpPr>
        <p:spPr/>
        <p:txBody>
          <a:bodyPr/>
          <a:lstStyle/>
          <a:p>
            <a:fld id="{2AEAD966-1EF9-3A44-9B11-0C8090371A9A}" type="slidenum">
              <a:rPr lang="en-US" smtClean="0"/>
              <a:t>7</a:t>
            </a:fld>
            <a:endParaRPr lang="en-US"/>
          </a:p>
        </p:txBody>
      </p:sp>
      <p:sp>
        <p:nvSpPr>
          <p:cNvPr id="4" name="标题 3">
            <a:extLst>
              <a:ext uri="{FF2B5EF4-FFF2-40B4-BE49-F238E27FC236}">
                <a16:creationId xmlns:a16="http://schemas.microsoft.com/office/drawing/2014/main" id="{CE772FB0-ACD6-4FE1-AADD-2FF2AE298863}"/>
              </a:ext>
            </a:extLst>
          </p:cNvPr>
          <p:cNvSpPr>
            <a:spLocks noGrp="1"/>
          </p:cNvSpPr>
          <p:nvPr>
            <p:ph type="title"/>
          </p:nvPr>
        </p:nvSpPr>
        <p:spPr/>
        <p:txBody>
          <a:bodyPr/>
          <a:lstStyle/>
          <a:p>
            <a:r>
              <a:rPr lang="en-US" altLang="zh-CN" dirty="0"/>
              <a:t>Counterfactuals</a:t>
            </a:r>
            <a:endParaRPr lang="zh-CN" altLang="en-US" dirty="0"/>
          </a:p>
        </p:txBody>
      </p:sp>
      <p:sp>
        <p:nvSpPr>
          <p:cNvPr id="5" name="日期占位符 4">
            <a:extLst>
              <a:ext uri="{FF2B5EF4-FFF2-40B4-BE49-F238E27FC236}">
                <a16:creationId xmlns:a16="http://schemas.microsoft.com/office/drawing/2014/main" id="{18A6D1D9-06BB-45A4-BC6D-3B9169691567}"/>
              </a:ext>
            </a:extLst>
          </p:cNvPr>
          <p:cNvSpPr>
            <a:spLocks noGrp="1"/>
          </p:cNvSpPr>
          <p:nvPr>
            <p:ph type="dt" sz="half" idx="12"/>
          </p:nvPr>
        </p:nvSpPr>
        <p:spPr/>
        <p:txBody>
          <a:bodyPr/>
          <a:lstStyle/>
          <a:p>
            <a:fld id="{63ADDE33-C9F1-F94F-A20E-DA422DA466DF}" type="datetime1">
              <a:rPr lang="en-US" smtClean="0"/>
              <a:t>8/31/2022</a:t>
            </a:fld>
            <a:endParaRPr lang="en-US" dirty="0"/>
          </a:p>
        </p:txBody>
      </p:sp>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73E390E5-0832-49E0-AB1D-F81F9D8815A0}"/>
                  </a:ext>
                </a:extLst>
              </p:cNvPr>
              <p:cNvSpPr txBox="1"/>
              <p:nvPr/>
            </p:nvSpPr>
            <p:spPr>
              <a:xfrm>
                <a:off x="476250" y="1438275"/>
                <a:ext cx="5010150" cy="646331"/>
              </a:xfrm>
              <a:prstGeom prst="rect">
                <a:avLst/>
              </a:prstGeom>
              <a:noFill/>
            </p:spPr>
            <p:txBody>
              <a:bodyPr wrap="square" rtlCol="0">
                <a:spAutoFit/>
              </a:bodyPr>
              <a:lstStyle/>
              <a:p>
                <a:r>
                  <a:rPr lang="en-US" altLang="zh-CN" dirty="0"/>
                  <a:t>Counterfactual: </a:t>
                </a:r>
                <a14:m>
                  <m:oMath xmlns:m="http://schemas.openxmlformats.org/officeDocument/2006/math">
                    <m:r>
                      <a:rPr lang="en-US" altLang="zh-CN" i="1">
                        <a:latin typeface="Cambria Math" panose="02040503050406030204" pitchFamily="18" charset="0"/>
                      </a:rPr>
                      <m:t>𝑃</m:t>
                    </m:r>
                    <m:d>
                      <m:dPr>
                        <m:endChr m:val="|"/>
                        <m:ctrlPr>
                          <a:rPr lang="en-US" altLang="zh-CN" i="1">
                            <a:latin typeface="Cambria Math" panose="02040503050406030204" pitchFamily="18" charset="0"/>
                          </a:rPr>
                        </m:ctrlPr>
                      </m:dPr>
                      <m:e>
                        <m:r>
                          <a:rPr lang="en-US" altLang="zh-CN" i="1">
                            <a:latin typeface="Cambria Math" panose="02040503050406030204" pitchFamily="18" charset="0"/>
                          </a:rPr>
                          <m:t>𝑌</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b="0" i="1" smtClean="0">
                            <a:latin typeface="Cambria Math" panose="02040503050406030204" pitchFamily="18" charset="0"/>
                          </a:rPr>
                          <m:t> </m:t>
                        </m:r>
                      </m:e>
                    </m:d>
                    <m:r>
                      <a:rPr lang="en-US" altLang="zh-CN" b="0" i="1" smtClean="0">
                        <a:latin typeface="Cambria Math" panose="02040503050406030204" pitchFamily="18" charset="0"/>
                      </a:rPr>
                      <m:t> </m:t>
                    </m:r>
                    <m:r>
                      <a:rPr lang="en-US" altLang="zh-CN" i="1">
                        <a:latin typeface="Cambria Math" panose="02040503050406030204" pitchFamily="18" charset="0"/>
                      </a:rPr>
                      <m:t>𝑇</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𝑡</m:t>
                        </m:r>
                      </m:e>
                      <m:sup>
                        <m:r>
                          <a:rPr lang="en-US" altLang="zh-CN" i="1">
                            <a:latin typeface="Cambria Math" panose="02040503050406030204" pitchFamily="18" charset="0"/>
                          </a:rPr>
                          <m:t>′</m:t>
                        </m:r>
                      </m:sup>
                    </m:sSup>
                    <m:r>
                      <a:rPr lang="en-US" altLang="zh-CN" i="1">
                        <a:latin typeface="Cambria Math" panose="02040503050406030204" pitchFamily="18" charset="0"/>
                      </a:rPr>
                      <m:t>,</m:t>
                    </m:r>
                    <m:r>
                      <a:rPr lang="en-US" altLang="zh-CN" i="1">
                        <a:latin typeface="Cambria Math" panose="02040503050406030204" pitchFamily="18" charset="0"/>
                      </a:rPr>
                      <m:t>𝑌</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𝑦</m:t>
                        </m:r>
                      </m:e>
                      <m:sup>
                        <m:r>
                          <a:rPr lang="en-US" altLang="zh-CN" i="1">
                            <a:latin typeface="Cambria Math" panose="02040503050406030204" pitchFamily="18" charset="0"/>
                          </a:rPr>
                          <m:t>′</m:t>
                        </m:r>
                      </m:sup>
                    </m:sSup>
                    <m:r>
                      <a:rPr lang="en-US" altLang="zh-CN" i="1">
                        <a:latin typeface="Cambria Math" panose="02040503050406030204" pitchFamily="18" charset="0"/>
                      </a:rPr>
                      <m:t>)</m:t>
                    </m:r>
                  </m:oMath>
                </a14:m>
                <a:endParaRPr lang="zh-CN" altLang="en-US" dirty="0"/>
              </a:p>
              <a:p>
                <a:endParaRPr lang="zh-CN" altLang="en-US" dirty="0"/>
              </a:p>
            </p:txBody>
          </p:sp>
        </mc:Choice>
        <mc:Fallback>
          <p:sp>
            <p:nvSpPr>
              <p:cNvPr id="8" name="文本框 7">
                <a:extLst>
                  <a:ext uri="{FF2B5EF4-FFF2-40B4-BE49-F238E27FC236}">
                    <a16:creationId xmlns:a16="http://schemas.microsoft.com/office/drawing/2014/main" id="{73E390E5-0832-49E0-AB1D-F81F9D8815A0}"/>
                  </a:ext>
                </a:extLst>
              </p:cNvPr>
              <p:cNvSpPr txBox="1">
                <a:spLocks noRot="1" noChangeAspect="1" noMove="1" noResize="1" noEditPoints="1" noAdjustHandles="1" noChangeArrowheads="1" noChangeShapeType="1" noTextEdit="1"/>
              </p:cNvSpPr>
              <p:nvPr/>
            </p:nvSpPr>
            <p:spPr>
              <a:xfrm>
                <a:off x="476250" y="1438275"/>
                <a:ext cx="5010150" cy="646331"/>
              </a:xfrm>
              <a:prstGeom prst="rect">
                <a:avLst/>
              </a:prstGeom>
              <a:blipFill>
                <a:blip r:embed="rId2"/>
                <a:stretch>
                  <a:fillRect l="-973" t="-566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10693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E64B54C-2B0F-4846-8E80-632F1F11B66C}"/>
              </a:ext>
            </a:extLst>
          </p:cNvPr>
          <p:cNvSpPr>
            <a:spLocks noGrp="1"/>
          </p:cNvSpPr>
          <p:nvPr>
            <p:ph type="sldNum" sz="quarter" idx="11"/>
          </p:nvPr>
        </p:nvSpPr>
        <p:spPr/>
        <p:txBody>
          <a:bodyPr/>
          <a:lstStyle/>
          <a:p>
            <a:fld id="{2AEAD966-1EF9-3A44-9B11-0C8090371A9A}" type="slidenum">
              <a:rPr lang="en-US" smtClean="0"/>
              <a:t>8</a:t>
            </a:fld>
            <a:endParaRPr lang="en-US"/>
          </a:p>
        </p:txBody>
      </p:sp>
      <p:sp>
        <p:nvSpPr>
          <p:cNvPr id="4" name="标题 3">
            <a:extLst>
              <a:ext uri="{FF2B5EF4-FFF2-40B4-BE49-F238E27FC236}">
                <a16:creationId xmlns:a16="http://schemas.microsoft.com/office/drawing/2014/main" id="{CE772FB0-ACD6-4FE1-AADD-2FF2AE298863}"/>
              </a:ext>
            </a:extLst>
          </p:cNvPr>
          <p:cNvSpPr>
            <a:spLocks noGrp="1"/>
          </p:cNvSpPr>
          <p:nvPr>
            <p:ph type="title"/>
          </p:nvPr>
        </p:nvSpPr>
        <p:spPr/>
        <p:txBody>
          <a:bodyPr/>
          <a:lstStyle/>
          <a:p>
            <a:r>
              <a:rPr lang="en-US" altLang="zh-CN" dirty="0"/>
              <a:t>Counterfactuals</a:t>
            </a:r>
            <a:endParaRPr lang="zh-CN" altLang="en-US" dirty="0"/>
          </a:p>
        </p:txBody>
      </p:sp>
      <p:sp>
        <p:nvSpPr>
          <p:cNvPr id="5" name="日期占位符 4">
            <a:extLst>
              <a:ext uri="{FF2B5EF4-FFF2-40B4-BE49-F238E27FC236}">
                <a16:creationId xmlns:a16="http://schemas.microsoft.com/office/drawing/2014/main" id="{18A6D1D9-06BB-45A4-BC6D-3B9169691567}"/>
              </a:ext>
            </a:extLst>
          </p:cNvPr>
          <p:cNvSpPr>
            <a:spLocks noGrp="1"/>
          </p:cNvSpPr>
          <p:nvPr>
            <p:ph type="dt" sz="half" idx="12"/>
          </p:nvPr>
        </p:nvSpPr>
        <p:spPr/>
        <p:txBody>
          <a:bodyPr/>
          <a:lstStyle/>
          <a:p>
            <a:fld id="{63ADDE33-C9F1-F94F-A20E-DA422DA466DF}" type="datetime1">
              <a:rPr lang="en-US" smtClean="0"/>
              <a:t>8/31/2022</a:t>
            </a:fld>
            <a:endParaRPr lang="en-US" dirty="0"/>
          </a:p>
        </p:txBody>
      </p:sp>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73E390E5-0832-49E0-AB1D-F81F9D8815A0}"/>
                  </a:ext>
                </a:extLst>
              </p:cNvPr>
              <p:cNvSpPr txBox="1"/>
              <p:nvPr/>
            </p:nvSpPr>
            <p:spPr>
              <a:xfrm>
                <a:off x="476250" y="1657349"/>
                <a:ext cx="5010150" cy="646331"/>
              </a:xfrm>
              <a:prstGeom prst="rect">
                <a:avLst/>
              </a:prstGeom>
              <a:noFill/>
            </p:spPr>
            <p:txBody>
              <a:bodyPr wrap="square" rtlCol="0">
                <a:spAutoFit/>
              </a:bodyPr>
              <a:lstStyle/>
              <a:p>
                <a:r>
                  <a:rPr lang="en-US" altLang="zh-CN" dirty="0"/>
                  <a:t>Counterfactual: </a:t>
                </a:r>
                <a14:m>
                  <m:oMath xmlns:m="http://schemas.openxmlformats.org/officeDocument/2006/math">
                    <m:r>
                      <a:rPr lang="en-US" altLang="zh-CN" i="1">
                        <a:latin typeface="Cambria Math" panose="02040503050406030204" pitchFamily="18" charset="0"/>
                      </a:rPr>
                      <m:t>𝑃</m:t>
                    </m:r>
                    <m:d>
                      <m:dPr>
                        <m:endChr m:val="|"/>
                        <m:ctrlPr>
                          <a:rPr lang="en-US" altLang="zh-CN" i="1">
                            <a:latin typeface="Cambria Math" panose="02040503050406030204" pitchFamily="18" charset="0"/>
                          </a:rPr>
                        </m:ctrlPr>
                      </m:dPr>
                      <m:e>
                        <m:r>
                          <a:rPr lang="en-US" altLang="zh-CN" i="1">
                            <a:latin typeface="Cambria Math" panose="02040503050406030204" pitchFamily="18" charset="0"/>
                          </a:rPr>
                          <m:t>𝑌</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b="0" i="1" smtClean="0">
                            <a:latin typeface="Cambria Math" panose="02040503050406030204" pitchFamily="18" charset="0"/>
                          </a:rPr>
                          <m:t> </m:t>
                        </m:r>
                      </m:e>
                    </m:d>
                    <m:r>
                      <a:rPr lang="en-US" altLang="zh-CN" b="0" i="1" smtClean="0">
                        <a:latin typeface="Cambria Math" panose="02040503050406030204" pitchFamily="18" charset="0"/>
                      </a:rPr>
                      <m:t> </m:t>
                    </m:r>
                    <m:r>
                      <a:rPr lang="en-US" altLang="zh-CN" i="1">
                        <a:latin typeface="Cambria Math" panose="02040503050406030204" pitchFamily="18" charset="0"/>
                      </a:rPr>
                      <m:t>𝑇</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𝑡</m:t>
                        </m:r>
                      </m:e>
                      <m:sup>
                        <m:r>
                          <a:rPr lang="en-US" altLang="zh-CN" i="1">
                            <a:latin typeface="Cambria Math" panose="02040503050406030204" pitchFamily="18" charset="0"/>
                          </a:rPr>
                          <m:t>′</m:t>
                        </m:r>
                      </m:sup>
                    </m:sSup>
                    <m:r>
                      <a:rPr lang="en-US" altLang="zh-CN" i="1">
                        <a:latin typeface="Cambria Math" panose="02040503050406030204" pitchFamily="18" charset="0"/>
                      </a:rPr>
                      <m:t>,</m:t>
                    </m:r>
                    <m:r>
                      <a:rPr lang="en-US" altLang="zh-CN" i="1">
                        <a:latin typeface="Cambria Math" panose="02040503050406030204" pitchFamily="18" charset="0"/>
                      </a:rPr>
                      <m:t>𝑌</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𝑦</m:t>
                        </m:r>
                      </m:e>
                      <m:sup>
                        <m:r>
                          <a:rPr lang="en-US" altLang="zh-CN" i="1">
                            <a:latin typeface="Cambria Math" panose="02040503050406030204" pitchFamily="18" charset="0"/>
                          </a:rPr>
                          <m:t>′</m:t>
                        </m:r>
                      </m:sup>
                    </m:sSup>
                    <m:r>
                      <a:rPr lang="en-US" altLang="zh-CN" i="1">
                        <a:latin typeface="Cambria Math" panose="02040503050406030204" pitchFamily="18" charset="0"/>
                      </a:rPr>
                      <m:t>)</m:t>
                    </m:r>
                  </m:oMath>
                </a14:m>
                <a:endParaRPr lang="zh-CN" altLang="en-US" dirty="0"/>
              </a:p>
              <a:p>
                <a:endParaRPr lang="zh-CN" altLang="en-US" dirty="0"/>
              </a:p>
            </p:txBody>
          </p:sp>
        </mc:Choice>
        <mc:Fallback>
          <p:sp>
            <p:nvSpPr>
              <p:cNvPr id="8" name="文本框 7">
                <a:extLst>
                  <a:ext uri="{FF2B5EF4-FFF2-40B4-BE49-F238E27FC236}">
                    <a16:creationId xmlns:a16="http://schemas.microsoft.com/office/drawing/2014/main" id="{73E390E5-0832-49E0-AB1D-F81F9D8815A0}"/>
                  </a:ext>
                </a:extLst>
              </p:cNvPr>
              <p:cNvSpPr txBox="1">
                <a:spLocks noRot="1" noChangeAspect="1" noMove="1" noResize="1" noEditPoints="1" noAdjustHandles="1" noChangeArrowheads="1" noChangeShapeType="1" noTextEdit="1"/>
              </p:cNvSpPr>
              <p:nvPr/>
            </p:nvSpPr>
            <p:spPr>
              <a:xfrm>
                <a:off x="476250" y="1657349"/>
                <a:ext cx="5010150" cy="646331"/>
              </a:xfrm>
              <a:prstGeom prst="rect">
                <a:avLst/>
              </a:prstGeom>
              <a:blipFill>
                <a:blip r:embed="rId2"/>
                <a:stretch>
                  <a:fillRect l="-973" t="-5660"/>
                </a:stretch>
              </a:blipFill>
            </p:spPr>
            <p:txBody>
              <a:bodyPr/>
              <a:lstStyle/>
              <a:p>
                <a:r>
                  <a:rPr lang="zh-CN" altLang="en-US">
                    <a:noFill/>
                  </a:rPr>
                  <a:t> </a:t>
                </a:r>
              </a:p>
            </p:txBody>
          </p:sp>
        </mc:Fallback>
      </mc:AlternateContent>
      <p:sp>
        <p:nvSpPr>
          <p:cNvPr id="7" name="左大括号 6">
            <a:extLst>
              <a:ext uri="{FF2B5EF4-FFF2-40B4-BE49-F238E27FC236}">
                <a16:creationId xmlns:a16="http://schemas.microsoft.com/office/drawing/2014/main" id="{1AB936BB-514D-4375-8F34-D52E203FC48D}"/>
              </a:ext>
            </a:extLst>
          </p:cNvPr>
          <p:cNvSpPr/>
          <p:nvPr/>
        </p:nvSpPr>
        <p:spPr>
          <a:xfrm rot="16200000" flipH="1">
            <a:off x="3548072" y="923923"/>
            <a:ext cx="219074" cy="1247778"/>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9" name="文本框 8">
            <a:extLst>
              <a:ext uri="{FF2B5EF4-FFF2-40B4-BE49-F238E27FC236}">
                <a16:creationId xmlns:a16="http://schemas.microsoft.com/office/drawing/2014/main" id="{6337EBB5-C535-4C3F-8B31-DDAB1189C973}"/>
              </a:ext>
            </a:extLst>
          </p:cNvPr>
          <p:cNvSpPr txBox="1"/>
          <p:nvPr/>
        </p:nvSpPr>
        <p:spPr>
          <a:xfrm>
            <a:off x="3076585" y="1117972"/>
            <a:ext cx="1162049" cy="307777"/>
          </a:xfrm>
          <a:prstGeom prst="rect">
            <a:avLst/>
          </a:prstGeom>
          <a:noFill/>
        </p:spPr>
        <p:txBody>
          <a:bodyPr wrap="square" rtlCol="0">
            <a:spAutoFit/>
          </a:bodyPr>
          <a:lstStyle/>
          <a:p>
            <a:r>
              <a:rPr lang="en-US" altLang="zh-CN" sz="1400" dirty="0"/>
              <a:t>observation</a:t>
            </a:r>
            <a:endParaRPr lang="zh-CN" altLang="en-US" sz="1400" dirty="0"/>
          </a:p>
        </p:txBody>
      </p:sp>
    </p:spTree>
    <p:extLst>
      <p:ext uri="{BB962C8B-B14F-4D97-AF65-F5344CB8AC3E}">
        <p14:creationId xmlns:p14="http://schemas.microsoft.com/office/powerpoint/2010/main" val="963052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E64B54C-2B0F-4846-8E80-632F1F11B66C}"/>
              </a:ext>
            </a:extLst>
          </p:cNvPr>
          <p:cNvSpPr>
            <a:spLocks noGrp="1"/>
          </p:cNvSpPr>
          <p:nvPr>
            <p:ph type="sldNum" sz="quarter" idx="11"/>
          </p:nvPr>
        </p:nvSpPr>
        <p:spPr/>
        <p:txBody>
          <a:bodyPr/>
          <a:lstStyle/>
          <a:p>
            <a:fld id="{2AEAD966-1EF9-3A44-9B11-0C8090371A9A}" type="slidenum">
              <a:rPr lang="en-US" smtClean="0"/>
              <a:t>9</a:t>
            </a:fld>
            <a:endParaRPr lang="en-US"/>
          </a:p>
        </p:txBody>
      </p:sp>
      <p:sp>
        <p:nvSpPr>
          <p:cNvPr id="4" name="标题 3">
            <a:extLst>
              <a:ext uri="{FF2B5EF4-FFF2-40B4-BE49-F238E27FC236}">
                <a16:creationId xmlns:a16="http://schemas.microsoft.com/office/drawing/2014/main" id="{CE772FB0-ACD6-4FE1-AADD-2FF2AE298863}"/>
              </a:ext>
            </a:extLst>
          </p:cNvPr>
          <p:cNvSpPr>
            <a:spLocks noGrp="1"/>
          </p:cNvSpPr>
          <p:nvPr>
            <p:ph type="title"/>
          </p:nvPr>
        </p:nvSpPr>
        <p:spPr/>
        <p:txBody>
          <a:bodyPr/>
          <a:lstStyle/>
          <a:p>
            <a:r>
              <a:rPr lang="en-US" altLang="zh-CN" dirty="0"/>
              <a:t>Counterfactuals</a:t>
            </a:r>
            <a:endParaRPr lang="zh-CN" altLang="en-US" dirty="0"/>
          </a:p>
        </p:txBody>
      </p:sp>
      <p:sp>
        <p:nvSpPr>
          <p:cNvPr id="5" name="日期占位符 4">
            <a:extLst>
              <a:ext uri="{FF2B5EF4-FFF2-40B4-BE49-F238E27FC236}">
                <a16:creationId xmlns:a16="http://schemas.microsoft.com/office/drawing/2014/main" id="{18A6D1D9-06BB-45A4-BC6D-3B9169691567}"/>
              </a:ext>
            </a:extLst>
          </p:cNvPr>
          <p:cNvSpPr>
            <a:spLocks noGrp="1"/>
          </p:cNvSpPr>
          <p:nvPr>
            <p:ph type="dt" sz="half" idx="12"/>
          </p:nvPr>
        </p:nvSpPr>
        <p:spPr/>
        <p:txBody>
          <a:bodyPr/>
          <a:lstStyle/>
          <a:p>
            <a:fld id="{63ADDE33-C9F1-F94F-A20E-DA422DA466DF}" type="datetime1">
              <a:rPr lang="en-US" smtClean="0"/>
              <a:t>8/31/2022</a:t>
            </a:fld>
            <a:endParaRPr lang="en-US" dirty="0"/>
          </a:p>
        </p:txBody>
      </p:sp>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73E390E5-0832-49E0-AB1D-F81F9D8815A0}"/>
                  </a:ext>
                </a:extLst>
              </p:cNvPr>
              <p:cNvSpPr txBox="1"/>
              <p:nvPr/>
            </p:nvSpPr>
            <p:spPr>
              <a:xfrm>
                <a:off x="476250" y="1657349"/>
                <a:ext cx="5010150" cy="646331"/>
              </a:xfrm>
              <a:prstGeom prst="rect">
                <a:avLst/>
              </a:prstGeom>
              <a:noFill/>
            </p:spPr>
            <p:txBody>
              <a:bodyPr wrap="square" rtlCol="0">
                <a:spAutoFit/>
              </a:bodyPr>
              <a:lstStyle/>
              <a:p>
                <a:r>
                  <a:rPr lang="en-US" altLang="zh-CN" dirty="0"/>
                  <a:t>Counterfactual: </a:t>
                </a:r>
                <a14:m>
                  <m:oMath xmlns:m="http://schemas.openxmlformats.org/officeDocument/2006/math">
                    <m:r>
                      <a:rPr lang="en-US" altLang="zh-CN" i="1">
                        <a:latin typeface="Cambria Math" panose="02040503050406030204" pitchFamily="18" charset="0"/>
                      </a:rPr>
                      <m:t>𝑃</m:t>
                    </m:r>
                    <m:d>
                      <m:dPr>
                        <m:endChr m:val="|"/>
                        <m:ctrlPr>
                          <a:rPr lang="en-US" altLang="zh-CN" i="1">
                            <a:latin typeface="Cambria Math" panose="02040503050406030204" pitchFamily="18" charset="0"/>
                          </a:rPr>
                        </m:ctrlPr>
                      </m:dPr>
                      <m:e>
                        <m:r>
                          <a:rPr lang="en-US" altLang="zh-CN" i="1">
                            <a:latin typeface="Cambria Math" panose="02040503050406030204" pitchFamily="18" charset="0"/>
                          </a:rPr>
                          <m:t>𝑌</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b="0" i="1" smtClean="0">
                            <a:latin typeface="Cambria Math" panose="02040503050406030204" pitchFamily="18" charset="0"/>
                          </a:rPr>
                          <m:t> </m:t>
                        </m:r>
                      </m:e>
                    </m:d>
                    <m:r>
                      <a:rPr lang="en-US" altLang="zh-CN" b="0" i="1" smtClean="0">
                        <a:latin typeface="Cambria Math" panose="02040503050406030204" pitchFamily="18" charset="0"/>
                      </a:rPr>
                      <m:t> </m:t>
                    </m:r>
                    <m:r>
                      <a:rPr lang="en-US" altLang="zh-CN" i="1">
                        <a:latin typeface="Cambria Math" panose="02040503050406030204" pitchFamily="18" charset="0"/>
                      </a:rPr>
                      <m:t>𝑇</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𝑡</m:t>
                        </m:r>
                      </m:e>
                      <m:sup>
                        <m:r>
                          <a:rPr lang="en-US" altLang="zh-CN" i="1">
                            <a:latin typeface="Cambria Math" panose="02040503050406030204" pitchFamily="18" charset="0"/>
                          </a:rPr>
                          <m:t>′</m:t>
                        </m:r>
                      </m:sup>
                    </m:sSup>
                    <m:r>
                      <a:rPr lang="en-US" altLang="zh-CN" i="1">
                        <a:latin typeface="Cambria Math" panose="02040503050406030204" pitchFamily="18" charset="0"/>
                      </a:rPr>
                      <m:t>,</m:t>
                    </m:r>
                    <m:r>
                      <a:rPr lang="en-US" altLang="zh-CN" i="1">
                        <a:latin typeface="Cambria Math" panose="02040503050406030204" pitchFamily="18" charset="0"/>
                      </a:rPr>
                      <m:t>𝑌</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𝑦</m:t>
                        </m:r>
                      </m:e>
                      <m:sup>
                        <m:r>
                          <a:rPr lang="en-US" altLang="zh-CN" i="1">
                            <a:latin typeface="Cambria Math" panose="02040503050406030204" pitchFamily="18" charset="0"/>
                          </a:rPr>
                          <m:t>′</m:t>
                        </m:r>
                      </m:sup>
                    </m:sSup>
                    <m:r>
                      <a:rPr lang="en-US" altLang="zh-CN" i="1">
                        <a:latin typeface="Cambria Math" panose="02040503050406030204" pitchFamily="18" charset="0"/>
                      </a:rPr>
                      <m:t>)</m:t>
                    </m:r>
                  </m:oMath>
                </a14:m>
                <a:endParaRPr lang="zh-CN" altLang="en-US" dirty="0"/>
              </a:p>
              <a:p>
                <a:endParaRPr lang="zh-CN" altLang="en-US" dirty="0"/>
              </a:p>
            </p:txBody>
          </p:sp>
        </mc:Choice>
        <mc:Fallback>
          <p:sp>
            <p:nvSpPr>
              <p:cNvPr id="8" name="文本框 7">
                <a:extLst>
                  <a:ext uri="{FF2B5EF4-FFF2-40B4-BE49-F238E27FC236}">
                    <a16:creationId xmlns:a16="http://schemas.microsoft.com/office/drawing/2014/main" id="{73E390E5-0832-49E0-AB1D-F81F9D8815A0}"/>
                  </a:ext>
                </a:extLst>
              </p:cNvPr>
              <p:cNvSpPr txBox="1">
                <a:spLocks noRot="1" noChangeAspect="1" noMove="1" noResize="1" noEditPoints="1" noAdjustHandles="1" noChangeArrowheads="1" noChangeShapeType="1" noTextEdit="1"/>
              </p:cNvSpPr>
              <p:nvPr/>
            </p:nvSpPr>
            <p:spPr>
              <a:xfrm>
                <a:off x="476250" y="1657349"/>
                <a:ext cx="5010150" cy="646331"/>
              </a:xfrm>
              <a:prstGeom prst="rect">
                <a:avLst/>
              </a:prstGeom>
              <a:blipFill>
                <a:blip r:embed="rId2"/>
                <a:stretch>
                  <a:fillRect l="-973" t="-5660"/>
                </a:stretch>
              </a:blipFill>
            </p:spPr>
            <p:txBody>
              <a:bodyPr/>
              <a:lstStyle/>
              <a:p>
                <a:r>
                  <a:rPr lang="zh-CN" altLang="en-US">
                    <a:noFill/>
                  </a:rPr>
                  <a:t> </a:t>
                </a:r>
              </a:p>
            </p:txBody>
          </p:sp>
        </mc:Fallback>
      </mc:AlternateContent>
      <p:sp>
        <p:nvSpPr>
          <p:cNvPr id="7" name="左大括号 6">
            <a:extLst>
              <a:ext uri="{FF2B5EF4-FFF2-40B4-BE49-F238E27FC236}">
                <a16:creationId xmlns:a16="http://schemas.microsoft.com/office/drawing/2014/main" id="{1AB936BB-514D-4375-8F34-D52E203FC48D}"/>
              </a:ext>
            </a:extLst>
          </p:cNvPr>
          <p:cNvSpPr/>
          <p:nvPr/>
        </p:nvSpPr>
        <p:spPr>
          <a:xfrm rot="16200000" flipH="1">
            <a:off x="3548072" y="923923"/>
            <a:ext cx="219074" cy="1247778"/>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9" name="文本框 8">
            <a:extLst>
              <a:ext uri="{FF2B5EF4-FFF2-40B4-BE49-F238E27FC236}">
                <a16:creationId xmlns:a16="http://schemas.microsoft.com/office/drawing/2014/main" id="{6337EBB5-C535-4C3F-8B31-DDAB1189C973}"/>
              </a:ext>
            </a:extLst>
          </p:cNvPr>
          <p:cNvSpPr txBox="1"/>
          <p:nvPr/>
        </p:nvSpPr>
        <p:spPr>
          <a:xfrm>
            <a:off x="3119449" y="1117972"/>
            <a:ext cx="1162049" cy="276999"/>
          </a:xfrm>
          <a:prstGeom prst="rect">
            <a:avLst/>
          </a:prstGeom>
          <a:noFill/>
        </p:spPr>
        <p:txBody>
          <a:bodyPr wrap="square" rtlCol="0">
            <a:spAutoFit/>
          </a:bodyPr>
          <a:lstStyle/>
          <a:p>
            <a:r>
              <a:rPr lang="en-US" altLang="zh-CN" sz="1200" dirty="0"/>
              <a:t>observation</a:t>
            </a:r>
            <a:endParaRPr lang="zh-CN" altLang="en-US" sz="1200" dirty="0"/>
          </a:p>
        </p:txBody>
      </p:sp>
      <p:cxnSp>
        <p:nvCxnSpPr>
          <p:cNvPr id="6" name="直接箭头连接符 5">
            <a:extLst>
              <a:ext uri="{FF2B5EF4-FFF2-40B4-BE49-F238E27FC236}">
                <a16:creationId xmlns:a16="http://schemas.microsoft.com/office/drawing/2014/main" id="{A7300724-37CC-423B-B514-1A7AA573A7D2}"/>
              </a:ext>
            </a:extLst>
          </p:cNvPr>
          <p:cNvCxnSpPr>
            <a:cxnSpLocks/>
          </p:cNvCxnSpPr>
          <p:nvPr/>
        </p:nvCxnSpPr>
        <p:spPr>
          <a:xfrm flipV="1">
            <a:off x="2562225" y="2028825"/>
            <a:ext cx="0" cy="3524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333A03A7-EB67-43D8-9D14-ACD68DF69708}"/>
              </a:ext>
            </a:extLst>
          </p:cNvPr>
          <p:cNvSpPr txBox="1"/>
          <p:nvPr/>
        </p:nvSpPr>
        <p:spPr>
          <a:xfrm>
            <a:off x="1655259" y="2376904"/>
            <a:ext cx="1685925" cy="276999"/>
          </a:xfrm>
          <a:prstGeom prst="rect">
            <a:avLst/>
          </a:prstGeom>
          <a:noFill/>
        </p:spPr>
        <p:txBody>
          <a:bodyPr wrap="square" rtlCol="0">
            <a:spAutoFit/>
          </a:bodyPr>
          <a:lstStyle/>
          <a:p>
            <a:r>
              <a:rPr lang="en-US" altLang="zh-CN" sz="1200" dirty="0"/>
              <a:t>hypothetical condition</a:t>
            </a:r>
            <a:endParaRPr lang="zh-CN" altLang="en-US" sz="1200" dirty="0"/>
          </a:p>
        </p:txBody>
      </p:sp>
    </p:spTree>
    <p:extLst>
      <p:ext uri="{BB962C8B-B14F-4D97-AF65-F5344CB8AC3E}">
        <p14:creationId xmlns:p14="http://schemas.microsoft.com/office/powerpoint/2010/main" val="2371412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E64B54C-2B0F-4846-8E80-632F1F11B66C}"/>
              </a:ext>
            </a:extLst>
          </p:cNvPr>
          <p:cNvSpPr>
            <a:spLocks noGrp="1"/>
          </p:cNvSpPr>
          <p:nvPr>
            <p:ph type="sldNum" sz="quarter" idx="11"/>
          </p:nvPr>
        </p:nvSpPr>
        <p:spPr/>
        <p:txBody>
          <a:bodyPr/>
          <a:lstStyle/>
          <a:p>
            <a:fld id="{2AEAD966-1EF9-3A44-9B11-0C8090371A9A}" type="slidenum">
              <a:rPr lang="en-US" smtClean="0"/>
              <a:t>10</a:t>
            </a:fld>
            <a:endParaRPr lang="en-US"/>
          </a:p>
        </p:txBody>
      </p:sp>
      <p:sp>
        <p:nvSpPr>
          <p:cNvPr id="4" name="标题 3">
            <a:extLst>
              <a:ext uri="{FF2B5EF4-FFF2-40B4-BE49-F238E27FC236}">
                <a16:creationId xmlns:a16="http://schemas.microsoft.com/office/drawing/2014/main" id="{CE772FB0-ACD6-4FE1-AADD-2FF2AE298863}"/>
              </a:ext>
            </a:extLst>
          </p:cNvPr>
          <p:cNvSpPr>
            <a:spLocks noGrp="1"/>
          </p:cNvSpPr>
          <p:nvPr>
            <p:ph type="title"/>
          </p:nvPr>
        </p:nvSpPr>
        <p:spPr/>
        <p:txBody>
          <a:bodyPr/>
          <a:lstStyle/>
          <a:p>
            <a:r>
              <a:rPr lang="en-US" altLang="zh-CN" dirty="0"/>
              <a:t>Counterfactuals</a:t>
            </a:r>
            <a:endParaRPr lang="zh-CN" altLang="en-US" dirty="0"/>
          </a:p>
        </p:txBody>
      </p:sp>
      <p:sp>
        <p:nvSpPr>
          <p:cNvPr id="5" name="日期占位符 4">
            <a:extLst>
              <a:ext uri="{FF2B5EF4-FFF2-40B4-BE49-F238E27FC236}">
                <a16:creationId xmlns:a16="http://schemas.microsoft.com/office/drawing/2014/main" id="{18A6D1D9-06BB-45A4-BC6D-3B9169691567}"/>
              </a:ext>
            </a:extLst>
          </p:cNvPr>
          <p:cNvSpPr>
            <a:spLocks noGrp="1"/>
          </p:cNvSpPr>
          <p:nvPr>
            <p:ph type="dt" sz="half" idx="12"/>
          </p:nvPr>
        </p:nvSpPr>
        <p:spPr/>
        <p:txBody>
          <a:bodyPr/>
          <a:lstStyle/>
          <a:p>
            <a:fld id="{63ADDE33-C9F1-F94F-A20E-DA422DA466DF}" type="datetime1">
              <a:rPr lang="en-US" smtClean="0"/>
              <a:t>8/31/2022</a:t>
            </a:fld>
            <a:endParaRPr lang="en-US" dirty="0"/>
          </a:p>
        </p:txBody>
      </p:sp>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73E390E5-0832-49E0-AB1D-F81F9D8815A0}"/>
                  </a:ext>
                </a:extLst>
              </p:cNvPr>
              <p:cNvSpPr txBox="1"/>
              <p:nvPr/>
            </p:nvSpPr>
            <p:spPr>
              <a:xfrm>
                <a:off x="476250" y="1657349"/>
                <a:ext cx="5010150" cy="646331"/>
              </a:xfrm>
              <a:prstGeom prst="rect">
                <a:avLst/>
              </a:prstGeom>
              <a:noFill/>
            </p:spPr>
            <p:txBody>
              <a:bodyPr wrap="square" rtlCol="0">
                <a:spAutoFit/>
              </a:bodyPr>
              <a:lstStyle/>
              <a:p>
                <a:r>
                  <a:rPr lang="en-US" altLang="zh-CN" dirty="0"/>
                  <a:t>Counterfactual: </a:t>
                </a:r>
                <a14:m>
                  <m:oMath xmlns:m="http://schemas.openxmlformats.org/officeDocument/2006/math">
                    <m:r>
                      <a:rPr lang="en-US" altLang="zh-CN" i="1">
                        <a:latin typeface="Cambria Math" panose="02040503050406030204" pitchFamily="18" charset="0"/>
                      </a:rPr>
                      <m:t>𝑃</m:t>
                    </m:r>
                    <m:d>
                      <m:dPr>
                        <m:endChr m:val="|"/>
                        <m:ctrlPr>
                          <a:rPr lang="en-US" altLang="zh-CN" i="1">
                            <a:latin typeface="Cambria Math" panose="02040503050406030204" pitchFamily="18" charset="0"/>
                          </a:rPr>
                        </m:ctrlPr>
                      </m:dPr>
                      <m:e>
                        <m:r>
                          <a:rPr lang="en-US" altLang="zh-CN" i="1">
                            <a:latin typeface="Cambria Math" panose="02040503050406030204" pitchFamily="18" charset="0"/>
                          </a:rPr>
                          <m:t>𝑌</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b="0" i="1" smtClean="0">
                            <a:latin typeface="Cambria Math" panose="02040503050406030204" pitchFamily="18" charset="0"/>
                          </a:rPr>
                          <m:t> </m:t>
                        </m:r>
                      </m:e>
                    </m:d>
                    <m:r>
                      <a:rPr lang="en-US" altLang="zh-CN" b="0" i="1" smtClean="0">
                        <a:latin typeface="Cambria Math" panose="02040503050406030204" pitchFamily="18" charset="0"/>
                      </a:rPr>
                      <m:t> </m:t>
                    </m:r>
                    <m:r>
                      <a:rPr lang="en-US" altLang="zh-CN" i="1">
                        <a:latin typeface="Cambria Math" panose="02040503050406030204" pitchFamily="18" charset="0"/>
                      </a:rPr>
                      <m:t>𝑇</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𝑡</m:t>
                        </m:r>
                      </m:e>
                      <m:sup>
                        <m:r>
                          <a:rPr lang="en-US" altLang="zh-CN" i="1">
                            <a:latin typeface="Cambria Math" panose="02040503050406030204" pitchFamily="18" charset="0"/>
                          </a:rPr>
                          <m:t>′</m:t>
                        </m:r>
                      </m:sup>
                    </m:sSup>
                    <m:r>
                      <a:rPr lang="en-US" altLang="zh-CN" i="1">
                        <a:latin typeface="Cambria Math" panose="02040503050406030204" pitchFamily="18" charset="0"/>
                      </a:rPr>
                      <m:t>,</m:t>
                    </m:r>
                    <m:r>
                      <a:rPr lang="en-US" altLang="zh-CN" i="1">
                        <a:latin typeface="Cambria Math" panose="02040503050406030204" pitchFamily="18" charset="0"/>
                      </a:rPr>
                      <m:t>𝑌</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𝑦</m:t>
                        </m:r>
                      </m:e>
                      <m:sup>
                        <m:r>
                          <a:rPr lang="en-US" altLang="zh-CN" i="1">
                            <a:latin typeface="Cambria Math" panose="02040503050406030204" pitchFamily="18" charset="0"/>
                          </a:rPr>
                          <m:t>′</m:t>
                        </m:r>
                      </m:sup>
                    </m:sSup>
                    <m:r>
                      <a:rPr lang="en-US" altLang="zh-CN" i="1">
                        <a:latin typeface="Cambria Math" panose="02040503050406030204" pitchFamily="18" charset="0"/>
                      </a:rPr>
                      <m:t>)</m:t>
                    </m:r>
                  </m:oMath>
                </a14:m>
                <a:endParaRPr lang="zh-CN" altLang="en-US" dirty="0"/>
              </a:p>
              <a:p>
                <a:endParaRPr lang="zh-CN" altLang="en-US" dirty="0"/>
              </a:p>
            </p:txBody>
          </p:sp>
        </mc:Choice>
        <mc:Fallback>
          <p:sp>
            <p:nvSpPr>
              <p:cNvPr id="8" name="文本框 7">
                <a:extLst>
                  <a:ext uri="{FF2B5EF4-FFF2-40B4-BE49-F238E27FC236}">
                    <a16:creationId xmlns:a16="http://schemas.microsoft.com/office/drawing/2014/main" id="{73E390E5-0832-49E0-AB1D-F81F9D8815A0}"/>
                  </a:ext>
                </a:extLst>
              </p:cNvPr>
              <p:cNvSpPr txBox="1">
                <a:spLocks noRot="1" noChangeAspect="1" noMove="1" noResize="1" noEditPoints="1" noAdjustHandles="1" noChangeArrowheads="1" noChangeShapeType="1" noTextEdit="1"/>
              </p:cNvSpPr>
              <p:nvPr/>
            </p:nvSpPr>
            <p:spPr>
              <a:xfrm>
                <a:off x="476250" y="1657349"/>
                <a:ext cx="5010150" cy="646331"/>
              </a:xfrm>
              <a:prstGeom prst="rect">
                <a:avLst/>
              </a:prstGeom>
              <a:blipFill>
                <a:blip r:embed="rId2"/>
                <a:stretch>
                  <a:fillRect l="-973" t="-5660"/>
                </a:stretch>
              </a:blipFill>
            </p:spPr>
            <p:txBody>
              <a:bodyPr/>
              <a:lstStyle/>
              <a:p>
                <a:r>
                  <a:rPr lang="zh-CN" altLang="en-US">
                    <a:noFill/>
                  </a:rPr>
                  <a:t> </a:t>
                </a:r>
              </a:p>
            </p:txBody>
          </p:sp>
        </mc:Fallback>
      </mc:AlternateContent>
      <p:sp>
        <p:nvSpPr>
          <p:cNvPr id="7" name="左大括号 6">
            <a:extLst>
              <a:ext uri="{FF2B5EF4-FFF2-40B4-BE49-F238E27FC236}">
                <a16:creationId xmlns:a16="http://schemas.microsoft.com/office/drawing/2014/main" id="{1AB936BB-514D-4375-8F34-D52E203FC48D}"/>
              </a:ext>
            </a:extLst>
          </p:cNvPr>
          <p:cNvSpPr/>
          <p:nvPr/>
        </p:nvSpPr>
        <p:spPr>
          <a:xfrm rot="16200000" flipH="1">
            <a:off x="3548072" y="923923"/>
            <a:ext cx="219074" cy="1247778"/>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9" name="文本框 8">
            <a:extLst>
              <a:ext uri="{FF2B5EF4-FFF2-40B4-BE49-F238E27FC236}">
                <a16:creationId xmlns:a16="http://schemas.microsoft.com/office/drawing/2014/main" id="{6337EBB5-C535-4C3F-8B31-DDAB1189C973}"/>
              </a:ext>
            </a:extLst>
          </p:cNvPr>
          <p:cNvSpPr txBox="1"/>
          <p:nvPr/>
        </p:nvSpPr>
        <p:spPr>
          <a:xfrm>
            <a:off x="3119449" y="1117972"/>
            <a:ext cx="1162049" cy="276999"/>
          </a:xfrm>
          <a:prstGeom prst="rect">
            <a:avLst/>
          </a:prstGeom>
          <a:noFill/>
        </p:spPr>
        <p:txBody>
          <a:bodyPr wrap="square" rtlCol="0">
            <a:spAutoFit/>
          </a:bodyPr>
          <a:lstStyle/>
          <a:p>
            <a:r>
              <a:rPr lang="en-US" altLang="zh-CN" sz="1200" dirty="0"/>
              <a:t>observation</a:t>
            </a:r>
            <a:endParaRPr lang="zh-CN" altLang="en-US" sz="1200" dirty="0"/>
          </a:p>
        </p:txBody>
      </p:sp>
      <p:cxnSp>
        <p:nvCxnSpPr>
          <p:cNvPr id="6" name="直接箭头连接符 5">
            <a:extLst>
              <a:ext uri="{FF2B5EF4-FFF2-40B4-BE49-F238E27FC236}">
                <a16:creationId xmlns:a16="http://schemas.microsoft.com/office/drawing/2014/main" id="{A7300724-37CC-423B-B514-1A7AA573A7D2}"/>
              </a:ext>
            </a:extLst>
          </p:cNvPr>
          <p:cNvCxnSpPr>
            <a:cxnSpLocks/>
          </p:cNvCxnSpPr>
          <p:nvPr/>
        </p:nvCxnSpPr>
        <p:spPr>
          <a:xfrm flipV="1">
            <a:off x="2562225" y="2028825"/>
            <a:ext cx="0" cy="3524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333A03A7-EB67-43D8-9D14-ACD68DF69708}"/>
              </a:ext>
            </a:extLst>
          </p:cNvPr>
          <p:cNvSpPr txBox="1"/>
          <p:nvPr/>
        </p:nvSpPr>
        <p:spPr>
          <a:xfrm>
            <a:off x="1655259" y="2376904"/>
            <a:ext cx="1685925" cy="276999"/>
          </a:xfrm>
          <a:prstGeom prst="rect">
            <a:avLst/>
          </a:prstGeom>
          <a:noFill/>
        </p:spPr>
        <p:txBody>
          <a:bodyPr wrap="square" rtlCol="0">
            <a:spAutoFit/>
          </a:bodyPr>
          <a:lstStyle/>
          <a:p>
            <a:r>
              <a:rPr lang="en-US" altLang="zh-CN" sz="1200" dirty="0"/>
              <a:t>hypothetical condition</a:t>
            </a:r>
            <a:endParaRPr lang="zh-CN" altLang="en-US" sz="1200" dirty="0"/>
          </a:p>
        </p:txBody>
      </p:sp>
      <mc:AlternateContent xmlns:mc="http://schemas.openxmlformats.org/markup-compatibility/2006">
        <mc:Choice xmlns:a14="http://schemas.microsoft.com/office/drawing/2010/main" Requires="a14">
          <p:sp>
            <p:nvSpPr>
              <p:cNvPr id="2" name="文本框 1">
                <a:extLst>
                  <a:ext uri="{FF2B5EF4-FFF2-40B4-BE49-F238E27FC236}">
                    <a16:creationId xmlns:a16="http://schemas.microsoft.com/office/drawing/2014/main" id="{AE698F0C-B743-4DA0-A043-EB215EFAD4D7}"/>
                  </a:ext>
                </a:extLst>
              </p:cNvPr>
              <p:cNvSpPr txBox="1"/>
              <p:nvPr/>
            </p:nvSpPr>
            <p:spPr>
              <a:xfrm>
                <a:off x="624468" y="3143250"/>
                <a:ext cx="4176132" cy="369332"/>
              </a:xfrm>
              <a:prstGeom prst="rect">
                <a:avLst/>
              </a:prstGeom>
              <a:noFill/>
            </p:spPr>
            <p:txBody>
              <a:bodyPr wrap="square" rtlCol="0">
                <a:spAutoFit/>
              </a:bodyPr>
              <a:lstStyle/>
              <a:p>
                <a:r>
                  <a:rPr lang="en-US" altLang="zh-CN" dirty="0"/>
                  <a:t>Different from CATE: </a:t>
                </a:r>
                <a14:m>
                  <m:oMath xmlns:m="http://schemas.openxmlformats.org/officeDocument/2006/math">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𝑌</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e>
                        </m:d>
                        <m:r>
                          <a:rPr lang="en-US" altLang="zh-CN" b="0" i="1" smtClean="0">
                            <a:latin typeface="Cambria Math" panose="02040503050406030204" pitchFamily="18" charset="0"/>
                          </a:rPr>
                          <m:t> </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𝑋</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oMath>
                </a14:m>
                <a:endParaRPr lang="zh-CN" altLang="en-US" dirty="0"/>
              </a:p>
            </p:txBody>
          </p:sp>
        </mc:Choice>
        <mc:Fallback>
          <p:sp>
            <p:nvSpPr>
              <p:cNvPr id="2" name="文本框 1">
                <a:extLst>
                  <a:ext uri="{FF2B5EF4-FFF2-40B4-BE49-F238E27FC236}">
                    <a16:creationId xmlns:a16="http://schemas.microsoft.com/office/drawing/2014/main" id="{AE698F0C-B743-4DA0-A043-EB215EFAD4D7}"/>
                  </a:ext>
                </a:extLst>
              </p:cNvPr>
              <p:cNvSpPr txBox="1">
                <a:spLocks noRot="1" noChangeAspect="1" noMove="1" noResize="1" noEditPoints="1" noAdjustHandles="1" noChangeArrowheads="1" noChangeShapeType="1" noTextEdit="1"/>
              </p:cNvSpPr>
              <p:nvPr/>
            </p:nvSpPr>
            <p:spPr>
              <a:xfrm>
                <a:off x="624468" y="3143250"/>
                <a:ext cx="4176132" cy="369332"/>
              </a:xfrm>
              <a:prstGeom prst="rect">
                <a:avLst/>
              </a:prstGeom>
              <a:blipFill>
                <a:blip r:embed="rId3"/>
                <a:stretch>
                  <a:fillRect l="-1166" t="-10000" b="-2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48485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E64B54C-2B0F-4846-8E80-632F1F11B66C}"/>
              </a:ext>
            </a:extLst>
          </p:cNvPr>
          <p:cNvSpPr>
            <a:spLocks noGrp="1"/>
          </p:cNvSpPr>
          <p:nvPr>
            <p:ph type="sldNum" sz="quarter" idx="11"/>
          </p:nvPr>
        </p:nvSpPr>
        <p:spPr/>
        <p:txBody>
          <a:bodyPr/>
          <a:lstStyle/>
          <a:p>
            <a:fld id="{2AEAD966-1EF9-3A44-9B11-0C8090371A9A}" type="slidenum">
              <a:rPr lang="en-US" smtClean="0"/>
              <a:t>11</a:t>
            </a:fld>
            <a:endParaRPr lang="en-US"/>
          </a:p>
        </p:txBody>
      </p:sp>
      <p:sp>
        <p:nvSpPr>
          <p:cNvPr id="4" name="标题 3">
            <a:extLst>
              <a:ext uri="{FF2B5EF4-FFF2-40B4-BE49-F238E27FC236}">
                <a16:creationId xmlns:a16="http://schemas.microsoft.com/office/drawing/2014/main" id="{CE772FB0-ACD6-4FE1-AADD-2FF2AE298863}"/>
              </a:ext>
            </a:extLst>
          </p:cNvPr>
          <p:cNvSpPr>
            <a:spLocks noGrp="1"/>
          </p:cNvSpPr>
          <p:nvPr>
            <p:ph type="title"/>
          </p:nvPr>
        </p:nvSpPr>
        <p:spPr/>
        <p:txBody>
          <a:bodyPr/>
          <a:lstStyle/>
          <a:p>
            <a:r>
              <a:rPr lang="en-US" altLang="zh-CN" dirty="0"/>
              <a:t>Counterfactuals</a:t>
            </a:r>
            <a:endParaRPr lang="zh-CN" altLang="en-US" dirty="0"/>
          </a:p>
        </p:txBody>
      </p:sp>
      <p:sp>
        <p:nvSpPr>
          <p:cNvPr id="5" name="日期占位符 4">
            <a:extLst>
              <a:ext uri="{FF2B5EF4-FFF2-40B4-BE49-F238E27FC236}">
                <a16:creationId xmlns:a16="http://schemas.microsoft.com/office/drawing/2014/main" id="{18A6D1D9-06BB-45A4-BC6D-3B9169691567}"/>
              </a:ext>
            </a:extLst>
          </p:cNvPr>
          <p:cNvSpPr>
            <a:spLocks noGrp="1"/>
          </p:cNvSpPr>
          <p:nvPr>
            <p:ph type="dt" sz="half" idx="12"/>
          </p:nvPr>
        </p:nvSpPr>
        <p:spPr/>
        <p:txBody>
          <a:bodyPr/>
          <a:lstStyle/>
          <a:p>
            <a:fld id="{63ADDE33-C9F1-F94F-A20E-DA422DA466DF}" type="datetime1">
              <a:rPr lang="en-US" smtClean="0"/>
              <a:t>8/31/2022</a:t>
            </a:fld>
            <a:endParaRPr lang="en-US" dirty="0"/>
          </a:p>
        </p:txBody>
      </p:sp>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73E390E5-0832-49E0-AB1D-F81F9D8815A0}"/>
                  </a:ext>
                </a:extLst>
              </p:cNvPr>
              <p:cNvSpPr txBox="1"/>
              <p:nvPr/>
            </p:nvSpPr>
            <p:spPr>
              <a:xfrm>
                <a:off x="476250" y="1657349"/>
                <a:ext cx="5010150" cy="646331"/>
              </a:xfrm>
              <a:prstGeom prst="rect">
                <a:avLst/>
              </a:prstGeom>
              <a:noFill/>
            </p:spPr>
            <p:txBody>
              <a:bodyPr wrap="square" rtlCol="0">
                <a:spAutoFit/>
              </a:bodyPr>
              <a:lstStyle/>
              <a:p>
                <a:r>
                  <a:rPr lang="en-US" altLang="zh-CN" dirty="0"/>
                  <a:t>Counterfactual: </a:t>
                </a:r>
                <a14:m>
                  <m:oMath xmlns:m="http://schemas.openxmlformats.org/officeDocument/2006/math">
                    <m:r>
                      <a:rPr lang="en-US" altLang="zh-CN" i="1">
                        <a:latin typeface="Cambria Math" panose="02040503050406030204" pitchFamily="18" charset="0"/>
                      </a:rPr>
                      <m:t>𝑃</m:t>
                    </m:r>
                    <m:d>
                      <m:dPr>
                        <m:endChr m:val="|"/>
                        <m:ctrlPr>
                          <a:rPr lang="en-US" altLang="zh-CN" i="1">
                            <a:latin typeface="Cambria Math" panose="02040503050406030204" pitchFamily="18" charset="0"/>
                          </a:rPr>
                        </m:ctrlPr>
                      </m:dPr>
                      <m:e>
                        <m:r>
                          <a:rPr lang="en-US" altLang="zh-CN" i="1">
                            <a:latin typeface="Cambria Math" panose="02040503050406030204" pitchFamily="18" charset="0"/>
                          </a:rPr>
                          <m:t>𝑌</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b="0" i="1" smtClean="0">
                            <a:latin typeface="Cambria Math" panose="02040503050406030204" pitchFamily="18" charset="0"/>
                          </a:rPr>
                          <m:t> </m:t>
                        </m:r>
                      </m:e>
                    </m:d>
                    <m:r>
                      <a:rPr lang="en-US" altLang="zh-CN" b="0" i="1" smtClean="0">
                        <a:latin typeface="Cambria Math" panose="02040503050406030204" pitchFamily="18" charset="0"/>
                      </a:rPr>
                      <m:t> </m:t>
                    </m:r>
                    <m:r>
                      <a:rPr lang="en-US" altLang="zh-CN" i="1">
                        <a:latin typeface="Cambria Math" panose="02040503050406030204" pitchFamily="18" charset="0"/>
                      </a:rPr>
                      <m:t>𝑇</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𝑡</m:t>
                        </m:r>
                      </m:e>
                      <m:sup>
                        <m:r>
                          <a:rPr lang="en-US" altLang="zh-CN" i="1">
                            <a:latin typeface="Cambria Math" panose="02040503050406030204" pitchFamily="18" charset="0"/>
                          </a:rPr>
                          <m:t>′</m:t>
                        </m:r>
                      </m:sup>
                    </m:sSup>
                    <m:r>
                      <a:rPr lang="en-US" altLang="zh-CN" i="1">
                        <a:latin typeface="Cambria Math" panose="02040503050406030204" pitchFamily="18" charset="0"/>
                      </a:rPr>
                      <m:t>,</m:t>
                    </m:r>
                    <m:r>
                      <a:rPr lang="en-US" altLang="zh-CN" i="1">
                        <a:latin typeface="Cambria Math" panose="02040503050406030204" pitchFamily="18" charset="0"/>
                      </a:rPr>
                      <m:t>𝑌</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𝑦</m:t>
                        </m:r>
                      </m:e>
                      <m:sup>
                        <m:r>
                          <a:rPr lang="en-US" altLang="zh-CN" i="1">
                            <a:latin typeface="Cambria Math" panose="02040503050406030204" pitchFamily="18" charset="0"/>
                          </a:rPr>
                          <m:t>′</m:t>
                        </m:r>
                      </m:sup>
                    </m:sSup>
                    <m:r>
                      <a:rPr lang="en-US" altLang="zh-CN" i="1">
                        <a:latin typeface="Cambria Math" panose="02040503050406030204" pitchFamily="18" charset="0"/>
                      </a:rPr>
                      <m:t>)</m:t>
                    </m:r>
                  </m:oMath>
                </a14:m>
                <a:endParaRPr lang="zh-CN" altLang="en-US" dirty="0"/>
              </a:p>
              <a:p>
                <a:endParaRPr lang="zh-CN" altLang="en-US" dirty="0"/>
              </a:p>
            </p:txBody>
          </p:sp>
        </mc:Choice>
        <mc:Fallback>
          <p:sp>
            <p:nvSpPr>
              <p:cNvPr id="8" name="文本框 7">
                <a:extLst>
                  <a:ext uri="{FF2B5EF4-FFF2-40B4-BE49-F238E27FC236}">
                    <a16:creationId xmlns:a16="http://schemas.microsoft.com/office/drawing/2014/main" id="{73E390E5-0832-49E0-AB1D-F81F9D8815A0}"/>
                  </a:ext>
                </a:extLst>
              </p:cNvPr>
              <p:cNvSpPr txBox="1">
                <a:spLocks noRot="1" noChangeAspect="1" noMove="1" noResize="1" noEditPoints="1" noAdjustHandles="1" noChangeArrowheads="1" noChangeShapeType="1" noTextEdit="1"/>
              </p:cNvSpPr>
              <p:nvPr/>
            </p:nvSpPr>
            <p:spPr>
              <a:xfrm>
                <a:off x="476250" y="1657349"/>
                <a:ext cx="5010150" cy="646331"/>
              </a:xfrm>
              <a:prstGeom prst="rect">
                <a:avLst/>
              </a:prstGeom>
              <a:blipFill>
                <a:blip r:embed="rId2"/>
                <a:stretch>
                  <a:fillRect l="-973" t="-5660"/>
                </a:stretch>
              </a:blipFill>
            </p:spPr>
            <p:txBody>
              <a:bodyPr/>
              <a:lstStyle/>
              <a:p>
                <a:r>
                  <a:rPr lang="zh-CN" altLang="en-US">
                    <a:noFill/>
                  </a:rPr>
                  <a:t> </a:t>
                </a:r>
              </a:p>
            </p:txBody>
          </p:sp>
        </mc:Fallback>
      </mc:AlternateContent>
      <p:sp>
        <p:nvSpPr>
          <p:cNvPr id="7" name="左大括号 6">
            <a:extLst>
              <a:ext uri="{FF2B5EF4-FFF2-40B4-BE49-F238E27FC236}">
                <a16:creationId xmlns:a16="http://schemas.microsoft.com/office/drawing/2014/main" id="{1AB936BB-514D-4375-8F34-D52E203FC48D}"/>
              </a:ext>
            </a:extLst>
          </p:cNvPr>
          <p:cNvSpPr/>
          <p:nvPr/>
        </p:nvSpPr>
        <p:spPr>
          <a:xfrm rot="16200000" flipH="1">
            <a:off x="3548072" y="923923"/>
            <a:ext cx="219074" cy="1247778"/>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9" name="文本框 8">
            <a:extLst>
              <a:ext uri="{FF2B5EF4-FFF2-40B4-BE49-F238E27FC236}">
                <a16:creationId xmlns:a16="http://schemas.microsoft.com/office/drawing/2014/main" id="{6337EBB5-C535-4C3F-8B31-DDAB1189C973}"/>
              </a:ext>
            </a:extLst>
          </p:cNvPr>
          <p:cNvSpPr txBox="1"/>
          <p:nvPr/>
        </p:nvSpPr>
        <p:spPr>
          <a:xfrm>
            <a:off x="3119449" y="1117972"/>
            <a:ext cx="1162049" cy="276999"/>
          </a:xfrm>
          <a:prstGeom prst="rect">
            <a:avLst/>
          </a:prstGeom>
          <a:noFill/>
        </p:spPr>
        <p:txBody>
          <a:bodyPr wrap="square" rtlCol="0">
            <a:spAutoFit/>
          </a:bodyPr>
          <a:lstStyle/>
          <a:p>
            <a:r>
              <a:rPr lang="en-US" altLang="zh-CN" sz="1200" dirty="0"/>
              <a:t>observation</a:t>
            </a:r>
            <a:endParaRPr lang="zh-CN" altLang="en-US" sz="1200" dirty="0"/>
          </a:p>
        </p:txBody>
      </p:sp>
      <p:cxnSp>
        <p:nvCxnSpPr>
          <p:cNvPr id="6" name="直接箭头连接符 5">
            <a:extLst>
              <a:ext uri="{FF2B5EF4-FFF2-40B4-BE49-F238E27FC236}">
                <a16:creationId xmlns:a16="http://schemas.microsoft.com/office/drawing/2014/main" id="{A7300724-37CC-423B-B514-1A7AA573A7D2}"/>
              </a:ext>
            </a:extLst>
          </p:cNvPr>
          <p:cNvCxnSpPr>
            <a:cxnSpLocks/>
          </p:cNvCxnSpPr>
          <p:nvPr/>
        </p:nvCxnSpPr>
        <p:spPr>
          <a:xfrm flipV="1">
            <a:off x="2562225" y="2028825"/>
            <a:ext cx="0" cy="3524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333A03A7-EB67-43D8-9D14-ACD68DF69708}"/>
              </a:ext>
            </a:extLst>
          </p:cNvPr>
          <p:cNvSpPr txBox="1"/>
          <p:nvPr/>
        </p:nvSpPr>
        <p:spPr>
          <a:xfrm>
            <a:off x="1655259" y="2376904"/>
            <a:ext cx="1685925" cy="276999"/>
          </a:xfrm>
          <a:prstGeom prst="rect">
            <a:avLst/>
          </a:prstGeom>
          <a:noFill/>
        </p:spPr>
        <p:txBody>
          <a:bodyPr wrap="square" rtlCol="0">
            <a:spAutoFit/>
          </a:bodyPr>
          <a:lstStyle/>
          <a:p>
            <a:r>
              <a:rPr lang="en-US" altLang="zh-CN" sz="1200" dirty="0"/>
              <a:t>hypothetical condition</a:t>
            </a:r>
            <a:endParaRPr lang="zh-CN" altLang="en-US" sz="1200" dirty="0"/>
          </a:p>
        </p:txBody>
      </p:sp>
      <mc:AlternateContent xmlns:mc="http://schemas.openxmlformats.org/markup-compatibility/2006">
        <mc:Choice xmlns:a14="http://schemas.microsoft.com/office/drawing/2010/main" Requires="a14">
          <p:sp>
            <p:nvSpPr>
              <p:cNvPr id="2" name="文本框 1">
                <a:extLst>
                  <a:ext uri="{FF2B5EF4-FFF2-40B4-BE49-F238E27FC236}">
                    <a16:creationId xmlns:a16="http://schemas.microsoft.com/office/drawing/2014/main" id="{AE698F0C-B743-4DA0-A043-EB215EFAD4D7}"/>
                  </a:ext>
                </a:extLst>
              </p:cNvPr>
              <p:cNvSpPr txBox="1"/>
              <p:nvPr/>
            </p:nvSpPr>
            <p:spPr>
              <a:xfrm>
                <a:off x="476250" y="3027383"/>
                <a:ext cx="6624057" cy="369332"/>
              </a:xfrm>
              <a:prstGeom prst="rect">
                <a:avLst/>
              </a:prstGeom>
              <a:noFill/>
            </p:spPr>
            <p:txBody>
              <a:bodyPr wrap="square" rtlCol="0">
                <a:spAutoFit/>
              </a:bodyPr>
              <a:lstStyle/>
              <a:p>
                <a:r>
                  <a:rPr lang="en-US" altLang="zh-CN" dirty="0"/>
                  <a:t>Different from CATE: </a:t>
                </a:r>
                <a14:m>
                  <m:oMath xmlns:m="http://schemas.openxmlformats.org/officeDocument/2006/math">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𝑌</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e>
                        </m:d>
                        <m:r>
                          <a:rPr lang="en-US" altLang="zh-CN" b="0" i="1" smtClean="0">
                            <a:latin typeface="Cambria Math" panose="02040503050406030204" pitchFamily="18" charset="0"/>
                          </a:rPr>
                          <m:t> </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𝑋</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𝑌</m:t>
                        </m:r>
                        <m:r>
                          <a:rPr lang="en-US" altLang="zh-CN" b="0" i="1" smtClean="0">
                            <a:latin typeface="Cambria Math" panose="02040503050406030204" pitchFamily="18" charset="0"/>
                          </a:rPr>
                          <m:t> </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𝑑𝑜</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𝑋</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oMath>
                </a14:m>
                <a:endParaRPr lang="zh-CN" altLang="en-US" dirty="0"/>
              </a:p>
            </p:txBody>
          </p:sp>
        </mc:Choice>
        <mc:Fallback>
          <p:sp>
            <p:nvSpPr>
              <p:cNvPr id="2" name="文本框 1">
                <a:extLst>
                  <a:ext uri="{FF2B5EF4-FFF2-40B4-BE49-F238E27FC236}">
                    <a16:creationId xmlns:a16="http://schemas.microsoft.com/office/drawing/2014/main" id="{AE698F0C-B743-4DA0-A043-EB215EFAD4D7}"/>
                  </a:ext>
                </a:extLst>
              </p:cNvPr>
              <p:cNvSpPr txBox="1">
                <a:spLocks noRot="1" noChangeAspect="1" noMove="1" noResize="1" noEditPoints="1" noAdjustHandles="1" noChangeArrowheads="1" noChangeShapeType="1" noTextEdit="1"/>
              </p:cNvSpPr>
              <p:nvPr/>
            </p:nvSpPr>
            <p:spPr>
              <a:xfrm>
                <a:off x="476250" y="3027383"/>
                <a:ext cx="6624057" cy="369332"/>
              </a:xfrm>
              <a:prstGeom prst="rect">
                <a:avLst/>
              </a:prstGeom>
              <a:blipFill>
                <a:blip r:embed="rId3"/>
                <a:stretch>
                  <a:fillRect l="-736" t="-10000" b="-26667"/>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713A0D98-648E-4749-BE19-8A2462981257}"/>
              </a:ext>
            </a:extLst>
          </p:cNvPr>
          <p:cNvSpPr txBox="1"/>
          <p:nvPr/>
        </p:nvSpPr>
        <p:spPr>
          <a:xfrm>
            <a:off x="476250" y="3906724"/>
            <a:ext cx="5810250" cy="369332"/>
          </a:xfrm>
          <a:prstGeom prst="rect">
            <a:avLst/>
          </a:prstGeom>
          <a:noFill/>
        </p:spPr>
        <p:txBody>
          <a:bodyPr wrap="square" rtlCol="0">
            <a:spAutoFit/>
          </a:bodyPr>
          <a:lstStyle/>
          <a:p>
            <a:r>
              <a:rPr lang="en-US" altLang="zh-CN" dirty="0"/>
              <a:t>Cannot express counterfactuals using do-notation</a:t>
            </a:r>
            <a:endParaRPr lang="zh-CN" altLang="en-US" dirty="0"/>
          </a:p>
        </p:txBody>
      </p:sp>
    </p:spTree>
    <p:extLst>
      <p:ext uri="{BB962C8B-B14F-4D97-AF65-F5344CB8AC3E}">
        <p14:creationId xmlns:p14="http://schemas.microsoft.com/office/powerpoint/2010/main" val="1456335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E64B54C-2B0F-4846-8E80-632F1F11B66C}"/>
              </a:ext>
            </a:extLst>
          </p:cNvPr>
          <p:cNvSpPr>
            <a:spLocks noGrp="1"/>
          </p:cNvSpPr>
          <p:nvPr>
            <p:ph type="sldNum" sz="quarter" idx="11"/>
          </p:nvPr>
        </p:nvSpPr>
        <p:spPr/>
        <p:txBody>
          <a:bodyPr/>
          <a:lstStyle/>
          <a:p>
            <a:fld id="{2AEAD966-1EF9-3A44-9B11-0C8090371A9A}" type="slidenum">
              <a:rPr lang="en-US" smtClean="0"/>
              <a:t>12</a:t>
            </a:fld>
            <a:endParaRPr lang="en-US"/>
          </a:p>
        </p:txBody>
      </p:sp>
      <p:sp>
        <p:nvSpPr>
          <p:cNvPr id="4" name="标题 3">
            <a:extLst>
              <a:ext uri="{FF2B5EF4-FFF2-40B4-BE49-F238E27FC236}">
                <a16:creationId xmlns:a16="http://schemas.microsoft.com/office/drawing/2014/main" id="{CE772FB0-ACD6-4FE1-AADD-2FF2AE298863}"/>
              </a:ext>
            </a:extLst>
          </p:cNvPr>
          <p:cNvSpPr>
            <a:spLocks noGrp="1"/>
          </p:cNvSpPr>
          <p:nvPr>
            <p:ph type="title"/>
          </p:nvPr>
        </p:nvSpPr>
        <p:spPr/>
        <p:txBody>
          <a:bodyPr/>
          <a:lstStyle/>
          <a:p>
            <a:r>
              <a:rPr lang="en-US" altLang="zh-CN" dirty="0"/>
              <a:t>Roadmap for Computing Counterfactuals</a:t>
            </a:r>
            <a:endParaRPr lang="zh-CN" altLang="en-US" dirty="0"/>
          </a:p>
        </p:txBody>
      </p:sp>
      <p:sp>
        <p:nvSpPr>
          <p:cNvPr id="5" name="日期占位符 4">
            <a:extLst>
              <a:ext uri="{FF2B5EF4-FFF2-40B4-BE49-F238E27FC236}">
                <a16:creationId xmlns:a16="http://schemas.microsoft.com/office/drawing/2014/main" id="{18A6D1D9-06BB-45A4-BC6D-3B9169691567}"/>
              </a:ext>
            </a:extLst>
          </p:cNvPr>
          <p:cNvSpPr>
            <a:spLocks noGrp="1"/>
          </p:cNvSpPr>
          <p:nvPr>
            <p:ph type="dt" sz="half" idx="12"/>
          </p:nvPr>
        </p:nvSpPr>
        <p:spPr/>
        <p:txBody>
          <a:bodyPr/>
          <a:lstStyle/>
          <a:p>
            <a:fld id="{63ADDE33-C9F1-F94F-A20E-DA422DA466DF}" type="datetime1">
              <a:rPr lang="en-US" smtClean="0"/>
              <a:t>8/31/2022</a:t>
            </a:fld>
            <a:endParaRPr lang="en-US" dirty="0"/>
          </a:p>
        </p:txBody>
      </p:sp>
      <p:sp>
        <p:nvSpPr>
          <p:cNvPr id="12" name="内容占位符 1">
            <a:extLst>
              <a:ext uri="{FF2B5EF4-FFF2-40B4-BE49-F238E27FC236}">
                <a16:creationId xmlns:a16="http://schemas.microsoft.com/office/drawing/2014/main" id="{A6703F3A-EB54-4076-89A3-0D73BCC40EA1}"/>
              </a:ext>
            </a:extLst>
          </p:cNvPr>
          <p:cNvSpPr>
            <a:spLocks noGrp="1"/>
          </p:cNvSpPr>
          <p:nvPr>
            <p:ph idx="1"/>
          </p:nvPr>
        </p:nvSpPr>
        <p:spPr>
          <a:xfrm>
            <a:off x="381000" y="927099"/>
            <a:ext cx="8446478" cy="5526455"/>
          </a:xfrm>
        </p:spPr>
        <p:txBody>
          <a:bodyPr>
            <a:normAutofit/>
          </a:bodyPr>
          <a:lstStyle/>
          <a:p>
            <a:pPr marL="377190" indent="-285750">
              <a:buClr>
                <a:schemeClr val="accent6">
                  <a:lumMod val="75000"/>
                </a:schemeClr>
              </a:buClr>
              <a:buFont typeface="Wingdings" panose="05000000000000000000" pitchFamily="2" charset="2"/>
              <a:buChar char="l"/>
            </a:pPr>
            <a:r>
              <a:rPr lang="en-US" altLang="zh-CN" sz="1800" dirty="0"/>
              <a:t>Given: Observation of (T,Y) (observation of potential outcome Y(t) where t is the observed value of T)</a:t>
            </a:r>
          </a:p>
          <a:p>
            <a:endParaRPr lang="zh-CN" altLang="en-US" sz="1800" dirty="0"/>
          </a:p>
        </p:txBody>
      </p:sp>
    </p:spTree>
    <p:extLst>
      <p:ext uri="{BB962C8B-B14F-4D97-AF65-F5344CB8AC3E}">
        <p14:creationId xmlns:p14="http://schemas.microsoft.com/office/powerpoint/2010/main" val="1977190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E64B54C-2B0F-4846-8E80-632F1F11B66C}"/>
              </a:ext>
            </a:extLst>
          </p:cNvPr>
          <p:cNvSpPr>
            <a:spLocks noGrp="1"/>
          </p:cNvSpPr>
          <p:nvPr>
            <p:ph type="sldNum" sz="quarter" idx="11"/>
          </p:nvPr>
        </p:nvSpPr>
        <p:spPr/>
        <p:txBody>
          <a:bodyPr/>
          <a:lstStyle/>
          <a:p>
            <a:fld id="{2AEAD966-1EF9-3A44-9B11-0C8090371A9A}" type="slidenum">
              <a:rPr lang="en-US" smtClean="0"/>
              <a:t>13</a:t>
            </a:fld>
            <a:endParaRPr lang="en-US"/>
          </a:p>
        </p:txBody>
      </p:sp>
      <p:sp>
        <p:nvSpPr>
          <p:cNvPr id="4" name="标题 3">
            <a:extLst>
              <a:ext uri="{FF2B5EF4-FFF2-40B4-BE49-F238E27FC236}">
                <a16:creationId xmlns:a16="http://schemas.microsoft.com/office/drawing/2014/main" id="{CE772FB0-ACD6-4FE1-AADD-2FF2AE298863}"/>
              </a:ext>
            </a:extLst>
          </p:cNvPr>
          <p:cNvSpPr>
            <a:spLocks noGrp="1"/>
          </p:cNvSpPr>
          <p:nvPr>
            <p:ph type="title"/>
          </p:nvPr>
        </p:nvSpPr>
        <p:spPr/>
        <p:txBody>
          <a:bodyPr/>
          <a:lstStyle/>
          <a:p>
            <a:r>
              <a:rPr lang="en-US" altLang="zh-CN" dirty="0"/>
              <a:t>Roadmap for Computing Counterfactuals</a:t>
            </a:r>
            <a:endParaRPr lang="zh-CN" altLang="en-US" dirty="0"/>
          </a:p>
        </p:txBody>
      </p:sp>
      <p:sp>
        <p:nvSpPr>
          <p:cNvPr id="5" name="日期占位符 4">
            <a:extLst>
              <a:ext uri="{FF2B5EF4-FFF2-40B4-BE49-F238E27FC236}">
                <a16:creationId xmlns:a16="http://schemas.microsoft.com/office/drawing/2014/main" id="{18A6D1D9-06BB-45A4-BC6D-3B9169691567}"/>
              </a:ext>
            </a:extLst>
          </p:cNvPr>
          <p:cNvSpPr>
            <a:spLocks noGrp="1"/>
          </p:cNvSpPr>
          <p:nvPr>
            <p:ph type="dt" sz="half" idx="12"/>
          </p:nvPr>
        </p:nvSpPr>
        <p:spPr/>
        <p:txBody>
          <a:bodyPr/>
          <a:lstStyle/>
          <a:p>
            <a:fld id="{63ADDE33-C9F1-F94F-A20E-DA422DA466DF}" type="datetime1">
              <a:rPr lang="en-US" smtClean="0"/>
              <a:t>8/31/2022</a:t>
            </a:fld>
            <a:endParaRPr lang="en-US" dirty="0"/>
          </a:p>
        </p:txBody>
      </p:sp>
      <p:sp>
        <p:nvSpPr>
          <p:cNvPr id="12" name="内容占位符 1">
            <a:extLst>
              <a:ext uri="{FF2B5EF4-FFF2-40B4-BE49-F238E27FC236}">
                <a16:creationId xmlns:a16="http://schemas.microsoft.com/office/drawing/2014/main" id="{A6703F3A-EB54-4076-89A3-0D73BCC40EA1}"/>
              </a:ext>
            </a:extLst>
          </p:cNvPr>
          <p:cNvSpPr>
            <a:spLocks noGrp="1"/>
          </p:cNvSpPr>
          <p:nvPr>
            <p:ph idx="1"/>
          </p:nvPr>
        </p:nvSpPr>
        <p:spPr>
          <a:xfrm>
            <a:off x="381000" y="927099"/>
            <a:ext cx="8446478" cy="5526455"/>
          </a:xfrm>
        </p:spPr>
        <p:txBody>
          <a:bodyPr>
            <a:normAutofit/>
          </a:bodyPr>
          <a:lstStyle/>
          <a:p>
            <a:pPr marL="377190" indent="-285750">
              <a:buClr>
                <a:schemeClr val="accent6">
                  <a:lumMod val="75000"/>
                </a:schemeClr>
              </a:buClr>
              <a:buFont typeface="Wingdings" panose="05000000000000000000" pitchFamily="2" charset="2"/>
              <a:buChar char="l"/>
            </a:pPr>
            <a:r>
              <a:rPr lang="en-US" altLang="zh-CN" sz="1800" dirty="0"/>
              <a:t>Given: Observation of (T,Y) (observation of potential outcome Y(t) where t is the observed value of T)</a:t>
            </a:r>
          </a:p>
          <a:p>
            <a:pPr>
              <a:buClr>
                <a:schemeClr val="accent6">
                  <a:lumMod val="75000"/>
                </a:schemeClr>
              </a:buClr>
            </a:pPr>
            <a:endParaRPr lang="en-US" altLang="zh-CN" sz="1800" dirty="0"/>
          </a:p>
          <a:p>
            <a:pPr marL="377190" indent="-285750">
              <a:buClr>
                <a:schemeClr val="accent6">
                  <a:lumMod val="75000"/>
                </a:schemeClr>
              </a:buClr>
              <a:buFont typeface="Wingdings" panose="05000000000000000000" pitchFamily="2" charset="2"/>
              <a:buChar char="l"/>
            </a:pPr>
            <a:r>
              <a:rPr lang="en-US" altLang="zh-CN" sz="1800" dirty="0"/>
              <a:t>Main ingredient necessary: correct  parametric model for the structural equation for Y</a:t>
            </a:r>
          </a:p>
          <a:p>
            <a:endParaRPr lang="zh-CN" altLang="en-US" sz="1800" dirty="0"/>
          </a:p>
        </p:txBody>
      </p:sp>
    </p:spTree>
    <p:extLst>
      <p:ext uri="{BB962C8B-B14F-4D97-AF65-F5344CB8AC3E}">
        <p14:creationId xmlns:p14="http://schemas.microsoft.com/office/powerpoint/2010/main" val="1998285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E64B54C-2B0F-4846-8E80-632F1F11B66C}"/>
              </a:ext>
            </a:extLst>
          </p:cNvPr>
          <p:cNvSpPr>
            <a:spLocks noGrp="1"/>
          </p:cNvSpPr>
          <p:nvPr>
            <p:ph type="sldNum" sz="quarter" idx="11"/>
          </p:nvPr>
        </p:nvSpPr>
        <p:spPr/>
        <p:txBody>
          <a:bodyPr/>
          <a:lstStyle/>
          <a:p>
            <a:fld id="{2AEAD966-1EF9-3A44-9B11-0C8090371A9A}" type="slidenum">
              <a:rPr lang="en-US" smtClean="0"/>
              <a:t>14</a:t>
            </a:fld>
            <a:endParaRPr lang="en-US"/>
          </a:p>
        </p:txBody>
      </p:sp>
      <p:sp>
        <p:nvSpPr>
          <p:cNvPr id="4" name="标题 3">
            <a:extLst>
              <a:ext uri="{FF2B5EF4-FFF2-40B4-BE49-F238E27FC236}">
                <a16:creationId xmlns:a16="http://schemas.microsoft.com/office/drawing/2014/main" id="{CE772FB0-ACD6-4FE1-AADD-2FF2AE298863}"/>
              </a:ext>
            </a:extLst>
          </p:cNvPr>
          <p:cNvSpPr>
            <a:spLocks noGrp="1"/>
          </p:cNvSpPr>
          <p:nvPr>
            <p:ph type="title"/>
          </p:nvPr>
        </p:nvSpPr>
        <p:spPr/>
        <p:txBody>
          <a:bodyPr/>
          <a:lstStyle/>
          <a:p>
            <a:r>
              <a:rPr lang="en-US" altLang="zh-CN" dirty="0"/>
              <a:t>Roadmap for Computing Counterfactuals</a:t>
            </a:r>
            <a:endParaRPr lang="zh-CN" altLang="en-US" dirty="0"/>
          </a:p>
        </p:txBody>
      </p:sp>
      <p:sp>
        <p:nvSpPr>
          <p:cNvPr id="5" name="日期占位符 4">
            <a:extLst>
              <a:ext uri="{FF2B5EF4-FFF2-40B4-BE49-F238E27FC236}">
                <a16:creationId xmlns:a16="http://schemas.microsoft.com/office/drawing/2014/main" id="{18A6D1D9-06BB-45A4-BC6D-3B9169691567}"/>
              </a:ext>
            </a:extLst>
          </p:cNvPr>
          <p:cNvSpPr>
            <a:spLocks noGrp="1"/>
          </p:cNvSpPr>
          <p:nvPr>
            <p:ph type="dt" sz="half" idx="12"/>
          </p:nvPr>
        </p:nvSpPr>
        <p:spPr/>
        <p:txBody>
          <a:bodyPr/>
          <a:lstStyle/>
          <a:p>
            <a:fld id="{63ADDE33-C9F1-F94F-A20E-DA422DA466DF}" type="datetime1">
              <a:rPr lang="en-US" smtClean="0"/>
              <a:t>8/31/2022</a:t>
            </a:fld>
            <a:endParaRPr lang="en-US" dirty="0"/>
          </a:p>
        </p:txBody>
      </p:sp>
      <mc:AlternateContent xmlns:mc="http://schemas.openxmlformats.org/markup-compatibility/2006">
        <mc:Choice xmlns:a14="http://schemas.microsoft.com/office/drawing/2010/main" Requires="a14">
          <p:sp>
            <p:nvSpPr>
              <p:cNvPr id="12" name="内容占位符 1">
                <a:extLst>
                  <a:ext uri="{FF2B5EF4-FFF2-40B4-BE49-F238E27FC236}">
                    <a16:creationId xmlns:a16="http://schemas.microsoft.com/office/drawing/2014/main" id="{A6703F3A-EB54-4076-89A3-0D73BCC40EA1}"/>
                  </a:ext>
                </a:extLst>
              </p:cNvPr>
              <p:cNvSpPr>
                <a:spLocks noGrp="1"/>
              </p:cNvSpPr>
              <p:nvPr>
                <p:ph idx="1"/>
              </p:nvPr>
            </p:nvSpPr>
            <p:spPr>
              <a:xfrm>
                <a:off x="381000" y="927099"/>
                <a:ext cx="8446478" cy="5526455"/>
              </a:xfrm>
            </p:spPr>
            <p:txBody>
              <a:bodyPr>
                <a:normAutofit/>
              </a:bodyPr>
              <a:lstStyle/>
              <a:p>
                <a:pPr marL="377190" indent="-285750">
                  <a:buClr>
                    <a:schemeClr val="accent6">
                      <a:lumMod val="75000"/>
                    </a:schemeClr>
                  </a:buClr>
                  <a:buFont typeface="Wingdings" panose="05000000000000000000" pitchFamily="2" charset="2"/>
                  <a:buChar char="l"/>
                </a:pPr>
                <a:r>
                  <a:rPr lang="en-US" altLang="zh-CN" sz="1800" dirty="0"/>
                  <a:t>Given: Observation of (T,Y) (observation of potential outcome Y(t) where t is the observed value of T)</a:t>
                </a:r>
              </a:p>
              <a:p>
                <a:pPr>
                  <a:buClr>
                    <a:schemeClr val="accent6">
                      <a:lumMod val="75000"/>
                    </a:schemeClr>
                  </a:buClr>
                </a:pPr>
                <a:endParaRPr lang="en-US" altLang="zh-CN" sz="1800" dirty="0"/>
              </a:p>
              <a:p>
                <a:pPr marL="377190" indent="-285750">
                  <a:buClr>
                    <a:schemeClr val="accent6">
                      <a:lumMod val="75000"/>
                    </a:schemeClr>
                  </a:buClr>
                  <a:buFont typeface="Wingdings" panose="05000000000000000000" pitchFamily="2" charset="2"/>
                  <a:buChar char="l"/>
                </a:pPr>
                <a:r>
                  <a:rPr lang="en-US" altLang="zh-CN" sz="1800" dirty="0"/>
                  <a:t>Main ingredient necessary: correct  parametric model for the structural equation for Y</a:t>
                </a:r>
              </a:p>
              <a:p>
                <a:pPr>
                  <a:buClr>
                    <a:schemeClr val="accent6">
                      <a:lumMod val="75000"/>
                    </a:schemeClr>
                  </a:buClr>
                </a:pPr>
                <a:endParaRPr lang="en-US" altLang="zh-CN" sz="1800" dirty="0"/>
              </a:p>
              <a:p>
                <a:pPr marL="377190" indent="-285750">
                  <a:buClr>
                    <a:schemeClr val="accent6">
                      <a:lumMod val="75000"/>
                    </a:schemeClr>
                  </a:buClr>
                  <a:buFont typeface="Wingdings" panose="05000000000000000000" pitchFamily="2" charset="2"/>
                  <a:buChar char="l"/>
                </a:pPr>
                <a:r>
                  <a:rPr lang="en-US" altLang="zh-CN" sz="1800" dirty="0"/>
                  <a:t>Result: access to counterfactuals </a:t>
                </a:r>
                <a14:m>
                  <m:oMath xmlns:m="http://schemas.openxmlformats.org/officeDocument/2006/math">
                    <m:r>
                      <a:rPr lang="en-US" altLang="zh-CN" sz="1800" b="0" i="1" smtClean="0">
                        <a:latin typeface="Cambria Math" panose="02040503050406030204" pitchFamily="18" charset="0"/>
                      </a:rPr>
                      <m:t>𝑌</m:t>
                    </m:r>
                    <m:r>
                      <a:rPr lang="en-US" altLang="zh-CN" sz="1800" b="0" i="1" smtClean="0">
                        <a:latin typeface="Cambria Math" panose="02040503050406030204" pitchFamily="18" charset="0"/>
                      </a:rPr>
                      <m:t>(</m:t>
                    </m:r>
                    <m:sSup>
                      <m:sSupPr>
                        <m:ctrlPr>
                          <a:rPr lang="en-US" altLang="zh-CN" sz="1800" b="0" i="1" smtClean="0">
                            <a:latin typeface="Cambria Math" panose="02040503050406030204" pitchFamily="18" charset="0"/>
                          </a:rPr>
                        </m:ctrlPr>
                      </m:sSupPr>
                      <m:e>
                        <m:r>
                          <a:rPr lang="en-US" altLang="zh-CN" sz="1800" b="0" i="1" smtClean="0">
                            <a:latin typeface="Cambria Math" panose="02040503050406030204" pitchFamily="18" charset="0"/>
                          </a:rPr>
                          <m:t>𝑡</m:t>
                        </m:r>
                      </m:e>
                      <m:sup>
                        <m:r>
                          <a:rPr lang="en-US" altLang="zh-CN" sz="1800" b="0" i="1" smtClean="0">
                            <a:latin typeface="Cambria Math" panose="02040503050406030204" pitchFamily="18" charset="0"/>
                          </a:rPr>
                          <m:t>′</m:t>
                        </m:r>
                      </m:sup>
                    </m:sSup>
                    <m:r>
                      <a:rPr lang="en-US" altLang="zh-CN" sz="1800" b="0" i="1" smtClean="0">
                        <a:latin typeface="Cambria Math" panose="02040503050406030204" pitchFamily="18" charset="0"/>
                      </a:rPr>
                      <m:t>)</m:t>
                    </m:r>
                  </m:oMath>
                </a14:m>
                <a:r>
                  <a:rPr lang="en-US" altLang="zh-CN" sz="1800" dirty="0"/>
                  <a:t> at the unit-level</a:t>
                </a:r>
              </a:p>
              <a:p>
                <a:endParaRPr lang="zh-CN" altLang="en-US" sz="1800" dirty="0"/>
              </a:p>
            </p:txBody>
          </p:sp>
        </mc:Choice>
        <mc:Fallback>
          <p:sp>
            <p:nvSpPr>
              <p:cNvPr id="12" name="内容占位符 1">
                <a:extLst>
                  <a:ext uri="{FF2B5EF4-FFF2-40B4-BE49-F238E27FC236}">
                    <a16:creationId xmlns:a16="http://schemas.microsoft.com/office/drawing/2014/main" id="{A6703F3A-EB54-4076-89A3-0D73BCC40EA1}"/>
                  </a:ext>
                </a:extLst>
              </p:cNvPr>
              <p:cNvSpPr>
                <a:spLocks noGrp="1" noRot="1" noChangeAspect="1" noMove="1" noResize="1" noEditPoints="1" noAdjustHandles="1" noChangeArrowheads="1" noChangeShapeType="1" noTextEdit="1"/>
              </p:cNvSpPr>
              <p:nvPr>
                <p:ph idx="1"/>
              </p:nvPr>
            </p:nvSpPr>
            <p:spPr>
              <a:xfrm>
                <a:off x="381000" y="927099"/>
                <a:ext cx="8446478" cy="5526455"/>
              </a:xfr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01236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8FC6463F-5616-4194-95BC-CC4819ED1895}"/>
                  </a:ext>
                </a:extLst>
              </p:cNvPr>
              <p:cNvSpPr>
                <a:spLocks noGrp="1"/>
              </p:cNvSpPr>
              <p:nvPr>
                <p:ph idx="1"/>
              </p:nvPr>
            </p:nvSpPr>
            <p:spPr/>
            <p:txBody>
              <a:bodyPr>
                <a:normAutofit/>
              </a:bodyPr>
              <a:lstStyle/>
              <a:p>
                <a:r>
                  <a:rPr lang="en-US" altLang="zh-CN" sz="1600" dirty="0"/>
                  <a:t>Y: happy or unhappy (1 or 0)</a:t>
                </a:r>
              </a:p>
              <a:p>
                <a:r>
                  <a:rPr lang="en-US" altLang="zh-CN" sz="1600" dirty="0"/>
                  <a:t>T: get a dog or don’t (1 or 0)</a:t>
                </a:r>
              </a:p>
              <a:p>
                <a:r>
                  <a:rPr lang="en-US" altLang="zh-CN" sz="1600" dirty="0"/>
                  <a:t>U: unobserved variable describing the individual(1 if dog person; 0 if anti-dog person)</a:t>
                </a:r>
              </a:p>
              <a:p>
                <a:endParaRPr lang="en-US" altLang="zh-CN" sz="1600" dirty="0"/>
              </a:p>
              <a:p>
                <a:r>
                  <a:rPr lang="en-US" altLang="zh-CN" sz="1600" dirty="0"/>
                  <a:t>SCM:	</a:t>
                </a:r>
                <a14:m>
                  <m:oMath xmlns:m="http://schemas.openxmlformats.org/officeDocument/2006/math">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 …</m:t>
                    </m:r>
                  </m:oMath>
                </a14:m>
                <a:r>
                  <a:rPr lang="en-US" altLang="zh-CN" sz="1600" b="0" dirty="0"/>
                  <a:t>		</a:t>
                </a:r>
                <a:r>
                  <a:rPr lang="en-US" altLang="zh-CN" sz="1600" dirty="0"/>
                  <a:t> 	 Observation: T = 0 and Y = 0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𝑌</m:t>
                        </m:r>
                      </m:e>
                      <m:sub>
                        <m:r>
                          <a:rPr lang="en-US" altLang="zh-CN" sz="1600" b="0" i="1" smtClean="0">
                            <a:latin typeface="Cambria Math" panose="02040503050406030204" pitchFamily="18" charset="0"/>
                          </a:rPr>
                          <m:t>𝑢</m:t>
                        </m:r>
                      </m:sub>
                    </m:sSub>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0</m:t>
                        </m:r>
                      </m:e>
                    </m:d>
                    <m:r>
                      <a:rPr lang="en-US" altLang="zh-CN" sz="1600" b="0" i="1" smtClean="0">
                        <a:latin typeface="Cambria Math" panose="02040503050406030204" pitchFamily="18" charset="0"/>
                      </a:rPr>
                      <m:t>=0)</m:t>
                    </m:r>
                  </m:oMath>
                </a14:m>
                <a:endParaRPr lang="en-US" altLang="zh-CN" sz="1600" b="0" dirty="0"/>
              </a:p>
              <a:p>
                <a:r>
                  <a:rPr lang="en-US" altLang="zh-CN" sz="1600" dirty="0"/>
                  <a:t>	</a:t>
                </a:r>
                <a14:m>
                  <m:oMath xmlns:m="http://schemas.openxmlformats.org/officeDocument/2006/math">
                    <m:r>
                      <a:rPr lang="en-US" altLang="zh-CN" sz="1600" b="0" i="1" smtClean="0">
                        <a:latin typeface="Cambria Math" panose="02040503050406030204" pitchFamily="18" charset="0"/>
                      </a:rPr>
                      <m:t>𝑌</m:t>
                    </m:r>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𝑈𝑇</m:t>
                    </m:r>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𝑈</m:t>
                    </m:r>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m:t>
                    </m:r>
                  </m:oMath>
                </a14:m>
                <a:r>
                  <a:rPr lang="en-US" altLang="zh-CN" sz="1600" dirty="0"/>
                  <a:t>	</a:t>
                </a:r>
                <a:endParaRPr lang="zh-CN" altLang="en-US" sz="1600" dirty="0"/>
              </a:p>
            </p:txBody>
          </p:sp>
        </mc:Choice>
        <mc:Fallback>
          <p:sp>
            <p:nvSpPr>
              <p:cNvPr id="2" name="内容占位符 1">
                <a:extLst>
                  <a:ext uri="{FF2B5EF4-FFF2-40B4-BE49-F238E27FC236}">
                    <a16:creationId xmlns:a16="http://schemas.microsoft.com/office/drawing/2014/main" id="{8FC6463F-5616-4194-95BC-CC4819ED1895}"/>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3ECB4588-D6A9-44C1-82D0-31156ED7AB99}"/>
              </a:ext>
            </a:extLst>
          </p:cNvPr>
          <p:cNvSpPr>
            <a:spLocks noGrp="1"/>
          </p:cNvSpPr>
          <p:nvPr>
            <p:ph type="sldNum" sz="quarter" idx="11"/>
          </p:nvPr>
        </p:nvSpPr>
        <p:spPr/>
        <p:txBody>
          <a:bodyPr/>
          <a:lstStyle/>
          <a:p>
            <a:fld id="{2AEAD966-1EF9-3A44-9B11-0C8090371A9A}" type="slidenum">
              <a:rPr lang="en-US" smtClean="0"/>
              <a:t>15</a:t>
            </a:fld>
            <a:endParaRPr lang="en-US"/>
          </a:p>
        </p:txBody>
      </p:sp>
      <p:sp>
        <p:nvSpPr>
          <p:cNvPr id="4" name="标题 3">
            <a:extLst>
              <a:ext uri="{FF2B5EF4-FFF2-40B4-BE49-F238E27FC236}">
                <a16:creationId xmlns:a16="http://schemas.microsoft.com/office/drawing/2014/main" id="{EDFBA721-7F2B-4775-9426-C59340E4EBB4}"/>
              </a:ext>
            </a:extLst>
          </p:cNvPr>
          <p:cNvSpPr>
            <a:spLocks noGrp="1"/>
          </p:cNvSpPr>
          <p:nvPr>
            <p:ph type="title"/>
          </p:nvPr>
        </p:nvSpPr>
        <p:spPr/>
        <p:txBody>
          <a:bodyPr>
            <a:normAutofit fontScale="90000"/>
          </a:bodyPr>
          <a:lstStyle/>
          <a:p>
            <a:r>
              <a:rPr lang="en-US" altLang="zh-CN" dirty="0"/>
              <a:t>Computing Counterfactuals: Simple Example</a:t>
            </a:r>
            <a:endParaRPr lang="zh-CN" altLang="en-US" dirty="0"/>
          </a:p>
        </p:txBody>
      </p:sp>
      <p:sp>
        <p:nvSpPr>
          <p:cNvPr id="5" name="日期占位符 4">
            <a:extLst>
              <a:ext uri="{FF2B5EF4-FFF2-40B4-BE49-F238E27FC236}">
                <a16:creationId xmlns:a16="http://schemas.microsoft.com/office/drawing/2014/main" id="{BBE573BD-EB01-4C9E-B95A-5370E94AE02E}"/>
              </a:ext>
            </a:extLst>
          </p:cNvPr>
          <p:cNvSpPr>
            <a:spLocks noGrp="1"/>
          </p:cNvSpPr>
          <p:nvPr>
            <p:ph type="dt" sz="half" idx="12"/>
          </p:nvPr>
        </p:nvSpPr>
        <p:spPr/>
        <p:txBody>
          <a:bodyPr/>
          <a:lstStyle/>
          <a:p>
            <a:fld id="{63ADDE33-C9F1-F94F-A20E-DA422DA466DF}" type="datetime1">
              <a:rPr lang="en-US" smtClean="0"/>
              <a:t>8/31/2022</a:t>
            </a:fld>
            <a:endParaRPr lang="en-US" dirty="0"/>
          </a:p>
        </p:txBody>
      </p:sp>
    </p:spTree>
    <p:extLst>
      <p:ext uri="{BB962C8B-B14F-4D97-AF65-F5344CB8AC3E}">
        <p14:creationId xmlns:p14="http://schemas.microsoft.com/office/powerpoint/2010/main" val="2032051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8FC6463F-5616-4194-95BC-CC4819ED1895}"/>
                  </a:ext>
                </a:extLst>
              </p:cNvPr>
              <p:cNvSpPr>
                <a:spLocks noGrp="1"/>
              </p:cNvSpPr>
              <p:nvPr>
                <p:ph idx="1"/>
              </p:nvPr>
            </p:nvSpPr>
            <p:spPr/>
            <p:txBody>
              <a:bodyPr>
                <a:normAutofit/>
              </a:bodyPr>
              <a:lstStyle/>
              <a:p>
                <a:r>
                  <a:rPr lang="en-US" altLang="zh-CN" sz="1600" dirty="0"/>
                  <a:t>Y: happy or unhappy (1 or 0)</a:t>
                </a:r>
              </a:p>
              <a:p>
                <a:r>
                  <a:rPr lang="en-US" altLang="zh-CN" sz="1600" dirty="0"/>
                  <a:t>T: get a dog or don’t (1 or 0)</a:t>
                </a:r>
              </a:p>
              <a:p>
                <a:r>
                  <a:rPr lang="en-US" altLang="zh-CN" sz="1600" dirty="0"/>
                  <a:t>U: unobserved variable describing the individual(1 if dog person; 0 if anti-dog person)</a:t>
                </a:r>
              </a:p>
              <a:p>
                <a:endParaRPr lang="en-US" altLang="zh-CN" sz="1600" dirty="0"/>
              </a:p>
              <a:p>
                <a:r>
                  <a:rPr lang="en-US" altLang="zh-CN" sz="1600" dirty="0"/>
                  <a:t>SCM:	</a:t>
                </a:r>
                <a14:m>
                  <m:oMath xmlns:m="http://schemas.openxmlformats.org/officeDocument/2006/math">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 …</m:t>
                    </m:r>
                  </m:oMath>
                </a14:m>
                <a:r>
                  <a:rPr lang="en-US" altLang="zh-CN" sz="1600" b="0" dirty="0"/>
                  <a:t>		</a:t>
                </a:r>
                <a:r>
                  <a:rPr lang="en-US" altLang="zh-CN" sz="1600" dirty="0"/>
                  <a:t> 	 Observation: T = 0 and Y = 0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𝑌</m:t>
                        </m:r>
                      </m:e>
                      <m:sub>
                        <m:r>
                          <a:rPr lang="en-US" altLang="zh-CN" sz="1600" b="0" i="1" smtClean="0">
                            <a:latin typeface="Cambria Math" panose="02040503050406030204" pitchFamily="18" charset="0"/>
                          </a:rPr>
                          <m:t>𝑢</m:t>
                        </m:r>
                      </m:sub>
                    </m:sSub>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0</m:t>
                        </m:r>
                      </m:e>
                    </m:d>
                    <m:r>
                      <a:rPr lang="en-US" altLang="zh-CN" sz="1600" b="0" i="1" smtClean="0">
                        <a:latin typeface="Cambria Math" panose="02040503050406030204" pitchFamily="18" charset="0"/>
                      </a:rPr>
                      <m:t>=0)</m:t>
                    </m:r>
                  </m:oMath>
                </a14:m>
                <a:endParaRPr lang="en-US" altLang="zh-CN" sz="1600" b="0" dirty="0"/>
              </a:p>
              <a:p>
                <a:r>
                  <a:rPr lang="en-US" altLang="zh-CN" sz="1600" dirty="0"/>
                  <a:t>	</a:t>
                </a:r>
                <a14:m>
                  <m:oMath xmlns:m="http://schemas.openxmlformats.org/officeDocument/2006/math">
                    <m:r>
                      <a:rPr lang="en-US" altLang="zh-CN" sz="1600" b="0" i="1" smtClean="0">
                        <a:latin typeface="Cambria Math" panose="02040503050406030204" pitchFamily="18" charset="0"/>
                      </a:rPr>
                      <m:t>𝑌</m:t>
                    </m:r>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𝑈𝑇</m:t>
                    </m:r>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𝑈</m:t>
                    </m:r>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m:t>
                    </m:r>
                  </m:oMath>
                </a14:m>
                <a:r>
                  <a:rPr lang="en-US" altLang="zh-CN" sz="1600" dirty="0"/>
                  <a:t>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𝑌</m:t>
                        </m:r>
                      </m:e>
                      <m:sub>
                        <m:r>
                          <a:rPr lang="en-US" altLang="zh-CN" sz="1600" i="1">
                            <a:latin typeface="Cambria Math" panose="02040503050406030204" pitchFamily="18" charset="0"/>
                          </a:rPr>
                          <m:t>𝑢</m:t>
                        </m:r>
                      </m:sub>
                    </m:sSub>
                    <m:d>
                      <m:dPr>
                        <m:ctrlPr>
                          <a:rPr lang="en-US" altLang="zh-CN" sz="1600" i="1">
                            <a:latin typeface="Cambria Math" panose="02040503050406030204" pitchFamily="18" charset="0"/>
                          </a:rPr>
                        </m:ctrlPr>
                      </m:dPr>
                      <m:e>
                        <m:r>
                          <a:rPr lang="en-US" altLang="zh-CN" sz="1600" b="0" i="1" smtClean="0">
                            <a:latin typeface="Cambria Math" panose="02040503050406030204" pitchFamily="18" charset="0"/>
                          </a:rPr>
                          <m:t>1</m:t>
                        </m:r>
                      </m:e>
                    </m:d>
                  </m:oMath>
                </a14:m>
                <a:r>
                  <a:rPr lang="en-US" altLang="zh-CN" sz="1600" dirty="0"/>
                  <a:t>?</a:t>
                </a:r>
                <a:endParaRPr lang="zh-CN" altLang="en-US" sz="1600" dirty="0"/>
              </a:p>
            </p:txBody>
          </p:sp>
        </mc:Choice>
        <mc:Fallback>
          <p:sp>
            <p:nvSpPr>
              <p:cNvPr id="2" name="内容占位符 1">
                <a:extLst>
                  <a:ext uri="{FF2B5EF4-FFF2-40B4-BE49-F238E27FC236}">
                    <a16:creationId xmlns:a16="http://schemas.microsoft.com/office/drawing/2014/main" id="{8FC6463F-5616-4194-95BC-CC4819ED1895}"/>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3ECB4588-D6A9-44C1-82D0-31156ED7AB99}"/>
              </a:ext>
            </a:extLst>
          </p:cNvPr>
          <p:cNvSpPr>
            <a:spLocks noGrp="1"/>
          </p:cNvSpPr>
          <p:nvPr>
            <p:ph type="sldNum" sz="quarter" idx="11"/>
          </p:nvPr>
        </p:nvSpPr>
        <p:spPr/>
        <p:txBody>
          <a:bodyPr/>
          <a:lstStyle/>
          <a:p>
            <a:fld id="{2AEAD966-1EF9-3A44-9B11-0C8090371A9A}" type="slidenum">
              <a:rPr lang="en-US" smtClean="0"/>
              <a:t>16</a:t>
            </a:fld>
            <a:endParaRPr lang="en-US"/>
          </a:p>
        </p:txBody>
      </p:sp>
      <p:sp>
        <p:nvSpPr>
          <p:cNvPr id="4" name="标题 3">
            <a:extLst>
              <a:ext uri="{FF2B5EF4-FFF2-40B4-BE49-F238E27FC236}">
                <a16:creationId xmlns:a16="http://schemas.microsoft.com/office/drawing/2014/main" id="{EDFBA721-7F2B-4775-9426-C59340E4EBB4}"/>
              </a:ext>
            </a:extLst>
          </p:cNvPr>
          <p:cNvSpPr>
            <a:spLocks noGrp="1"/>
          </p:cNvSpPr>
          <p:nvPr>
            <p:ph type="title"/>
          </p:nvPr>
        </p:nvSpPr>
        <p:spPr/>
        <p:txBody>
          <a:bodyPr>
            <a:normAutofit fontScale="90000"/>
          </a:bodyPr>
          <a:lstStyle/>
          <a:p>
            <a:r>
              <a:rPr lang="en-US" altLang="zh-CN" dirty="0"/>
              <a:t>Computing Counterfactuals: Simple Example</a:t>
            </a:r>
            <a:endParaRPr lang="zh-CN" altLang="en-US" dirty="0"/>
          </a:p>
        </p:txBody>
      </p:sp>
      <p:sp>
        <p:nvSpPr>
          <p:cNvPr id="5" name="日期占位符 4">
            <a:extLst>
              <a:ext uri="{FF2B5EF4-FFF2-40B4-BE49-F238E27FC236}">
                <a16:creationId xmlns:a16="http://schemas.microsoft.com/office/drawing/2014/main" id="{BBE573BD-EB01-4C9E-B95A-5370E94AE02E}"/>
              </a:ext>
            </a:extLst>
          </p:cNvPr>
          <p:cNvSpPr>
            <a:spLocks noGrp="1"/>
          </p:cNvSpPr>
          <p:nvPr>
            <p:ph type="dt" sz="half" idx="12"/>
          </p:nvPr>
        </p:nvSpPr>
        <p:spPr/>
        <p:txBody>
          <a:bodyPr/>
          <a:lstStyle/>
          <a:p>
            <a:fld id="{63ADDE33-C9F1-F94F-A20E-DA422DA466DF}" type="datetime1">
              <a:rPr lang="en-US" smtClean="0"/>
              <a:t>8/31/2022</a:t>
            </a:fld>
            <a:endParaRPr lang="en-US" dirty="0"/>
          </a:p>
        </p:txBody>
      </p:sp>
    </p:spTree>
    <p:extLst>
      <p:ext uri="{BB962C8B-B14F-4D97-AF65-F5344CB8AC3E}">
        <p14:creationId xmlns:p14="http://schemas.microsoft.com/office/powerpoint/2010/main" val="687776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8FC6463F-5616-4194-95BC-CC4819ED1895}"/>
                  </a:ext>
                </a:extLst>
              </p:cNvPr>
              <p:cNvSpPr>
                <a:spLocks noGrp="1"/>
              </p:cNvSpPr>
              <p:nvPr>
                <p:ph idx="1"/>
              </p:nvPr>
            </p:nvSpPr>
            <p:spPr/>
            <p:txBody>
              <a:bodyPr>
                <a:normAutofit/>
              </a:bodyPr>
              <a:lstStyle/>
              <a:p>
                <a:r>
                  <a:rPr lang="en-US" altLang="zh-CN" sz="1600" dirty="0"/>
                  <a:t>Y: happy or unhappy (1 or 0)</a:t>
                </a:r>
              </a:p>
              <a:p>
                <a:r>
                  <a:rPr lang="en-US" altLang="zh-CN" sz="1600" dirty="0"/>
                  <a:t>T: get a dog or don’t (1 or 0)</a:t>
                </a:r>
              </a:p>
              <a:p>
                <a:r>
                  <a:rPr lang="en-US" altLang="zh-CN" sz="1600" dirty="0"/>
                  <a:t>U: unobserved variable describing the individual(1 if dog person; 0 if anti-dog person)</a:t>
                </a:r>
              </a:p>
              <a:p>
                <a:endParaRPr lang="en-US" altLang="zh-CN" sz="1600" dirty="0"/>
              </a:p>
              <a:p>
                <a:r>
                  <a:rPr lang="en-US" altLang="zh-CN" sz="1600" dirty="0"/>
                  <a:t>SCM:	</a:t>
                </a:r>
                <a14:m>
                  <m:oMath xmlns:m="http://schemas.openxmlformats.org/officeDocument/2006/math">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 …</m:t>
                    </m:r>
                  </m:oMath>
                </a14:m>
                <a:r>
                  <a:rPr lang="en-US" altLang="zh-CN" sz="1600" b="0" dirty="0"/>
                  <a:t>		</a:t>
                </a:r>
                <a:r>
                  <a:rPr lang="en-US" altLang="zh-CN" sz="1600" dirty="0"/>
                  <a:t> 	 Observation: T = 0 and Y = 0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𝑌</m:t>
                        </m:r>
                      </m:e>
                      <m:sub>
                        <m:r>
                          <a:rPr lang="en-US" altLang="zh-CN" sz="1600" b="0" i="1" smtClean="0">
                            <a:latin typeface="Cambria Math" panose="02040503050406030204" pitchFamily="18" charset="0"/>
                          </a:rPr>
                          <m:t>𝑢</m:t>
                        </m:r>
                      </m:sub>
                    </m:sSub>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0</m:t>
                        </m:r>
                      </m:e>
                    </m:d>
                    <m:r>
                      <a:rPr lang="en-US" altLang="zh-CN" sz="1600" b="0" i="1" smtClean="0">
                        <a:latin typeface="Cambria Math" panose="02040503050406030204" pitchFamily="18" charset="0"/>
                      </a:rPr>
                      <m:t>=0)</m:t>
                    </m:r>
                  </m:oMath>
                </a14:m>
                <a:endParaRPr lang="en-US" altLang="zh-CN" sz="1600" b="0" dirty="0"/>
              </a:p>
              <a:p>
                <a:r>
                  <a:rPr lang="en-US" altLang="zh-CN" sz="1600" dirty="0"/>
                  <a:t>	</a:t>
                </a:r>
                <a14:m>
                  <m:oMath xmlns:m="http://schemas.openxmlformats.org/officeDocument/2006/math">
                    <m:r>
                      <a:rPr lang="en-US" altLang="zh-CN" sz="1600" b="0" i="1" smtClean="0">
                        <a:latin typeface="Cambria Math" panose="02040503050406030204" pitchFamily="18" charset="0"/>
                      </a:rPr>
                      <m:t>𝑌</m:t>
                    </m:r>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𝑈𝑇</m:t>
                    </m:r>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𝑈</m:t>
                    </m:r>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m:t>
                    </m:r>
                  </m:oMath>
                </a14:m>
                <a:r>
                  <a:rPr lang="en-US" altLang="zh-CN" sz="1600" dirty="0"/>
                  <a:t>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𝑌</m:t>
                        </m:r>
                      </m:e>
                      <m:sub>
                        <m:r>
                          <a:rPr lang="en-US" altLang="zh-CN" sz="1600" i="1">
                            <a:latin typeface="Cambria Math" panose="02040503050406030204" pitchFamily="18" charset="0"/>
                          </a:rPr>
                          <m:t>𝑢</m:t>
                        </m:r>
                      </m:sub>
                    </m:sSub>
                    <m:d>
                      <m:dPr>
                        <m:ctrlPr>
                          <a:rPr lang="en-US" altLang="zh-CN" sz="1600" i="1">
                            <a:latin typeface="Cambria Math" panose="02040503050406030204" pitchFamily="18" charset="0"/>
                          </a:rPr>
                        </m:ctrlPr>
                      </m:dPr>
                      <m:e>
                        <m:r>
                          <a:rPr lang="en-US" altLang="zh-CN" sz="1600" b="0" i="1" smtClean="0">
                            <a:latin typeface="Cambria Math" panose="02040503050406030204" pitchFamily="18" charset="0"/>
                          </a:rPr>
                          <m:t>1</m:t>
                        </m:r>
                      </m:e>
                    </m:d>
                  </m:oMath>
                </a14:m>
                <a:r>
                  <a:rPr lang="en-US" altLang="zh-CN" sz="1600" dirty="0"/>
                  <a:t>?</a:t>
                </a:r>
              </a:p>
              <a:p>
                <a:r>
                  <a:rPr lang="en-US" altLang="zh-CN" sz="1600" dirty="0"/>
                  <a:t>				           Step1: Solve for U </a:t>
                </a:r>
                <a:endParaRPr lang="zh-CN" altLang="en-US" sz="1600" dirty="0"/>
              </a:p>
            </p:txBody>
          </p:sp>
        </mc:Choice>
        <mc:Fallback>
          <p:sp>
            <p:nvSpPr>
              <p:cNvPr id="2" name="内容占位符 1">
                <a:extLst>
                  <a:ext uri="{FF2B5EF4-FFF2-40B4-BE49-F238E27FC236}">
                    <a16:creationId xmlns:a16="http://schemas.microsoft.com/office/drawing/2014/main" id="{8FC6463F-5616-4194-95BC-CC4819ED1895}"/>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3ECB4588-D6A9-44C1-82D0-31156ED7AB99}"/>
              </a:ext>
            </a:extLst>
          </p:cNvPr>
          <p:cNvSpPr>
            <a:spLocks noGrp="1"/>
          </p:cNvSpPr>
          <p:nvPr>
            <p:ph type="sldNum" sz="quarter" idx="11"/>
          </p:nvPr>
        </p:nvSpPr>
        <p:spPr/>
        <p:txBody>
          <a:bodyPr/>
          <a:lstStyle/>
          <a:p>
            <a:fld id="{2AEAD966-1EF9-3A44-9B11-0C8090371A9A}" type="slidenum">
              <a:rPr lang="en-US" smtClean="0"/>
              <a:t>17</a:t>
            </a:fld>
            <a:endParaRPr lang="en-US"/>
          </a:p>
        </p:txBody>
      </p:sp>
      <p:sp>
        <p:nvSpPr>
          <p:cNvPr id="4" name="标题 3">
            <a:extLst>
              <a:ext uri="{FF2B5EF4-FFF2-40B4-BE49-F238E27FC236}">
                <a16:creationId xmlns:a16="http://schemas.microsoft.com/office/drawing/2014/main" id="{EDFBA721-7F2B-4775-9426-C59340E4EBB4}"/>
              </a:ext>
            </a:extLst>
          </p:cNvPr>
          <p:cNvSpPr>
            <a:spLocks noGrp="1"/>
          </p:cNvSpPr>
          <p:nvPr>
            <p:ph type="title"/>
          </p:nvPr>
        </p:nvSpPr>
        <p:spPr/>
        <p:txBody>
          <a:bodyPr>
            <a:normAutofit fontScale="90000"/>
          </a:bodyPr>
          <a:lstStyle/>
          <a:p>
            <a:r>
              <a:rPr lang="en-US" altLang="zh-CN" dirty="0"/>
              <a:t>Computing Counterfactuals: Simple Example</a:t>
            </a:r>
            <a:endParaRPr lang="zh-CN" altLang="en-US" dirty="0"/>
          </a:p>
        </p:txBody>
      </p:sp>
      <p:sp>
        <p:nvSpPr>
          <p:cNvPr id="5" name="日期占位符 4">
            <a:extLst>
              <a:ext uri="{FF2B5EF4-FFF2-40B4-BE49-F238E27FC236}">
                <a16:creationId xmlns:a16="http://schemas.microsoft.com/office/drawing/2014/main" id="{BBE573BD-EB01-4C9E-B95A-5370E94AE02E}"/>
              </a:ext>
            </a:extLst>
          </p:cNvPr>
          <p:cNvSpPr>
            <a:spLocks noGrp="1"/>
          </p:cNvSpPr>
          <p:nvPr>
            <p:ph type="dt" sz="half" idx="12"/>
          </p:nvPr>
        </p:nvSpPr>
        <p:spPr/>
        <p:txBody>
          <a:bodyPr/>
          <a:lstStyle/>
          <a:p>
            <a:fld id="{63ADDE33-C9F1-F94F-A20E-DA422DA466DF}" type="datetime1">
              <a:rPr lang="en-US" smtClean="0"/>
              <a:t>8/31/2022</a:t>
            </a:fld>
            <a:endParaRPr lang="en-US" dirty="0"/>
          </a:p>
        </p:txBody>
      </p:sp>
      <p:cxnSp>
        <p:nvCxnSpPr>
          <p:cNvPr id="9" name="直接连接符 8">
            <a:extLst>
              <a:ext uri="{FF2B5EF4-FFF2-40B4-BE49-F238E27FC236}">
                <a16:creationId xmlns:a16="http://schemas.microsoft.com/office/drawing/2014/main" id="{42BCC09D-83E6-4F83-9525-F7770070699E}"/>
              </a:ext>
            </a:extLst>
          </p:cNvPr>
          <p:cNvCxnSpPr/>
          <p:nvPr/>
        </p:nvCxnSpPr>
        <p:spPr>
          <a:xfrm>
            <a:off x="1390650" y="3524250"/>
            <a:ext cx="2286000"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994222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8FC6463F-5616-4194-95BC-CC4819ED1895}"/>
                  </a:ext>
                </a:extLst>
              </p:cNvPr>
              <p:cNvSpPr>
                <a:spLocks noGrp="1"/>
              </p:cNvSpPr>
              <p:nvPr>
                <p:ph idx="1"/>
              </p:nvPr>
            </p:nvSpPr>
            <p:spPr/>
            <p:txBody>
              <a:bodyPr>
                <a:normAutofit/>
              </a:bodyPr>
              <a:lstStyle/>
              <a:p>
                <a:r>
                  <a:rPr lang="en-US" altLang="zh-CN" sz="1600" dirty="0"/>
                  <a:t>Y: happy or unhappy (1 or 0)</a:t>
                </a:r>
              </a:p>
              <a:p>
                <a:r>
                  <a:rPr lang="en-US" altLang="zh-CN" sz="1600" dirty="0"/>
                  <a:t>T: get a dog or don’t (1 or 0)</a:t>
                </a:r>
              </a:p>
              <a:p>
                <a:r>
                  <a:rPr lang="en-US" altLang="zh-CN" sz="1600" dirty="0"/>
                  <a:t>U: unobserved variable describing the individual(1 if dog person; 0 if anti-dog person)</a:t>
                </a:r>
              </a:p>
              <a:p>
                <a:endParaRPr lang="en-US" altLang="zh-CN" sz="1600" dirty="0"/>
              </a:p>
              <a:p>
                <a:r>
                  <a:rPr lang="en-US" altLang="zh-CN" sz="1600" dirty="0"/>
                  <a:t>SCM:	</a:t>
                </a:r>
                <a14:m>
                  <m:oMath xmlns:m="http://schemas.openxmlformats.org/officeDocument/2006/math">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 …</m:t>
                    </m:r>
                  </m:oMath>
                </a14:m>
                <a:r>
                  <a:rPr lang="en-US" altLang="zh-CN" sz="1600" b="0" dirty="0"/>
                  <a:t>		</a:t>
                </a:r>
                <a:r>
                  <a:rPr lang="en-US" altLang="zh-CN" sz="1600" dirty="0"/>
                  <a:t> 	 Observation: T = 0 and Y = 0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𝑌</m:t>
                        </m:r>
                      </m:e>
                      <m:sub>
                        <m:r>
                          <a:rPr lang="en-US" altLang="zh-CN" sz="1600" b="0" i="1" smtClean="0">
                            <a:latin typeface="Cambria Math" panose="02040503050406030204" pitchFamily="18" charset="0"/>
                          </a:rPr>
                          <m:t>𝑢</m:t>
                        </m:r>
                      </m:sub>
                    </m:sSub>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0</m:t>
                        </m:r>
                      </m:e>
                    </m:d>
                    <m:r>
                      <a:rPr lang="en-US" altLang="zh-CN" sz="1600" b="0" i="1" smtClean="0">
                        <a:latin typeface="Cambria Math" panose="02040503050406030204" pitchFamily="18" charset="0"/>
                      </a:rPr>
                      <m:t>=0)</m:t>
                    </m:r>
                  </m:oMath>
                </a14:m>
                <a:endParaRPr lang="en-US" altLang="zh-CN" sz="1600" b="0" dirty="0"/>
              </a:p>
              <a:p>
                <a:r>
                  <a:rPr lang="en-US" altLang="zh-CN" sz="1600" dirty="0"/>
                  <a:t>	</a:t>
                </a:r>
                <a14:m>
                  <m:oMath xmlns:m="http://schemas.openxmlformats.org/officeDocument/2006/math">
                    <m:r>
                      <a:rPr lang="en-US" altLang="zh-CN" sz="1600" b="0" i="1" smtClean="0">
                        <a:latin typeface="Cambria Math" panose="02040503050406030204" pitchFamily="18" charset="0"/>
                      </a:rPr>
                      <m:t>𝑌</m:t>
                    </m:r>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𝑈𝑇</m:t>
                    </m:r>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𝑈</m:t>
                    </m:r>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m:t>
                    </m:r>
                  </m:oMath>
                </a14:m>
                <a:r>
                  <a:rPr lang="en-US" altLang="zh-CN" sz="1600" dirty="0"/>
                  <a:t>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𝑌</m:t>
                        </m:r>
                      </m:e>
                      <m:sub>
                        <m:r>
                          <a:rPr lang="en-US" altLang="zh-CN" sz="1600" i="1">
                            <a:latin typeface="Cambria Math" panose="02040503050406030204" pitchFamily="18" charset="0"/>
                          </a:rPr>
                          <m:t>𝑢</m:t>
                        </m:r>
                      </m:sub>
                    </m:sSub>
                    <m:d>
                      <m:dPr>
                        <m:ctrlPr>
                          <a:rPr lang="en-US" altLang="zh-CN" sz="1600" i="1">
                            <a:latin typeface="Cambria Math" panose="02040503050406030204" pitchFamily="18" charset="0"/>
                          </a:rPr>
                        </m:ctrlPr>
                      </m:dPr>
                      <m:e>
                        <m:r>
                          <a:rPr lang="en-US" altLang="zh-CN" sz="1600" b="0" i="1" smtClean="0">
                            <a:latin typeface="Cambria Math" panose="02040503050406030204" pitchFamily="18" charset="0"/>
                          </a:rPr>
                          <m:t>1</m:t>
                        </m:r>
                      </m:e>
                    </m:d>
                  </m:oMath>
                </a14:m>
                <a:r>
                  <a:rPr lang="en-US" altLang="zh-CN" sz="1600" dirty="0"/>
                  <a:t>?</a:t>
                </a:r>
              </a:p>
              <a:p>
                <a:r>
                  <a:rPr lang="en-US" altLang="zh-CN" sz="1600" dirty="0"/>
                  <a:t>				           Step1: Solve for U </a:t>
                </a:r>
              </a:p>
              <a:p>
                <a:r>
                  <a:rPr lang="en-US" altLang="zh-CN" sz="1600" dirty="0"/>
                  <a:t>					       </a:t>
                </a:r>
                <a14:m>
                  <m:oMath xmlns:m="http://schemas.openxmlformats.org/officeDocument/2006/math">
                    <m:r>
                      <a:rPr lang="en-US" altLang="zh-CN" sz="1600" b="0" i="1" smtClean="0">
                        <a:latin typeface="Cambria Math" panose="02040503050406030204" pitchFamily="18" charset="0"/>
                      </a:rPr>
                      <m:t>0=</m:t>
                    </m:r>
                    <m:r>
                      <a:rPr lang="en-US" altLang="zh-CN" sz="1600" b="0" i="1" smtClean="0">
                        <a:latin typeface="Cambria Math" panose="02040503050406030204" pitchFamily="18" charset="0"/>
                      </a:rPr>
                      <m:t>𝑈</m:t>
                    </m:r>
                    <m:r>
                      <a:rPr lang="en-US" altLang="zh-CN" sz="1600" b="0" i="1" smtClean="0">
                        <a:latin typeface="Cambria Math" panose="02040503050406030204" pitchFamily="18" charset="0"/>
                      </a:rPr>
                      <m:t>∙0+</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𝑈</m:t>
                        </m:r>
                      </m:e>
                    </m:d>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1−0</m:t>
                        </m:r>
                      </m:e>
                    </m:d>
                  </m:oMath>
                </a14:m>
                <a:endParaRPr lang="en-US" altLang="zh-CN" sz="1600" b="0" dirty="0"/>
              </a:p>
              <a:p>
                <a:r>
                  <a:rPr lang="en-US" altLang="zh-CN" sz="1600" dirty="0"/>
                  <a:t>					       </a:t>
                </a:r>
                <a14:m>
                  <m:oMath xmlns:m="http://schemas.openxmlformats.org/officeDocument/2006/math">
                    <m:r>
                      <a:rPr lang="en-US" altLang="zh-CN" sz="1600" b="0" i="1" smtClean="0">
                        <a:latin typeface="Cambria Math" panose="02040503050406030204" pitchFamily="18" charset="0"/>
                      </a:rPr>
                      <m:t>𝑈</m:t>
                    </m:r>
                    <m:r>
                      <a:rPr lang="en-US" altLang="zh-CN" sz="1600" b="0" i="1" smtClean="0">
                        <a:latin typeface="Cambria Math" panose="02040503050406030204" pitchFamily="18" charset="0"/>
                      </a:rPr>
                      <m:t>=1</m:t>
                    </m:r>
                  </m:oMath>
                </a14:m>
                <a:endParaRPr lang="zh-CN" altLang="en-US" sz="1600" dirty="0"/>
              </a:p>
            </p:txBody>
          </p:sp>
        </mc:Choice>
        <mc:Fallback>
          <p:sp>
            <p:nvSpPr>
              <p:cNvPr id="2" name="内容占位符 1">
                <a:extLst>
                  <a:ext uri="{FF2B5EF4-FFF2-40B4-BE49-F238E27FC236}">
                    <a16:creationId xmlns:a16="http://schemas.microsoft.com/office/drawing/2014/main" id="{8FC6463F-5616-4194-95BC-CC4819ED1895}"/>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3ECB4588-D6A9-44C1-82D0-31156ED7AB99}"/>
              </a:ext>
            </a:extLst>
          </p:cNvPr>
          <p:cNvSpPr>
            <a:spLocks noGrp="1"/>
          </p:cNvSpPr>
          <p:nvPr>
            <p:ph type="sldNum" sz="quarter" idx="11"/>
          </p:nvPr>
        </p:nvSpPr>
        <p:spPr/>
        <p:txBody>
          <a:bodyPr/>
          <a:lstStyle/>
          <a:p>
            <a:fld id="{2AEAD966-1EF9-3A44-9B11-0C8090371A9A}" type="slidenum">
              <a:rPr lang="en-US" smtClean="0"/>
              <a:t>18</a:t>
            </a:fld>
            <a:endParaRPr lang="en-US"/>
          </a:p>
        </p:txBody>
      </p:sp>
      <p:sp>
        <p:nvSpPr>
          <p:cNvPr id="4" name="标题 3">
            <a:extLst>
              <a:ext uri="{FF2B5EF4-FFF2-40B4-BE49-F238E27FC236}">
                <a16:creationId xmlns:a16="http://schemas.microsoft.com/office/drawing/2014/main" id="{EDFBA721-7F2B-4775-9426-C59340E4EBB4}"/>
              </a:ext>
            </a:extLst>
          </p:cNvPr>
          <p:cNvSpPr>
            <a:spLocks noGrp="1"/>
          </p:cNvSpPr>
          <p:nvPr>
            <p:ph type="title"/>
          </p:nvPr>
        </p:nvSpPr>
        <p:spPr/>
        <p:txBody>
          <a:bodyPr>
            <a:normAutofit fontScale="90000"/>
          </a:bodyPr>
          <a:lstStyle/>
          <a:p>
            <a:r>
              <a:rPr lang="en-US" altLang="zh-CN" dirty="0"/>
              <a:t>Computing Counterfactuals: Simple Example</a:t>
            </a:r>
            <a:endParaRPr lang="zh-CN" altLang="en-US" dirty="0"/>
          </a:p>
        </p:txBody>
      </p:sp>
      <p:sp>
        <p:nvSpPr>
          <p:cNvPr id="5" name="日期占位符 4">
            <a:extLst>
              <a:ext uri="{FF2B5EF4-FFF2-40B4-BE49-F238E27FC236}">
                <a16:creationId xmlns:a16="http://schemas.microsoft.com/office/drawing/2014/main" id="{BBE573BD-EB01-4C9E-B95A-5370E94AE02E}"/>
              </a:ext>
            </a:extLst>
          </p:cNvPr>
          <p:cNvSpPr>
            <a:spLocks noGrp="1"/>
          </p:cNvSpPr>
          <p:nvPr>
            <p:ph type="dt" sz="half" idx="12"/>
          </p:nvPr>
        </p:nvSpPr>
        <p:spPr/>
        <p:txBody>
          <a:bodyPr/>
          <a:lstStyle/>
          <a:p>
            <a:fld id="{63ADDE33-C9F1-F94F-A20E-DA422DA466DF}" type="datetime1">
              <a:rPr lang="en-US" smtClean="0"/>
              <a:t>8/31/2022</a:t>
            </a:fld>
            <a:endParaRPr lang="en-US" dirty="0"/>
          </a:p>
        </p:txBody>
      </p:sp>
      <p:cxnSp>
        <p:nvCxnSpPr>
          <p:cNvPr id="9" name="直接连接符 8">
            <a:extLst>
              <a:ext uri="{FF2B5EF4-FFF2-40B4-BE49-F238E27FC236}">
                <a16:creationId xmlns:a16="http://schemas.microsoft.com/office/drawing/2014/main" id="{42BCC09D-83E6-4F83-9525-F7770070699E}"/>
              </a:ext>
            </a:extLst>
          </p:cNvPr>
          <p:cNvCxnSpPr/>
          <p:nvPr/>
        </p:nvCxnSpPr>
        <p:spPr>
          <a:xfrm>
            <a:off x="1390650" y="3524250"/>
            <a:ext cx="2286000"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545048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8FC6463F-5616-4194-95BC-CC4819ED1895}"/>
                  </a:ext>
                </a:extLst>
              </p:cNvPr>
              <p:cNvSpPr>
                <a:spLocks noGrp="1"/>
              </p:cNvSpPr>
              <p:nvPr>
                <p:ph idx="1"/>
              </p:nvPr>
            </p:nvSpPr>
            <p:spPr/>
            <p:txBody>
              <a:bodyPr>
                <a:normAutofit/>
              </a:bodyPr>
              <a:lstStyle/>
              <a:p>
                <a:r>
                  <a:rPr lang="en-US" altLang="zh-CN" sz="1600" dirty="0"/>
                  <a:t>Y: happy or unhappy (1 or 0)</a:t>
                </a:r>
              </a:p>
              <a:p>
                <a:r>
                  <a:rPr lang="en-US" altLang="zh-CN" sz="1600" dirty="0"/>
                  <a:t>T: get a dog or don’t (1 or 0)</a:t>
                </a:r>
              </a:p>
              <a:p>
                <a:r>
                  <a:rPr lang="en-US" altLang="zh-CN" sz="1600" dirty="0"/>
                  <a:t>U: unobserved variable describing the individual(1 if dog person; 0 if anti-dog person)</a:t>
                </a:r>
              </a:p>
              <a:p>
                <a:endParaRPr lang="en-US" altLang="zh-CN" sz="1600" dirty="0"/>
              </a:p>
              <a:p>
                <a:r>
                  <a:rPr lang="en-US" altLang="zh-CN" sz="1600" dirty="0"/>
                  <a:t>SCM:	</a:t>
                </a:r>
                <a14:m>
                  <m:oMath xmlns:m="http://schemas.openxmlformats.org/officeDocument/2006/math">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 …</m:t>
                    </m:r>
                  </m:oMath>
                </a14:m>
                <a:r>
                  <a:rPr lang="en-US" altLang="zh-CN" sz="1600" b="0" dirty="0"/>
                  <a:t>		</a:t>
                </a:r>
                <a:r>
                  <a:rPr lang="en-US" altLang="zh-CN" sz="1600" dirty="0"/>
                  <a:t> 	 Observation: T = 0 and Y = 0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𝑌</m:t>
                        </m:r>
                      </m:e>
                      <m:sub>
                        <m:r>
                          <a:rPr lang="en-US" altLang="zh-CN" sz="1600" b="0" i="1" smtClean="0">
                            <a:latin typeface="Cambria Math" panose="02040503050406030204" pitchFamily="18" charset="0"/>
                          </a:rPr>
                          <m:t>𝑢</m:t>
                        </m:r>
                      </m:sub>
                    </m:sSub>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0</m:t>
                        </m:r>
                      </m:e>
                    </m:d>
                    <m:r>
                      <a:rPr lang="en-US" altLang="zh-CN" sz="1600" b="0" i="1" smtClean="0">
                        <a:latin typeface="Cambria Math" panose="02040503050406030204" pitchFamily="18" charset="0"/>
                      </a:rPr>
                      <m:t>=0)</m:t>
                    </m:r>
                  </m:oMath>
                </a14:m>
                <a:endParaRPr lang="en-US" altLang="zh-CN" sz="1600" b="0" dirty="0"/>
              </a:p>
              <a:p>
                <a:r>
                  <a:rPr lang="en-US" altLang="zh-CN" sz="1600" dirty="0"/>
                  <a:t>	</a:t>
                </a:r>
                <a14:m>
                  <m:oMath xmlns:m="http://schemas.openxmlformats.org/officeDocument/2006/math">
                    <m:r>
                      <a:rPr lang="en-US" altLang="zh-CN" sz="1600" b="0" i="1" smtClean="0">
                        <a:latin typeface="Cambria Math" panose="02040503050406030204" pitchFamily="18" charset="0"/>
                      </a:rPr>
                      <m:t>𝑌</m:t>
                    </m:r>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𝑈𝑇</m:t>
                    </m:r>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𝑈</m:t>
                    </m:r>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m:t>
                    </m:r>
                  </m:oMath>
                </a14:m>
                <a:r>
                  <a:rPr lang="en-US" altLang="zh-CN" sz="1600" dirty="0"/>
                  <a:t>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𝑌</m:t>
                        </m:r>
                      </m:e>
                      <m:sub>
                        <m:r>
                          <a:rPr lang="en-US" altLang="zh-CN" sz="1600" i="1">
                            <a:latin typeface="Cambria Math" panose="02040503050406030204" pitchFamily="18" charset="0"/>
                          </a:rPr>
                          <m:t>𝑢</m:t>
                        </m:r>
                      </m:sub>
                    </m:sSub>
                    <m:d>
                      <m:dPr>
                        <m:ctrlPr>
                          <a:rPr lang="en-US" altLang="zh-CN" sz="1600" i="1">
                            <a:latin typeface="Cambria Math" panose="02040503050406030204" pitchFamily="18" charset="0"/>
                          </a:rPr>
                        </m:ctrlPr>
                      </m:dPr>
                      <m:e>
                        <m:r>
                          <a:rPr lang="en-US" altLang="zh-CN" sz="1600" b="0" i="1" smtClean="0">
                            <a:latin typeface="Cambria Math" panose="02040503050406030204" pitchFamily="18" charset="0"/>
                          </a:rPr>
                          <m:t>1</m:t>
                        </m:r>
                      </m:e>
                    </m:d>
                  </m:oMath>
                </a14:m>
                <a:r>
                  <a:rPr lang="en-US" altLang="zh-CN" sz="1600" dirty="0"/>
                  <a:t>?</a:t>
                </a:r>
              </a:p>
              <a:p>
                <a:r>
                  <a:rPr lang="en-US" altLang="zh-CN" sz="1600" dirty="0"/>
                  <a:t>				           Step1: Solve for U </a:t>
                </a:r>
              </a:p>
              <a:p>
                <a:r>
                  <a:rPr lang="en-US" altLang="zh-CN" sz="1600" dirty="0"/>
                  <a:t>Step2: Individualized SCM			       </a:t>
                </a:r>
                <a14:m>
                  <m:oMath xmlns:m="http://schemas.openxmlformats.org/officeDocument/2006/math">
                    <m:r>
                      <a:rPr lang="en-US" altLang="zh-CN" sz="1600" b="0" i="1" smtClean="0">
                        <a:latin typeface="Cambria Math" panose="02040503050406030204" pitchFamily="18" charset="0"/>
                      </a:rPr>
                      <m:t>0=</m:t>
                    </m:r>
                    <m:r>
                      <a:rPr lang="en-US" altLang="zh-CN" sz="1600" b="0" i="1" smtClean="0">
                        <a:latin typeface="Cambria Math" panose="02040503050406030204" pitchFamily="18" charset="0"/>
                      </a:rPr>
                      <m:t>𝑈</m:t>
                    </m:r>
                    <m:r>
                      <a:rPr lang="en-US" altLang="zh-CN" sz="1600" b="0" i="1" smtClean="0">
                        <a:latin typeface="Cambria Math" panose="02040503050406030204" pitchFamily="18" charset="0"/>
                      </a:rPr>
                      <m:t>∙0+</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𝑈</m:t>
                        </m:r>
                      </m:e>
                    </m:d>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1−0</m:t>
                        </m:r>
                      </m:e>
                    </m:d>
                  </m:oMath>
                </a14:m>
                <a:endParaRPr lang="en-US" altLang="zh-CN" sz="1600" b="0" dirty="0"/>
              </a:p>
              <a:p>
                <a:r>
                  <a:rPr lang="en-US" altLang="zh-CN" sz="1600" dirty="0"/>
                  <a:t>            </a:t>
                </a:r>
                <a14:m>
                  <m:oMath xmlns:m="http://schemas.openxmlformats.org/officeDocument/2006/math">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m:t>
                    </m:r>
                  </m:oMath>
                </a14:m>
                <a:r>
                  <a:rPr lang="en-US" altLang="zh-CN" sz="1600" dirty="0"/>
                  <a:t>				       </a:t>
                </a:r>
                <a14:m>
                  <m:oMath xmlns:m="http://schemas.openxmlformats.org/officeDocument/2006/math">
                    <m:r>
                      <a:rPr lang="en-US" altLang="zh-CN" sz="1600" b="0" i="1" smtClean="0">
                        <a:latin typeface="Cambria Math" panose="02040503050406030204" pitchFamily="18" charset="0"/>
                      </a:rPr>
                      <m:t>𝑈</m:t>
                    </m:r>
                    <m:r>
                      <a:rPr lang="en-US" altLang="zh-CN" sz="1600" b="0" i="1" smtClean="0">
                        <a:latin typeface="Cambria Math" panose="02040503050406030204" pitchFamily="18" charset="0"/>
                      </a:rPr>
                      <m:t>=1</m:t>
                    </m:r>
                  </m:oMath>
                </a14:m>
                <a:endParaRPr lang="en-US" altLang="zh-CN" sz="1600" dirty="0"/>
              </a:p>
              <a:p>
                <a:r>
                  <a:rPr lang="en-US" altLang="zh-CN" sz="1600" dirty="0"/>
                  <a:t>            </a:t>
                </a:r>
                <a14:m>
                  <m:oMath xmlns:m="http://schemas.openxmlformats.org/officeDocument/2006/math">
                    <m:r>
                      <a:rPr lang="en-US" altLang="zh-CN" sz="1600" b="0" i="1" smtClean="0">
                        <a:latin typeface="Cambria Math" panose="02040503050406030204" pitchFamily="18" charset="0"/>
                      </a:rPr>
                      <m:t>𝑌</m:t>
                    </m:r>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+(1−1)(1−</m:t>
                    </m:r>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m:t>
                    </m:r>
                  </m:oMath>
                </a14:m>
                <a:endParaRPr lang="en-US" altLang="zh-CN" sz="1600" dirty="0"/>
              </a:p>
              <a:p>
                <a:r>
                  <a:rPr lang="en-US" altLang="zh-CN" sz="1600" dirty="0"/>
                  <a:t>            </a:t>
                </a:r>
                <a14:m>
                  <m:oMath xmlns:m="http://schemas.openxmlformats.org/officeDocument/2006/math">
                    <m:r>
                      <a:rPr lang="en-US" altLang="zh-CN" sz="1600" i="1">
                        <a:latin typeface="Cambria Math" panose="02040503050406030204" pitchFamily="18" charset="0"/>
                      </a:rPr>
                      <m:t>𝑌</m:t>
                    </m:r>
                    <m:r>
                      <a:rPr lang="en-US" altLang="zh-CN" sz="1600" i="1">
                        <a:latin typeface="Cambria Math" panose="02040503050406030204" pitchFamily="18" charset="0"/>
                      </a:rPr>
                      <m:t>≔</m:t>
                    </m:r>
                    <m:r>
                      <a:rPr lang="en-US" altLang="zh-CN" sz="1600" b="0" i="1" smtClean="0">
                        <a:latin typeface="Cambria Math" panose="02040503050406030204" pitchFamily="18" charset="0"/>
                      </a:rPr>
                      <m:t>𝑇</m:t>
                    </m:r>
                  </m:oMath>
                </a14:m>
                <a:endParaRPr lang="zh-CN" altLang="en-US" sz="1600" dirty="0"/>
              </a:p>
            </p:txBody>
          </p:sp>
        </mc:Choice>
        <mc:Fallback>
          <p:sp>
            <p:nvSpPr>
              <p:cNvPr id="2" name="内容占位符 1">
                <a:extLst>
                  <a:ext uri="{FF2B5EF4-FFF2-40B4-BE49-F238E27FC236}">
                    <a16:creationId xmlns:a16="http://schemas.microsoft.com/office/drawing/2014/main" id="{8FC6463F-5616-4194-95BC-CC4819ED1895}"/>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3ECB4588-D6A9-44C1-82D0-31156ED7AB99}"/>
              </a:ext>
            </a:extLst>
          </p:cNvPr>
          <p:cNvSpPr>
            <a:spLocks noGrp="1"/>
          </p:cNvSpPr>
          <p:nvPr>
            <p:ph type="sldNum" sz="quarter" idx="11"/>
          </p:nvPr>
        </p:nvSpPr>
        <p:spPr/>
        <p:txBody>
          <a:bodyPr/>
          <a:lstStyle/>
          <a:p>
            <a:fld id="{2AEAD966-1EF9-3A44-9B11-0C8090371A9A}" type="slidenum">
              <a:rPr lang="en-US" smtClean="0"/>
              <a:t>19</a:t>
            </a:fld>
            <a:endParaRPr lang="en-US"/>
          </a:p>
        </p:txBody>
      </p:sp>
      <p:sp>
        <p:nvSpPr>
          <p:cNvPr id="4" name="标题 3">
            <a:extLst>
              <a:ext uri="{FF2B5EF4-FFF2-40B4-BE49-F238E27FC236}">
                <a16:creationId xmlns:a16="http://schemas.microsoft.com/office/drawing/2014/main" id="{EDFBA721-7F2B-4775-9426-C59340E4EBB4}"/>
              </a:ext>
            </a:extLst>
          </p:cNvPr>
          <p:cNvSpPr>
            <a:spLocks noGrp="1"/>
          </p:cNvSpPr>
          <p:nvPr>
            <p:ph type="title"/>
          </p:nvPr>
        </p:nvSpPr>
        <p:spPr/>
        <p:txBody>
          <a:bodyPr>
            <a:normAutofit fontScale="90000"/>
          </a:bodyPr>
          <a:lstStyle/>
          <a:p>
            <a:r>
              <a:rPr lang="en-US" altLang="zh-CN" dirty="0"/>
              <a:t>Computing Counterfactuals: Simple Example</a:t>
            </a:r>
            <a:endParaRPr lang="zh-CN" altLang="en-US" dirty="0"/>
          </a:p>
        </p:txBody>
      </p:sp>
      <p:sp>
        <p:nvSpPr>
          <p:cNvPr id="5" name="日期占位符 4">
            <a:extLst>
              <a:ext uri="{FF2B5EF4-FFF2-40B4-BE49-F238E27FC236}">
                <a16:creationId xmlns:a16="http://schemas.microsoft.com/office/drawing/2014/main" id="{BBE573BD-EB01-4C9E-B95A-5370E94AE02E}"/>
              </a:ext>
            </a:extLst>
          </p:cNvPr>
          <p:cNvSpPr>
            <a:spLocks noGrp="1"/>
          </p:cNvSpPr>
          <p:nvPr>
            <p:ph type="dt" sz="half" idx="12"/>
          </p:nvPr>
        </p:nvSpPr>
        <p:spPr/>
        <p:txBody>
          <a:bodyPr/>
          <a:lstStyle/>
          <a:p>
            <a:fld id="{63ADDE33-C9F1-F94F-A20E-DA422DA466DF}" type="datetime1">
              <a:rPr lang="en-US" smtClean="0"/>
              <a:t>8/31/2022</a:t>
            </a:fld>
            <a:endParaRPr lang="en-US" dirty="0"/>
          </a:p>
        </p:txBody>
      </p:sp>
      <p:cxnSp>
        <p:nvCxnSpPr>
          <p:cNvPr id="9" name="直接连接符 8">
            <a:extLst>
              <a:ext uri="{FF2B5EF4-FFF2-40B4-BE49-F238E27FC236}">
                <a16:creationId xmlns:a16="http://schemas.microsoft.com/office/drawing/2014/main" id="{42BCC09D-83E6-4F83-9525-F7770070699E}"/>
              </a:ext>
            </a:extLst>
          </p:cNvPr>
          <p:cNvCxnSpPr/>
          <p:nvPr/>
        </p:nvCxnSpPr>
        <p:spPr>
          <a:xfrm>
            <a:off x="1390650" y="3524250"/>
            <a:ext cx="2286000"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039108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8FC6463F-5616-4194-95BC-CC4819ED1895}"/>
                  </a:ext>
                </a:extLst>
              </p:cNvPr>
              <p:cNvSpPr>
                <a:spLocks noGrp="1"/>
              </p:cNvSpPr>
              <p:nvPr>
                <p:ph idx="1"/>
              </p:nvPr>
            </p:nvSpPr>
            <p:spPr/>
            <p:txBody>
              <a:bodyPr>
                <a:normAutofit/>
              </a:bodyPr>
              <a:lstStyle/>
              <a:p>
                <a:r>
                  <a:rPr lang="en-US" altLang="zh-CN" sz="1600" dirty="0"/>
                  <a:t>Y: happy or unhappy (1 or 0)</a:t>
                </a:r>
              </a:p>
              <a:p>
                <a:r>
                  <a:rPr lang="en-US" altLang="zh-CN" sz="1600" dirty="0"/>
                  <a:t>T: get a dog or don’t (1 or 0)</a:t>
                </a:r>
              </a:p>
              <a:p>
                <a:r>
                  <a:rPr lang="en-US" altLang="zh-CN" sz="1600" dirty="0"/>
                  <a:t>U: unobserved variable describing the individual(1 if dog person; 0 if anti-dog person)</a:t>
                </a:r>
              </a:p>
              <a:p>
                <a:endParaRPr lang="en-US" altLang="zh-CN" sz="1600" dirty="0"/>
              </a:p>
              <a:p>
                <a:r>
                  <a:rPr lang="en-US" altLang="zh-CN" sz="1600" dirty="0"/>
                  <a:t>SCM:	</a:t>
                </a:r>
                <a14:m>
                  <m:oMath xmlns:m="http://schemas.openxmlformats.org/officeDocument/2006/math">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 …</m:t>
                    </m:r>
                  </m:oMath>
                </a14:m>
                <a:r>
                  <a:rPr lang="en-US" altLang="zh-CN" sz="1600" b="0" dirty="0"/>
                  <a:t>		</a:t>
                </a:r>
                <a:r>
                  <a:rPr lang="en-US" altLang="zh-CN" sz="1600" dirty="0"/>
                  <a:t> 	 Observation: T = 0 and Y = 0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𝑌</m:t>
                        </m:r>
                      </m:e>
                      <m:sub>
                        <m:r>
                          <a:rPr lang="en-US" altLang="zh-CN" sz="1600" b="0" i="1" smtClean="0">
                            <a:latin typeface="Cambria Math" panose="02040503050406030204" pitchFamily="18" charset="0"/>
                          </a:rPr>
                          <m:t>𝑢</m:t>
                        </m:r>
                      </m:sub>
                    </m:sSub>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0</m:t>
                        </m:r>
                      </m:e>
                    </m:d>
                    <m:r>
                      <a:rPr lang="en-US" altLang="zh-CN" sz="1600" b="0" i="1" smtClean="0">
                        <a:latin typeface="Cambria Math" panose="02040503050406030204" pitchFamily="18" charset="0"/>
                      </a:rPr>
                      <m:t>=0)</m:t>
                    </m:r>
                  </m:oMath>
                </a14:m>
                <a:endParaRPr lang="en-US" altLang="zh-CN" sz="1600" b="0" dirty="0"/>
              </a:p>
              <a:p>
                <a:r>
                  <a:rPr lang="en-US" altLang="zh-CN" sz="1600" dirty="0"/>
                  <a:t>	</a:t>
                </a:r>
                <a14:m>
                  <m:oMath xmlns:m="http://schemas.openxmlformats.org/officeDocument/2006/math">
                    <m:r>
                      <a:rPr lang="en-US" altLang="zh-CN" sz="1600" b="0" i="1" smtClean="0">
                        <a:latin typeface="Cambria Math" panose="02040503050406030204" pitchFamily="18" charset="0"/>
                      </a:rPr>
                      <m:t>𝑌</m:t>
                    </m:r>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𝑈𝑇</m:t>
                    </m:r>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𝑈</m:t>
                    </m:r>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m:t>
                    </m:r>
                  </m:oMath>
                </a14:m>
                <a:r>
                  <a:rPr lang="en-US" altLang="zh-CN" sz="1600" dirty="0"/>
                  <a:t>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𝑌</m:t>
                        </m:r>
                      </m:e>
                      <m:sub>
                        <m:r>
                          <a:rPr lang="en-US" altLang="zh-CN" sz="1600" i="1">
                            <a:latin typeface="Cambria Math" panose="02040503050406030204" pitchFamily="18" charset="0"/>
                          </a:rPr>
                          <m:t>𝑢</m:t>
                        </m:r>
                      </m:sub>
                    </m:sSub>
                    <m:d>
                      <m:dPr>
                        <m:ctrlPr>
                          <a:rPr lang="en-US" altLang="zh-CN" sz="1600" i="1">
                            <a:latin typeface="Cambria Math" panose="02040503050406030204" pitchFamily="18" charset="0"/>
                          </a:rPr>
                        </m:ctrlPr>
                      </m:dPr>
                      <m:e>
                        <m:r>
                          <a:rPr lang="en-US" altLang="zh-CN" sz="1600" b="0" i="1" smtClean="0">
                            <a:latin typeface="Cambria Math" panose="02040503050406030204" pitchFamily="18" charset="0"/>
                          </a:rPr>
                          <m:t>1</m:t>
                        </m:r>
                      </m:e>
                    </m:d>
                  </m:oMath>
                </a14:m>
                <a:r>
                  <a:rPr lang="en-US" altLang="zh-CN" sz="1600" dirty="0"/>
                  <a:t>?</a:t>
                </a:r>
              </a:p>
              <a:p>
                <a:r>
                  <a:rPr lang="en-US" altLang="zh-CN" sz="1600" dirty="0"/>
                  <a:t>				           Step1: Solve for U </a:t>
                </a:r>
              </a:p>
              <a:p>
                <a:r>
                  <a:rPr lang="en-US" altLang="zh-CN" sz="1600" dirty="0"/>
                  <a:t>Step2: Individualized SCM			       </a:t>
                </a:r>
                <a14:m>
                  <m:oMath xmlns:m="http://schemas.openxmlformats.org/officeDocument/2006/math">
                    <m:r>
                      <a:rPr lang="en-US" altLang="zh-CN" sz="1600" b="0" i="1" smtClean="0">
                        <a:latin typeface="Cambria Math" panose="02040503050406030204" pitchFamily="18" charset="0"/>
                      </a:rPr>
                      <m:t>0=</m:t>
                    </m:r>
                    <m:r>
                      <a:rPr lang="en-US" altLang="zh-CN" sz="1600" b="0" i="1" smtClean="0">
                        <a:latin typeface="Cambria Math" panose="02040503050406030204" pitchFamily="18" charset="0"/>
                      </a:rPr>
                      <m:t>𝑈</m:t>
                    </m:r>
                    <m:r>
                      <a:rPr lang="en-US" altLang="zh-CN" sz="1600" b="0" i="1" smtClean="0">
                        <a:latin typeface="Cambria Math" panose="02040503050406030204" pitchFamily="18" charset="0"/>
                      </a:rPr>
                      <m:t>∙0+</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𝑈</m:t>
                        </m:r>
                      </m:e>
                    </m:d>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1−0</m:t>
                        </m:r>
                      </m:e>
                    </m:d>
                  </m:oMath>
                </a14:m>
                <a:endParaRPr lang="en-US" altLang="zh-CN" sz="1600" b="0" dirty="0"/>
              </a:p>
              <a:p>
                <a:r>
                  <a:rPr lang="en-US" altLang="zh-CN" sz="1600" dirty="0"/>
                  <a:t>            </a:t>
                </a:r>
                <a14:m>
                  <m:oMath xmlns:m="http://schemas.openxmlformats.org/officeDocument/2006/math">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m:t>
                    </m:r>
                  </m:oMath>
                </a14:m>
                <a:r>
                  <a:rPr lang="en-US" altLang="zh-CN" sz="1600" dirty="0"/>
                  <a:t>				       </a:t>
                </a:r>
                <a14:m>
                  <m:oMath xmlns:m="http://schemas.openxmlformats.org/officeDocument/2006/math">
                    <m:r>
                      <a:rPr lang="en-US" altLang="zh-CN" sz="1600" b="0" i="1" smtClean="0">
                        <a:latin typeface="Cambria Math" panose="02040503050406030204" pitchFamily="18" charset="0"/>
                      </a:rPr>
                      <m:t>𝑈</m:t>
                    </m:r>
                    <m:r>
                      <a:rPr lang="en-US" altLang="zh-CN" sz="1600" b="0" i="1" smtClean="0">
                        <a:latin typeface="Cambria Math" panose="02040503050406030204" pitchFamily="18" charset="0"/>
                      </a:rPr>
                      <m:t>=1</m:t>
                    </m:r>
                  </m:oMath>
                </a14:m>
                <a:endParaRPr lang="en-US" altLang="zh-CN" sz="1600" dirty="0"/>
              </a:p>
              <a:p>
                <a:r>
                  <a:rPr lang="en-US" altLang="zh-CN" sz="1600" dirty="0"/>
                  <a:t>            </a:t>
                </a:r>
                <a14:m>
                  <m:oMath xmlns:m="http://schemas.openxmlformats.org/officeDocument/2006/math">
                    <m:r>
                      <a:rPr lang="en-US" altLang="zh-CN" sz="1600" b="0" i="1" smtClean="0">
                        <a:latin typeface="Cambria Math" panose="02040503050406030204" pitchFamily="18" charset="0"/>
                      </a:rPr>
                      <m:t>𝑌</m:t>
                    </m:r>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+(1−1)(1−</m:t>
                    </m:r>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m:t>
                    </m:r>
                  </m:oMath>
                </a14:m>
                <a:endParaRPr lang="en-US" altLang="zh-CN" sz="1600" dirty="0"/>
              </a:p>
              <a:p>
                <a:r>
                  <a:rPr lang="en-US" altLang="zh-CN" sz="1600" dirty="0"/>
                  <a:t>            </a:t>
                </a:r>
                <a14:m>
                  <m:oMath xmlns:m="http://schemas.openxmlformats.org/officeDocument/2006/math">
                    <m:r>
                      <a:rPr lang="en-US" altLang="zh-CN" sz="1600" i="1">
                        <a:latin typeface="Cambria Math" panose="02040503050406030204" pitchFamily="18" charset="0"/>
                      </a:rPr>
                      <m:t>𝑌</m:t>
                    </m:r>
                    <m:r>
                      <a:rPr lang="en-US" altLang="zh-CN" sz="1600" i="1">
                        <a:latin typeface="Cambria Math" panose="02040503050406030204" pitchFamily="18" charset="0"/>
                      </a:rPr>
                      <m:t>≔</m:t>
                    </m:r>
                    <m:r>
                      <a:rPr lang="en-US" altLang="zh-CN" sz="1600" b="0" i="1" smtClean="0">
                        <a:latin typeface="Cambria Math" panose="02040503050406030204" pitchFamily="18" charset="0"/>
                      </a:rPr>
                      <m:t>𝑇</m:t>
                    </m:r>
                  </m:oMath>
                </a14:m>
                <a:endParaRPr lang="en-US" altLang="zh-CN" sz="1600" dirty="0"/>
              </a:p>
              <a:p>
                <a:r>
                  <a:rPr lang="en-US" altLang="zh-CN" sz="1600" dirty="0"/>
                  <a:t>Step3: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𝑌</m:t>
                        </m:r>
                      </m:e>
                      <m:sub>
                        <m:r>
                          <a:rPr lang="en-US" altLang="zh-CN" sz="1600" i="1">
                            <a:latin typeface="Cambria Math" panose="02040503050406030204" pitchFamily="18" charset="0"/>
                          </a:rPr>
                          <m:t>𝑢</m:t>
                        </m:r>
                      </m:sub>
                    </m:sSub>
                    <m:d>
                      <m:dPr>
                        <m:ctrlPr>
                          <a:rPr lang="en-US" altLang="zh-CN" sz="1600" i="1">
                            <a:latin typeface="Cambria Math" panose="02040503050406030204" pitchFamily="18" charset="0"/>
                          </a:rPr>
                        </m:ctrlPr>
                      </m:dPr>
                      <m:e>
                        <m:r>
                          <a:rPr lang="en-US" altLang="zh-CN" sz="1600" i="1">
                            <a:latin typeface="Cambria Math" panose="02040503050406030204" pitchFamily="18" charset="0"/>
                          </a:rPr>
                          <m:t>1</m:t>
                        </m:r>
                      </m:e>
                    </m:d>
                    <m:r>
                      <a:rPr lang="en-US" altLang="zh-CN" sz="1600" b="0" i="1" smtClean="0">
                        <a:latin typeface="Cambria Math" panose="02040503050406030204" pitchFamily="18" charset="0"/>
                      </a:rPr>
                      <m:t>=1</m:t>
                    </m:r>
                  </m:oMath>
                </a14:m>
                <a:r>
                  <a:rPr lang="en-US" altLang="zh-CN" sz="1600" dirty="0"/>
                  <a:t>			ITE: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𝑌</m:t>
                        </m:r>
                      </m:e>
                      <m:sub>
                        <m:r>
                          <a:rPr lang="en-US" altLang="zh-CN" sz="1600" i="1">
                            <a:latin typeface="Cambria Math" panose="02040503050406030204" pitchFamily="18" charset="0"/>
                          </a:rPr>
                          <m:t>𝑢</m:t>
                        </m:r>
                      </m:sub>
                    </m:sSub>
                    <m:d>
                      <m:dPr>
                        <m:ctrlPr>
                          <a:rPr lang="en-US" altLang="zh-CN" sz="1600" i="1">
                            <a:latin typeface="Cambria Math" panose="02040503050406030204" pitchFamily="18" charset="0"/>
                          </a:rPr>
                        </m:ctrlPr>
                      </m:dPr>
                      <m:e>
                        <m:r>
                          <a:rPr lang="en-US" altLang="zh-CN" sz="1600" i="1">
                            <a:latin typeface="Cambria Math" panose="02040503050406030204" pitchFamily="18" charset="0"/>
                          </a:rPr>
                          <m:t>1</m:t>
                        </m:r>
                      </m:e>
                    </m:d>
                    <m:r>
                      <a:rPr lang="en-US" altLang="zh-CN" sz="1600" b="0" i="1" smtClean="0">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𝑌</m:t>
                        </m:r>
                      </m:e>
                      <m:sub>
                        <m:r>
                          <a:rPr lang="en-US" altLang="zh-CN" sz="1600" i="1">
                            <a:latin typeface="Cambria Math" panose="02040503050406030204" pitchFamily="18" charset="0"/>
                          </a:rPr>
                          <m:t>𝑢</m:t>
                        </m:r>
                      </m:sub>
                    </m:sSub>
                    <m:d>
                      <m:dPr>
                        <m:ctrlPr>
                          <a:rPr lang="en-US" altLang="zh-CN" sz="1600" i="1">
                            <a:latin typeface="Cambria Math" panose="02040503050406030204" pitchFamily="18" charset="0"/>
                          </a:rPr>
                        </m:ctrlPr>
                      </m:dPr>
                      <m:e>
                        <m:r>
                          <a:rPr lang="en-US" altLang="zh-CN" sz="1600" i="1">
                            <a:latin typeface="Cambria Math" panose="02040503050406030204" pitchFamily="18" charset="0"/>
                          </a:rPr>
                          <m:t>0</m:t>
                        </m:r>
                      </m:e>
                    </m:d>
                    <m:r>
                      <a:rPr lang="en-US" altLang="zh-CN" sz="1600" b="0" i="1" smtClean="0">
                        <a:latin typeface="Cambria Math" panose="02040503050406030204" pitchFamily="18" charset="0"/>
                      </a:rPr>
                      <m:t>=1</m:t>
                    </m:r>
                  </m:oMath>
                </a14:m>
                <a:endParaRPr lang="zh-CN" altLang="en-US" sz="1600" dirty="0"/>
              </a:p>
            </p:txBody>
          </p:sp>
        </mc:Choice>
        <mc:Fallback>
          <p:sp>
            <p:nvSpPr>
              <p:cNvPr id="2" name="内容占位符 1">
                <a:extLst>
                  <a:ext uri="{FF2B5EF4-FFF2-40B4-BE49-F238E27FC236}">
                    <a16:creationId xmlns:a16="http://schemas.microsoft.com/office/drawing/2014/main" id="{8FC6463F-5616-4194-95BC-CC4819ED1895}"/>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3ECB4588-D6A9-44C1-82D0-31156ED7AB99}"/>
              </a:ext>
            </a:extLst>
          </p:cNvPr>
          <p:cNvSpPr>
            <a:spLocks noGrp="1"/>
          </p:cNvSpPr>
          <p:nvPr>
            <p:ph type="sldNum" sz="quarter" idx="11"/>
          </p:nvPr>
        </p:nvSpPr>
        <p:spPr/>
        <p:txBody>
          <a:bodyPr/>
          <a:lstStyle/>
          <a:p>
            <a:fld id="{2AEAD966-1EF9-3A44-9B11-0C8090371A9A}" type="slidenum">
              <a:rPr lang="en-US" smtClean="0"/>
              <a:t>20</a:t>
            </a:fld>
            <a:endParaRPr lang="en-US"/>
          </a:p>
        </p:txBody>
      </p:sp>
      <p:sp>
        <p:nvSpPr>
          <p:cNvPr id="4" name="标题 3">
            <a:extLst>
              <a:ext uri="{FF2B5EF4-FFF2-40B4-BE49-F238E27FC236}">
                <a16:creationId xmlns:a16="http://schemas.microsoft.com/office/drawing/2014/main" id="{EDFBA721-7F2B-4775-9426-C59340E4EBB4}"/>
              </a:ext>
            </a:extLst>
          </p:cNvPr>
          <p:cNvSpPr>
            <a:spLocks noGrp="1"/>
          </p:cNvSpPr>
          <p:nvPr>
            <p:ph type="title"/>
          </p:nvPr>
        </p:nvSpPr>
        <p:spPr/>
        <p:txBody>
          <a:bodyPr>
            <a:normAutofit fontScale="90000"/>
          </a:bodyPr>
          <a:lstStyle/>
          <a:p>
            <a:r>
              <a:rPr lang="en-US" altLang="zh-CN" dirty="0"/>
              <a:t>Computing Counterfactuals: Simple Example</a:t>
            </a:r>
            <a:endParaRPr lang="zh-CN" altLang="en-US" dirty="0"/>
          </a:p>
        </p:txBody>
      </p:sp>
      <p:sp>
        <p:nvSpPr>
          <p:cNvPr id="5" name="日期占位符 4">
            <a:extLst>
              <a:ext uri="{FF2B5EF4-FFF2-40B4-BE49-F238E27FC236}">
                <a16:creationId xmlns:a16="http://schemas.microsoft.com/office/drawing/2014/main" id="{BBE573BD-EB01-4C9E-B95A-5370E94AE02E}"/>
              </a:ext>
            </a:extLst>
          </p:cNvPr>
          <p:cNvSpPr>
            <a:spLocks noGrp="1"/>
          </p:cNvSpPr>
          <p:nvPr>
            <p:ph type="dt" sz="half" idx="12"/>
          </p:nvPr>
        </p:nvSpPr>
        <p:spPr/>
        <p:txBody>
          <a:bodyPr/>
          <a:lstStyle/>
          <a:p>
            <a:fld id="{63ADDE33-C9F1-F94F-A20E-DA422DA466DF}" type="datetime1">
              <a:rPr lang="en-US" smtClean="0"/>
              <a:t>8/31/2022</a:t>
            </a:fld>
            <a:endParaRPr lang="en-US" dirty="0"/>
          </a:p>
        </p:txBody>
      </p:sp>
      <p:cxnSp>
        <p:nvCxnSpPr>
          <p:cNvPr id="9" name="直接连接符 8">
            <a:extLst>
              <a:ext uri="{FF2B5EF4-FFF2-40B4-BE49-F238E27FC236}">
                <a16:creationId xmlns:a16="http://schemas.microsoft.com/office/drawing/2014/main" id="{42BCC09D-83E6-4F83-9525-F7770070699E}"/>
              </a:ext>
            </a:extLst>
          </p:cNvPr>
          <p:cNvCxnSpPr/>
          <p:nvPr/>
        </p:nvCxnSpPr>
        <p:spPr>
          <a:xfrm>
            <a:off x="1390650" y="3524250"/>
            <a:ext cx="2286000"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386578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FC6463F-5616-4194-95BC-CC4819ED1895}"/>
              </a:ext>
            </a:extLst>
          </p:cNvPr>
          <p:cNvSpPr>
            <a:spLocks noGrp="1"/>
          </p:cNvSpPr>
          <p:nvPr>
            <p:ph idx="1"/>
          </p:nvPr>
        </p:nvSpPr>
        <p:spPr/>
        <p:txBody>
          <a:bodyPr>
            <a:normAutofit/>
          </a:bodyPr>
          <a:lstStyle/>
          <a:p>
            <a:pPr>
              <a:lnSpc>
                <a:spcPct val="200000"/>
              </a:lnSpc>
            </a:pPr>
            <a:r>
              <a:rPr lang="en-US" altLang="zh-CN" sz="1600" dirty="0"/>
              <a:t>From Chapter 4 of Pearl et al. (2016)’s </a:t>
            </a:r>
            <a:r>
              <a:rPr lang="en-US" altLang="zh-CN" sz="1600" dirty="0">
                <a:hlinkClick r:id="rId2"/>
              </a:rPr>
              <a:t>Primer</a:t>
            </a:r>
            <a:r>
              <a:rPr lang="en-US" altLang="zh-CN" sz="1600" dirty="0"/>
              <a:t>: </a:t>
            </a:r>
          </a:p>
          <a:p>
            <a:pPr marL="434340" indent="-342900">
              <a:lnSpc>
                <a:spcPct val="200000"/>
              </a:lnSpc>
              <a:buClr>
                <a:schemeClr val="tx1"/>
              </a:buClr>
              <a:buFont typeface="+mj-lt"/>
              <a:buAutoNum type="arabicPeriod"/>
            </a:pPr>
            <a:r>
              <a:rPr lang="en-US" altLang="zh-CN" sz="1600" dirty="0"/>
              <a:t>Abduction:</a:t>
            </a:r>
            <a:r>
              <a:rPr lang="zh-CN" altLang="en-US" sz="1600" dirty="0"/>
              <a:t> </a:t>
            </a:r>
            <a:r>
              <a:rPr lang="en-US" altLang="zh-CN" sz="1600" dirty="0"/>
              <a:t>Use</a:t>
            </a:r>
            <a:r>
              <a:rPr lang="zh-CN" altLang="en-US" sz="1600" dirty="0"/>
              <a:t> </a:t>
            </a:r>
            <a:r>
              <a:rPr lang="en-US" altLang="zh-CN" sz="1600" dirty="0"/>
              <a:t>an</a:t>
            </a:r>
            <a:r>
              <a:rPr lang="zh-CN" altLang="en-US" sz="1600" dirty="0"/>
              <a:t> </a:t>
            </a:r>
            <a:r>
              <a:rPr lang="en-US" altLang="zh-CN" sz="1600" dirty="0"/>
              <a:t>observation</a:t>
            </a:r>
            <a:r>
              <a:rPr lang="zh-CN" altLang="en-US" sz="1600" dirty="0"/>
              <a:t> </a:t>
            </a:r>
            <a:r>
              <a:rPr lang="en-US" altLang="zh-CN" sz="1600" dirty="0"/>
              <a:t>to</a:t>
            </a:r>
            <a:r>
              <a:rPr lang="zh-CN" altLang="en-US" sz="1600" dirty="0"/>
              <a:t> </a:t>
            </a:r>
            <a:r>
              <a:rPr lang="en-US" altLang="zh-CN" sz="1600" dirty="0"/>
              <a:t>determine</a:t>
            </a:r>
            <a:r>
              <a:rPr lang="zh-CN" altLang="en-US" sz="1600" dirty="0"/>
              <a:t> </a:t>
            </a:r>
            <a:r>
              <a:rPr lang="en-US" altLang="zh-CN" sz="1600" dirty="0"/>
              <a:t>the</a:t>
            </a:r>
            <a:r>
              <a:rPr lang="zh-CN" altLang="en-US" sz="1600" dirty="0"/>
              <a:t> </a:t>
            </a:r>
            <a:r>
              <a:rPr lang="en-US" altLang="zh-CN" sz="1600" dirty="0"/>
              <a:t>value</a:t>
            </a:r>
            <a:r>
              <a:rPr lang="zh-CN" altLang="en-US" sz="1600" dirty="0"/>
              <a:t> </a:t>
            </a:r>
            <a:r>
              <a:rPr lang="en-US" altLang="zh-CN" sz="1600" dirty="0"/>
              <a:t>of</a:t>
            </a:r>
            <a:r>
              <a:rPr lang="zh-CN" altLang="en-US" sz="1600" dirty="0"/>
              <a:t> </a:t>
            </a:r>
            <a:r>
              <a:rPr lang="en-US" altLang="zh-CN" sz="1600" dirty="0"/>
              <a:t>U</a:t>
            </a:r>
          </a:p>
          <a:p>
            <a:pPr marL="434340" indent="-342900">
              <a:lnSpc>
                <a:spcPct val="200000"/>
              </a:lnSpc>
              <a:buClr>
                <a:schemeClr val="tx1"/>
              </a:buClr>
              <a:buFont typeface="+mj-lt"/>
              <a:buAutoNum type="arabicPeriod"/>
            </a:pPr>
            <a:r>
              <a:rPr lang="en-US" altLang="zh-CN" sz="1600" dirty="0"/>
              <a:t>Action: Modify the SCM, by replacing the structural equation for T with T := t </a:t>
            </a:r>
          </a:p>
          <a:p>
            <a:pPr marL="434340" indent="-342900">
              <a:lnSpc>
                <a:spcPct val="200000"/>
              </a:lnSpc>
              <a:buClr>
                <a:schemeClr val="tx1"/>
              </a:buClr>
              <a:buFont typeface="+mj-lt"/>
              <a:buAutoNum type="arabicPeriod"/>
            </a:pPr>
            <a:r>
              <a:rPr lang="en-US" altLang="zh-CN" sz="1600" dirty="0"/>
              <a:t>Prediction: Use the value of U from step 1 and the modified SCM from step 2 to compute the value of Y(t)</a:t>
            </a:r>
          </a:p>
        </p:txBody>
      </p:sp>
      <p:sp>
        <p:nvSpPr>
          <p:cNvPr id="3" name="灯片编号占位符 2">
            <a:extLst>
              <a:ext uri="{FF2B5EF4-FFF2-40B4-BE49-F238E27FC236}">
                <a16:creationId xmlns:a16="http://schemas.microsoft.com/office/drawing/2014/main" id="{3ECB4588-D6A9-44C1-82D0-31156ED7AB99}"/>
              </a:ext>
            </a:extLst>
          </p:cNvPr>
          <p:cNvSpPr>
            <a:spLocks noGrp="1"/>
          </p:cNvSpPr>
          <p:nvPr>
            <p:ph type="sldNum" sz="quarter" idx="11"/>
          </p:nvPr>
        </p:nvSpPr>
        <p:spPr/>
        <p:txBody>
          <a:bodyPr/>
          <a:lstStyle/>
          <a:p>
            <a:fld id="{2AEAD966-1EF9-3A44-9B11-0C8090371A9A}" type="slidenum">
              <a:rPr lang="en-US" smtClean="0"/>
              <a:t>21</a:t>
            </a:fld>
            <a:endParaRPr lang="en-US"/>
          </a:p>
        </p:txBody>
      </p:sp>
      <p:sp>
        <p:nvSpPr>
          <p:cNvPr id="4" name="标题 3">
            <a:extLst>
              <a:ext uri="{FF2B5EF4-FFF2-40B4-BE49-F238E27FC236}">
                <a16:creationId xmlns:a16="http://schemas.microsoft.com/office/drawing/2014/main" id="{EDFBA721-7F2B-4775-9426-C59340E4EBB4}"/>
              </a:ext>
            </a:extLst>
          </p:cNvPr>
          <p:cNvSpPr>
            <a:spLocks noGrp="1"/>
          </p:cNvSpPr>
          <p:nvPr>
            <p:ph type="title"/>
          </p:nvPr>
        </p:nvSpPr>
        <p:spPr/>
        <p:txBody>
          <a:bodyPr>
            <a:normAutofit/>
          </a:bodyPr>
          <a:lstStyle/>
          <a:p>
            <a:r>
              <a:rPr lang="en-US" altLang="zh-CN" sz="2500" dirty="0"/>
              <a:t>General Steps for Deterministic Counterfactuals</a:t>
            </a:r>
            <a:endParaRPr lang="zh-CN" altLang="en-US" sz="2500" dirty="0"/>
          </a:p>
        </p:txBody>
      </p:sp>
      <p:sp>
        <p:nvSpPr>
          <p:cNvPr id="5" name="日期占位符 4">
            <a:extLst>
              <a:ext uri="{FF2B5EF4-FFF2-40B4-BE49-F238E27FC236}">
                <a16:creationId xmlns:a16="http://schemas.microsoft.com/office/drawing/2014/main" id="{BBE573BD-EB01-4C9E-B95A-5370E94AE02E}"/>
              </a:ext>
            </a:extLst>
          </p:cNvPr>
          <p:cNvSpPr>
            <a:spLocks noGrp="1"/>
          </p:cNvSpPr>
          <p:nvPr>
            <p:ph type="dt" sz="half" idx="12"/>
          </p:nvPr>
        </p:nvSpPr>
        <p:spPr/>
        <p:txBody>
          <a:bodyPr/>
          <a:lstStyle/>
          <a:p>
            <a:fld id="{63ADDE33-C9F1-F94F-A20E-DA422DA466DF}" type="datetime1">
              <a:rPr lang="en-US" smtClean="0"/>
              <a:t>8/31/2022</a:t>
            </a:fld>
            <a:endParaRPr lang="en-US" dirty="0"/>
          </a:p>
        </p:txBody>
      </p:sp>
    </p:spTree>
    <p:extLst>
      <p:ext uri="{BB962C8B-B14F-4D97-AF65-F5344CB8AC3E}">
        <p14:creationId xmlns:p14="http://schemas.microsoft.com/office/powerpoint/2010/main" val="16196529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332123D5-5991-4F74-A318-333FE8D7D96A}"/>
                  </a:ext>
                </a:extLst>
              </p:cNvPr>
              <p:cNvSpPr>
                <a:spLocks noGrp="1"/>
              </p:cNvSpPr>
              <p:nvPr>
                <p:ph idx="1"/>
              </p:nvPr>
            </p:nvSpPr>
            <p:spPr>
              <a:xfrm>
                <a:off x="381000" y="917574"/>
                <a:ext cx="8446478" cy="5526455"/>
              </a:xfrm>
            </p:spPr>
            <p:txBody>
              <a:bodyPr>
                <a:normAutofit/>
              </a:bodyPr>
              <a:lstStyle/>
              <a:p>
                <a:endParaRPr lang="en-US" altLang="zh-CN" sz="2000" dirty="0"/>
              </a:p>
              <a:p>
                <a:r>
                  <a:rPr lang="en-US" altLang="zh-CN" sz="2000" dirty="0"/>
                  <a:t>Given the observation T = 1 and Y = 0, compute Y(0) for this individual given the following SCM:</a:t>
                </a:r>
              </a:p>
              <a:p>
                <a:r>
                  <a:rPr lang="en-US" altLang="zh-CN" sz="2000" dirty="0"/>
                  <a:t>		</a:t>
                </a:r>
                <a14:m>
                  <m:oMath xmlns:m="http://schemas.openxmlformats.org/officeDocument/2006/math">
                    <m:r>
                      <a:rPr lang="en-US" altLang="zh-CN" sz="2000" b="0" i="1" smtClean="0">
                        <a:latin typeface="Cambria Math" panose="02040503050406030204" pitchFamily="18" charset="0"/>
                      </a:rPr>
                      <m:t>𝑇</m:t>
                    </m:r>
                    <m:r>
                      <a:rPr lang="en-US" altLang="zh-CN" sz="2000" b="0" i="1" smtClean="0">
                        <a:latin typeface="Cambria Math" panose="02040503050406030204" pitchFamily="18" charset="0"/>
                      </a:rPr>
                      <m:t>≔…</m:t>
                    </m:r>
                  </m:oMath>
                </a14:m>
                <a:endParaRPr lang="en-US" altLang="zh-CN" sz="2000" dirty="0"/>
              </a:p>
              <a:p>
                <a:r>
                  <a:rPr lang="en-US" altLang="zh-CN" sz="2000" dirty="0"/>
                  <a:t>		</a:t>
                </a:r>
                <a14:m>
                  <m:oMath xmlns:m="http://schemas.openxmlformats.org/officeDocument/2006/math">
                    <m:r>
                      <a:rPr lang="en-US" altLang="zh-CN" sz="2000" b="0" i="1" smtClean="0">
                        <a:latin typeface="Cambria Math" panose="02040503050406030204" pitchFamily="18" charset="0"/>
                      </a:rPr>
                      <m:t>𝑌</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𝑈𝑇</m:t>
                    </m:r>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𝑈</m:t>
                    </m:r>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𝑇</m:t>
                    </m:r>
                    <m:r>
                      <a:rPr lang="en-US" altLang="zh-CN" sz="2000" b="0" i="1" smtClean="0">
                        <a:latin typeface="Cambria Math" panose="02040503050406030204" pitchFamily="18" charset="0"/>
                      </a:rPr>
                      <m:t>)</m:t>
                    </m:r>
                  </m:oMath>
                </a14:m>
                <a:endParaRPr lang="zh-CN" altLang="en-US" sz="2000" dirty="0"/>
              </a:p>
            </p:txBody>
          </p:sp>
        </mc:Choice>
        <mc:Fallback>
          <p:sp>
            <p:nvSpPr>
              <p:cNvPr id="2" name="内容占位符 1">
                <a:extLst>
                  <a:ext uri="{FF2B5EF4-FFF2-40B4-BE49-F238E27FC236}">
                    <a16:creationId xmlns:a16="http://schemas.microsoft.com/office/drawing/2014/main" id="{332123D5-5991-4F74-A318-333FE8D7D96A}"/>
                  </a:ext>
                </a:extLst>
              </p:cNvPr>
              <p:cNvSpPr>
                <a:spLocks noGrp="1" noRot="1" noChangeAspect="1" noMove="1" noResize="1" noEditPoints="1" noAdjustHandles="1" noChangeArrowheads="1" noChangeShapeType="1" noTextEdit="1"/>
              </p:cNvSpPr>
              <p:nvPr>
                <p:ph idx="1"/>
              </p:nvPr>
            </p:nvSpPr>
            <p:spPr>
              <a:xfrm>
                <a:off x="381000" y="917574"/>
                <a:ext cx="8446478" cy="5526455"/>
              </a:xfrm>
              <a:blipFill>
                <a:blip r:embed="rId2"/>
                <a:stretch>
                  <a:fillRect/>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39983B90-EF1E-472A-81A9-B8522652D934}"/>
              </a:ext>
            </a:extLst>
          </p:cNvPr>
          <p:cNvSpPr>
            <a:spLocks noGrp="1"/>
          </p:cNvSpPr>
          <p:nvPr>
            <p:ph type="sldNum" sz="quarter" idx="11"/>
          </p:nvPr>
        </p:nvSpPr>
        <p:spPr/>
        <p:txBody>
          <a:bodyPr/>
          <a:lstStyle/>
          <a:p>
            <a:fld id="{2AEAD966-1EF9-3A44-9B11-0C8090371A9A}" type="slidenum">
              <a:rPr lang="en-US" smtClean="0"/>
              <a:t>22</a:t>
            </a:fld>
            <a:endParaRPr lang="en-US"/>
          </a:p>
        </p:txBody>
      </p:sp>
      <p:sp>
        <p:nvSpPr>
          <p:cNvPr id="4" name="标题 3">
            <a:extLst>
              <a:ext uri="{FF2B5EF4-FFF2-40B4-BE49-F238E27FC236}">
                <a16:creationId xmlns:a16="http://schemas.microsoft.com/office/drawing/2014/main" id="{9370DE59-9ACD-4D0B-8D93-03EA4F710BBA}"/>
              </a:ext>
            </a:extLst>
          </p:cNvPr>
          <p:cNvSpPr>
            <a:spLocks noGrp="1"/>
          </p:cNvSpPr>
          <p:nvPr>
            <p:ph type="title"/>
          </p:nvPr>
        </p:nvSpPr>
        <p:spPr/>
        <p:txBody>
          <a:bodyPr/>
          <a:lstStyle/>
          <a:p>
            <a:r>
              <a:rPr lang="en-US" altLang="zh-CN" dirty="0"/>
              <a:t>Question:</a:t>
            </a:r>
            <a:endParaRPr lang="zh-CN" altLang="en-US" dirty="0"/>
          </a:p>
        </p:txBody>
      </p:sp>
      <p:sp>
        <p:nvSpPr>
          <p:cNvPr id="5" name="日期占位符 4">
            <a:extLst>
              <a:ext uri="{FF2B5EF4-FFF2-40B4-BE49-F238E27FC236}">
                <a16:creationId xmlns:a16="http://schemas.microsoft.com/office/drawing/2014/main" id="{C4F3C0CF-5EB1-46E9-B4DE-F3021509D4D8}"/>
              </a:ext>
            </a:extLst>
          </p:cNvPr>
          <p:cNvSpPr>
            <a:spLocks noGrp="1"/>
          </p:cNvSpPr>
          <p:nvPr>
            <p:ph type="dt" sz="half" idx="12"/>
          </p:nvPr>
        </p:nvSpPr>
        <p:spPr/>
        <p:txBody>
          <a:bodyPr/>
          <a:lstStyle/>
          <a:p>
            <a:fld id="{63ADDE33-C9F1-F94F-A20E-DA422DA466DF}" type="datetime1">
              <a:rPr lang="en-US" smtClean="0"/>
              <a:t>8/31/2022</a:t>
            </a:fld>
            <a:endParaRPr lang="en-US" dirty="0"/>
          </a:p>
        </p:txBody>
      </p:sp>
    </p:spTree>
    <p:extLst>
      <p:ext uri="{BB962C8B-B14F-4D97-AF65-F5344CB8AC3E}">
        <p14:creationId xmlns:p14="http://schemas.microsoft.com/office/powerpoint/2010/main" val="8281632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2CDDEB3-428B-4514-988E-FD95FBB50E31}"/>
              </a:ext>
            </a:extLst>
          </p:cNvPr>
          <p:cNvSpPr>
            <a:spLocks noGrp="1"/>
          </p:cNvSpPr>
          <p:nvPr>
            <p:ph idx="1"/>
          </p:nvPr>
        </p:nvSpPr>
        <p:spPr/>
        <p:txBody>
          <a:bodyPr>
            <a:normAutofit/>
          </a:bodyPr>
          <a:lstStyle/>
          <a:p>
            <a:endParaRPr lang="en-US" altLang="zh-CN" sz="1600" dirty="0"/>
          </a:p>
          <a:p>
            <a:r>
              <a:rPr lang="en-US" altLang="zh-CN" sz="1600" dirty="0"/>
              <a:t>Even when we have the structural equation for Y, we can’t always determine counterfactuals with probability 1</a:t>
            </a:r>
          </a:p>
        </p:txBody>
      </p:sp>
      <p:sp>
        <p:nvSpPr>
          <p:cNvPr id="3" name="灯片编号占位符 2">
            <a:extLst>
              <a:ext uri="{FF2B5EF4-FFF2-40B4-BE49-F238E27FC236}">
                <a16:creationId xmlns:a16="http://schemas.microsoft.com/office/drawing/2014/main" id="{3A9D5AE2-E365-48DD-9BFA-B4369BEE4672}"/>
              </a:ext>
            </a:extLst>
          </p:cNvPr>
          <p:cNvSpPr>
            <a:spLocks noGrp="1"/>
          </p:cNvSpPr>
          <p:nvPr>
            <p:ph type="sldNum" sz="quarter" idx="11"/>
          </p:nvPr>
        </p:nvSpPr>
        <p:spPr/>
        <p:txBody>
          <a:bodyPr/>
          <a:lstStyle/>
          <a:p>
            <a:fld id="{2AEAD966-1EF9-3A44-9B11-0C8090371A9A}" type="slidenum">
              <a:rPr lang="en-US" smtClean="0"/>
              <a:t>23</a:t>
            </a:fld>
            <a:endParaRPr lang="en-US"/>
          </a:p>
        </p:txBody>
      </p:sp>
      <p:sp>
        <p:nvSpPr>
          <p:cNvPr id="4" name="标题 3">
            <a:extLst>
              <a:ext uri="{FF2B5EF4-FFF2-40B4-BE49-F238E27FC236}">
                <a16:creationId xmlns:a16="http://schemas.microsoft.com/office/drawing/2014/main" id="{32B9E753-1475-4389-BC94-70C21D1132A3}"/>
              </a:ext>
            </a:extLst>
          </p:cNvPr>
          <p:cNvSpPr>
            <a:spLocks noGrp="1"/>
          </p:cNvSpPr>
          <p:nvPr>
            <p:ph type="title"/>
          </p:nvPr>
        </p:nvSpPr>
        <p:spPr/>
        <p:txBody>
          <a:bodyPr/>
          <a:lstStyle/>
          <a:p>
            <a:r>
              <a:rPr lang="en-US" altLang="zh-CN" dirty="0"/>
              <a:t>Can’t Always Determine Counterfactual</a:t>
            </a:r>
            <a:endParaRPr lang="zh-CN" altLang="en-US" dirty="0"/>
          </a:p>
        </p:txBody>
      </p:sp>
      <p:sp>
        <p:nvSpPr>
          <p:cNvPr id="5" name="日期占位符 4">
            <a:extLst>
              <a:ext uri="{FF2B5EF4-FFF2-40B4-BE49-F238E27FC236}">
                <a16:creationId xmlns:a16="http://schemas.microsoft.com/office/drawing/2014/main" id="{3D92DE7A-80B7-4032-9098-4BD8606716BB}"/>
              </a:ext>
            </a:extLst>
          </p:cNvPr>
          <p:cNvSpPr>
            <a:spLocks noGrp="1"/>
          </p:cNvSpPr>
          <p:nvPr>
            <p:ph type="dt" sz="half" idx="12"/>
          </p:nvPr>
        </p:nvSpPr>
        <p:spPr/>
        <p:txBody>
          <a:bodyPr/>
          <a:lstStyle/>
          <a:p>
            <a:fld id="{63ADDE33-C9F1-F94F-A20E-DA422DA466DF}" type="datetime1">
              <a:rPr lang="en-US" smtClean="0"/>
              <a:t>8/31/2022</a:t>
            </a:fld>
            <a:endParaRPr lang="en-US" dirty="0"/>
          </a:p>
        </p:txBody>
      </p:sp>
    </p:spTree>
    <p:extLst>
      <p:ext uri="{BB962C8B-B14F-4D97-AF65-F5344CB8AC3E}">
        <p14:creationId xmlns:p14="http://schemas.microsoft.com/office/powerpoint/2010/main" val="38312954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42CDDEB3-428B-4514-988E-FD95FBB50E31}"/>
                  </a:ext>
                </a:extLst>
              </p:cNvPr>
              <p:cNvSpPr>
                <a:spLocks noGrp="1"/>
              </p:cNvSpPr>
              <p:nvPr>
                <p:ph idx="1"/>
              </p:nvPr>
            </p:nvSpPr>
            <p:spPr/>
            <p:txBody>
              <a:bodyPr>
                <a:normAutofit/>
              </a:bodyPr>
              <a:lstStyle/>
              <a:p>
                <a:endParaRPr lang="en-US" altLang="zh-CN" sz="1600" dirty="0"/>
              </a:p>
              <a:p>
                <a:r>
                  <a:rPr lang="en-US" altLang="zh-CN" sz="1600" dirty="0"/>
                  <a:t>Even when we have the structural equation for Y, we can’t always determine counterfactuals with probability 1</a:t>
                </a:r>
              </a:p>
              <a:p>
                <a:endParaRPr lang="en-US" altLang="zh-CN" sz="1600" dirty="0"/>
              </a:p>
              <a:p>
                <a:r>
                  <a:rPr lang="en-US" altLang="zh-CN" sz="1600" dirty="0"/>
                  <a:t>What if we can’t solve for U (function that maps U to Y for a fixed value of T isn’t  invertible) ?</a:t>
                </a:r>
              </a:p>
              <a:p>
                <a:r>
                  <a:rPr lang="en-US" altLang="zh-CN" sz="1600" dirty="0"/>
                  <a:t>	Example:		Structural equation for Y:</a:t>
                </a:r>
              </a:p>
              <a:p>
                <a:pPr algn="just"/>
                <a:r>
                  <a:rPr lang="en-US" altLang="zh-CN" sz="1600" b="0" dirty="0"/>
                  <a:t>			             </a:t>
                </a:r>
                <a14:m>
                  <m:oMath xmlns:m="http://schemas.openxmlformats.org/officeDocument/2006/math">
                    <m:r>
                      <a:rPr lang="en-US" altLang="zh-CN" sz="2000" b="0" i="1" smtClean="0">
                        <a:latin typeface="Cambria Math" panose="02040503050406030204" pitchFamily="18" charset="0"/>
                      </a:rPr>
                      <m:t>𝑌</m:t>
                    </m:r>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eqArr>
                          <m:eqArrPr>
                            <m:ctrlPr>
                              <a:rPr lang="en-US" altLang="zh-CN" sz="2000" b="0" i="1" smtClean="0">
                                <a:latin typeface="Cambria Math" panose="02040503050406030204" pitchFamily="18" charset="0"/>
                              </a:rPr>
                            </m:ctrlPr>
                          </m:eqArrPr>
                          <m:e>
                            <m:r>
                              <a:rPr lang="en-US" altLang="zh-CN" sz="2000" b="0" i="1" smtClean="0">
                                <a:latin typeface="Cambria Math" panose="02040503050406030204" pitchFamily="18" charset="0"/>
                              </a:rPr>
                              <m:t>1            </m:t>
                            </m:r>
                            <m:r>
                              <a:rPr lang="en-US" altLang="zh-CN" sz="2000" b="0" i="1" smtClean="0">
                                <a:latin typeface="Cambria Math" panose="02040503050406030204" pitchFamily="18" charset="0"/>
                              </a:rPr>
                              <m:t>𝑈</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𝑎𝑙𝑤𝑎𝑦𝑠</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h𝑎𝑝𝑝𝑦</m:t>
                            </m:r>
                          </m:e>
                          <m:e>
                            <m:r>
                              <a:rPr lang="en-US" altLang="zh-CN" sz="2000" b="0" i="1" smtClean="0">
                                <a:latin typeface="Cambria Math" panose="02040503050406030204" pitchFamily="18" charset="0"/>
                              </a:rPr>
                              <m:t>0           </m:t>
                            </m:r>
                            <m:r>
                              <a:rPr lang="en-US" altLang="zh-CN" sz="2000" b="0" i="1" smtClean="0">
                                <a:latin typeface="Cambria Math" panose="02040503050406030204" pitchFamily="18" charset="0"/>
                              </a:rPr>
                              <m:t>𝑈</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𝑛𝑒𝑣𝑒𝑟</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h𝑎𝑝𝑝𝑦</m:t>
                            </m:r>
                            <m:r>
                              <a:rPr lang="en-US" altLang="zh-CN" sz="2000" b="0" i="1" smtClean="0">
                                <a:latin typeface="Cambria Math" panose="02040503050406030204" pitchFamily="18" charset="0"/>
                              </a:rPr>
                              <m:t>  </m:t>
                            </m:r>
                          </m:e>
                          <m:e>
                            <m:r>
                              <a:rPr lang="en-US" altLang="zh-CN" sz="2000" b="0" i="1" smtClean="0">
                                <a:latin typeface="Cambria Math" panose="02040503050406030204" pitchFamily="18" charset="0"/>
                              </a:rPr>
                              <m:t>𝑇</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𝑈</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𝑑𝑜𝑔</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𝑛𝑒𝑒𝑑𝑒𝑟</m:t>
                            </m:r>
                            <m:r>
                              <a:rPr lang="en-US" altLang="zh-CN" sz="2000" b="0" i="1" smtClean="0">
                                <a:latin typeface="Cambria Math" panose="02040503050406030204" pitchFamily="18" charset="0"/>
                              </a:rPr>
                              <m:t> </m:t>
                            </m:r>
                          </m:e>
                          <m:e>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𝑇</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𝑈</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𝑑𝑜𝑔</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h𝑎𝑡𝑒𝑟</m:t>
                            </m:r>
                            <m:r>
                              <a:rPr lang="en-US" altLang="zh-CN" sz="2000" b="0" i="1" smtClean="0">
                                <a:latin typeface="Cambria Math" panose="02040503050406030204" pitchFamily="18" charset="0"/>
                              </a:rPr>
                              <m:t>    </m:t>
                            </m:r>
                          </m:e>
                        </m:eqArr>
                      </m:e>
                    </m:d>
                  </m:oMath>
                </a14:m>
                <a:r>
                  <a:rPr lang="en-US" altLang="zh-CN" sz="1600" dirty="0"/>
                  <a:t>			</a:t>
                </a:r>
              </a:p>
            </p:txBody>
          </p:sp>
        </mc:Choice>
        <mc:Fallback>
          <p:sp>
            <p:nvSpPr>
              <p:cNvPr id="2" name="内容占位符 1">
                <a:extLst>
                  <a:ext uri="{FF2B5EF4-FFF2-40B4-BE49-F238E27FC236}">
                    <a16:creationId xmlns:a16="http://schemas.microsoft.com/office/drawing/2014/main" id="{42CDDEB3-428B-4514-988E-FD95FBB50E3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3A9D5AE2-E365-48DD-9BFA-B4369BEE4672}"/>
              </a:ext>
            </a:extLst>
          </p:cNvPr>
          <p:cNvSpPr>
            <a:spLocks noGrp="1"/>
          </p:cNvSpPr>
          <p:nvPr>
            <p:ph type="sldNum" sz="quarter" idx="11"/>
          </p:nvPr>
        </p:nvSpPr>
        <p:spPr/>
        <p:txBody>
          <a:bodyPr/>
          <a:lstStyle/>
          <a:p>
            <a:fld id="{2AEAD966-1EF9-3A44-9B11-0C8090371A9A}" type="slidenum">
              <a:rPr lang="en-US" smtClean="0"/>
              <a:t>24</a:t>
            </a:fld>
            <a:endParaRPr lang="en-US"/>
          </a:p>
        </p:txBody>
      </p:sp>
      <p:sp>
        <p:nvSpPr>
          <p:cNvPr id="4" name="标题 3">
            <a:extLst>
              <a:ext uri="{FF2B5EF4-FFF2-40B4-BE49-F238E27FC236}">
                <a16:creationId xmlns:a16="http://schemas.microsoft.com/office/drawing/2014/main" id="{32B9E753-1475-4389-BC94-70C21D1132A3}"/>
              </a:ext>
            </a:extLst>
          </p:cNvPr>
          <p:cNvSpPr>
            <a:spLocks noGrp="1"/>
          </p:cNvSpPr>
          <p:nvPr>
            <p:ph type="title"/>
          </p:nvPr>
        </p:nvSpPr>
        <p:spPr/>
        <p:txBody>
          <a:bodyPr/>
          <a:lstStyle/>
          <a:p>
            <a:r>
              <a:rPr lang="en-US" altLang="zh-CN" dirty="0"/>
              <a:t>Can’t Always Determine Counterfactual</a:t>
            </a:r>
            <a:endParaRPr lang="zh-CN" altLang="en-US" dirty="0"/>
          </a:p>
        </p:txBody>
      </p:sp>
      <p:sp>
        <p:nvSpPr>
          <p:cNvPr id="5" name="日期占位符 4">
            <a:extLst>
              <a:ext uri="{FF2B5EF4-FFF2-40B4-BE49-F238E27FC236}">
                <a16:creationId xmlns:a16="http://schemas.microsoft.com/office/drawing/2014/main" id="{3D92DE7A-80B7-4032-9098-4BD8606716BB}"/>
              </a:ext>
            </a:extLst>
          </p:cNvPr>
          <p:cNvSpPr>
            <a:spLocks noGrp="1"/>
          </p:cNvSpPr>
          <p:nvPr>
            <p:ph type="dt" sz="half" idx="12"/>
          </p:nvPr>
        </p:nvSpPr>
        <p:spPr/>
        <p:txBody>
          <a:bodyPr/>
          <a:lstStyle/>
          <a:p>
            <a:fld id="{63ADDE33-C9F1-F94F-A20E-DA422DA466DF}" type="datetime1">
              <a:rPr lang="en-US" smtClean="0"/>
              <a:t>8/31/2022</a:t>
            </a:fld>
            <a:endParaRPr lang="en-US" dirty="0"/>
          </a:p>
        </p:txBody>
      </p:sp>
    </p:spTree>
    <p:extLst>
      <p:ext uri="{BB962C8B-B14F-4D97-AF65-F5344CB8AC3E}">
        <p14:creationId xmlns:p14="http://schemas.microsoft.com/office/powerpoint/2010/main" val="22250254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42CDDEB3-428B-4514-988E-FD95FBB50E31}"/>
                  </a:ext>
                </a:extLst>
              </p:cNvPr>
              <p:cNvSpPr>
                <a:spLocks noGrp="1"/>
              </p:cNvSpPr>
              <p:nvPr>
                <p:ph idx="1"/>
              </p:nvPr>
            </p:nvSpPr>
            <p:spPr/>
            <p:txBody>
              <a:bodyPr>
                <a:normAutofit/>
              </a:bodyPr>
              <a:lstStyle/>
              <a:p>
                <a:endParaRPr lang="en-US" altLang="zh-CN" sz="1600" dirty="0"/>
              </a:p>
              <a:p>
                <a:r>
                  <a:rPr lang="en-US" altLang="zh-CN" sz="1600" dirty="0"/>
                  <a:t>Even when we have the structural equation for Y, we can’t always determine counterfactuals with probability 1</a:t>
                </a:r>
              </a:p>
              <a:p>
                <a:endParaRPr lang="en-US" altLang="zh-CN" sz="1600" dirty="0"/>
              </a:p>
              <a:p>
                <a:r>
                  <a:rPr lang="en-US" altLang="zh-CN" sz="1600" dirty="0"/>
                  <a:t>What if we can’t solve for U (function that maps U to Y for a fixed value of T isn’t  invertible) ?</a:t>
                </a:r>
              </a:p>
              <a:p>
                <a:r>
                  <a:rPr lang="en-US" altLang="zh-CN" sz="1600" dirty="0"/>
                  <a:t>	Example:		Structural equation for Y:</a:t>
                </a:r>
              </a:p>
              <a:p>
                <a:r>
                  <a:rPr lang="en-US" altLang="zh-CN" sz="1600" b="0" dirty="0"/>
                  <a:t>Observation: T = 1 and Y = 0              </a:t>
                </a:r>
                <a14:m>
                  <m:oMath xmlns:m="http://schemas.openxmlformats.org/officeDocument/2006/math">
                    <m:r>
                      <a:rPr lang="en-US" altLang="zh-CN" sz="2000" b="0" i="1" smtClean="0">
                        <a:latin typeface="Cambria Math" panose="02040503050406030204" pitchFamily="18" charset="0"/>
                      </a:rPr>
                      <m:t>𝑌</m:t>
                    </m:r>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eqArr>
                          <m:eqArrPr>
                            <m:ctrlPr>
                              <a:rPr lang="en-US" altLang="zh-CN" sz="2000" b="0" i="1" smtClean="0">
                                <a:latin typeface="Cambria Math" panose="02040503050406030204" pitchFamily="18" charset="0"/>
                              </a:rPr>
                            </m:ctrlPr>
                          </m:eqArrPr>
                          <m:e>
                            <m:r>
                              <a:rPr lang="en-US" altLang="zh-CN" sz="2000" b="0" i="1" smtClean="0">
                                <a:latin typeface="Cambria Math" panose="02040503050406030204" pitchFamily="18" charset="0"/>
                              </a:rPr>
                              <m:t>1            </m:t>
                            </m:r>
                            <m:r>
                              <a:rPr lang="en-US" altLang="zh-CN" sz="2000" b="0" i="1" smtClean="0">
                                <a:latin typeface="Cambria Math" panose="02040503050406030204" pitchFamily="18" charset="0"/>
                              </a:rPr>
                              <m:t>𝑈</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𝑎𝑙𝑤𝑎𝑦𝑠</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h𝑎𝑝𝑝𝑦</m:t>
                            </m:r>
                          </m:e>
                          <m:e>
                            <m:r>
                              <a:rPr lang="en-US" altLang="zh-CN" sz="2000" b="0" i="1" smtClean="0">
                                <a:latin typeface="Cambria Math" panose="02040503050406030204" pitchFamily="18" charset="0"/>
                              </a:rPr>
                              <m:t>0           </m:t>
                            </m:r>
                            <m:r>
                              <a:rPr lang="en-US" altLang="zh-CN" sz="2000" b="0" i="1" smtClean="0">
                                <a:latin typeface="Cambria Math" panose="02040503050406030204" pitchFamily="18" charset="0"/>
                              </a:rPr>
                              <m:t>𝑈</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𝑛𝑒𝑣𝑒𝑟</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h𝑎𝑝𝑝𝑦</m:t>
                            </m:r>
                            <m:r>
                              <a:rPr lang="en-US" altLang="zh-CN" sz="2000" b="0" i="1" smtClean="0">
                                <a:latin typeface="Cambria Math" panose="02040503050406030204" pitchFamily="18" charset="0"/>
                              </a:rPr>
                              <m:t>  </m:t>
                            </m:r>
                          </m:e>
                          <m:e>
                            <m:r>
                              <a:rPr lang="en-US" altLang="zh-CN" sz="2000" b="0" i="1" smtClean="0">
                                <a:latin typeface="Cambria Math" panose="02040503050406030204" pitchFamily="18" charset="0"/>
                              </a:rPr>
                              <m:t>𝑇</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𝑈</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𝑑𝑜𝑔</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𝑛𝑒𝑒𝑑𝑒𝑟</m:t>
                            </m:r>
                            <m:r>
                              <a:rPr lang="en-US" altLang="zh-CN" sz="2000" b="0" i="1" smtClean="0">
                                <a:latin typeface="Cambria Math" panose="02040503050406030204" pitchFamily="18" charset="0"/>
                              </a:rPr>
                              <m:t> </m:t>
                            </m:r>
                          </m:e>
                          <m:e>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𝑇</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𝑈</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𝑑𝑜𝑔</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h𝑎𝑡𝑒𝑟</m:t>
                            </m:r>
                            <m:r>
                              <a:rPr lang="en-US" altLang="zh-CN" sz="2000" b="0" i="1" smtClean="0">
                                <a:latin typeface="Cambria Math" panose="02040503050406030204" pitchFamily="18" charset="0"/>
                              </a:rPr>
                              <m:t>    </m:t>
                            </m:r>
                          </m:e>
                        </m:eqArr>
                      </m:e>
                    </m:d>
                  </m:oMath>
                </a14:m>
                <a:r>
                  <a:rPr lang="en-US" altLang="zh-CN" sz="1600" dirty="0"/>
                  <a:t>			</a:t>
                </a:r>
              </a:p>
            </p:txBody>
          </p:sp>
        </mc:Choice>
        <mc:Fallback>
          <p:sp>
            <p:nvSpPr>
              <p:cNvPr id="2" name="内容占位符 1">
                <a:extLst>
                  <a:ext uri="{FF2B5EF4-FFF2-40B4-BE49-F238E27FC236}">
                    <a16:creationId xmlns:a16="http://schemas.microsoft.com/office/drawing/2014/main" id="{42CDDEB3-428B-4514-988E-FD95FBB50E3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3A9D5AE2-E365-48DD-9BFA-B4369BEE4672}"/>
              </a:ext>
            </a:extLst>
          </p:cNvPr>
          <p:cNvSpPr>
            <a:spLocks noGrp="1"/>
          </p:cNvSpPr>
          <p:nvPr>
            <p:ph type="sldNum" sz="quarter" idx="11"/>
          </p:nvPr>
        </p:nvSpPr>
        <p:spPr/>
        <p:txBody>
          <a:bodyPr/>
          <a:lstStyle/>
          <a:p>
            <a:fld id="{2AEAD966-1EF9-3A44-9B11-0C8090371A9A}" type="slidenum">
              <a:rPr lang="en-US" smtClean="0"/>
              <a:t>25</a:t>
            </a:fld>
            <a:endParaRPr lang="en-US"/>
          </a:p>
        </p:txBody>
      </p:sp>
      <p:sp>
        <p:nvSpPr>
          <p:cNvPr id="4" name="标题 3">
            <a:extLst>
              <a:ext uri="{FF2B5EF4-FFF2-40B4-BE49-F238E27FC236}">
                <a16:creationId xmlns:a16="http://schemas.microsoft.com/office/drawing/2014/main" id="{32B9E753-1475-4389-BC94-70C21D1132A3}"/>
              </a:ext>
            </a:extLst>
          </p:cNvPr>
          <p:cNvSpPr>
            <a:spLocks noGrp="1"/>
          </p:cNvSpPr>
          <p:nvPr>
            <p:ph type="title"/>
          </p:nvPr>
        </p:nvSpPr>
        <p:spPr/>
        <p:txBody>
          <a:bodyPr/>
          <a:lstStyle/>
          <a:p>
            <a:r>
              <a:rPr lang="en-US" altLang="zh-CN" dirty="0"/>
              <a:t>Can’t Always Determine Counterfactual</a:t>
            </a:r>
            <a:endParaRPr lang="zh-CN" altLang="en-US" dirty="0"/>
          </a:p>
        </p:txBody>
      </p:sp>
      <p:sp>
        <p:nvSpPr>
          <p:cNvPr id="5" name="日期占位符 4">
            <a:extLst>
              <a:ext uri="{FF2B5EF4-FFF2-40B4-BE49-F238E27FC236}">
                <a16:creationId xmlns:a16="http://schemas.microsoft.com/office/drawing/2014/main" id="{3D92DE7A-80B7-4032-9098-4BD8606716BB}"/>
              </a:ext>
            </a:extLst>
          </p:cNvPr>
          <p:cNvSpPr>
            <a:spLocks noGrp="1"/>
          </p:cNvSpPr>
          <p:nvPr>
            <p:ph type="dt" sz="half" idx="12"/>
          </p:nvPr>
        </p:nvSpPr>
        <p:spPr/>
        <p:txBody>
          <a:bodyPr/>
          <a:lstStyle/>
          <a:p>
            <a:fld id="{63ADDE33-C9F1-F94F-A20E-DA422DA466DF}" type="datetime1">
              <a:rPr lang="en-US" smtClean="0"/>
              <a:t>8/31/2022</a:t>
            </a:fld>
            <a:endParaRPr lang="en-US" dirty="0"/>
          </a:p>
        </p:txBody>
      </p:sp>
      <p:cxnSp>
        <p:nvCxnSpPr>
          <p:cNvPr id="9" name="直接连接符 8">
            <a:extLst>
              <a:ext uri="{FF2B5EF4-FFF2-40B4-BE49-F238E27FC236}">
                <a16:creationId xmlns:a16="http://schemas.microsoft.com/office/drawing/2014/main" id="{CD78EB8B-8835-40AB-8167-5B1C74F415DD}"/>
              </a:ext>
            </a:extLst>
          </p:cNvPr>
          <p:cNvCxnSpPr/>
          <p:nvPr/>
        </p:nvCxnSpPr>
        <p:spPr>
          <a:xfrm>
            <a:off x="5467350" y="4762500"/>
            <a:ext cx="1981200"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0" name="直接连接符 9">
            <a:extLst>
              <a:ext uri="{FF2B5EF4-FFF2-40B4-BE49-F238E27FC236}">
                <a16:creationId xmlns:a16="http://schemas.microsoft.com/office/drawing/2014/main" id="{F59F1211-B1F3-420B-90E9-170D1807F792}"/>
              </a:ext>
            </a:extLst>
          </p:cNvPr>
          <p:cNvCxnSpPr/>
          <p:nvPr/>
        </p:nvCxnSpPr>
        <p:spPr>
          <a:xfrm>
            <a:off x="5467350" y="5410200"/>
            <a:ext cx="1981200"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143424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52E216D1-942B-4D91-8800-D52E23697CA1}"/>
                  </a:ext>
                </a:extLst>
              </p:cNvPr>
              <p:cNvSpPr>
                <a:spLocks noGrp="1"/>
              </p:cNvSpPr>
              <p:nvPr>
                <p:ph idx="1"/>
              </p:nvPr>
            </p:nvSpPr>
            <p:spPr/>
            <p:txBody>
              <a:bodyPr>
                <a:normAutofit/>
              </a:bodyPr>
              <a:lstStyle/>
              <a:p>
                <a:r>
                  <a:rPr lang="en-US" altLang="zh-CN" sz="1600" dirty="0"/>
                  <a:t>Structural equation for Y:</a:t>
                </a:r>
              </a:p>
              <a:p>
                <a:endParaRPr lang="en-US" altLang="zh-CN" sz="1600" dirty="0"/>
              </a:p>
              <a:p>
                <a:endParaRPr lang="en-US" altLang="zh-CN" sz="1600" dirty="0"/>
              </a:p>
              <a:p>
                <a:endParaRPr lang="en-US" altLang="zh-CN" sz="1600" dirty="0"/>
              </a:p>
              <a:p>
                <a:endParaRPr lang="en-US" altLang="zh-CN" sz="1600" dirty="0"/>
              </a:p>
              <a:p>
                <a:endParaRPr lang="en-US" altLang="zh-CN" sz="1600" dirty="0"/>
              </a:p>
              <a:p>
                <a:r>
                  <a:rPr lang="en-US" altLang="zh-CN" sz="1600" dirty="0"/>
                  <a:t>Observation: T = 1 and Y = 0</a:t>
                </a:r>
              </a:p>
              <a:p>
                <a:r>
                  <a:rPr lang="en-US" altLang="zh-CN" sz="1600" dirty="0"/>
                  <a:t>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𝑌</m:t>
                        </m:r>
                      </m:e>
                      <m:sub>
                        <m:r>
                          <a:rPr lang="en-US" altLang="zh-CN" sz="1600" b="0" i="1" smtClean="0">
                            <a:latin typeface="Cambria Math" panose="02040503050406030204" pitchFamily="18" charset="0"/>
                          </a:rPr>
                          <m:t>𝑢</m:t>
                        </m:r>
                      </m:sub>
                    </m:sSub>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1</m:t>
                        </m:r>
                      </m:e>
                    </m:d>
                    <m:r>
                      <a:rPr lang="en-US" altLang="zh-CN" sz="1600" b="0" i="1" smtClean="0">
                        <a:latin typeface="Cambria Math" panose="02040503050406030204" pitchFamily="18" charset="0"/>
                      </a:rPr>
                      <m:t>=0</m:t>
                    </m:r>
                  </m:oMath>
                </a14:m>
                <a:r>
                  <a:rPr lang="en-US" altLang="zh-CN" sz="1600" dirty="0"/>
                  <a:t>)</a:t>
                </a:r>
              </a:p>
              <a:p>
                <a:r>
                  <a:rPr lang="en-US" altLang="zh-CN" sz="1600" dirty="0"/>
                  <a:t>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𝑌</m:t>
                        </m:r>
                      </m:e>
                      <m:sub>
                        <m:r>
                          <a:rPr lang="en-US" altLang="zh-CN" sz="1600" i="1">
                            <a:latin typeface="Cambria Math" panose="02040503050406030204" pitchFamily="18" charset="0"/>
                          </a:rPr>
                          <m:t>𝑢</m:t>
                        </m:r>
                      </m:sub>
                    </m:sSub>
                    <m:d>
                      <m:dPr>
                        <m:ctrlPr>
                          <a:rPr lang="en-US" altLang="zh-CN" sz="1600" i="1">
                            <a:latin typeface="Cambria Math" panose="02040503050406030204" pitchFamily="18" charset="0"/>
                          </a:rPr>
                        </m:ctrlPr>
                      </m:dPr>
                      <m:e>
                        <m:r>
                          <a:rPr lang="en-US" altLang="zh-CN" sz="1600" b="0" i="1" smtClean="0">
                            <a:latin typeface="Cambria Math" panose="02040503050406030204" pitchFamily="18" charset="0"/>
                          </a:rPr>
                          <m:t>0</m:t>
                        </m:r>
                      </m:e>
                    </m:d>
                    <m:r>
                      <a:rPr lang="en-US" altLang="zh-CN" sz="1600" i="1">
                        <a:latin typeface="Cambria Math" panose="02040503050406030204" pitchFamily="18" charset="0"/>
                      </a:rPr>
                      <m:t>=</m:t>
                    </m:r>
                    <m:r>
                      <a:rPr lang="en-US" altLang="zh-CN" sz="1600" b="0" i="1" smtClean="0">
                        <a:latin typeface="Cambria Math" panose="02040503050406030204" pitchFamily="18" charset="0"/>
                      </a:rPr>
                      <m:t> ?</m:t>
                    </m:r>
                  </m:oMath>
                </a14:m>
                <a:r>
                  <a:rPr lang="en-US" altLang="zh-CN" sz="1600" dirty="0"/>
                  <a:t>)</a:t>
                </a:r>
              </a:p>
              <a:p>
                <a:endParaRPr lang="en-US" altLang="zh-CN" sz="1600" dirty="0"/>
              </a:p>
            </p:txBody>
          </p:sp>
        </mc:Choice>
        <mc:Fallback>
          <p:sp>
            <p:nvSpPr>
              <p:cNvPr id="2" name="内容占位符 1">
                <a:extLst>
                  <a:ext uri="{FF2B5EF4-FFF2-40B4-BE49-F238E27FC236}">
                    <a16:creationId xmlns:a16="http://schemas.microsoft.com/office/drawing/2014/main" id="{52E216D1-942B-4D91-8800-D52E23697CA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4EE2A5BF-ACF9-4759-BB2D-BF7831B4A621}"/>
              </a:ext>
            </a:extLst>
          </p:cNvPr>
          <p:cNvSpPr>
            <a:spLocks noGrp="1"/>
          </p:cNvSpPr>
          <p:nvPr>
            <p:ph type="sldNum" sz="quarter" idx="11"/>
          </p:nvPr>
        </p:nvSpPr>
        <p:spPr/>
        <p:txBody>
          <a:bodyPr/>
          <a:lstStyle/>
          <a:p>
            <a:fld id="{2AEAD966-1EF9-3A44-9B11-0C8090371A9A}" type="slidenum">
              <a:rPr lang="en-US" smtClean="0"/>
              <a:t>26</a:t>
            </a:fld>
            <a:endParaRPr lang="en-US"/>
          </a:p>
        </p:txBody>
      </p:sp>
      <p:sp>
        <p:nvSpPr>
          <p:cNvPr id="4" name="标题 3">
            <a:extLst>
              <a:ext uri="{FF2B5EF4-FFF2-40B4-BE49-F238E27FC236}">
                <a16:creationId xmlns:a16="http://schemas.microsoft.com/office/drawing/2014/main" id="{CA9E5D63-4A17-4D32-8924-A1DE9A5E1F81}"/>
              </a:ext>
            </a:extLst>
          </p:cNvPr>
          <p:cNvSpPr>
            <a:spLocks noGrp="1"/>
          </p:cNvSpPr>
          <p:nvPr>
            <p:ph type="title"/>
          </p:nvPr>
        </p:nvSpPr>
        <p:spPr/>
        <p:txBody>
          <a:bodyPr/>
          <a:lstStyle/>
          <a:p>
            <a:r>
              <a:rPr lang="en-US" altLang="zh-CN" dirty="0"/>
              <a:t>Non-Invertible Example</a:t>
            </a:r>
            <a:endParaRPr lang="zh-CN" altLang="en-US" dirty="0"/>
          </a:p>
        </p:txBody>
      </p:sp>
      <p:sp>
        <p:nvSpPr>
          <p:cNvPr id="5" name="日期占位符 4">
            <a:extLst>
              <a:ext uri="{FF2B5EF4-FFF2-40B4-BE49-F238E27FC236}">
                <a16:creationId xmlns:a16="http://schemas.microsoft.com/office/drawing/2014/main" id="{E5B105DE-4284-4C69-AB50-7F6223417581}"/>
              </a:ext>
            </a:extLst>
          </p:cNvPr>
          <p:cNvSpPr>
            <a:spLocks noGrp="1"/>
          </p:cNvSpPr>
          <p:nvPr>
            <p:ph type="dt" sz="half" idx="12"/>
          </p:nvPr>
        </p:nvSpPr>
        <p:spPr/>
        <p:txBody>
          <a:bodyPr/>
          <a:lstStyle/>
          <a:p>
            <a:fld id="{63ADDE33-C9F1-F94F-A20E-DA422DA466DF}" type="datetime1">
              <a:rPr lang="en-US" smtClean="0"/>
              <a:t>8/31/2022</a:t>
            </a:fld>
            <a:endParaRPr lang="en-US" dirty="0"/>
          </a:p>
        </p:txBody>
      </p:sp>
      <mc:AlternateContent xmlns:mc="http://schemas.openxmlformats.org/markup-compatibility/2006">
        <mc:Choice xmlns:a14="http://schemas.microsoft.com/office/drawing/2010/main" Requires="a14">
          <p:sp>
            <p:nvSpPr>
              <p:cNvPr id="6" name="矩形 5">
                <a:extLst>
                  <a:ext uri="{FF2B5EF4-FFF2-40B4-BE49-F238E27FC236}">
                    <a16:creationId xmlns:a16="http://schemas.microsoft.com/office/drawing/2014/main" id="{4A80D7A1-6280-4BE0-8088-BD87B0EC129D}"/>
                  </a:ext>
                </a:extLst>
              </p:cNvPr>
              <p:cNvSpPr/>
              <p:nvPr/>
            </p:nvSpPr>
            <p:spPr>
              <a:xfrm>
                <a:off x="519401" y="1853685"/>
                <a:ext cx="3571298" cy="134088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𝑌</m:t>
                      </m:r>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1            </m:t>
                              </m:r>
                              <m:r>
                                <a:rPr lang="en-US" altLang="zh-CN" i="1">
                                  <a:latin typeface="Cambria Math" panose="02040503050406030204" pitchFamily="18" charset="0"/>
                                </a:rPr>
                                <m:t>𝑈</m:t>
                              </m:r>
                              <m:r>
                                <a:rPr lang="en-US" altLang="zh-CN" i="1">
                                  <a:latin typeface="Cambria Math" panose="02040503050406030204" pitchFamily="18" charset="0"/>
                                </a:rPr>
                                <m:t>=</m:t>
                              </m:r>
                              <m:r>
                                <a:rPr lang="en-US" altLang="zh-CN" i="1">
                                  <a:latin typeface="Cambria Math" panose="02040503050406030204" pitchFamily="18" charset="0"/>
                                </a:rPr>
                                <m:t>𝑎𝑙𝑤𝑎𝑦𝑠</m:t>
                              </m:r>
                              <m:r>
                                <a:rPr lang="en-US" altLang="zh-CN" i="1">
                                  <a:latin typeface="Cambria Math" panose="02040503050406030204" pitchFamily="18" charset="0"/>
                                </a:rPr>
                                <m:t> </m:t>
                              </m:r>
                              <m:r>
                                <a:rPr lang="en-US" altLang="zh-CN" i="1">
                                  <a:latin typeface="Cambria Math" panose="02040503050406030204" pitchFamily="18" charset="0"/>
                                </a:rPr>
                                <m:t>h𝑎𝑝𝑝𝑦</m:t>
                              </m:r>
                            </m:e>
                            <m:e>
                              <m:r>
                                <a:rPr lang="en-US" altLang="zh-CN" i="1">
                                  <a:latin typeface="Cambria Math" panose="02040503050406030204" pitchFamily="18" charset="0"/>
                                </a:rPr>
                                <m:t>0           </m:t>
                              </m:r>
                              <m:r>
                                <a:rPr lang="en-US" altLang="zh-CN" i="1">
                                  <a:latin typeface="Cambria Math" panose="02040503050406030204" pitchFamily="18" charset="0"/>
                                </a:rPr>
                                <m:t>𝑈</m:t>
                              </m:r>
                              <m:r>
                                <a:rPr lang="en-US" altLang="zh-CN" i="1">
                                  <a:latin typeface="Cambria Math" panose="02040503050406030204" pitchFamily="18" charset="0"/>
                                </a:rPr>
                                <m:t>= </m:t>
                              </m:r>
                              <m:r>
                                <a:rPr lang="en-US" altLang="zh-CN" i="1">
                                  <a:latin typeface="Cambria Math" panose="02040503050406030204" pitchFamily="18" charset="0"/>
                                </a:rPr>
                                <m:t>𝑛𝑒𝑣𝑒𝑟</m:t>
                              </m:r>
                              <m:r>
                                <a:rPr lang="en-US" altLang="zh-CN" i="1">
                                  <a:latin typeface="Cambria Math" panose="02040503050406030204" pitchFamily="18" charset="0"/>
                                </a:rPr>
                                <m:t> </m:t>
                              </m:r>
                              <m:r>
                                <a:rPr lang="en-US" altLang="zh-CN" i="1">
                                  <a:latin typeface="Cambria Math" panose="02040503050406030204" pitchFamily="18" charset="0"/>
                                </a:rPr>
                                <m:t>h𝑎𝑝𝑝𝑦</m:t>
                              </m:r>
                              <m:r>
                                <a:rPr lang="en-US" altLang="zh-CN" i="1">
                                  <a:latin typeface="Cambria Math" panose="02040503050406030204" pitchFamily="18" charset="0"/>
                                </a:rPr>
                                <m:t>  </m:t>
                              </m:r>
                            </m:e>
                            <m:e>
                              <m:r>
                                <a:rPr lang="en-US" altLang="zh-CN" i="1">
                                  <a:latin typeface="Cambria Math" panose="02040503050406030204" pitchFamily="18" charset="0"/>
                                </a:rPr>
                                <m:t>𝑇</m:t>
                              </m:r>
                              <m:r>
                                <a:rPr lang="en-US" altLang="zh-CN" i="1">
                                  <a:latin typeface="Cambria Math" panose="02040503050406030204" pitchFamily="18" charset="0"/>
                                </a:rPr>
                                <m:t>            </m:t>
                              </m:r>
                              <m:r>
                                <a:rPr lang="en-US" altLang="zh-CN" i="1">
                                  <a:latin typeface="Cambria Math" panose="02040503050406030204" pitchFamily="18" charset="0"/>
                                </a:rPr>
                                <m:t>𝑈</m:t>
                              </m:r>
                              <m:r>
                                <a:rPr lang="en-US" altLang="zh-CN" i="1">
                                  <a:latin typeface="Cambria Math" panose="02040503050406030204" pitchFamily="18" charset="0"/>
                                </a:rPr>
                                <m:t>=</m:t>
                              </m:r>
                              <m:r>
                                <a:rPr lang="en-US" altLang="zh-CN" i="1">
                                  <a:latin typeface="Cambria Math" panose="02040503050406030204" pitchFamily="18" charset="0"/>
                                </a:rPr>
                                <m:t>𝑑𝑜𝑔</m:t>
                              </m:r>
                              <m:r>
                                <a:rPr lang="en-US" altLang="zh-CN" i="1">
                                  <a:latin typeface="Cambria Math" panose="02040503050406030204" pitchFamily="18" charset="0"/>
                                </a:rPr>
                                <m:t>−</m:t>
                              </m:r>
                              <m:r>
                                <a:rPr lang="en-US" altLang="zh-CN" i="1">
                                  <a:latin typeface="Cambria Math" panose="02040503050406030204" pitchFamily="18" charset="0"/>
                                </a:rPr>
                                <m:t>𝑛𝑒𝑒𝑑𝑒𝑟</m:t>
                              </m:r>
                              <m:r>
                                <a:rPr lang="en-US" altLang="zh-CN" i="1">
                                  <a:latin typeface="Cambria Math" panose="02040503050406030204" pitchFamily="18" charset="0"/>
                                </a:rPr>
                                <m:t> </m:t>
                              </m:r>
                            </m:e>
                            <m:e>
                              <m:r>
                                <a:rPr lang="en-US" altLang="zh-CN" i="1">
                                  <a:latin typeface="Cambria Math" panose="02040503050406030204" pitchFamily="18" charset="0"/>
                                </a:rPr>
                                <m:t>1−</m:t>
                              </m:r>
                              <m:r>
                                <a:rPr lang="en-US" altLang="zh-CN" i="1">
                                  <a:latin typeface="Cambria Math" panose="02040503050406030204" pitchFamily="18" charset="0"/>
                                </a:rPr>
                                <m:t>𝑇</m:t>
                              </m:r>
                              <m:r>
                                <a:rPr lang="en-US" altLang="zh-CN" i="1">
                                  <a:latin typeface="Cambria Math" panose="02040503050406030204" pitchFamily="18" charset="0"/>
                                </a:rPr>
                                <m:t>    </m:t>
                              </m:r>
                              <m:r>
                                <a:rPr lang="en-US" altLang="zh-CN" i="1">
                                  <a:latin typeface="Cambria Math" panose="02040503050406030204" pitchFamily="18" charset="0"/>
                                </a:rPr>
                                <m:t>𝑈</m:t>
                              </m:r>
                              <m:r>
                                <a:rPr lang="en-US" altLang="zh-CN" i="1">
                                  <a:latin typeface="Cambria Math" panose="02040503050406030204" pitchFamily="18" charset="0"/>
                                </a:rPr>
                                <m:t>=</m:t>
                              </m:r>
                              <m:r>
                                <a:rPr lang="en-US" altLang="zh-CN" i="1">
                                  <a:latin typeface="Cambria Math" panose="02040503050406030204" pitchFamily="18" charset="0"/>
                                </a:rPr>
                                <m:t>𝑑𝑜𝑔</m:t>
                              </m:r>
                              <m:r>
                                <a:rPr lang="en-US" altLang="zh-CN" i="1">
                                  <a:latin typeface="Cambria Math" panose="02040503050406030204" pitchFamily="18" charset="0"/>
                                </a:rPr>
                                <m:t>−</m:t>
                              </m:r>
                              <m:r>
                                <a:rPr lang="en-US" altLang="zh-CN" i="1">
                                  <a:latin typeface="Cambria Math" panose="02040503050406030204" pitchFamily="18" charset="0"/>
                                </a:rPr>
                                <m:t>h𝑎𝑡𝑒𝑟</m:t>
                              </m:r>
                              <m:r>
                                <a:rPr lang="en-US" altLang="zh-CN" i="1">
                                  <a:latin typeface="Cambria Math" panose="02040503050406030204" pitchFamily="18" charset="0"/>
                                </a:rPr>
                                <m:t>    </m:t>
                              </m:r>
                            </m:e>
                          </m:eqArr>
                        </m:e>
                      </m:d>
                    </m:oMath>
                  </m:oMathPara>
                </a14:m>
                <a:endParaRPr lang="zh-CN" altLang="en-US" dirty="0"/>
              </a:p>
            </p:txBody>
          </p:sp>
        </mc:Choice>
        <mc:Fallback>
          <p:sp>
            <p:nvSpPr>
              <p:cNvPr id="6" name="矩形 5">
                <a:extLst>
                  <a:ext uri="{FF2B5EF4-FFF2-40B4-BE49-F238E27FC236}">
                    <a16:creationId xmlns:a16="http://schemas.microsoft.com/office/drawing/2014/main" id="{4A80D7A1-6280-4BE0-8088-BD87B0EC129D}"/>
                  </a:ext>
                </a:extLst>
              </p:cNvPr>
              <p:cNvSpPr>
                <a:spLocks noRot="1" noChangeAspect="1" noMove="1" noResize="1" noEditPoints="1" noAdjustHandles="1" noChangeArrowheads="1" noChangeShapeType="1" noTextEdit="1"/>
              </p:cNvSpPr>
              <p:nvPr/>
            </p:nvSpPr>
            <p:spPr>
              <a:xfrm>
                <a:off x="519401" y="1853685"/>
                <a:ext cx="3571298" cy="1340880"/>
              </a:xfrm>
              <a:prstGeom prst="rect">
                <a:avLst/>
              </a:prstGeom>
              <a:blipFill>
                <a:blip r:embed="rId3"/>
                <a:stretch>
                  <a:fillRect/>
                </a:stretch>
              </a:blipFill>
            </p:spPr>
            <p:txBody>
              <a:bodyPr/>
              <a:lstStyle/>
              <a:p>
                <a:r>
                  <a:rPr lang="zh-CN" altLang="en-US">
                    <a:noFill/>
                  </a:rPr>
                  <a:t> </a:t>
                </a:r>
              </a:p>
            </p:txBody>
          </p:sp>
        </mc:Fallback>
      </mc:AlternateContent>
      <p:cxnSp>
        <p:nvCxnSpPr>
          <p:cNvPr id="7" name="直接连接符 6">
            <a:extLst>
              <a:ext uri="{FF2B5EF4-FFF2-40B4-BE49-F238E27FC236}">
                <a16:creationId xmlns:a16="http://schemas.microsoft.com/office/drawing/2014/main" id="{DBB1BE75-C0A7-4D86-9994-299C7388A30E}"/>
              </a:ext>
            </a:extLst>
          </p:cNvPr>
          <p:cNvCxnSpPr>
            <a:cxnSpLocks/>
          </p:cNvCxnSpPr>
          <p:nvPr/>
        </p:nvCxnSpPr>
        <p:spPr>
          <a:xfrm>
            <a:off x="1981200" y="2543175"/>
            <a:ext cx="1800225"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8" name="直接连接符 7">
            <a:extLst>
              <a:ext uri="{FF2B5EF4-FFF2-40B4-BE49-F238E27FC236}">
                <a16:creationId xmlns:a16="http://schemas.microsoft.com/office/drawing/2014/main" id="{0EB716C2-9AB9-405D-BBFC-A261D81AE51A}"/>
              </a:ext>
            </a:extLst>
          </p:cNvPr>
          <p:cNvCxnSpPr>
            <a:cxnSpLocks/>
          </p:cNvCxnSpPr>
          <p:nvPr/>
        </p:nvCxnSpPr>
        <p:spPr>
          <a:xfrm>
            <a:off x="2095500" y="3105150"/>
            <a:ext cx="1619250"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126428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52E216D1-942B-4D91-8800-D52E23697CA1}"/>
                  </a:ext>
                </a:extLst>
              </p:cNvPr>
              <p:cNvSpPr>
                <a:spLocks noGrp="1"/>
              </p:cNvSpPr>
              <p:nvPr>
                <p:ph idx="1"/>
              </p:nvPr>
            </p:nvSpPr>
            <p:spPr/>
            <p:txBody>
              <a:bodyPr>
                <a:normAutofit/>
              </a:bodyPr>
              <a:lstStyle/>
              <a:p>
                <a:r>
                  <a:rPr lang="en-US" altLang="zh-CN" sz="1600" dirty="0"/>
                  <a:t>Structural equation for Y:</a:t>
                </a:r>
              </a:p>
              <a:p>
                <a:endParaRPr lang="en-US" altLang="zh-CN" sz="1600" dirty="0"/>
              </a:p>
              <a:p>
                <a:r>
                  <a:rPr lang="en-US" altLang="zh-CN" sz="1600" dirty="0"/>
                  <a:t>					</a:t>
                </a:r>
                <a14:m>
                  <m:oMath xmlns:m="http://schemas.openxmlformats.org/officeDocument/2006/math">
                    <m:r>
                      <a:rPr lang="en-US" altLang="zh-CN" sz="1600" b="0" i="1" smtClean="0">
                        <a:latin typeface="Cambria Math" panose="02040503050406030204" pitchFamily="18" charset="0"/>
                      </a:rPr>
                      <m:t>𝑃</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𝑈</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𝑎𝑙𝑤𝑎𝑦𝑠</m:t>
                        </m:r>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h𝑎𝑝𝑝𝑦</m:t>
                        </m:r>
                      </m:e>
                    </m:d>
                    <m:r>
                      <a:rPr lang="en-US" altLang="zh-CN" sz="1600" b="0" i="1" smtClean="0">
                        <a:latin typeface="Cambria Math" panose="02040503050406030204" pitchFamily="18" charset="0"/>
                      </a:rPr>
                      <m:t>=0.3</m:t>
                    </m:r>
                  </m:oMath>
                </a14:m>
                <a:endParaRPr lang="en-US" altLang="zh-CN" sz="1600" dirty="0"/>
              </a:p>
              <a:p>
                <a:r>
                  <a:rPr lang="en-US" altLang="zh-CN" sz="1600" dirty="0"/>
                  <a:t>					  </a:t>
                </a:r>
                <a14:m>
                  <m:oMath xmlns:m="http://schemas.openxmlformats.org/officeDocument/2006/math">
                    <m:r>
                      <a:rPr lang="en-US" altLang="zh-CN" sz="1600" b="0" i="1" smtClean="0">
                        <a:latin typeface="Cambria Math" panose="02040503050406030204" pitchFamily="18" charset="0"/>
                      </a:rPr>
                      <m:t>𝑃</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𝑈</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𝑛𝑒𝑣𝑒𝑟</m:t>
                        </m:r>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h𝑎𝑝𝑝𝑦</m:t>
                        </m:r>
                      </m:e>
                    </m:d>
                    <m:r>
                      <a:rPr lang="en-US" altLang="zh-CN" sz="1600" b="0" i="1" smtClean="0">
                        <a:latin typeface="Cambria Math" panose="02040503050406030204" pitchFamily="18" charset="0"/>
                      </a:rPr>
                      <m:t>=0.2</m:t>
                    </m:r>
                  </m:oMath>
                </a14:m>
                <a:endParaRPr lang="en-US" altLang="zh-CN" sz="1600" dirty="0"/>
              </a:p>
              <a:p>
                <a:r>
                  <a:rPr lang="en-US" altLang="zh-CN" sz="1600" dirty="0"/>
                  <a:t>					</a:t>
                </a:r>
                <a14:m>
                  <m:oMath xmlns:m="http://schemas.openxmlformats.org/officeDocument/2006/math">
                    <m:r>
                      <a:rPr lang="en-US" altLang="zh-CN" sz="1600" b="0" i="1" smtClean="0">
                        <a:latin typeface="Cambria Math" panose="02040503050406030204" pitchFamily="18" charset="0"/>
                      </a:rPr>
                      <m:t>𝑃</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𝑈</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𝑑𝑜𝑔</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𝑛𝑒𝑒𝑑𝑒𝑟</m:t>
                        </m:r>
                      </m:e>
                    </m:d>
                    <m:r>
                      <a:rPr lang="en-US" altLang="zh-CN" sz="1600" b="0" i="1" smtClean="0">
                        <a:latin typeface="Cambria Math" panose="02040503050406030204" pitchFamily="18" charset="0"/>
                      </a:rPr>
                      <m:t>=0.4</m:t>
                    </m:r>
                  </m:oMath>
                </a14:m>
                <a:endParaRPr lang="en-US" altLang="zh-CN" sz="1600" dirty="0"/>
              </a:p>
              <a:p>
                <a:r>
                  <a:rPr lang="en-US" altLang="zh-CN" sz="1600" dirty="0"/>
                  <a:t>				               </a:t>
                </a:r>
                <a14:m>
                  <m:oMath xmlns:m="http://schemas.openxmlformats.org/officeDocument/2006/math">
                    <m:r>
                      <a:rPr lang="en-US" altLang="zh-CN" sz="1600" b="0" i="0" smtClean="0">
                        <a:latin typeface="Cambria Math" panose="02040503050406030204" pitchFamily="18" charset="0"/>
                      </a:rPr>
                      <m:t>    </m:t>
                    </m:r>
                    <m:r>
                      <a:rPr lang="en-US" altLang="zh-CN" sz="1600" b="0" i="1" smtClean="0">
                        <a:latin typeface="Cambria Math" panose="02040503050406030204" pitchFamily="18" charset="0"/>
                      </a:rPr>
                      <m:t>𝑃</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𝑈</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𝑑𝑜𝑔</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h𝑎𝑡𝑒𝑟</m:t>
                        </m:r>
                      </m:e>
                    </m:d>
                    <m:r>
                      <a:rPr lang="en-US" altLang="zh-CN" sz="1600" b="0" i="1" smtClean="0">
                        <a:latin typeface="Cambria Math" panose="02040503050406030204" pitchFamily="18" charset="0"/>
                      </a:rPr>
                      <m:t>=0.1</m:t>
                    </m:r>
                  </m:oMath>
                </a14:m>
                <a:endParaRPr lang="en-US" altLang="zh-CN" sz="1600" dirty="0"/>
              </a:p>
              <a:p>
                <a:r>
                  <a:rPr lang="en-US" altLang="zh-CN" sz="1600" dirty="0"/>
                  <a:t>Observation: T = 1 and Y = 0</a:t>
                </a:r>
              </a:p>
              <a:p>
                <a:r>
                  <a:rPr lang="en-US" altLang="zh-CN" sz="1600" dirty="0"/>
                  <a:t>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𝑌</m:t>
                        </m:r>
                      </m:e>
                      <m:sub>
                        <m:r>
                          <a:rPr lang="en-US" altLang="zh-CN" sz="1600" b="0" i="1" smtClean="0">
                            <a:latin typeface="Cambria Math" panose="02040503050406030204" pitchFamily="18" charset="0"/>
                          </a:rPr>
                          <m:t>𝑢</m:t>
                        </m:r>
                      </m:sub>
                    </m:sSub>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1</m:t>
                        </m:r>
                      </m:e>
                    </m:d>
                    <m:r>
                      <a:rPr lang="en-US" altLang="zh-CN" sz="1600" b="0" i="1" smtClean="0">
                        <a:latin typeface="Cambria Math" panose="02040503050406030204" pitchFamily="18" charset="0"/>
                      </a:rPr>
                      <m:t>=0</m:t>
                    </m:r>
                  </m:oMath>
                </a14:m>
                <a:r>
                  <a:rPr lang="en-US" altLang="zh-CN" sz="1600" dirty="0"/>
                  <a:t>)</a:t>
                </a:r>
              </a:p>
              <a:p>
                <a:r>
                  <a:rPr lang="en-US" altLang="zh-CN" sz="1600" dirty="0"/>
                  <a:t>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𝑌</m:t>
                        </m:r>
                      </m:e>
                      <m:sub>
                        <m:r>
                          <a:rPr lang="en-US" altLang="zh-CN" sz="1600" i="1">
                            <a:latin typeface="Cambria Math" panose="02040503050406030204" pitchFamily="18" charset="0"/>
                          </a:rPr>
                          <m:t>𝑢</m:t>
                        </m:r>
                      </m:sub>
                    </m:sSub>
                    <m:d>
                      <m:dPr>
                        <m:ctrlPr>
                          <a:rPr lang="en-US" altLang="zh-CN" sz="1600" i="1">
                            <a:latin typeface="Cambria Math" panose="02040503050406030204" pitchFamily="18" charset="0"/>
                          </a:rPr>
                        </m:ctrlPr>
                      </m:dPr>
                      <m:e>
                        <m:r>
                          <a:rPr lang="en-US" altLang="zh-CN" sz="1600" b="0" i="1" smtClean="0">
                            <a:latin typeface="Cambria Math" panose="02040503050406030204" pitchFamily="18" charset="0"/>
                          </a:rPr>
                          <m:t>0</m:t>
                        </m:r>
                      </m:e>
                    </m:d>
                    <m:r>
                      <a:rPr lang="en-US" altLang="zh-CN" sz="1600" i="1">
                        <a:latin typeface="Cambria Math" panose="02040503050406030204" pitchFamily="18" charset="0"/>
                      </a:rPr>
                      <m:t>=</m:t>
                    </m:r>
                    <m:r>
                      <a:rPr lang="en-US" altLang="zh-CN" sz="1600" b="0" i="1" smtClean="0">
                        <a:latin typeface="Cambria Math" panose="02040503050406030204" pitchFamily="18" charset="0"/>
                      </a:rPr>
                      <m:t> ?</m:t>
                    </m:r>
                  </m:oMath>
                </a14:m>
                <a:r>
                  <a:rPr lang="en-US" altLang="zh-CN" sz="1600" dirty="0"/>
                  <a:t>)</a:t>
                </a:r>
              </a:p>
              <a:p>
                <a:endParaRPr lang="en-US" altLang="zh-CN" sz="1600" dirty="0"/>
              </a:p>
            </p:txBody>
          </p:sp>
        </mc:Choice>
        <mc:Fallback>
          <p:sp>
            <p:nvSpPr>
              <p:cNvPr id="2" name="内容占位符 1">
                <a:extLst>
                  <a:ext uri="{FF2B5EF4-FFF2-40B4-BE49-F238E27FC236}">
                    <a16:creationId xmlns:a16="http://schemas.microsoft.com/office/drawing/2014/main" id="{52E216D1-942B-4D91-8800-D52E23697CA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4EE2A5BF-ACF9-4759-BB2D-BF7831B4A621}"/>
              </a:ext>
            </a:extLst>
          </p:cNvPr>
          <p:cNvSpPr>
            <a:spLocks noGrp="1"/>
          </p:cNvSpPr>
          <p:nvPr>
            <p:ph type="sldNum" sz="quarter" idx="11"/>
          </p:nvPr>
        </p:nvSpPr>
        <p:spPr/>
        <p:txBody>
          <a:bodyPr/>
          <a:lstStyle/>
          <a:p>
            <a:fld id="{2AEAD966-1EF9-3A44-9B11-0C8090371A9A}" type="slidenum">
              <a:rPr lang="en-US" smtClean="0"/>
              <a:t>27</a:t>
            </a:fld>
            <a:endParaRPr lang="en-US"/>
          </a:p>
        </p:txBody>
      </p:sp>
      <p:sp>
        <p:nvSpPr>
          <p:cNvPr id="4" name="标题 3">
            <a:extLst>
              <a:ext uri="{FF2B5EF4-FFF2-40B4-BE49-F238E27FC236}">
                <a16:creationId xmlns:a16="http://schemas.microsoft.com/office/drawing/2014/main" id="{CA9E5D63-4A17-4D32-8924-A1DE9A5E1F81}"/>
              </a:ext>
            </a:extLst>
          </p:cNvPr>
          <p:cNvSpPr>
            <a:spLocks noGrp="1"/>
          </p:cNvSpPr>
          <p:nvPr>
            <p:ph type="title"/>
          </p:nvPr>
        </p:nvSpPr>
        <p:spPr/>
        <p:txBody>
          <a:bodyPr/>
          <a:lstStyle/>
          <a:p>
            <a:r>
              <a:rPr lang="en-US" altLang="zh-CN" dirty="0"/>
              <a:t>Non-Invertible Example</a:t>
            </a:r>
            <a:endParaRPr lang="zh-CN" altLang="en-US" dirty="0"/>
          </a:p>
        </p:txBody>
      </p:sp>
      <p:sp>
        <p:nvSpPr>
          <p:cNvPr id="5" name="日期占位符 4">
            <a:extLst>
              <a:ext uri="{FF2B5EF4-FFF2-40B4-BE49-F238E27FC236}">
                <a16:creationId xmlns:a16="http://schemas.microsoft.com/office/drawing/2014/main" id="{E5B105DE-4284-4C69-AB50-7F6223417581}"/>
              </a:ext>
            </a:extLst>
          </p:cNvPr>
          <p:cNvSpPr>
            <a:spLocks noGrp="1"/>
          </p:cNvSpPr>
          <p:nvPr>
            <p:ph type="dt" sz="half" idx="12"/>
          </p:nvPr>
        </p:nvSpPr>
        <p:spPr/>
        <p:txBody>
          <a:bodyPr/>
          <a:lstStyle/>
          <a:p>
            <a:fld id="{63ADDE33-C9F1-F94F-A20E-DA422DA466DF}" type="datetime1">
              <a:rPr lang="en-US" smtClean="0"/>
              <a:t>9/1/2022</a:t>
            </a:fld>
            <a:endParaRPr lang="en-US" dirty="0"/>
          </a:p>
        </p:txBody>
      </p:sp>
      <mc:AlternateContent xmlns:mc="http://schemas.openxmlformats.org/markup-compatibility/2006">
        <mc:Choice xmlns:a14="http://schemas.microsoft.com/office/drawing/2010/main" Requires="a14">
          <p:sp>
            <p:nvSpPr>
              <p:cNvPr id="6" name="矩形 5">
                <a:extLst>
                  <a:ext uri="{FF2B5EF4-FFF2-40B4-BE49-F238E27FC236}">
                    <a16:creationId xmlns:a16="http://schemas.microsoft.com/office/drawing/2014/main" id="{4A80D7A1-6280-4BE0-8088-BD87B0EC129D}"/>
                  </a:ext>
                </a:extLst>
              </p:cNvPr>
              <p:cNvSpPr/>
              <p:nvPr/>
            </p:nvSpPr>
            <p:spPr>
              <a:xfrm>
                <a:off x="519401" y="1853685"/>
                <a:ext cx="3571298" cy="134088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𝑌</m:t>
                      </m:r>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1            </m:t>
                              </m:r>
                              <m:r>
                                <a:rPr lang="en-US" altLang="zh-CN" i="1">
                                  <a:latin typeface="Cambria Math" panose="02040503050406030204" pitchFamily="18" charset="0"/>
                                </a:rPr>
                                <m:t>𝑈</m:t>
                              </m:r>
                              <m:r>
                                <a:rPr lang="en-US" altLang="zh-CN" i="1">
                                  <a:latin typeface="Cambria Math" panose="02040503050406030204" pitchFamily="18" charset="0"/>
                                </a:rPr>
                                <m:t>=</m:t>
                              </m:r>
                              <m:r>
                                <a:rPr lang="en-US" altLang="zh-CN" i="1">
                                  <a:latin typeface="Cambria Math" panose="02040503050406030204" pitchFamily="18" charset="0"/>
                                </a:rPr>
                                <m:t>𝑎𝑙𝑤𝑎𝑦𝑠</m:t>
                              </m:r>
                              <m:r>
                                <a:rPr lang="en-US" altLang="zh-CN" i="1">
                                  <a:latin typeface="Cambria Math" panose="02040503050406030204" pitchFamily="18" charset="0"/>
                                </a:rPr>
                                <m:t> </m:t>
                              </m:r>
                              <m:r>
                                <a:rPr lang="en-US" altLang="zh-CN" i="1">
                                  <a:latin typeface="Cambria Math" panose="02040503050406030204" pitchFamily="18" charset="0"/>
                                </a:rPr>
                                <m:t>h𝑎𝑝𝑝𝑦</m:t>
                              </m:r>
                            </m:e>
                            <m:e>
                              <m:r>
                                <a:rPr lang="en-US" altLang="zh-CN" i="1">
                                  <a:latin typeface="Cambria Math" panose="02040503050406030204" pitchFamily="18" charset="0"/>
                                </a:rPr>
                                <m:t>0           </m:t>
                              </m:r>
                              <m:r>
                                <a:rPr lang="en-US" altLang="zh-CN" i="1">
                                  <a:latin typeface="Cambria Math" panose="02040503050406030204" pitchFamily="18" charset="0"/>
                                </a:rPr>
                                <m:t>𝑈</m:t>
                              </m:r>
                              <m:r>
                                <a:rPr lang="en-US" altLang="zh-CN" i="1">
                                  <a:latin typeface="Cambria Math" panose="02040503050406030204" pitchFamily="18" charset="0"/>
                                </a:rPr>
                                <m:t>= </m:t>
                              </m:r>
                              <m:r>
                                <a:rPr lang="en-US" altLang="zh-CN" i="1">
                                  <a:latin typeface="Cambria Math" panose="02040503050406030204" pitchFamily="18" charset="0"/>
                                </a:rPr>
                                <m:t>𝑛𝑒𝑣𝑒𝑟</m:t>
                              </m:r>
                              <m:r>
                                <a:rPr lang="en-US" altLang="zh-CN" i="1">
                                  <a:latin typeface="Cambria Math" panose="02040503050406030204" pitchFamily="18" charset="0"/>
                                </a:rPr>
                                <m:t> </m:t>
                              </m:r>
                              <m:r>
                                <a:rPr lang="en-US" altLang="zh-CN" i="1">
                                  <a:latin typeface="Cambria Math" panose="02040503050406030204" pitchFamily="18" charset="0"/>
                                </a:rPr>
                                <m:t>h𝑎𝑝𝑝𝑦</m:t>
                              </m:r>
                              <m:r>
                                <a:rPr lang="en-US" altLang="zh-CN" i="1">
                                  <a:latin typeface="Cambria Math" panose="02040503050406030204" pitchFamily="18" charset="0"/>
                                </a:rPr>
                                <m:t>  </m:t>
                              </m:r>
                            </m:e>
                            <m:e>
                              <m:r>
                                <a:rPr lang="en-US" altLang="zh-CN" i="1">
                                  <a:latin typeface="Cambria Math" panose="02040503050406030204" pitchFamily="18" charset="0"/>
                                </a:rPr>
                                <m:t>𝑇</m:t>
                              </m:r>
                              <m:r>
                                <a:rPr lang="en-US" altLang="zh-CN" i="1">
                                  <a:latin typeface="Cambria Math" panose="02040503050406030204" pitchFamily="18" charset="0"/>
                                </a:rPr>
                                <m:t>            </m:t>
                              </m:r>
                              <m:r>
                                <a:rPr lang="en-US" altLang="zh-CN" i="1">
                                  <a:latin typeface="Cambria Math" panose="02040503050406030204" pitchFamily="18" charset="0"/>
                                </a:rPr>
                                <m:t>𝑈</m:t>
                              </m:r>
                              <m:r>
                                <a:rPr lang="en-US" altLang="zh-CN" i="1">
                                  <a:latin typeface="Cambria Math" panose="02040503050406030204" pitchFamily="18" charset="0"/>
                                </a:rPr>
                                <m:t>=</m:t>
                              </m:r>
                              <m:r>
                                <a:rPr lang="en-US" altLang="zh-CN" i="1">
                                  <a:latin typeface="Cambria Math" panose="02040503050406030204" pitchFamily="18" charset="0"/>
                                </a:rPr>
                                <m:t>𝑑𝑜𝑔</m:t>
                              </m:r>
                              <m:r>
                                <a:rPr lang="en-US" altLang="zh-CN" i="1">
                                  <a:latin typeface="Cambria Math" panose="02040503050406030204" pitchFamily="18" charset="0"/>
                                </a:rPr>
                                <m:t>−</m:t>
                              </m:r>
                              <m:r>
                                <a:rPr lang="en-US" altLang="zh-CN" i="1">
                                  <a:latin typeface="Cambria Math" panose="02040503050406030204" pitchFamily="18" charset="0"/>
                                </a:rPr>
                                <m:t>𝑛𝑒𝑒𝑑𝑒𝑟</m:t>
                              </m:r>
                              <m:r>
                                <a:rPr lang="en-US" altLang="zh-CN" i="1">
                                  <a:latin typeface="Cambria Math" panose="02040503050406030204" pitchFamily="18" charset="0"/>
                                </a:rPr>
                                <m:t> </m:t>
                              </m:r>
                            </m:e>
                            <m:e>
                              <m:r>
                                <a:rPr lang="en-US" altLang="zh-CN" i="1">
                                  <a:latin typeface="Cambria Math" panose="02040503050406030204" pitchFamily="18" charset="0"/>
                                </a:rPr>
                                <m:t>1−</m:t>
                              </m:r>
                              <m:r>
                                <a:rPr lang="en-US" altLang="zh-CN" i="1">
                                  <a:latin typeface="Cambria Math" panose="02040503050406030204" pitchFamily="18" charset="0"/>
                                </a:rPr>
                                <m:t>𝑇</m:t>
                              </m:r>
                              <m:r>
                                <a:rPr lang="en-US" altLang="zh-CN" i="1">
                                  <a:latin typeface="Cambria Math" panose="02040503050406030204" pitchFamily="18" charset="0"/>
                                </a:rPr>
                                <m:t>    </m:t>
                              </m:r>
                              <m:r>
                                <a:rPr lang="en-US" altLang="zh-CN" i="1">
                                  <a:latin typeface="Cambria Math" panose="02040503050406030204" pitchFamily="18" charset="0"/>
                                </a:rPr>
                                <m:t>𝑈</m:t>
                              </m:r>
                              <m:r>
                                <a:rPr lang="en-US" altLang="zh-CN" i="1">
                                  <a:latin typeface="Cambria Math" panose="02040503050406030204" pitchFamily="18" charset="0"/>
                                </a:rPr>
                                <m:t>=</m:t>
                              </m:r>
                              <m:r>
                                <a:rPr lang="en-US" altLang="zh-CN" i="1">
                                  <a:latin typeface="Cambria Math" panose="02040503050406030204" pitchFamily="18" charset="0"/>
                                </a:rPr>
                                <m:t>𝑑𝑜𝑔</m:t>
                              </m:r>
                              <m:r>
                                <a:rPr lang="en-US" altLang="zh-CN" i="1">
                                  <a:latin typeface="Cambria Math" panose="02040503050406030204" pitchFamily="18" charset="0"/>
                                </a:rPr>
                                <m:t>−</m:t>
                              </m:r>
                              <m:r>
                                <a:rPr lang="en-US" altLang="zh-CN" i="1">
                                  <a:latin typeface="Cambria Math" panose="02040503050406030204" pitchFamily="18" charset="0"/>
                                </a:rPr>
                                <m:t>h𝑎𝑡𝑒𝑟</m:t>
                              </m:r>
                              <m:r>
                                <a:rPr lang="en-US" altLang="zh-CN" i="1">
                                  <a:latin typeface="Cambria Math" panose="02040503050406030204" pitchFamily="18" charset="0"/>
                                </a:rPr>
                                <m:t>    </m:t>
                              </m:r>
                            </m:e>
                          </m:eqArr>
                        </m:e>
                      </m:d>
                    </m:oMath>
                  </m:oMathPara>
                </a14:m>
                <a:endParaRPr lang="zh-CN" altLang="en-US" dirty="0"/>
              </a:p>
            </p:txBody>
          </p:sp>
        </mc:Choice>
        <mc:Fallback>
          <p:sp>
            <p:nvSpPr>
              <p:cNvPr id="6" name="矩形 5">
                <a:extLst>
                  <a:ext uri="{FF2B5EF4-FFF2-40B4-BE49-F238E27FC236}">
                    <a16:creationId xmlns:a16="http://schemas.microsoft.com/office/drawing/2014/main" id="{4A80D7A1-6280-4BE0-8088-BD87B0EC129D}"/>
                  </a:ext>
                </a:extLst>
              </p:cNvPr>
              <p:cNvSpPr>
                <a:spLocks noRot="1" noChangeAspect="1" noMove="1" noResize="1" noEditPoints="1" noAdjustHandles="1" noChangeArrowheads="1" noChangeShapeType="1" noTextEdit="1"/>
              </p:cNvSpPr>
              <p:nvPr/>
            </p:nvSpPr>
            <p:spPr>
              <a:xfrm>
                <a:off x="519401" y="1853685"/>
                <a:ext cx="3571298" cy="1340880"/>
              </a:xfrm>
              <a:prstGeom prst="rect">
                <a:avLst/>
              </a:prstGeom>
              <a:blipFill>
                <a:blip r:embed="rId3"/>
                <a:stretch>
                  <a:fillRect/>
                </a:stretch>
              </a:blipFill>
            </p:spPr>
            <p:txBody>
              <a:bodyPr/>
              <a:lstStyle/>
              <a:p>
                <a:r>
                  <a:rPr lang="zh-CN" altLang="en-US">
                    <a:noFill/>
                  </a:rPr>
                  <a:t> </a:t>
                </a:r>
              </a:p>
            </p:txBody>
          </p:sp>
        </mc:Fallback>
      </mc:AlternateContent>
      <p:cxnSp>
        <p:nvCxnSpPr>
          <p:cNvPr id="7" name="直接连接符 6">
            <a:extLst>
              <a:ext uri="{FF2B5EF4-FFF2-40B4-BE49-F238E27FC236}">
                <a16:creationId xmlns:a16="http://schemas.microsoft.com/office/drawing/2014/main" id="{DBB1BE75-C0A7-4D86-9994-299C7388A30E}"/>
              </a:ext>
            </a:extLst>
          </p:cNvPr>
          <p:cNvCxnSpPr>
            <a:cxnSpLocks/>
          </p:cNvCxnSpPr>
          <p:nvPr/>
        </p:nvCxnSpPr>
        <p:spPr>
          <a:xfrm>
            <a:off x="1981200" y="2543175"/>
            <a:ext cx="1800225"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8" name="直接连接符 7">
            <a:extLst>
              <a:ext uri="{FF2B5EF4-FFF2-40B4-BE49-F238E27FC236}">
                <a16:creationId xmlns:a16="http://schemas.microsoft.com/office/drawing/2014/main" id="{0EB716C2-9AB9-405D-BBFC-A261D81AE51A}"/>
              </a:ext>
            </a:extLst>
          </p:cNvPr>
          <p:cNvCxnSpPr>
            <a:cxnSpLocks/>
          </p:cNvCxnSpPr>
          <p:nvPr/>
        </p:nvCxnSpPr>
        <p:spPr>
          <a:xfrm>
            <a:off x="2095500" y="3105150"/>
            <a:ext cx="1619250"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998962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52E216D1-942B-4D91-8800-D52E23697CA1}"/>
                  </a:ext>
                </a:extLst>
              </p:cNvPr>
              <p:cNvSpPr>
                <a:spLocks noGrp="1"/>
              </p:cNvSpPr>
              <p:nvPr>
                <p:ph idx="1"/>
              </p:nvPr>
            </p:nvSpPr>
            <p:spPr/>
            <p:txBody>
              <a:bodyPr>
                <a:normAutofit/>
              </a:bodyPr>
              <a:lstStyle/>
              <a:p>
                <a:r>
                  <a:rPr lang="en-US" altLang="zh-CN" sz="1600" dirty="0"/>
                  <a:t>Structural equation for Y:</a:t>
                </a:r>
              </a:p>
              <a:p>
                <a:endParaRPr lang="en-US" altLang="zh-CN" sz="1600" dirty="0"/>
              </a:p>
              <a:p>
                <a:r>
                  <a:rPr lang="en-US" altLang="zh-CN" sz="1600" dirty="0"/>
                  <a:t>					</a:t>
                </a:r>
                <a14:m>
                  <m:oMath xmlns:m="http://schemas.openxmlformats.org/officeDocument/2006/math">
                    <m:r>
                      <a:rPr lang="en-US" altLang="zh-CN" sz="1600" b="0" i="1" smtClean="0">
                        <a:latin typeface="Cambria Math" panose="02040503050406030204" pitchFamily="18" charset="0"/>
                      </a:rPr>
                      <m:t>𝑃</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𝑈</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𝑎𝑙𝑤𝑎𝑦𝑠</m:t>
                        </m:r>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h𝑎𝑝𝑝𝑦</m:t>
                        </m:r>
                      </m:e>
                    </m:d>
                    <m:r>
                      <a:rPr lang="en-US" altLang="zh-CN" sz="1600" b="0" i="1" smtClean="0">
                        <a:latin typeface="Cambria Math" panose="02040503050406030204" pitchFamily="18" charset="0"/>
                      </a:rPr>
                      <m:t>=0.3</m:t>
                    </m:r>
                  </m:oMath>
                </a14:m>
                <a:endParaRPr lang="en-US" altLang="zh-CN" sz="1600" dirty="0"/>
              </a:p>
              <a:p>
                <a:r>
                  <a:rPr lang="en-US" altLang="zh-CN" sz="1600" dirty="0"/>
                  <a:t>					  </a:t>
                </a:r>
                <a14:m>
                  <m:oMath xmlns:m="http://schemas.openxmlformats.org/officeDocument/2006/math">
                    <m:r>
                      <a:rPr lang="en-US" altLang="zh-CN" sz="1600" b="0" i="1" smtClean="0">
                        <a:latin typeface="Cambria Math" panose="02040503050406030204" pitchFamily="18" charset="0"/>
                      </a:rPr>
                      <m:t>𝑃</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𝑈</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𝑛𝑒𝑣𝑒𝑟</m:t>
                        </m:r>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h𝑎𝑝𝑝𝑦</m:t>
                        </m:r>
                      </m:e>
                    </m:d>
                    <m:r>
                      <a:rPr lang="en-US" altLang="zh-CN" sz="1600" b="0" i="1" smtClean="0">
                        <a:latin typeface="Cambria Math" panose="02040503050406030204" pitchFamily="18" charset="0"/>
                      </a:rPr>
                      <m:t>=0.2</m:t>
                    </m:r>
                  </m:oMath>
                </a14:m>
                <a:endParaRPr lang="en-US" altLang="zh-CN" sz="1600" dirty="0"/>
              </a:p>
              <a:p>
                <a:r>
                  <a:rPr lang="en-US" altLang="zh-CN" sz="1600" dirty="0"/>
                  <a:t>					</a:t>
                </a:r>
                <a14:m>
                  <m:oMath xmlns:m="http://schemas.openxmlformats.org/officeDocument/2006/math">
                    <m:r>
                      <a:rPr lang="en-US" altLang="zh-CN" sz="1600" b="0" i="1" smtClean="0">
                        <a:latin typeface="Cambria Math" panose="02040503050406030204" pitchFamily="18" charset="0"/>
                      </a:rPr>
                      <m:t>𝑃</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𝑈</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𝑑𝑜𝑔</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𝑛𝑒𝑒𝑑𝑒𝑟</m:t>
                        </m:r>
                      </m:e>
                    </m:d>
                    <m:r>
                      <a:rPr lang="en-US" altLang="zh-CN" sz="1600" b="0" i="1" smtClean="0">
                        <a:latin typeface="Cambria Math" panose="02040503050406030204" pitchFamily="18" charset="0"/>
                      </a:rPr>
                      <m:t>=0.4</m:t>
                    </m:r>
                  </m:oMath>
                </a14:m>
                <a:endParaRPr lang="en-US" altLang="zh-CN" sz="1600" dirty="0"/>
              </a:p>
              <a:p>
                <a:r>
                  <a:rPr lang="en-US" altLang="zh-CN" sz="1600" dirty="0"/>
                  <a:t>				               </a:t>
                </a:r>
                <a14:m>
                  <m:oMath xmlns:m="http://schemas.openxmlformats.org/officeDocument/2006/math">
                    <m:r>
                      <a:rPr lang="en-US" altLang="zh-CN" sz="1600" b="0" i="0" smtClean="0">
                        <a:latin typeface="Cambria Math" panose="02040503050406030204" pitchFamily="18" charset="0"/>
                      </a:rPr>
                      <m:t>    </m:t>
                    </m:r>
                    <m:r>
                      <a:rPr lang="en-US" altLang="zh-CN" sz="1600" b="0" i="1" smtClean="0">
                        <a:latin typeface="Cambria Math" panose="02040503050406030204" pitchFamily="18" charset="0"/>
                      </a:rPr>
                      <m:t>𝑃</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𝑈</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𝑑𝑜𝑔</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h𝑎𝑡𝑒𝑟</m:t>
                        </m:r>
                      </m:e>
                    </m:d>
                    <m:r>
                      <a:rPr lang="en-US" altLang="zh-CN" sz="1600" b="0" i="1" smtClean="0">
                        <a:latin typeface="Cambria Math" panose="02040503050406030204" pitchFamily="18" charset="0"/>
                      </a:rPr>
                      <m:t>=0.1</m:t>
                    </m:r>
                  </m:oMath>
                </a14:m>
                <a:endParaRPr lang="en-US" altLang="zh-CN" sz="1600" dirty="0"/>
              </a:p>
              <a:p>
                <a:r>
                  <a:rPr lang="en-US" altLang="zh-CN" sz="1600" dirty="0"/>
                  <a:t>Observation: T = 1 and Y = 0	               </a:t>
                </a:r>
                <a14:m>
                  <m:oMath xmlns:m="http://schemas.openxmlformats.org/officeDocument/2006/math">
                    <m:r>
                      <a:rPr lang="en-US" altLang="zh-CN" sz="1600" b="0" i="1" smtClean="0">
                        <a:latin typeface="Cambria Math" panose="02040503050406030204" pitchFamily="18" charset="0"/>
                      </a:rPr>
                      <m:t>𝑃</m:t>
                    </m:r>
                    <m:d>
                      <m:dPr>
                        <m:end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𝑈</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𝑛𝑒𝑣𝑒𝑟</m:t>
                        </m:r>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h𝑎𝑝𝑝𝑦</m:t>
                        </m:r>
                        <m:r>
                          <a:rPr lang="en-US" altLang="zh-CN" sz="1600" b="0" i="1" smtClean="0">
                            <a:latin typeface="Cambria Math" panose="02040503050406030204" pitchFamily="18" charset="0"/>
                          </a:rPr>
                          <m:t> </m:t>
                        </m:r>
                      </m:e>
                    </m:d>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𝑌</m:t>
                    </m:r>
                    <m:r>
                      <a:rPr lang="en-US" altLang="zh-CN" sz="1600" b="0" i="1" smtClean="0">
                        <a:latin typeface="Cambria Math" panose="02040503050406030204" pitchFamily="18" charset="0"/>
                      </a:rPr>
                      <m:t>=0)=</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0.2</m:t>
                        </m:r>
                      </m:num>
                      <m:den>
                        <m:r>
                          <a:rPr lang="en-US" altLang="zh-CN" sz="1600" b="0" i="1" smtClean="0">
                            <a:latin typeface="Cambria Math" panose="02040503050406030204" pitchFamily="18" charset="0"/>
                          </a:rPr>
                          <m:t>0.2+0.1</m:t>
                        </m:r>
                      </m:den>
                    </m:f>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2</m:t>
                        </m:r>
                      </m:num>
                      <m:den>
                        <m:r>
                          <a:rPr lang="en-US" altLang="zh-CN" sz="1600" b="0" i="1" smtClean="0">
                            <a:latin typeface="Cambria Math" panose="02040503050406030204" pitchFamily="18" charset="0"/>
                          </a:rPr>
                          <m:t>3</m:t>
                        </m:r>
                      </m:den>
                    </m:f>
                  </m:oMath>
                </a14:m>
                <a:endParaRPr lang="en-US" altLang="zh-CN" sz="1600" dirty="0"/>
              </a:p>
              <a:p>
                <a:r>
                  <a:rPr lang="en-US" altLang="zh-CN" sz="1600" dirty="0"/>
                  <a:t>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𝑌</m:t>
                        </m:r>
                      </m:e>
                      <m:sub>
                        <m:r>
                          <a:rPr lang="en-US" altLang="zh-CN" sz="1600" b="0" i="1" smtClean="0">
                            <a:latin typeface="Cambria Math" panose="02040503050406030204" pitchFamily="18" charset="0"/>
                          </a:rPr>
                          <m:t>𝑢</m:t>
                        </m:r>
                      </m:sub>
                    </m:sSub>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1</m:t>
                        </m:r>
                      </m:e>
                    </m:d>
                    <m:r>
                      <a:rPr lang="en-US" altLang="zh-CN" sz="1600" b="0" i="1" smtClean="0">
                        <a:latin typeface="Cambria Math" panose="02040503050406030204" pitchFamily="18" charset="0"/>
                      </a:rPr>
                      <m:t>=0</m:t>
                    </m:r>
                  </m:oMath>
                </a14:m>
                <a:r>
                  <a:rPr lang="en-US" altLang="zh-CN" sz="1600" dirty="0"/>
                  <a:t>) 	               </a:t>
                </a:r>
                <a14:m>
                  <m:oMath xmlns:m="http://schemas.openxmlformats.org/officeDocument/2006/math">
                    <m:r>
                      <a:rPr lang="en-US" altLang="zh-CN" sz="1600" i="1">
                        <a:latin typeface="Cambria Math" panose="02040503050406030204" pitchFamily="18" charset="0"/>
                      </a:rPr>
                      <m:t>𝑃</m:t>
                    </m:r>
                    <m:d>
                      <m:dPr>
                        <m:endChr m:val="|"/>
                        <m:ctrlPr>
                          <a:rPr lang="en-US" altLang="zh-CN" sz="1600" i="1">
                            <a:latin typeface="Cambria Math" panose="02040503050406030204" pitchFamily="18" charset="0"/>
                          </a:rPr>
                        </m:ctrlPr>
                      </m:dPr>
                      <m:e>
                        <m:r>
                          <a:rPr lang="en-US" altLang="zh-CN" sz="1600" i="1">
                            <a:latin typeface="Cambria Math" panose="02040503050406030204" pitchFamily="18" charset="0"/>
                          </a:rPr>
                          <m:t>𝑈</m:t>
                        </m:r>
                        <m:r>
                          <a:rPr lang="en-US" altLang="zh-CN" sz="1600" i="1">
                            <a:latin typeface="Cambria Math" panose="02040503050406030204" pitchFamily="18" charset="0"/>
                          </a:rPr>
                          <m:t>=</m:t>
                        </m:r>
                        <m:r>
                          <a:rPr lang="en-US" altLang="zh-CN" sz="1600" b="0" i="1" smtClean="0">
                            <a:latin typeface="Cambria Math" panose="02040503050406030204" pitchFamily="18" charset="0"/>
                          </a:rPr>
                          <m:t>𝑑𝑜𝑔</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h𝑎𝑡𝑒𝑟</m:t>
                        </m:r>
                        <m:r>
                          <a:rPr lang="en-US" altLang="zh-CN" sz="1600" i="1">
                            <a:latin typeface="Cambria Math" panose="02040503050406030204" pitchFamily="18" charset="0"/>
                          </a:rPr>
                          <m:t> </m:t>
                        </m:r>
                      </m:e>
                    </m:d>
                    <m:r>
                      <a:rPr lang="en-US" altLang="zh-CN" sz="1600" i="1">
                        <a:latin typeface="Cambria Math" panose="02040503050406030204" pitchFamily="18" charset="0"/>
                      </a:rPr>
                      <m:t> </m:t>
                    </m:r>
                    <m:r>
                      <a:rPr lang="en-US" altLang="zh-CN" sz="1600" i="1">
                        <a:latin typeface="Cambria Math" panose="02040503050406030204" pitchFamily="18" charset="0"/>
                      </a:rPr>
                      <m:t>𝑇</m:t>
                    </m:r>
                    <m:r>
                      <a:rPr lang="en-US" altLang="zh-CN" sz="1600" i="1">
                        <a:latin typeface="Cambria Math" panose="02040503050406030204" pitchFamily="18" charset="0"/>
                      </a:rPr>
                      <m:t>=1,</m:t>
                    </m:r>
                    <m:r>
                      <a:rPr lang="en-US" altLang="zh-CN" sz="1600" i="1">
                        <a:latin typeface="Cambria Math" panose="02040503050406030204" pitchFamily="18" charset="0"/>
                      </a:rPr>
                      <m:t>𝑌</m:t>
                    </m:r>
                    <m:r>
                      <a:rPr lang="en-US" altLang="zh-CN" sz="1600" i="1">
                        <a:latin typeface="Cambria Math" panose="02040503050406030204" pitchFamily="18" charset="0"/>
                      </a:rPr>
                      <m:t>=0)=</m:t>
                    </m:r>
                    <m:f>
                      <m:fPr>
                        <m:ctrlPr>
                          <a:rPr lang="en-US" altLang="zh-CN" sz="1600" i="1">
                            <a:latin typeface="Cambria Math" panose="02040503050406030204" pitchFamily="18" charset="0"/>
                          </a:rPr>
                        </m:ctrlPr>
                      </m:fPr>
                      <m:num>
                        <m:r>
                          <a:rPr lang="en-US" altLang="zh-CN" sz="1600" i="1">
                            <a:latin typeface="Cambria Math" panose="02040503050406030204" pitchFamily="18" charset="0"/>
                          </a:rPr>
                          <m:t>0.</m:t>
                        </m:r>
                        <m:r>
                          <a:rPr lang="en-US" altLang="zh-CN" sz="1600" b="0" i="1" smtClean="0">
                            <a:latin typeface="Cambria Math" panose="02040503050406030204" pitchFamily="18" charset="0"/>
                          </a:rPr>
                          <m:t>1</m:t>
                        </m:r>
                      </m:num>
                      <m:den>
                        <m:r>
                          <a:rPr lang="en-US" altLang="zh-CN" sz="1600" i="1">
                            <a:latin typeface="Cambria Math" panose="02040503050406030204" pitchFamily="18" charset="0"/>
                          </a:rPr>
                          <m:t>0.2+0.1</m:t>
                        </m:r>
                      </m:den>
                    </m:f>
                    <m:r>
                      <a:rPr lang="en-US" altLang="zh-CN" sz="1600" i="1">
                        <a:latin typeface="Cambria Math" panose="02040503050406030204" pitchFamily="18" charset="0"/>
                      </a:rPr>
                      <m:t>=</m:t>
                    </m:r>
                    <m:f>
                      <m:fPr>
                        <m:ctrlPr>
                          <a:rPr lang="en-US" altLang="zh-CN" sz="1600" i="1">
                            <a:latin typeface="Cambria Math" panose="02040503050406030204" pitchFamily="18" charset="0"/>
                          </a:rPr>
                        </m:ctrlPr>
                      </m:fPr>
                      <m:num>
                        <m:r>
                          <a:rPr lang="en-US" altLang="zh-CN" sz="1600" b="0" i="1" smtClean="0">
                            <a:latin typeface="Cambria Math" panose="02040503050406030204" pitchFamily="18" charset="0"/>
                          </a:rPr>
                          <m:t>1</m:t>
                        </m:r>
                      </m:num>
                      <m:den>
                        <m:r>
                          <a:rPr lang="en-US" altLang="zh-CN" sz="1600" i="1">
                            <a:latin typeface="Cambria Math" panose="02040503050406030204" pitchFamily="18" charset="0"/>
                          </a:rPr>
                          <m:t>3</m:t>
                        </m:r>
                      </m:den>
                    </m:f>
                  </m:oMath>
                </a14:m>
                <a:endParaRPr lang="en-US" altLang="zh-CN" sz="1600" dirty="0"/>
              </a:p>
              <a:p>
                <a:r>
                  <a:rPr lang="en-US" altLang="zh-CN" sz="1600" dirty="0"/>
                  <a:t>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𝑌</m:t>
                        </m:r>
                      </m:e>
                      <m:sub>
                        <m:r>
                          <a:rPr lang="en-US" altLang="zh-CN" sz="1600" i="1">
                            <a:latin typeface="Cambria Math" panose="02040503050406030204" pitchFamily="18" charset="0"/>
                          </a:rPr>
                          <m:t>𝑢</m:t>
                        </m:r>
                      </m:sub>
                    </m:sSub>
                    <m:d>
                      <m:dPr>
                        <m:ctrlPr>
                          <a:rPr lang="en-US" altLang="zh-CN" sz="1600" i="1">
                            <a:latin typeface="Cambria Math" panose="02040503050406030204" pitchFamily="18" charset="0"/>
                          </a:rPr>
                        </m:ctrlPr>
                      </m:dPr>
                      <m:e>
                        <m:r>
                          <a:rPr lang="en-US" altLang="zh-CN" sz="1600" b="0" i="1" smtClean="0">
                            <a:latin typeface="Cambria Math" panose="02040503050406030204" pitchFamily="18" charset="0"/>
                          </a:rPr>
                          <m:t>0</m:t>
                        </m:r>
                      </m:e>
                    </m:d>
                    <m:r>
                      <a:rPr lang="en-US" altLang="zh-CN" sz="1600" i="1">
                        <a:latin typeface="Cambria Math" panose="02040503050406030204" pitchFamily="18" charset="0"/>
                      </a:rPr>
                      <m:t>=</m:t>
                    </m:r>
                    <m:r>
                      <a:rPr lang="en-US" altLang="zh-CN" sz="1600" b="0" i="1" smtClean="0">
                        <a:latin typeface="Cambria Math" panose="02040503050406030204" pitchFamily="18" charset="0"/>
                      </a:rPr>
                      <m:t> ?</m:t>
                    </m:r>
                  </m:oMath>
                </a14:m>
                <a:r>
                  <a:rPr lang="en-US" altLang="zh-CN" sz="1600" dirty="0"/>
                  <a:t>)		</a:t>
                </a:r>
                <a14:m>
                  <m:oMath xmlns:m="http://schemas.openxmlformats.org/officeDocument/2006/math">
                    <m:r>
                      <a:rPr lang="en-US" altLang="zh-CN" sz="1600" b="0" i="1" smtClean="0">
                        <a:latin typeface="Cambria Math" panose="02040503050406030204" pitchFamily="18" charset="0"/>
                      </a:rPr>
                      <m:t>𝑃</m:t>
                    </m:r>
                    <m:d>
                      <m:dPr>
                        <m:ctrlPr>
                          <a:rPr lang="en-US" altLang="zh-CN" sz="1600" b="0" i="1" smtClean="0">
                            <a:latin typeface="Cambria Math" panose="02040503050406030204" pitchFamily="18" charset="0"/>
                          </a:rPr>
                        </m:ctrlPr>
                      </m:dPr>
                      <m:e>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𝑌</m:t>
                            </m:r>
                          </m:e>
                          <m:sub>
                            <m:r>
                              <a:rPr lang="en-US" altLang="zh-CN" sz="1600" b="0" i="1" smtClean="0">
                                <a:latin typeface="Cambria Math" panose="02040503050406030204" pitchFamily="18" charset="0"/>
                              </a:rPr>
                              <m:t>𝑢</m:t>
                            </m:r>
                          </m:sub>
                        </m:sSub>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0</m:t>
                            </m:r>
                          </m:e>
                        </m:d>
                        <m:r>
                          <a:rPr lang="en-US" altLang="zh-CN" sz="1600" b="0" i="1" smtClean="0">
                            <a:latin typeface="Cambria Math" panose="02040503050406030204" pitchFamily="18" charset="0"/>
                          </a:rPr>
                          <m:t>=1</m:t>
                        </m:r>
                      </m:e>
                    </m:d>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1</m:t>
                        </m:r>
                      </m:num>
                      <m:den>
                        <m:r>
                          <a:rPr lang="en-US" altLang="zh-CN" sz="1600" b="0" i="1" smtClean="0">
                            <a:latin typeface="Cambria Math" panose="02040503050406030204" pitchFamily="18" charset="0"/>
                          </a:rPr>
                          <m:t>3</m:t>
                        </m:r>
                      </m:den>
                    </m:f>
                    <m:r>
                      <a:rPr lang="en-US" altLang="zh-CN" sz="1600" b="0" i="1" smtClean="0">
                        <a:latin typeface="Cambria Math" panose="02040503050406030204" pitchFamily="18" charset="0"/>
                      </a:rPr>
                      <m:t>,</m:t>
                    </m:r>
                    <m:r>
                      <a:rPr lang="en-US" altLang="zh-CN" sz="1600" i="1">
                        <a:latin typeface="Cambria Math" panose="02040503050406030204" pitchFamily="18" charset="0"/>
                      </a:rPr>
                      <m:t>𝑃</m:t>
                    </m:r>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𝑌</m:t>
                            </m:r>
                          </m:e>
                          <m:sub>
                            <m:r>
                              <a:rPr lang="en-US" altLang="zh-CN" sz="1600" i="1">
                                <a:latin typeface="Cambria Math" panose="02040503050406030204" pitchFamily="18" charset="0"/>
                              </a:rPr>
                              <m:t>𝑢</m:t>
                            </m:r>
                          </m:sub>
                        </m:sSub>
                        <m:d>
                          <m:dPr>
                            <m:ctrlPr>
                              <a:rPr lang="en-US" altLang="zh-CN" sz="1600" i="1">
                                <a:latin typeface="Cambria Math" panose="02040503050406030204" pitchFamily="18" charset="0"/>
                              </a:rPr>
                            </m:ctrlPr>
                          </m:dPr>
                          <m:e>
                            <m:r>
                              <a:rPr lang="en-US" altLang="zh-CN" sz="1600" i="1">
                                <a:latin typeface="Cambria Math" panose="02040503050406030204" pitchFamily="18" charset="0"/>
                              </a:rPr>
                              <m:t>0</m:t>
                            </m:r>
                          </m:e>
                        </m:d>
                        <m:r>
                          <a:rPr lang="en-US" altLang="zh-CN" sz="1600" i="1">
                            <a:latin typeface="Cambria Math" panose="02040503050406030204" pitchFamily="18" charset="0"/>
                          </a:rPr>
                          <m:t>=</m:t>
                        </m:r>
                        <m:r>
                          <a:rPr lang="en-US" altLang="zh-CN" sz="1600" b="0" i="1" smtClean="0">
                            <a:latin typeface="Cambria Math" panose="02040503050406030204" pitchFamily="18" charset="0"/>
                          </a:rPr>
                          <m:t>0</m:t>
                        </m:r>
                      </m:e>
                    </m:d>
                    <m:r>
                      <a:rPr lang="en-US" altLang="zh-CN" sz="1600" i="1">
                        <a:latin typeface="Cambria Math" panose="02040503050406030204" pitchFamily="18" charset="0"/>
                      </a:rPr>
                      <m:t>=</m:t>
                    </m:r>
                    <m:f>
                      <m:fPr>
                        <m:ctrlPr>
                          <a:rPr lang="en-US" altLang="zh-CN" sz="1600" i="1">
                            <a:latin typeface="Cambria Math" panose="02040503050406030204" pitchFamily="18" charset="0"/>
                          </a:rPr>
                        </m:ctrlPr>
                      </m:fPr>
                      <m:num>
                        <m:r>
                          <a:rPr lang="en-US" altLang="zh-CN" sz="1600" b="0" i="1" smtClean="0">
                            <a:latin typeface="Cambria Math" panose="02040503050406030204" pitchFamily="18" charset="0"/>
                          </a:rPr>
                          <m:t>2</m:t>
                        </m:r>
                      </m:num>
                      <m:den>
                        <m:r>
                          <a:rPr lang="en-US" altLang="zh-CN" sz="1600" i="1">
                            <a:latin typeface="Cambria Math" panose="02040503050406030204" pitchFamily="18" charset="0"/>
                          </a:rPr>
                          <m:t>3</m:t>
                        </m:r>
                      </m:den>
                    </m:f>
                  </m:oMath>
                </a14:m>
                <a:endParaRPr lang="en-US" altLang="zh-CN" sz="1600" dirty="0"/>
              </a:p>
              <a:p>
                <a:endParaRPr lang="en-US" altLang="zh-CN" sz="1600" dirty="0"/>
              </a:p>
            </p:txBody>
          </p:sp>
        </mc:Choice>
        <mc:Fallback>
          <p:sp>
            <p:nvSpPr>
              <p:cNvPr id="2" name="内容占位符 1">
                <a:extLst>
                  <a:ext uri="{FF2B5EF4-FFF2-40B4-BE49-F238E27FC236}">
                    <a16:creationId xmlns:a16="http://schemas.microsoft.com/office/drawing/2014/main" id="{52E216D1-942B-4D91-8800-D52E23697CA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4EE2A5BF-ACF9-4759-BB2D-BF7831B4A621}"/>
              </a:ext>
            </a:extLst>
          </p:cNvPr>
          <p:cNvSpPr>
            <a:spLocks noGrp="1"/>
          </p:cNvSpPr>
          <p:nvPr>
            <p:ph type="sldNum" sz="quarter" idx="11"/>
          </p:nvPr>
        </p:nvSpPr>
        <p:spPr/>
        <p:txBody>
          <a:bodyPr/>
          <a:lstStyle/>
          <a:p>
            <a:fld id="{2AEAD966-1EF9-3A44-9B11-0C8090371A9A}" type="slidenum">
              <a:rPr lang="en-US" smtClean="0"/>
              <a:t>28</a:t>
            </a:fld>
            <a:endParaRPr lang="en-US"/>
          </a:p>
        </p:txBody>
      </p:sp>
      <p:sp>
        <p:nvSpPr>
          <p:cNvPr id="4" name="标题 3">
            <a:extLst>
              <a:ext uri="{FF2B5EF4-FFF2-40B4-BE49-F238E27FC236}">
                <a16:creationId xmlns:a16="http://schemas.microsoft.com/office/drawing/2014/main" id="{CA9E5D63-4A17-4D32-8924-A1DE9A5E1F81}"/>
              </a:ext>
            </a:extLst>
          </p:cNvPr>
          <p:cNvSpPr>
            <a:spLocks noGrp="1"/>
          </p:cNvSpPr>
          <p:nvPr>
            <p:ph type="title"/>
          </p:nvPr>
        </p:nvSpPr>
        <p:spPr/>
        <p:txBody>
          <a:bodyPr/>
          <a:lstStyle/>
          <a:p>
            <a:r>
              <a:rPr lang="en-US" altLang="zh-CN" dirty="0"/>
              <a:t>Non-Invertible Example</a:t>
            </a:r>
            <a:endParaRPr lang="zh-CN" altLang="en-US" dirty="0"/>
          </a:p>
        </p:txBody>
      </p:sp>
      <p:sp>
        <p:nvSpPr>
          <p:cNvPr id="5" name="日期占位符 4">
            <a:extLst>
              <a:ext uri="{FF2B5EF4-FFF2-40B4-BE49-F238E27FC236}">
                <a16:creationId xmlns:a16="http://schemas.microsoft.com/office/drawing/2014/main" id="{E5B105DE-4284-4C69-AB50-7F6223417581}"/>
              </a:ext>
            </a:extLst>
          </p:cNvPr>
          <p:cNvSpPr>
            <a:spLocks noGrp="1"/>
          </p:cNvSpPr>
          <p:nvPr>
            <p:ph type="dt" sz="half" idx="12"/>
          </p:nvPr>
        </p:nvSpPr>
        <p:spPr/>
        <p:txBody>
          <a:bodyPr/>
          <a:lstStyle/>
          <a:p>
            <a:fld id="{63ADDE33-C9F1-F94F-A20E-DA422DA466DF}" type="datetime1">
              <a:rPr lang="en-US" smtClean="0"/>
              <a:t>9/1/2022</a:t>
            </a:fld>
            <a:endParaRPr lang="en-US" dirty="0"/>
          </a:p>
        </p:txBody>
      </p:sp>
      <mc:AlternateContent xmlns:mc="http://schemas.openxmlformats.org/markup-compatibility/2006">
        <mc:Choice xmlns:a14="http://schemas.microsoft.com/office/drawing/2010/main" Requires="a14">
          <p:sp>
            <p:nvSpPr>
              <p:cNvPr id="6" name="矩形 5">
                <a:extLst>
                  <a:ext uri="{FF2B5EF4-FFF2-40B4-BE49-F238E27FC236}">
                    <a16:creationId xmlns:a16="http://schemas.microsoft.com/office/drawing/2014/main" id="{4A80D7A1-6280-4BE0-8088-BD87B0EC129D}"/>
                  </a:ext>
                </a:extLst>
              </p:cNvPr>
              <p:cNvSpPr/>
              <p:nvPr/>
            </p:nvSpPr>
            <p:spPr>
              <a:xfrm>
                <a:off x="519401" y="1853685"/>
                <a:ext cx="3571298" cy="134088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𝑌</m:t>
                      </m:r>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1            </m:t>
                              </m:r>
                              <m:r>
                                <a:rPr lang="en-US" altLang="zh-CN" i="1">
                                  <a:latin typeface="Cambria Math" panose="02040503050406030204" pitchFamily="18" charset="0"/>
                                </a:rPr>
                                <m:t>𝑈</m:t>
                              </m:r>
                              <m:r>
                                <a:rPr lang="en-US" altLang="zh-CN" i="1">
                                  <a:latin typeface="Cambria Math" panose="02040503050406030204" pitchFamily="18" charset="0"/>
                                </a:rPr>
                                <m:t>=</m:t>
                              </m:r>
                              <m:r>
                                <a:rPr lang="en-US" altLang="zh-CN" i="1">
                                  <a:latin typeface="Cambria Math" panose="02040503050406030204" pitchFamily="18" charset="0"/>
                                </a:rPr>
                                <m:t>𝑎𝑙𝑤𝑎𝑦𝑠</m:t>
                              </m:r>
                              <m:r>
                                <a:rPr lang="en-US" altLang="zh-CN" i="1">
                                  <a:latin typeface="Cambria Math" panose="02040503050406030204" pitchFamily="18" charset="0"/>
                                </a:rPr>
                                <m:t> </m:t>
                              </m:r>
                              <m:r>
                                <a:rPr lang="en-US" altLang="zh-CN" i="1">
                                  <a:latin typeface="Cambria Math" panose="02040503050406030204" pitchFamily="18" charset="0"/>
                                </a:rPr>
                                <m:t>h𝑎𝑝𝑝𝑦</m:t>
                              </m:r>
                            </m:e>
                            <m:e>
                              <m:r>
                                <a:rPr lang="en-US" altLang="zh-CN" i="1">
                                  <a:latin typeface="Cambria Math" panose="02040503050406030204" pitchFamily="18" charset="0"/>
                                </a:rPr>
                                <m:t>0           </m:t>
                              </m:r>
                              <m:r>
                                <a:rPr lang="en-US" altLang="zh-CN" i="1">
                                  <a:latin typeface="Cambria Math" panose="02040503050406030204" pitchFamily="18" charset="0"/>
                                </a:rPr>
                                <m:t>𝑈</m:t>
                              </m:r>
                              <m:r>
                                <a:rPr lang="en-US" altLang="zh-CN" i="1">
                                  <a:latin typeface="Cambria Math" panose="02040503050406030204" pitchFamily="18" charset="0"/>
                                </a:rPr>
                                <m:t>= </m:t>
                              </m:r>
                              <m:r>
                                <a:rPr lang="en-US" altLang="zh-CN" i="1">
                                  <a:latin typeface="Cambria Math" panose="02040503050406030204" pitchFamily="18" charset="0"/>
                                </a:rPr>
                                <m:t>𝑛𝑒𝑣𝑒𝑟</m:t>
                              </m:r>
                              <m:r>
                                <a:rPr lang="en-US" altLang="zh-CN" i="1">
                                  <a:latin typeface="Cambria Math" panose="02040503050406030204" pitchFamily="18" charset="0"/>
                                </a:rPr>
                                <m:t> </m:t>
                              </m:r>
                              <m:r>
                                <a:rPr lang="en-US" altLang="zh-CN" i="1">
                                  <a:latin typeface="Cambria Math" panose="02040503050406030204" pitchFamily="18" charset="0"/>
                                </a:rPr>
                                <m:t>h𝑎𝑝𝑝𝑦</m:t>
                              </m:r>
                              <m:r>
                                <a:rPr lang="en-US" altLang="zh-CN" i="1">
                                  <a:latin typeface="Cambria Math" panose="02040503050406030204" pitchFamily="18" charset="0"/>
                                </a:rPr>
                                <m:t>  </m:t>
                              </m:r>
                            </m:e>
                            <m:e>
                              <m:r>
                                <a:rPr lang="en-US" altLang="zh-CN" i="1">
                                  <a:latin typeface="Cambria Math" panose="02040503050406030204" pitchFamily="18" charset="0"/>
                                </a:rPr>
                                <m:t>𝑇</m:t>
                              </m:r>
                              <m:r>
                                <a:rPr lang="en-US" altLang="zh-CN" i="1">
                                  <a:latin typeface="Cambria Math" panose="02040503050406030204" pitchFamily="18" charset="0"/>
                                </a:rPr>
                                <m:t>            </m:t>
                              </m:r>
                              <m:r>
                                <a:rPr lang="en-US" altLang="zh-CN" i="1">
                                  <a:latin typeface="Cambria Math" panose="02040503050406030204" pitchFamily="18" charset="0"/>
                                </a:rPr>
                                <m:t>𝑈</m:t>
                              </m:r>
                              <m:r>
                                <a:rPr lang="en-US" altLang="zh-CN" i="1">
                                  <a:latin typeface="Cambria Math" panose="02040503050406030204" pitchFamily="18" charset="0"/>
                                </a:rPr>
                                <m:t>=</m:t>
                              </m:r>
                              <m:r>
                                <a:rPr lang="en-US" altLang="zh-CN" i="1">
                                  <a:latin typeface="Cambria Math" panose="02040503050406030204" pitchFamily="18" charset="0"/>
                                </a:rPr>
                                <m:t>𝑑𝑜𝑔</m:t>
                              </m:r>
                              <m:r>
                                <a:rPr lang="en-US" altLang="zh-CN" i="1">
                                  <a:latin typeface="Cambria Math" panose="02040503050406030204" pitchFamily="18" charset="0"/>
                                </a:rPr>
                                <m:t>−</m:t>
                              </m:r>
                              <m:r>
                                <a:rPr lang="en-US" altLang="zh-CN" i="1">
                                  <a:latin typeface="Cambria Math" panose="02040503050406030204" pitchFamily="18" charset="0"/>
                                </a:rPr>
                                <m:t>𝑛𝑒𝑒𝑑𝑒𝑟</m:t>
                              </m:r>
                              <m:r>
                                <a:rPr lang="en-US" altLang="zh-CN" i="1">
                                  <a:latin typeface="Cambria Math" panose="02040503050406030204" pitchFamily="18" charset="0"/>
                                </a:rPr>
                                <m:t> </m:t>
                              </m:r>
                            </m:e>
                            <m:e>
                              <m:r>
                                <a:rPr lang="en-US" altLang="zh-CN" i="1">
                                  <a:latin typeface="Cambria Math" panose="02040503050406030204" pitchFamily="18" charset="0"/>
                                </a:rPr>
                                <m:t>1−</m:t>
                              </m:r>
                              <m:r>
                                <a:rPr lang="en-US" altLang="zh-CN" i="1">
                                  <a:latin typeface="Cambria Math" panose="02040503050406030204" pitchFamily="18" charset="0"/>
                                </a:rPr>
                                <m:t>𝑇</m:t>
                              </m:r>
                              <m:r>
                                <a:rPr lang="en-US" altLang="zh-CN" i="1">
                                  <a:latin typeface="Cambria Math" panose="02040503050406030204" pitchFamily="18" charset="0"/>
                                </a:rPr>
                                <m:t>    </m:t>
                              </m:r>
                              <m:r>
                                <a:rPr lang="en-US" altLang="zh-CN" i="1">
                                  <a:latin typeface="Cambria Math" panose="02040503050406030204" pitchFamily="18" charset="0"/>
                                </a:rPr>
                                <m:t>𝑈</m:t>
                              </m:r>
                              <m:r>
                                <a:rPr lang="en-US" altLang="zh-CN" i="1">
                                  <a:latin typeface="Cambria Math" panose="02040503050406030204" pitchFamily="18" charset="0"/>
                                </a:rPr>
                                <m:t>=</m:t>
                              </m:r>
                              <m:r>
                                <a:rPr lang="en-US" altLang="zh-CN" i="1">
                                  <a:latin typeface="Cambria Math" panose="02040503050406030204" pitchFamily="18" charset="0"/>
                                </a:rPr>
                                <m:t>𝑑𝑜𝑔</m:t>
                              </m:r>
                              <m:r>
                                <a:rPr lang="en-US" altLang="zh-CN" i="1">
                                  <a:latin typeface="Cambria Math" panose="02040503050406030204" pitchFamily="18" charset="0"/>
                                </a:rPr>
                                <m:t>−</m:t>
                              </m:r>
                              <m:r>
                                <a:rPr lang="en-US" altLang="zh-CN" i="1">
                                  <a:latin typeface="Cambria Math" panose="02040503050406030204" pitchFamily="18" charset="0"/>
                                </a:rPr>
                                <m:t>h𝑎𝑡𝑒𝑟</m:t>
                              </m:r>
                              <m:r>
                                <a:rPr lang="en-US" altLang="zh-CN" i="1">
                                  <a:latin typeface="Cambria Math" panose="02040503050406030204" pitchFamily="18" charset="0"/>
                                </a:rPr>
                                <m:t>    </m:t>
                              </m:r>
                            </m:e>
                          </m:eqArr>
                        </m:e>
                      </m:d>
                    </m:oMath>
                  </m:oMathPara>
                </a14:m>
                <a:endParaRPr lang="zh-CN" altLang="en-US" dirty="0"/>
              </a:p>
            </p:txBody>
          </p:sp>
        </mc:Choice>
        <mc:Fallback>
          <p:sp>
            <p:nvSpPr>
              <p:cNvPr id="6" name="矩形 5">
                <a:extLst>
                  <a:ext uri="{FF2B5EF4-FFF2-40B4-BE49-F238E27FC236}">
                    <a16:creationId xmlns:a16="http://schemas.microsoft.com/office/drawing/2014/main" id="{4A80D7A1-6280-4BE0-8088-BD87B0EC129D}"/>
                  </a:ext>
                </a:extLst>
              </p:cNvPr>
              <p:cNvSpPr>
                <a:spLocks noRot="1" noChangeAspect="1" noMove="1" noResize="1" noEditPoints="1" noAdjustHandles="1" noChangeArrowheads="1" noChangeShapeType="1" noTextEdit="1"/>
              </p:cNvSpPr>
              <p:nvPr/>
            </p:nvSpPr>
            <p:spPr>
              <a:xfrm>
                <a:off x="519401" y="1853685"/>
                <a:ext cx="3571298" cy="1340880"/>
              </a:xfrm>
              <a:prstGeom prst="rect">
                <a:avLst/>
              </a:prstGeom>
              <a:blipFill>
                <a:blip r:embed="rId3"/>
                <a:stretch>
                  <a:fillRect/>
                </a:stretch>
              </a:blipFill>
            </p:spPr>
            <p:txBody>
              <a:bodyPr/>
              <a:lstStyle/>
              <a:p>
                <a:r>
                  <a:rPr lang="zh-CN" altLang="en-US">
                    <a:noFill/>
                  </a:rPr>
                  <a:t> </a:t>
                </a:r>
              </a:p>
            </p:txBody>
          </p:sp>
        </mc:Fallback>
      </mc:AlternateContent>
      <p:cxnSp>
        <p:nvCxnSpPr>
          <p:cNvPr id="7" name="直接连接符 6">
            <a:extLst>
              <a:ext uri="{FF2B5EF4-FFF2-40B4-BE49-F238E27FC236}">
                <a16:creationId xmlns:a16="http://schemas.microsoft.com/office/drawing/2014/main" id="{DBB1BE75-C0A7-4D86-9994-299C7388A30E}"/>
              </a:ext>
            </a:extLst>
          </p:cNvPr>
          <p:cNvCxnSpPr>
            <a:cxnSpLocks/>
          </p:cNvCxnSpPr>
          <p:nvPr/>
        </p:nvCxnSpPr>
        <p:spPr>
          <a:xfrm>
            <a:off x="1981200" y="2543175"/>
            <a:ext cx="1800225"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8" name="直接连接符 7">
            <a:extLst>
              <a:ext uri="{FF2B5EF4-FFF2-40B4-BE49-F238E27FC236}">
                <a16:creationId xmlns:a16="http://schemas.microsoft.com/office/drawing/2014/main" id="{0EB716C2-9AB9-405D-BBFC-A261D81AE51A}"/>
              </a:ext>
            </a:extLst>
          </p:cNvPr>
          <p:cNvCxnSpPr>
            <a:cxnSpLocks/>
          </p:cNvCxnSpPr>
          <p:nvPr/>
        </p:nvCxnSpPr>
        <p:spPr>
          <a:xfrm>
            <a:off x="2095500" y="3105150"/>
            <a:ext cx="1619250"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528590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ACE89B5-E688-4958-8667-0A6DA1C94A3A}"/>
              </a:ext>
            </a:extLst>
          </p:cNvPr>
          <p:cNvSpPr>
            <a:spLocks noGrp="1"/>
          </p:cNvSpPr>
          <p:nvPr>
            <p:ph idx="1"/>
          </p:nvPr>
        </p:nvSpPr>
        <p:spPr/>
        <p:txBody>
          <a:bodyPr/>
          <a:lstStyle/>
          <a:p>
            <a:pPr lvl="0">
              <a:lnSpc>
                <a:spcPct val="200000"/>
              </a:lnSpc>
              <a:buClr>
                <a:srgbClr val="ED7D31"/>
              </a:buClr>
            </a:pPr>
            <a:r>
              <a:rPr lang="en-US" altLang="zh-CN" sz="1600" dirty="0">
                <a:solidFill>
                  <a:prstClr val="black"/>
                </a:solidFill>
              </a:rPr>
              <a:t>From Chapter 4 of Pearl et al. (2016)’s </a:t>
            </a:r>
            <a:r>
              <a:rPr lang="en-US" altLang="zh-CN" sz="1600" dirty="0">
                <a:solidFill>
                  <a:prstClr val="black"/>
                </a:solidFill>
                <a:hlinkClick r:id="rId2">
                  <a:extLst>
                    <a:ext uri="{A12FA001-AC4F-418D-AE19-62706E023703}">
                      <ahyp:hlinkClr xmlns:ahyp="http://schemas.microsoft.com/office/drawing/2018/hyperlinkcolor" val="tx"/>
                    </a:ext>
                  </a:extLst>
                </a:hlinkClick>
              </a:rPr>
              <a:t>Primer</a:t>
            </a:r>
            <a:r>
              <a:rPr lang="en-US" altLang="zh-CN" sz="1600" dirty="0">
                <a:solidFill>
                  <a:prstClr val="black"/>
                </a:solidFill>
              </a:rPr>
              <a:t>: </a:t>
            </a:r>
          </a:p>
          <a:p>
            <a:pPr marL="434340" lvl="0" indent="-342900">
              <a:lnSpc>
                <a:spcPct val="200000"/>
              </a:lnSpc>
              <a:buClr>
                <a:schemeClr val="tx1"/>
              </a:buClr>
              <a:buFont typeface="+mj-lt"/>
              <a:buAutoNum type="arabicPeriod"/>
            </a:pPr>
            <a:r>
              <a:rPr lang="en-US" altLang="zh-CN" sz="1600" dirty="0">
                <a:solidFill>
                  <a:prstClr val="black"/>
                </a:solidFill>
              </a:rPr>
              <a:t>Abduction: Use an observation Z to update the distribution of U: P(U | Z)</a:t>
            </a:r>
          </a:p>
        </p:txBody>
      </p:sp>
      <p:sp>
        <p:nvSpPr>
          <p:cNvPr id="3" name="灯片编号占位符 2">
            <a:extLst>
              <a:ext uri="{FF2B5EF4-FFF2-40B4-BE49-F238E27FC236}">
                <a16:creationId xmlns:a16="http://schemas.microsoft.com/office/drawing/2014/main" id="{1BC739A5-2563-48FE-A10D-99E4210EAB7C}"/>
              </a:ext>
            </a:extLst>
          </p:cNvPr>
          <p:cNvSpPr>
            <a:spLocks noGrp="1"/>
          </p:cNvSpPr>
          <p:nvPr>
            <p:ph type="sldNum" sz="quarter" idx="11"/>
          </p:nvPr>
        </p:nvSpPr>
        <p:spPr/>
        <p:txBody>
          <a:bodyPr/>
          <a:lstStyle/>
          <a:p>
            <a:fld id="{2AEAD966-1EF9-3A44-9B11-0C8090371A9A}" type="slidenum">
              <a:rPr lang="en-US" smtClean="0"/>
              <a:t>29</a:t>
            </a:fld>
            <a:endParaRPr lang="en-US"/>
          </a:p>
        </p:txBody>
      </p:sp>
      <p:sp>
        <p:nvSpPr>
          <p:cNvPr id="4" name="标题 3">
            <a:extLst>
              <a:ext uri="{FF2B5EF4-FFF2-40B4-BE49-F238E27FC236}">
                <a16:creationId xmlns:a16="http://schemas.microsoft.com/office/drawing/2014/main" id="{1A868259-7542-4F7F-8AA2-61C92CCF4C8C}"/>
              </a:ext>
            </a:extLst>
          </p:cNvPr>
          <p:cNvSpPr>
            <a:spLocks noGrp="1"/>
          </p:cNvSpPr>
          <p:nvPr>
            <p:ph type="title"/>
          </p:nvPr>
        </p:nvSpPr>
        <p:spPr/>
        <p:txBody>
          <a:bodyPr>
            <a:normAutofit/>
          </a:bodyPr>
          <a:lstStyle/>
          <a:p>
            <a:r>
              <a:rPr lang="en-US" altLang="zh-CN" sz="2400" dirty="0"/>
              <a:t>General Steps for Probabilistic Counterfactuals</a:t>
            </a:r>
            <a:endParaRPr lang="zh-CN" altLang="en-US" sz="2400" dirty="0"/>
          </a:p>
        </p:txBody>
      </p:sp>
      <p:sp>
        <p:nvSpPr>
          <p:cNvPr id="5" name="日期占位符 4">
            <a:extLst>
              <a:ext uri="{FF2B5EF4-FFF2-40B4-BE49-F238E27FC236}">
                <a16:creationId xmlns:a16="http://schemas.microsoft.com/office/drawing/2014/main" id="{9277CB07-DA33-42FB-B9BA-CC4048977869}"/>
              </a:ext>
            </a:extLst>
          </p:cNvPr>
          <p:cNvSpPr>
            <a:spLocks noGrp="1"/>
          </p:cNvSpPr>
          <p:nvPr>
            <p:ph type="dt" sz="half" idx="12"/>
          </p:nvPr>
        </p:nvSpPr>
        <p:spPr/>
        <p:txBody>
          <a:bodyPr/>
          <a:lstStyle/>
          <a:p>
            <a:fld id="{63ADDE33-C9F1-F94F-A20E-DA422DA466DF}" type="datetime1">
              <a:rPr lang="en-US" smtClean="0"/>
              <a:t>9/1/2022</a:t>
            </a:fld>
            <a:endParaRPr lang="en-US" dirty="0"/>
          </a:p>
        </p:txBody>
      </p:sp>
    </p:spTree>
    <p:extLst>
      <p:ext uri="{BB962C8B-B14F-4D97-AF65-F5344CB8AC3E}">
        <p14:creationId xmlns:p14="http://schemas.microsoft.com/office/powerpoint/2010/main" val="28190782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ACE89B5-E688-4958-8667-0A6DA1C94A3A}"/>
              </a:ext>
            </a:extLst>
          </p:cNvPr>
          <p:cNvSpPr>
            <a:spLocks noGrp="1"/>
          </p:cNvSpPr>
          <p:nvPr>
            <p:ph idx="1"/>
          </p:nvPr>
        </p:nvSpPr>
        <p:spPr/>
        <p:txBody>
          <a:bodyPr/>
          <a:lstStyle/>
          <a:p>
            <a:pPr lvl="0">
              <a:lnSpc>
                <a:spcPct val="200000"/>
              </a:lnSpc>
              <a:buClr>
                <a:srgbClr val="ED7D31"/>
              </a:buClr>
            </a:pPr>
            <a:r>
              <a:rPr lang="en-US" altLang="zh-CN" sz="1600" dirty="0">
                <a:solidFill>
                  <a:prstClr val="black"/>
                </a:solidFill>
              </a:rPr>
              <a:t>From Chapter 4 of Pearl et al. (2016)’s </a:t>
            </a:r>
            <a:r>
              <a:rPr lang="en-US" altLang="zh-CN" sz="1600" dirty="0">
                <a:solidFill>
                  <a:prstClr val="black"/>
                </a:solidFill>
                <a:hlinkClick r:id="rId2">
                  <a:extLst>
                    <a:ext uri="{A12FA001-AC4F-418D-AE19-62706E023703}">
                      <ahyp:hlinkClr xmlns:ahyp="http://schemas.microsoft.com/office/drawing/2018/hyperlinkcolor" val="tx"/>
                    </a:ext>
                  </a:extLst>
                </a:hlinkClick>
              </a:rPr>
              <a:t>Primer</a:t>
            </a:r>
            <a:r>
              <a:rPr lang="en-US" altLang="zh-CN" sz="1600" dirty="0">
                <a:solidFill>
                  <a:prstClr val="black"/>
                </a:solidFill>
              </a:rPr>
              <a:t>: </a:t>
            </a:r>
          </a:p>
          <a:p>
            <a:pPr marL="434340" lvl="0" indent="-342900">
              <a:lnSpc>
                <a:spcPct val="200000"/>
              </a:lnSpc>
              <a:buClr>
                <a:schemeClr val="tx1"/>
              </a:buClr>
              <a:buFont typeface="+mj-lt"/>
              <a:buAutoNum type="arabicPeriod"/>
            </a:pPr>
            <a:r>
              <a:rPr lang="en-US" altLang="zh-CN" sz="1600" dirty="0">
                <a:solidFill>
                  <a:prstClr val="black"/>
                </a:solidFill>
              </a:rPr>
              <a:t>Abduction: Use an observation Z to update the distribution of U: P(U | Z)</a:t>
            </a:r>
          </a:p>
          <a:p>
            <a:pPr marL="434340" lvl="0" indent="-342900">
              <a:lnSpc>
                <a:spcPct val="200000"/>
              </a:lnSpc>
              <a:buClr>
                <a:schemeClr val="tx1"/>
              </a:buClr>
              <a:buFont typeface="+mj-lt"/>
              <a:buAutoNum type="arabicPeriod"/>
            </a:pPr>
            <a:r>
              <a:rPr lang="en-US" altLang="zh-CN" sz="1600" dirty="0">
                <a:solidFill>
                  <a:prstClr val="black"/>
                </a:solidFill>
              </a:rPr>
              <a:t>Action: Modify the SCM, by replacing the structural equation for T with T := t</a:t>
            </a:r>
          </a:p>
        </p:txBody>
      </p:sp>
      <p:sp>
        <p:nvSpPr>
          <p:cNvPr id="3" name="灯片编号占位符 2">
            <a:extLst>
              <a:ext uri="{FF2B5EF4-FFF2-40B4-BE49-F238E27FC236}">
                <a16:creationId xmlns:a16="http://schemas.microsoft.com/office/drawing/2014/main" id="{1BC739A5-2563-48FE-A10D-99E4210EAB7C}"/>
              </a:ext>
            </a:extLst>
          </p:cNvPr>
          <p:cNvSpPr>
            <a:spLocks noGrp="1"/>
          </p:cNvSpPr>
          <p:nvPr>
            <p:ph type="sldNum" sz="quarter" idx="11"/>
          </p:nvPr>
        </p:nvSpPr>
        <p:spPr/>
        <p:txBody>
          <a:bodyPr/>
          <a:lstStyle/>
          <a:p>
            <a:fld id="{2AEAD966-1EF9-3A44-9B11-0C8090371A9A}" type="slidenum">
              <a:rPr lang="en-US" smtClean="0"/>
              <a:t>30</a:t>
            </a:fld>
            <a:endParaRPr lang="en-US"/>
          </a:p>
        </p:txBody>
      </p:sp>
      <p:sp>
        <p:nvSpPr>
          <p:cNvPr id="4" name="标题 3">
            <a:extLst>
              <a:ext uri="{FF2B5EF4-FFF2-40B4-BE49-F238E27FC236}">
                <a16:creationId xmlns:a16="http://schemas.microsoft.com/office/drawing/2014/main" id="{1A868259-7542-4F7F-8AA2-61C92CCF4C8C}"/>
              </a:ext>
            </a:extLst>
          </p:cNvPr>
          <p:cNvSpPr>
            <a:spLocks noGrp="1"/>
          </p:cNvSpPr>
          <p:nvPr>
            <p:ph type="title"/>
          </p:nvPr>
        </p:nvSpPr>
        <p:spPr/>
        <p:txBody>
          <a:bodyPr>
            <a:normAutofit/>
          </a:bodyPr>
          <a:lstStyle/>
          <a:p>
            <a:r>
              <a:rPr lang="en-US" altLang="zh-CN" sz="2400" dirty="0"/>
              <a:t>General Steps for Probabilistic Counterfactuals</a:t>
            </a:r>
            <a:endParaRPr lang="zh-CN" altLang="en-US" sz="2400" dirty="0"/>
          </a:p>
        </p:txBody>
      </p:sp>
      <p:sp>
        <p:nvSpPr>
          <p:cNvPr id="5" name="日期占位符 4">
            <a:extLst>
              <a:ext uri="{FF2B5EF4-FFF2-40B4-BE49-F238E27FC236}">
                <a16:creationId xmlns:a16="http://schemas.microsoft.com/office/drawing/2014/main" id="{9277CB07-DA33-42FB-B9BA-CC4048977869}"/>
              </a:ext>
            </a:extLst>
          </p:cNvPr>
          <p:cNvSpPr>
            <a:spLocks noGrp="1"/>
          </p:cNvSpPr>
          <p:nvPr>
            <p:ph type="dt" sz="half" idx="12"/>
          </p:nvPr>
        </p:nvSpPr>
        <p:spPr/>
        <p:txBody>
          <a:bodyPr/>
          <a:lstStyle/>
          <a:p>
            <a:fld id="{63ADDE33-C9F1-F94F-A20E-DA422DA466DF}" type="datetime1">
              <a:rPr lang="en-US" smtClean="0"/>
              <a:t>9/8/2022</a:t>
            </a:fld>
            <a:endParaRPr lang="en-US" dirty="0"/>
          </a:p>
        </p:txBody>
      </p:sp>
    </p:spTree>
    <p:extLst>
      <p:ext uri="{BB962C8B-B14F-4D97-AF65-F5344CB8AC3E}">
        <p14:creationId xmlns:p14="http://schemas.microsoft.com/office/powerpoint/2010/main" val="32433721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ACE89B5-E688-4958-8667-0A6DA1C94A3A}"/>
              </a:ext>
            </a:extLst>
          </p:cNvPr>
          <p:cNvSpPr>
            <a:spLocks noGrp="1"/>
          </p:cNvSpPr>
          <p:nvPr>
            <p:ph idx="1"/>
          </p:nvPr>
        </p:nvSpPr>
        <p:spPr/>
        <p:txBody>
          <a:bodyPr/>
          <a:lstStyle/>
          <a:p>
            <a:pPr lvl="0">
              <a:lnSpc>
                <a:spcPct val="200000"/>
              </a:lnSpc>
              <a:buClr>
                <a:srgbClr val="ED7D31"/>
              </a:buClr>
            </a:pPr>
            <a:r>
              <a:rPr lang="en-US" altLang="zh-CN" sz="1600" dirty="0">
                <a:solidFill>
                  <a:prstClr val="black"/>
                </a:solidFill>
              </a:rPr>
              <a:t>From Chapter 4 of Pearl et al. (2016)’s </a:t>
            </a:r>
            <a:r>
              <a:rPr lang="en-US" altLang="zh-CN" sz="1600" dirty="0">
                <a:solidFill>
                  <a:prstClr val="black"/>
                </a:solidFill>
                <a:hlinkClick r:id="rId2">
                  <a:extLst>
                    <a:ext uri="{A12FA001-AC4F-418D-AE19-62706E023703}">
                      <ahyp:hlinkClr xmlns:ahyp="http://schemas.microsoft.com/office/drawing/2018/hyperlinkcolor" val="tx"/>
                    </a:ext>
                  </a:extLst>
                </a:hlinkClick>
              </a:rPr>
              <a:t>Primer</a:t>
            </a:r>
            <a:r>
              <a:rPr lang="en-US" altLang="zh-CN" sz="1600" dirty="0">
                <a:solidFill>
                  <a:prstClr val="black"/>
                </a:solidFill>
              </a:rPr>
              <a:t>: </a:t>
            </a:r>
          </a:p>
          <a:p>
            <a:pPr marL="434340" lvl="0" indent="-342900">
              <a:lnSpc>
                <a:spcPct val="200000"/>
              </a:lnSpc>
              <a:buClr>
                <a:schemeClr val="tx1"/>
              </a:buClr>
              <a:buFont typeface="+mj-lt"/>
              <a:buAutoNum type="arabicPeriod"/>
            </a:pPr>
            <a:r>
              <a:rPr lang="en-US" altLang="zh-CN" sz="1600" dirty="0">
                <a:solidFill>
                  <a:prstClr val="black"/>
                </a:solidFill>
              </a:rPr>
              <a:t>Abduction: Use an observation Z to update the distribution of U: P(U | Z)</a:t>
            </a:r>
          </a:p>
          <a:p>
            <a:pPr marL="434340" lvl="0" indent="-342900">
              <a:lnSpc>
                <a:spcPct val="200000"/>
              </a:lnSpc>
              <a:buClr>
                <a:schemeClr val="tx1"/>
              </a:buClr>
              <a:buFont typeface="+mj-lt"/>
              <a:buAutoNum type="arabicPeriod"/>
            </a:pPr>
            <a:r>
              <a:rPr lang="en-US" altLang="zh-CN" sz="1600" dirty="0">
                <a:solidFill>
                  <a:prstClr val="black"/>
                </a:solidFill>
              </a:rPr>
              <a:t>Action: Modify the SCM, by replacing the structural equation for T with T := t</a:t>
            </a:r>
          </a:p>
          <a:p>
            <a:pPr marL="434340" lvl="0" indent="-342900">
              <a:lnSpc>
                <a:spcPct val="200000"/>
              </a:lnSpc>
              <a:buClr>
                <a:schemeClr val="tx1"/>
              </a:buClr>
              <a:buFont typeface="+mj-lt"/>
              <a:buAutoNum type="arabicPeriod"/>
            </a:pPr>
            <a:r>
              <a:rPr lang="en-US" altLang="zh-CN" sz="1600" dirty="0">
                <a:solidFill>
                  <a:prstClr val="black"/>
                </a:solidFill>
              </a:rPr>
              <a:t>Prediction: Use the updated distribution of U step 1 and the modified SCM from step 2 to compute the distribution of Y(t)</a:t>
            </a:r>
          </a:p>
        </p:txBody>
      </p:sp>
      <p:sp>
        <p:nvSpPr>
          <p:cNvPr id="3" name="灯片编号占位符 2">
            <a:extLst>
              <a:ext uri="{FF2B5EF4-FFF2-40B4-BE49-F238E27FC236}">
                <a16:creationId xmlns:a16="http://schemas.microsoft.com/office/drawing/2014/main" id="{1BC739A5-2563-48FE-A10D-99E4210EAB7C}"/>
              </a:ext>
            </a:extLst>
          </p:cNvPr>
          <p:cNvSpPr>
            <a:spLocks noGrp="1"/>
          </p:cNvSpPr>
          <p:nvPr>
            <p:ph type="sldNum" sz="quarter" idx="11"/>
          </p:nvPr>
        </p:nvSpPr>
        <p:spPr/>
        <p:txBody>
          <a:bodyPr/>
          <a:lstStyle/>
          <a:p>
            <a:fld id="{2AEAD966-1EF9-3A44-9B11-0C8090371A9A}" type="slidenum">
              <a:rPr lang="en-US" smtClean="0"/>
              <a:t>31</a:t>
            </a:fld>
            <a:endParaRPr lang="en-US"/>
          </a:p>
        </p:txBody>
      </p:sp>
      <p:sp>
        <p:nvSpPr>
          <p:cNvPr id="4" name="标题 3">
            <a:extLst>
              <a:ext uri="{FF2B5EF4-FFF2-40B4-BE49-F238E27FC236}">
                <a16:creationId xmlns:a16="http://schemas.microsoft.com/office/drawing/2014/main" id="{1A868259-7542-4F7F-8AA2-61C92CCF4C8C}"/>
              </a:ext>
            </a:extLst>
          </p:cNvPr>
          <p:cNvSpPr>
            <a:spLocks noGrp="1"/>
          </p:cNvSpPr>
          <p:nvPr>
            <p:ph type="title"/>
          </p:nvPr>
        </p:nvSpPr>
        <p:spPr/>
        <p:txBody>
          <a:bodyPr>
            <a:normAutofit/>
          </a:bodyPr>
          <a:lstStyle/>
          <a:p>
            <a:r>
              <a:rPr lang="en-US" altLang="zh-CN" sz="2400" dirty="0"/>
              <a:t>General Steps for Probabilistic Counterfactuals</a:t>
            </a:r>
            <a:endParaRPr lang="zh-CN" altLang="en-US" sz="2400" dirty="0"/>
          </a:p>
        </p:txBody>
      </p:sp>
      <p:sp>
        <p:nvSpPr>
          <p:cNvPr id="5" name="日期占位符 4">
            <a:extLst>
              <a:ext uri="{FF2B5EF4-FFF2-40B4-BE49-F238E27FC236}">
                <a16:creationId xmlns:a16="http://schemas.microsoft.com/office/drawing/2014/main" id="{9277CB07-DA33-42FB-B9BA-CC4048977869}"/>
              </a:ext>
            </a:extLst>
          </p:cNvPr>
          <p:cNvSpPr>
            <a:spLocks noGrp="1"/>
          </p:cNvSpPr>
          <p:nvPr>
            <p:ph type="dt" sz="half" idx="12"/>
          </p:nvPr>
        </p:nvSpPr>
        <p:spPr/>
        <p:txBody>
          <a:bodyPr/>
          <a:lstStyle/>
          <a:p>
            <a:fld id="{63ADDE33-C9F1-F94F-A20E-DA422DA466DF}" type="datetime1">
              <a:rPr lang="en-US" smtClean="0"/>
              <a:t>9/8/2022</a:t>
            </a:fld>
            <a:endParaRPr lang="en-US" dirty="0"/>
          </a:p>
        </p:txBody>
      </p:sp>
    </p:spTree>
    <p:extLst>
      <p:ext uri="{BB962C8B-B14F-4D97-AF65-F5344CB8AC3E}">
        <p14:creationId xmlns:p14="http://schemas.microsoft.com/office/powerpoint/2010/main" val="18959776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ABA521F-CF98-45FB-B697-84DB6FA2ECD1}"/>
              </a:ext>
            </a:extLst>
          </p:cNvPr>
          <p:cNvSpPr>
            <a:spLocks noGrp="1"/>
          </p:cNvSpPr>
          <p:nvPr>
            <p:ph idx="1"/>
          </p:nvPr>
        </p:nvSpPr>
        <p:spPr/>
        <p:txBody>
          <a:bodyPr>
            <a:normAutofit/>
          </a:bodyPr>
          <a:lstStyle/>
          <a:p>
            <a:r>
              <a:rPr lang="en-US" altLang="zh-CN" sz="2000" dirty="0"/>
              <a:t>Main ingredient necessary for computing counterfactuals: parametric model for the structural equation for Y</a:t>
            </a:r>
          </a:p>
          <a:p>
            <a:endParaRPr lang="en-US" altLang="zh-CN" sz="2000" dirty="0"/>
          </a:p>
          <a:p>
            <a:r>
              <a:rPr lang="en-US" altLang="zh-CN" sz="2000" dirty="0"/>
              <a:t>Having such a parametric model is a strong assumption.</a:t>
            </a:r>
          </a:p>
          <a:p>
            <a:endParaRPr lang="en-US" altLang="zh-CN" sz="2000" dirty="0"/>
          </a:p>
          <a:p>
            <a:r>
              <a:rPr lang="en-US" altLang="zh-CN" sz="2000" dirty="0"/>
              <a:t>Without it, we are stuck with the fundamental problem of causal inference.</a:t>
            </a:r>
            <a:endParaRPr lang="zh-CN" altLang="en-US" sz="2000" dirty="0"/>
          </a:p>
        </p:txBody>
      </p:sp>
      <p:sp>
        <p:nvSpPr>
          <p:cNvPr id="3" name="灯片编号占位符 2">
            <a:extLst>
              <a:ext uri="{FF2B5EF4-FFF2-40B4-BE49-F238E27FC236}">
                <a16:creationId xmlns:a16="http://schemas.microsoft.com/office/drawing/2014/main" id="{88431408-AF19-4626-A9F3-5D26B6B7F9DC}"/>
              </a:ext>
            </a:extLst>
          </p:cNvPr>
          <p:cNvSpPr>
            <a:spLocks noGrp="1"/>
          </p:cNvSpPr>
          <p:nvPr>
            <p:ph type="sldNum" sz="quarter" idx="11"/>
          </p:nvPr>
        </p:nvSpPr>
        <p:spPr/>
        <p:txBody>
          <a:bodyPr/>
          <a:lstStyle/>
          <a:p>
            <a:fld id="{2AEAD966-1EF9-3A44-9B11-0C8090371A9A}" type="slidenum">
              <a:rPr lang="en-US" smtClean="0"/>
              <a:t>32</a:t>
            </a:fld>
            <a:endParaRPr lang="en-US"/>
          </a:p>
        </p:txBody>
      </p:sp>
      <p:sp>
        <p:nvSpPr>
          <p:cNvPr id="4" name="标题 3">
            <a:extLst>
              <a:ext uri="{FF2B5EF4-FFF2-40B4-BE49-F238E27FC236}">
                <a16:creationId xmlns:a16="http://schemas.microsoft.com/office/drawing/2014/main" id="{5518149E-F4F1-43CD-B181-6E5970547241}"/>
              </a:ext>
            </a:extLst>
          </p:cNvPr>
          <p:cNvSpPr>
            <a:spLocks noGrp="1"/>
          </p:cNvSpPr>
          <p:nvPr>
            <p:ph type="title"/>
          </p:nvPr>
        </p:nvSpPr>
        <p:spPr/>
        <p:txBody>
          <a:bodyPr>
            <a:noAutofit/>
          </a:bodyPr>
          <a:lstStyle/>
          <a:p>
            <a:r>
              <a:rPr lang="en-US" altLang="zh-CN" sz="2200" dirty="0"/>
              <a:t>No Unit-level Counterfactuals without Parametric Model</a:t>
            </a:r>
            <a:endParaRPr lang="zh-CN" altLang="en-US" sz="2200" dirty="0"/>
          </a:p>
        </p:txBody>
      </p:sp>
      <p:sp>
        <p:nvSpPr>
          <p:cNvPr id="5" name="日期占位符 4">
            <a:extLst>
              <a:ext uri="{FF2B5EF4-FFF2-40B4-BE49-F238E27FC236}">
                <a16:creationId xmlns:a16="http://schemas.microsoft.com/office/drawing/2014/main" id="{C0736F5F-9EE4-4342-9433-AF370D493FC6}"/>
              </a:ext>
            </a:extLst>
          </p:cNvPr>
          <p:cNvSpPr>
            <a:spLocks noGrp="1"/>
          </p:cNvSpPr>
          <p:nvPr>
            <p:ph type="dt" sz="half" idx="12"/>
          </p:nvPr>
        </p:nvSpPr>
        <p:spPr/>
        <p:txBody>
          <a:bodyPr/>
          <a:lstStyle/>
          <a:p>
            <a:fld id="{63ADDE33-C9F1-F94F-A20E-DA422DA466DF}" type="datetime1">
              <a:rPr lang="en-US" smtClean="0"/>
              <a:t>9/1/2022</a:t>
            </a:fld>
            <a:endParaRPr lang="en-US" dirty="0"/>
          </a:p>
        </p:txBody>
      </p:sp>
    </p:spTree>
    <p:extLst>
      <p:ext uri="{BB962C8B-B14F-4D97-AF65-F5344CB8AC3E}">
        <p14:creationId xmlns:p14="http://schemas.microsoft.com/office/powerpoint/2010/main" val="7995182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3F0C7AE0-8516-4899-BFE1-B51D6B893323}"/>
              </a:ext>
            </a:extLst>
          </p:cNvPr>
          <p:cNvSpPr>
            <a:spLocks noGrp="1"/>
          </p:cNvSpPr>
          <p:nvPr>
            <p:ph type="sldNum" sz="quarter" idx="11"/>
          </p:nvPr>
        </p:nvSpPr>
        <p:spPr/>
        <p:txBody>
          <a:bodyPr/>
          <a:lstStyle/>
          <a:p>
            <a:fld id="{2AEAD966-1EF9-3A44-9B11-0C8090371A9A}" type="slidenum">
              <a:rPr lang="en-US" smtClean="0"/>
              <a:t>33</a:t>
            </a:fld>
            <a:endParaRPr lang="en-US"/>
          </a:p>
        </p:txBody>
      </p:sp>
      <p:sp>
        <p:nvSpPr>
          <p:cNvPr id="4" name="标题 3">
            <a:extLst>
              <a:ext uri="{FF2B5EF4-FFF2-40B4-BE49-F238E27FC236}">
                <a16:creationId xmlns:a16="http://schemas.microsoft.com/office/drawing/2014/main" id="{C866D6D8-31DC-41D6-968C-A7B568F1470D}"/>
              </a:ext>
            </a:extLst>
          </p:cNvPr>
          <p:cNvSpPr>
            <a:spLocks noGrp="1"/>
          </p:cNvSpPr>
          <p:nvPr>
            <p:ph type="title"/>
          </p:nvPr>
        </p:nvSpPr>
        <p:spPr/>
        <p:txBody>
          <a:bodyPr/>
          <a:lstStyle/>
          <a:p>
            <a:r>
              <a:rPr lang="en-US" altLang="zh-CN" dirty="0"/>
              <a:t>Question</a:t>
            </a:r>
            <a:endParaRPr lang="zh-CN" altLang="en-US" dirty="0"/>
          </a:p>
        </p:txBody>
      </p:sp>
      <p:sp>
        <p:nvSpPr>
          <p:cNvPr id="5" name="日期占位符 4">
            <a:extLst>
              <a:ext uri="{FF2B5EF4-FFF2-40B4-BE49-F238E27FC236}">
                <a16:creationId xmlns:a16="http://schemas.microsoft.com/office/drawing/2014/main" id="{5A659B54-20ED-474A-A524-D6CA18D9BA8B}"/>
              </a:ext>
            </a:extLst>
          </p:cNvPr>
          <p:cNvSpPr>
            <a:spLocks noGrp="1"/>
          </p:cNvSpPr>
          <p:nvPr>
            <p:ph type="dt" sz="half" idx="12"/>
          </p:nvPr>
        </p:nvSpPr>
        <p:spPr/>
        <p:txBody>
          <a:bodyPr/>
          <a:lstStyle/>
          <a:p>
            <a:fld id="{63ADDE33-C9F1-F94F-A20E-DA422DA466DF}" type="datetime1">
              <a:rPr lang="en-US" smtClean="0"/>
              <a:t>9/1/2022</a:t>
            </a:fld>
            <a:endParaRPr lang="en-US" dirty="0"/>
          </a:p>
        </p:txBody>
      </p:sp>
      <mc:AlternateContent xmlns:mc="http://schemas.openxmlformats.org/markup-compatibility/2006">
        <mc:Choice xmlns:a14="http://schemas.microsoft.com/office/drawing/2010/main" Requires="a14">
          <p:sp>
            <p:nvSpPr>
              <p:cNvPr id="11" name="内容占位符 1">
                <a:extLst>
                  <a:ext uri="{FF2B5EF4-FFF2-40B4-BE49-F238E27FC236}">
                    <a16:creationId xmlns:a16="http://schemas.microsoft.com/office/drawing/2014/main" id="{CF206A3A-B620-451F-B639-F90E29F49C30}"/>
                  </a:ext>
                </a:extLst>
              </p:cNvPr>
              <p:cNvSpPr>
                <a:spLocks noGrp="1"/>
              </p:cNvSpPr>
              <p:nvPr>
                <p:ph idx="1"/>
              </p:nvPr>
            </p:nvSpPr>
            <p:spPr>
              <a:xfrm>
                <a:off x="381000" y="927099"/>
                <a:ext cx="8446478" cy="5526455"/>
              </a:xfrm>
            </p:spPr>
            <p:txBody>
              <a:bodyPr>
                <a:normAutofit/>
              </a:bodyPr>
              <a:lstStyle/>
              <a:p>
                <a:r>
                  <a:rPr lang="en-US" altLang="zh-CN" sz="1600" dirty="0"/>
                  <a:t>Given the observation T = 1 and Y = 1, compute Y(0) for this individual given the following SCM and prior:</a:t>
                </a:r>
              </a:p>
              <a:p>
                <a:r>
                  <a:rPr lang="en-US" altLang="zh-CN" sz="1600" dirty="0"/>
                  <a:t>			</a:t>
                </a:r>
              </a:p>
              <a:p>
                <a:r>
                  <a:rPr lang="en-US" altLang="zh-CN" sz="1600" dirty="0"/>
                  <a:t>					</a:t>
                </a:r>
                <a14:m>
                  <m:oMath xmlns:m="http://schemas.openxmlformats.org/officeDocument/2006/math">
                    <m:r>
                      <a:rPr lang="en-US" altLang="zh-CN" sz="1600" b="0" i="1" smtClean="0">
                        <a:latin typeface="Cambria Math" panose="02040503050406030204" pitchFamily="18" charset="0"/>
                      </a:rPr>
                      <m:t>𝑃</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𝑈</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𝑎𝑙𝑤𝑎𝑦𝑠</m:t>
                        </m:r>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h𝑎𝑝𝑝𝑦</m:t>
                        </m:r>
                      </m:e>
                    </m:d>
                    <m:r>
                      <a:rPr lang="en-US" altLang="zh-CN" sz="1600" b="0" i="1" smtClean="0">
                        <a:latin typeface="Cambria Math" panose="02040503050406030204" pitchFamily="18" charset="0"/>
                      </a:rPr>
                      <m:t>=0.3</m:t>
                    </m:r>
                  </m:oMath>
                </a14:m>
                <a:endParaRPr lang="en-US" altLang="zh-CN" sz="1600" dirty="0"/>
              </a:p>
              <a:p>
                <a:r>
                  <a:rPr lang="en-US" altLang="zh-CN" sz="1600" dirty="0"/>
                  <a:t>					  </a:t>
                </a:r>
                <a14:m>
                  <m:oMath xmlns:m="http://schemas.openxmlformats.org/officeDocument/2006/math">
                    <m:r>
                      <a:rPr lang="en-US" altLang="zh-CN" sz="1600" b="0" i="1" smtClean="0">
                        <a:latin typeface="Cambria Math" panose="02040503050406030204" pitchFamily="18" charset="0"/>
                      </a:rPr>
                      <m:t>𝑃</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𝑈</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𝑛𝑒𝑣𝑒𝑟</m:t>
                        </m:r>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h𝑎𝑝𝑝𝑦</m:t>
                        </m:r>
                      </m:e>
                    </m:d>
                    <m:r>
                      <a:rPr lang="en-US" altLang="zh-CN" sz="1600" b="0" i="1" smtClean="0">
                        <a:latin typeface="Cambria Math" panose="02040503050406030204" pitchFamily="18" charset="0"/>
                      </a:rPr>
                      <m:t>=0.2</m:t>
                    </m:r>
                  </m:oMath>
                </a14:m>
                <a:endParaRPr lang="en-US" altLang="zh-CN" sz="1600" dirty="0"/>
              </a:p>
              <a:p>
                <a:r>
                  <a:rPr lang="en-US" altLang="zh-CN" sz="1600" dirty="0"/>
                  <a:t>					</a:t>
                </a:r>
                <a14:m>
                  <m:oMath xmlns:m="http://schemas.openxmlformats.org/officeDocument/2006/math">
                    <m:r>
                      <a:rPr lang="en-US" altLang="zh-CN" sz="1600" b="0" i="1" smtClean="0">
                        <a:latin typeface="Cambria Math" panose="02040503050406030204" pitchFamily="18" charset="0"/>
                      </a:rPr>
                      <m:t>𝑃</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𝑈</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𝑑𝑜𝑔</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𝑛𝑒𝑒𝑑𝑒𝑟</m:t>
                        </m:r>
                      </m:e>
                    </m:d>
                    <m:r>
                      <a:rPr lang="en-US" altLang="zh-CN" sz="1600" b="0" i="1" smtClean="0">
                        <a:latin typeface="Cambria Math" panose="02040503050406030204" pitchFamily="18" charset="0"/>
                      </a:rPr>
                      <m:t>=0.4</m:t>
                    </m:r>
                  </m:oMath>
                </a14:m>
                <a:endParaRPr lang="en-US" altLang="zh-CN" sz="1600" dirty="0"/>
              </a:p>
              <a:p>
                <a:r>
                  <a:rPr lang="en-US" altLang="zh-CN" sz="1600" dirty="0"/>
                  <a:t>				               </a:t>
                </a:r>
                <a14:m>
                  <m:oMath xmlns:m="http://schemas.openxmlformats.org/officeDocument/2006/math">
                    <m:r>
                      <a:rPr lang="en-US" altLang="zh-CN" sz="1600" b="0" i="0" smtClean="0">
                        <a:latin typeface="Cambria Math" panose="02040503050406030204" pitchFamily="18" charset="0"/>
                      </a:rPr>
                      <m:t>    </m:t>
                    </m:r>
                    <m:r>
                      <a:rPr lang="en-US" altLang="zh-CN" sz="1600" b="0" i="1" smtClean="0">
                        <a:latin typeface="Cambria Math" panose="02040503050406030204" pitchFamily="18" charset="0"/>
                      </a:rPr>
                      <m:t>𝑃</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𝑈</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𝑑𝑜𝑔</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h𝑎𝑡𝑒𝑟</m:t>
                        </m:r>
                      </m:e>
                    </m:d>
                    <m:r>
                      <a:rPr lang="en-US" altLang="zh-CN" sz="1600" b="0" i="1" smtClean="0">
                        <a:latin typeface="Cambria Math" panose="02040503050406030204" pitchFamily="18" charset="0"/>
                      </a:rPr>
                      <m:t>=0.1</m:t>
                    </m:r>
                  </m:oMath>
                </a14:m>
                <a:endParaRPr lang="en-US" altLang="zh-CN" sz="1600" dirty="0"/>
              </a:p>
              <a:p>
                <a:endParaRPr lang="en-US" altLang="zh-CN" sz="1600" dirty="0"/>
              </a:p>
              <a:p>
                <a:endParaRPr lang="en-US" altLang="zh-CN" sz="1600" dirty="0"/>
              </a:p>
            </p:txBody>
          </p:sp>
        </mc:Choice>
        <mc:Fallback>
          <p:sp>
            <p:nvSpPr>
              <p:cNvPr id="11" name="内容占位符 1">
                <a:extLst>
                  <a:ext uri="{FF2B5EF4-FFF2-40B4-BE49-F238E27FC236}">
                    <a16:creationId xmlns:a16="http://schemas.microsoft.com/office/drawing/2014/main" id="{CF206A3A-B620-451F-B639-F90E29F49C30}"/>
                  </a:ext>
                </a:extLst>
              </p:cNvPr>
              <p:cNvSpPr>
                <a:spLocks noGrp="1" noRot="1" noChangeAspect="1" noMove="1" noResize="1" noEditPoints="1" noAdjustHandles="1" noChangeArrowheads="1" noChangeShapeType="1" noTextEdit="1"/>
              </p:cNvSpPr>
              <p:nvPr>
                <p:ph idx="1"/>
              </p:nvPr>
            </p:nvSpPr>
            <p:spPr>
              <a:xfrm>
                <a:off x="381000" y="927099"/>
                <a:ext cx="8446478" cy="5526455"/>
              </a:xfrm>
              <a:blipFill>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矩形 11">
                <a:extLst>
                  <a:ext uri="{FF2B5EF4-FFF2-40B4-BE49-F238E27FC236}">
                    <a16:creationId xmlns:a16="http://schemas.microsoft.com/office/drawing/2014/main" id="{BC9848D6-442A-463E-B6D2-646CCE226EE9}"/>
                  </a:ext>
                </a:extLst>
              </p:cNvPr>
              <p:cNvSpPr/>
              <p:nvPr/>
            </p:nvSpPr>
            <p:spPr>
              <a:xfrm>
                <a:off x="519401" y="2088120"/>
                <a:ext cx="3571298" cy="134088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𝑌</m:t>
                      </m:r>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1            </m:t>
                              </m:r>
                              <m:r>
                                <a:rPr lang="en-US" altLang="zh-CN" i="1">
                                  <a:latin typeface="Cambria Math" panose="02040503050406030204" pitchFamily="18" charset="0"/>
                                </a:rPr>
                                <m:t>𝑈</m:t>
                              </m:r>
                              <m:r>
                                <a:rPr lang="en-US" altLang="zh-CN" i="1">
                                  <a:latin typeface="Cambria Math" panose="02040503050406030204" pitchFamily="18" charset="0"/>
                                </a:rPr>
                                <m:t>=</m:t>
                              </m:r>
                              <m:r>
                                <a:rPr lang="en-US" altLang="zh-CN" i="1">
                                  <a:latin typeface="Cambria Math" panose="02040503050406030204" pitchFamily="18" charset="0"/>
                                </a:rPr>
                                <m:t>𝑎𝑙𝑤𝑎𝑦𝑠</m:t>
                              </m:r>
                              <m:r>
                                <a:rPr lang="en-US" altLang="zh-CN" i="1">
                                  <a:latin typeface="Cambria Math" panose="02040503050406030204" pitchFamily="18" charset="0"/>
                                </a:rPr>
                                <m:t> </m:t>
                              </m:r>
                              <m:r>
                                <a:rPr lang="en-US" altLang="zh-CN" i="1">
                                  <a:latin typeface="Cambria Math" panose="02040503050406030204" pitchFamily="18" charset="0"/>
                                </a:rPr>
                                <m:t>h𝑎𝑝𝑝𝑦</m:t>
                              </m:r>
                            </m:e>
                            <m:e>
                              <m:r>
                                <a:rPr lang="en-US" altLang="zh-CN" i="1">
                                  <a:latin typeface="Cambria Math" panose="02040503050406030204" pitchFamily="18" charset="0"/>
                                </a:rPr>
                                <m:t>0           </m:t>
                              </m:r>
                              <m:r>
                                <a:rPr lang="en-US" altLang="zh-CN" i="1">
                                  <a:latin typeface="Cambria Math" panose="02040503050406030204" pitchFamily="18" charset="0"/>
                                </a:rPr>
                                <m:t>𝑈</m:t>
                              </m:r>
                              <m:r>
                                <a:rPr lang="en-US" altLang="zh-CN" i="1">
                                  <a:latin typeface="Cambria Math" panose="02040503050406030204" pitchFamily="18" charset="0"/>
                                </a:rPr>
                                <m:t>= </m:t>
                              </m:r>
                              <m:r>
                                <a:rPr lang="en-US" altLang="zh-CN" i="1">
                                  <a:latin typeface="Cambria Math" panose="02040503050406030204" pitchFamily="18" charset="0"/>
                                </a:rPr>
                                <m:t>𝑛𝑒𝑣𝑒𝑟</m:t>
                              </m:r>
                              <m:r>
                                <a:rPr lang="en-US" altLang="zh-CN" i="1">
                                  <a:latin typeface="Cambria Math" panose="02040503050406030204" pitchFamily="18" charset="0"/>
                                </a:rPr>
                                <m:t> </m:t>
                              </m:r>
                              <m:r>
                                <a:rPr lang="en-US" altLang="zh-CN" i="1">
                                  <a:latin typeface="Cambria Math" panose="02040503050406030204" pitchFamily="18" charset="0"/>
                                </a:rPr>
                                <m:t>h𝑎𝑝𝑝𝑦</m:t>
                              </m:r>
                              <m:r>
                                <a:rPr lang="en-US" altLang="zh-CN" i="1">
                                  <a:latin typeface="Cambria Math" panose="02040503050406030204" pitchFamily="18" charset="0"/>
                                </a:rPr>
                                <m:t>  </m:t>
                              </m:r>
                            </m:e>
                            <m:e>
                              <m:r>
                                <a:rPr lang="en-US" altLang="zh-CN" i="1">
                                  <a:latin typeface="Cambria Math" panose="02040503050406030204" pitchFamily="18" charset="0"/>
                                </a:rPr>
                                <m:t>𝑇</m:t>
                              </m:r>
                              <m:r>
                                <a:rPr lang="en-US" altLang="zh-CN" i="1">
                                  <a:latin typeface="Cambria Math" panose="02040503050406030204" pitchFamily="18" charset="0"/>
                                </a:rPr>
                                <m:t>            </m:t>
                              </m:r>
                              <m:r>
                                <a:rPr lang="en-US" altLang="zh-CN" i="1">
                                  <a:latin typeface="Cambria Math" panose="02040503050406030204" pitchFamily="18" charset="0"/>
                                </a:rPr>
                                <m:t>𝑈</m:t>
                              </m:r>
                              <m:r>
                                <a:rPr lang="en-US" altLang="zh-CN" i="1">
                                  <a:latin typeface="Cambria Math" panose="02040503050406030204" pitchFamily="18" charset="0"/>
                                </a:rPr>
                                <m:t>=</m:t>
                              </m:r>
                              <m:r>
                                <a:rPr lang="en-US" altLang="zh-CN" i="1">
                                  <a:latin typeface="Cambria Math" panose="02040503050406030204" pitchFamily="18" charset="0"/>
                                </a:rPr>
                                <m:t>𝑑𝑜𝑔</m:t>
                              </m:r>
                              <m:r>
                                <a:rPr lang="en-US" altLang="zh-CN" i="1">
                                  <a:latin typeface="Cambria Math" panose="02040503050406030204" pitchFamily="18" charset="0"/>
                                </a:rPr>
                                <m:t>−</m:t>
                              </m:r>
                              <m:r>
                                <a:rPr lang="en-US" altLang="zh-CN" i="1">
                                  <a:latin typeface="Cambria Math" panose="02040503050406030204" pitchFamily="18" charset="0"/>
                                </a:rPr>
                                <m:t>𝑛𝑒𝑒𝑑𝑒𝑟</m:t>
                              </m:r>
                              <m:r>
                                <a:rPr lang="en-US" altLang="zh-CN" i="1">
                                  <a:latin typeface="Cambria Math" panose="02040503050406030204" pitchFamily="18" charset="0"/>
                                </a:rPr>
                                <m:t> </m:t>
                              </m:r>
                            </m:e>
                            <m:e>
                              <m:r>
                                <a:rPr lang="en-US" altLang="zh-CN" i="1">
                                  <a:latin typeface="Cambria Math" panose="02040503050406030204" pitchFamily="18" charset="0"/>
                                </a:rPr>
                                <m:t>1−</m:t>
                              </m:r>
                              <m:r>
                                <a:rPr lang="en-US" altLang="zh-CN" i="1">
                                  <a:latin typeface="Cambria Math" panose="02040503050406030204" pitchFamily="18" charset="0"/>
                                </a:rPr>
                                <m:t>𝑇</m:t>
                              </m:r>
                              <m:r>
                                <a:rPr lang="en-US" altLang="zh-CN" i="1">
                                  <a:latin typeface="Cambria Math" panose="02040503050406030204" pitchFamily="18" charset="0"/>
                                </a:rPr>
                                <m:t>    </m:t>
                              </m:r>
                              <m:r>
                                <a:rPr lang="en-US" altLang="zh-CN" i="1">
                                  <a:latin typeface="Cambria Math" panose="02040503050406030204" pitchFamily="18" charset="0"/>
                                </a:rPr>
                                <m:t>𝑈</m:t>
                              </m:r>
                              <m:r>
                                <a:rPr lang="en-US" altLang="zh-CN" i="1">
                                  <a:latin typeface="Cambria Math" panose="02040503050406030204" pitchFamily="18" charset="0"/>
                                </a:rPr>
                                <m:t>=</m:t>
                              </m:r>
                              <m:r>
                                <a:rPr lang="en-US" altLang="zh-CN" i="1">
                                  <a:latin typeface="Cambria Math" panose="02040503050406030204" pitchFamily="18" charset="0"/>
                                </a:rPr>
                                <m:t>𝑑𝑜𝑔</m:t>
                              </m:r>
                              <m:r>
                                <a:rPr lang="en-US" altLang="zh-CN" i="1">
                                  <a:latin typeface="Cambria Math" panose="02040503050406030204" pitchFamily="18" charset="0"/>
                                </a:rPr>
                                <m:t>−</m:t>
                              </m:r>
                              <m:r>
                                <a:rPr lang="en-US" altLang="zh-CN" i="1">
                                  <a:latin typeface="Cambria Math" panose="02040503050406030204" pitchFamily="18" charset="0"/>
                                </a:rPr>
                                <m:t>h𝑎𝑡𝑒𝑟</m:t>
                              </m:r>
                              <m:r>
                                <a:rPr lang="en-US" altLang="zh-CN" i="1">
                                  <a:latin typeface="Cambria Math" panose="02040503050406030204" pitchFamily="18" charset="0"/>
                                </a:rPr>
                                <m:t>    </m:t>
                              </m:r>
                            </m:e>
                          </m:eqArr>
                        </m:e>
                      </m:d>
                    </m:oMath>
                  </m:oMathPara>
                </a14:m>
                <a:endParaRPr lang="zh-CN" altLang="en-US" dirty="0"/>
              </a:p>
            </p:txBody>
          </p:sp>
        </mc:Choice>
        <mc:Fallback>
          <p:sp>
            <p:nvSpPr>
              <p:cNvPr id="12" name="矩形 11">
                <a:extLst>
                  <a:ext uri="{FF2B5EF4-FFF2-40B4-BE49-F238E27FC236}">
                    <a16:creationId xmlns:a16="http://schemas.microsoft.com/office/drawing/2014/main" id="{BC9848D6-442A-463E-B6D2-646CCE226EE9}"/>
                  </a:ext>
                </a:extLst>
              </p:cNvPr>
              <p:cNvSpPr>
                <a:spLocks noRot="1" noChangeAspect="1" noMove="1" noResize="1" noEditPoints="1" noAdjustHandles="1" noChangeArrowheads="1" noChangeShapeType="1" noTextEdit="1"/>
              </p:cNvSpPr>
              <p:nvPr/>
            </p:nvSpPr>
            <p:spPr>
              <a:xfrm>
                <a:off x="519401" y="2088120"/>
                <a:ext cx="3571298" cy="1340880"/>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207659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29470C09-483C-44DF-9AB0-083630B252EA}"/>
                  </a:ext>
                </a:extLst>
              </p:cNvPr>
              <p:cNvSpPr>
                <a:spLocks noGrp="1"/>
              </p:cNvSpPr>
              <p:nvPr>
                <p:ph idx="1"/>
              </p:nvPr>
            </p:nvSpPr>
            <p:spPr/>
            <p:txBody>
              <a:bodyPr>
                <a:normAutofit/>
              </a:bodyPr>
              <a:lstStyle/>
              <a:p>
                <a:r>
                  <a:rPr lang="en-US" altLang="zh-CN" sz="1600" dirty="0"/>
                  <a:t>Population-level counterfactual:  </a:t>
                </a:r>
                <a14:m>
                  <m:oMath xmlns:m="http://schemas.openxmlformats.org/officeDocument/2006/math">
                    <m:r>
                      <a:rPr lang="en-US" altLang="zh-CN" sz="1600" b="0" i="1" smtClean="0">
                        <a:latin typeface="Cambria Math" panose="02040503050406030204" pitchFamily="18" charset="0"/>
                      </a:rPr>
                      <m:t>𝐸</m:t>
                    </m:r>
                    <m:d>
                      <m:dPr>
                        <m:begChr m:val="["/>
                        <m:end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𝑌</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𝑡</m:t>
                            </m:r>
                          </m:e>
                        </m:d>
                        <m:r>
                          <a:rPr lang="en-US" altLang="zh-CN" sz="1600" b="0" i="1" smtClean="0">
                            <a:latin typeface="Cambria Math" panose="02040503050406030204" pitchFamily="18" charset="0"/>
                          </a:rPr>
                          <m:t> </m:t>
                        </m:r>
                      </m:e>
                    </m:d>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𝑡</m:t>
                    </m:r>
                    <m:r>
                      <a:rPr lang="en-US" altLang="zh-CN" sz="1600" b="0" i="1" smtClean="0">
                        <a:latin typeface="Cambria Math" panose="02040503050406030204" pitchFamily="18" charset="0"/>
                      </a:rPr>
                      <m:t>′]</m:t>
                    </m:r>
                  </m:oMath>
                </a14:m>
                <a:endParaRPr lang="en-US" altLang="zh-CN" sz="1600" dirty="0"/>
              </a:p>
              <a:p>
                <a:endParaRPr lang="en-US" altLang="zh-CN" sz="1600" dirty="0"/>
              </a:p>
              <a:p>
                <a:r>
                  <a:rPr lang="en-US" altLang="zh-CN" sz="1600" dirty="0"/>
                  <a:t>Just like we were able to identify the ATE </a:t>
                </a:r>
                <a14:m>
                  <m:oMath xmlns:m="http://schemas.openxmlformats.org/officeDocument/2006/math">
                    <m:r>
                      <a:rPr lang="en-US" altLang="zh-CN" sz="1600" i="1">
                        <a:latin typeface="Cambria Math" panose="02040503050406030204" pitchFamily="18" charset="0"/>
                      </a:rPr>
                      <m:t>𝐸</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𝑌</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1</m:t>
                        </m:r>
                      </m:e>
                    </m:d>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𝑌</m:t>
                    </m:r>
                    <m:r>
                      <a:rPr lang="en-US" altLang="zh-CN" sz="1600" b="0" i="1" smtClean="0">
                        <a:latin typeface="Cambria Math" panose="02040503050406030204" pitchFamily="18" charset="0"/>
                      </a:rPr>
                      <m:t>(0)]</m:t>
                    </m:r>
                  </m:oMath>
                </a14:m>
                <a:r>
                  <a:rPr lang="en-US" altLang="zh-CN" sz="1600" dirty="0"/>
                  <a:t> nonparametrically (using just the causal graph), we can do the same with population-level counterfactual quantities, if they are identifiable</a:t>
                </a:r>
              </a:p>
            </p:txBody>
          </p:sp>
        </mc:Choice>
        <mc:Fallback>
          <p:sp>
            <p:nvSpPr>
              <p:cNvPr id="2" name="内容占位符 1">
                <a:extLst>
                  <a:ext uri="{FF2B5EF4-FFF2-40B4-BE49-F238E27FC236}">
                    <a16:creationId xmlns:a16="http://schemas.microsoft.com/office/drawing/2014/main" id="{29470C09-483C-44DF-9AB0-083630B252EA}"/>
                  </a:ext>
                </a:extLst>
              </p:cNvPr>
              <p:cNvSpPr>
                <a:spLocks noGrp="1" noRot="1" noChangeAspect="1" noMove="1" noResize="1" noEditPoints="1" noAdjustHandles="1" noChangeArrowheads="1" noChangeShapeType="1" noTextEdit="1"/>
              </p:cNvSpPr>
              <p:nvPr>
                <p:ph idx="1"/>
              </p:nvPr>
            </p:nvSpPr>
            <p:spPr>
              <a:blipFill>
                <a:blip r:embed="rId2"/>
                <a:stretch>
                  <a:fillRect r="-217"/>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A7214C58-88AC-4134-AADE-BFA087C5CB2B}"/>
              </a:ext>
            </a:extLst>
          </p:cNvPr>
          <p:cNvSpPr>
            <a:spLocks noGrp="1"/>
          </p:cNvSpPr>
          <p:nvPr>
            <p:ph type="sldNum" sz="quarter" idx="11"/>
          </p:nvPr>
        </p:nvSpPr>
        <p:spPr/>
        <p:txBody>
          <a:bodyPr/>
          <a:lstStyle/>
          <a:p>
            <a:fld id="{2AEAD966-1EF9-3A44-9B11-0C8090371A9A}" type="slidenum">
              <a:rPr lang="en-US" smtClean="0"/>
              <a:t>34</a:t>
            </a:fld>
            <a:endParaRPr lang="en-US"/>
          </a:p>
        </p:txBody>
      </p:sp>
      <p:sp>
        <p:nvSpPr>
          <p:cNvPr id="4" name="标题 3">
            <a:extLst>
              <a:ext uri="{FF2B5EF4-FFF2-40B4-BE49-F238E27FC236}">
                <a16:creationId xmlns:a16="http://schemas.microsoft.com/office/drawing/2014/main" id="{EA5EEFC2-F145-4662-B252-D8B5D02D0DEC}"/>
              </a:ext>
            </a:extLst>
          </p:cNvPr>
          <p:cNvSpPr>
            <a:spLocks noGrp="1"/>
          </p:cNvSpPr>
          <p:nvPr>
            <p:ph type="title"/>
          </p:nvPr>
        </p:nvSpPr>
        <p:spPr/>
        <p:txBody>
          <a:bodyPr>
            <a:noAutofit/>
          </a:bodyPr>
          <a:lstStyle/>
          <a:p>
            <a:r>
              <a:rPr lang="en-US" altLang="zh-CN" sz="2300" dirty="0"/>
              <a:t>Population-level Doesn’t Require a Parametric Model</a:t>
            </a:r>
            <a:endParaRPr lang="zh-CN" altLang="en-US" sz="2300" dirty="0"/>
          </a:p>
        </p:txBody>
      </p:sp>
      <p:sp>
        <p:nvSpPr>
          <p:cNvPr id="5" name="日期占位符 4">
            <a:extLst>
              <a:ext uri="{FF2B5EF4-FFF2-40B4-BE49-F238E27FC236}">
                <a16:creationId xmlns:a16="http://schemas.microsoft.com/office/drawing/2014/main" id="{3694B8C1-A90F-41C0-8074-760DC0E6BDA8}"/>
              </a:ext>
            </a:extLst>
          </p:cNvPr>
          <p:cNvSpPr>
            <a:spLocks noGrp="1"/>
          </p:cNvSpPr>
          <p:nvPr>
            <p:ph type="dt" sz="half" idx="12"/>
          </p:nvPr>
        </p:nvSpPr>
        <p:spPr/>
        <p:txBody>
          <a:bodyPr/>
          <a:lstStyle/>
          <a:p>
            <a:fld id="{63ADDE33-C9F1-F94F-A20E-DA422DA466DF}" type="datetime1">
              <a:rPr lang="en-US" smtClean="0"/>
              <a:t>9/1/2022</a:t>
            </a:fld>
            <a:endParaRPr lang="en-US" dirty="0"/>
          </a:p>
        </p:txBody>
      </p:sp>
    </p:spTree>
    <p:extLst>
      <p:ext uri="{BB962C8B-B14F-4D97-AF65-F5344CB8AC3E}">
        <p14:creationId xmlns:p14="http://schemas.microsoft.com/office/powerpoint/2010/main" val="15654706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29470C09-483C-44DF-9AB0-083630B252EA}"/>
                  </a:ext>
                </a:extLst>
              </p:cNvPr>
              <p:cNvSpPr>
                <a:spLocks noGrp="1"/>
              </p:cNvSpPr>
              <p:nvPr>
                <p:ph idx="1"/>
              </p:nvPr>
            </p:nvSpPr>
            <p:spPr/>
            <p:txBody>
              <a:bodyPr>
                <a:normAutofit/>
              </a:bodyPr>
              <a:lstStyle/>
              <a:p>
                <a:r>
                  <a:rPr lang="en-US" altLang="zh-CN" sz="1600" dirty="0"/>
                  <a:t>Population-level counterfactual:  </a:t>
                </a:r>
                <a14:m>
                  <m:oMath xmlns:m="http://schemas.openxmlformats.org/officeDocument/2006/math">
                    <m:r>
                      <a:rPr lang="en-US" altLang="zh-CN" sz="1600" b="0" i="1" smtClean="0">
                        <a:latin typeface="Cambria Math" panose="02040503050406030204" pitchFamily="18" charset="0"/>
                      </a:rPr>
                      <m:t>𝐸</m:t>
                    </m:r>
                    <m:d>
                      <m:dPr>
                        <m:begChr m:val="["/>
                        <m:end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𝑌</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𝑡</m:t>
                            </m:r>
                          </m:e>
                        </m:d>
                        <m:r>
                          <a:rPr lang="en-US" altLang="zh-CN" sz="1600" b="0" i="1" smtClean="0">
                            <a:latin typeface="Cambria Math" panose="02040503050406030204" pitchFamily="18" charset="0"/>
                          </a:rPr>
                          <m:t> </m:t>
                        </m:r>
                      </m:e>
                    </m:d>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𝑡</m:t>
                    </m:r>
                    <m:r>
                      <a:rPr lang="en-US" altLang="zh-CN" sz="1600" b="0" i="1" smtClean="0">
                        <a:latin typeface="Cambria Math" panose="02040503050406030204" pitchFamily="18" charset="0"/>
                      </a:rPr>
                      <m:t>′]</m:t>
                    </m:r>
                  </m:oMath>
                </a14:m>
                <a:endParaRPr lang="en-US" altLang="zh-CN" sz="1600" dirty="0"/>
              </a:p>
              <a:p>
                <a:endParaRPr lang="en-US" altLang="zh-CN" sz="1600" dirty="0"/>
              </a:p>
              <a:p>
                <a:r>
                  <a:rPr lang="en-US" altLang="zh-CN" sz="1600" dirty="0"/>
                  <a:t>Just like we were able to identify the ATE </a:t>
                </a:r>
                <a14:m>
                  <m:oMath xmlns:m="http://schemas.openxmlformats.org/officeDocument/2006/math">
                    <m:r>
                      <a:rPr lang="en-US" altLang="zh-CN" sz="1600" i="1">
                        <a:latin typeface="Cambria Math" panose="02040503050406030204" pitchFamily="18" charset="0"/>
                      </a:rPr>
                      <m:t>𝐸</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𝑌</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1</m:t>
                        </m:r>
                      </m:e>
                    </m:d>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𝑌</m:t>
                    </m:r>
                    <m:r>
                      <a:rPr lang="en-US" altLang="zh-CN" sz="1600" b="0" i="1" smtClean="0">
                        <a:latin typeface="Cambria Math" panose="02040503050406030204" pitchFamily="18" charset="0"/>
                      </a:rPr>
                      <m:t>(0)]</m:t>
                    </m:r>
                  </m:oMath>
                </a14:m>
                <a:r>
                  <a:rPr lang="en-US" altLang="zh-CN" sz="1600" dirty="0"/>
                  <a:t> nonparametrically (using just the causal graph), we can do the same with population-level counterfactual quantities, if they are identifiable</a:t>
                </a:r>
              </a:p>
              <a:p>
                <a:endParaRPr lang="en-US" altLang="zh-CN" sz="1600" dirty="0"/>
              </a:p>
              <a:p>
                <a:r>
                  <a:rPr lang="en-US" altLang="zh-CN" sz="1600" dirty="0"/>
                  <a:t>Same with CATEs: </a:t>
                </a:r>
                <a14:m>
                  <m:oMath xmlns:m="http://schemas.openxmlformats.org/officeDocument/2006/math">
                    <m:r>
                      <a:rPr lang="en-US" altLang="zh-CN" sz="1600" i="1">
                        <a:latin typeface="Cambria Math" panose="02040503050406030204" pitchFamily="18" charset="0"/>
                      </a:rPr>
                      <m:t>𝐸</m:t>
                    </m:r>
                    <m:d>
                      <m:dPr>
                        <m:begChr m:val="["/>
                        <m:endChr m:val="|"/>
                        <m:ctrlPr>
                          <a:rPr lang="en-US" altLang="zh-CN" sz="1600" i="1">
                            <a:latin typeface="Cambria Math" panose="02040503050406030204" pitchFamily="18" charset="0"/>
                          </a:rPr>
                        </m:ctrlPr>
                      </m:dPr>
                      <m:e>
                        <m:r>
                          <a:rPr lang="en-US" altLang="zh-CN" sz="1600" i="1">
                            <a:latin typeface="Cambria Math" panose="02040503050406030204" pitchFamily="18" charset="0"/>
                          </a:rPr>
                          <m:t>𝑌</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1</m:t>
                            </m:r>
                          </m:e>
                        </m:d>
                        <m:r>
                          <a:rPr lang="en-US" altLang="zh-CN" sz="1600" i="1">
                            <a:latin typeface="Cambria Math" panose="02040503050406030204" pitchFamily="18" charset="0"/>
                          </a:rPr>
                          <m:t> −</m:t>
                        </m:r>
                        <m:r>
                          <a:rPr lang="en-US" altLang="zh-CN" sz="1600" i="1">
                            <a:latin typeface="Cambria Math" panose="02040503050406030204" pitchFamily="18" charset="0"/>
                          </a:rPr>
                          <m:t>𝑌</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0</m:t>
                            </m:r>
                          </m:e>
                        </m:d>
                        <m:r>
                          <a:rPr lang="en-US" altLang="zh-CN" sz="1600" b="0" i="1" smtClean="0">
                            <a:latin typeface="Cambria Math" panose="02040503050406030204" pitchFamily="18" charset="0"/>
                          </a:rPr>
                          <m:t> </m:t>
                        </m:r>
                      </m:e>
                    </m:d>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𝑋</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𝑥</m:t>
                    </m:r>
                    <m:r>
                      <a:rPr lang="en-US" altLang="zh-CN" sz="1600" i="1">
                        <a:latin typeface="Cambria Math" panose="02040503050406030204" pitchFamily="18" charset="0"/>
                      </a:rPr>
                      <m:t>]</m:t>
                    </m:r>
                  </m:oMath>
                </a14:m>
                <a:r>
                  <a:rPr lang="en-US" altLang="zh-CN" sz="1600" dirty="0"/>
                  <a:t> </a:t>
                </a:r>
              </a:p>
              <a:p>
                <a:endParaRPr lang="en-US" altLang="zh-CN" sz="1600" dirty="0"/>
              </a:p>
              <a:p>
                <a:r>
                  <a:rPr lang="en-US" altLang="zh-CN" sz="1600" dirty="0"/>
                  <a:t>See </a:t>
                </a:r>
                <a:r>
                  <a:rPr lang="en-US" altLang="zh-CN" sz="1600" dirty="0">
                    <a:hlinkClick r:id="rId2"/>
                  </a:rPr>
                  <a:t>Malinsky et al. (2019)’s </a:t>
                </a:r>
                <a:r>
                  <a:rPr lang="en-US" altLang="zh-CN" sz="1600" dirty="0"/>
                  <a:t>potential outcome calculus (generalization of do-calculus) for general identification of counterfactual quantities</a:t>
                </a:r>
              </a:p>
            </p:txBody>
          </p:sp>
        </mc:Choice>
        <mc:Fallback>
          <p:sp>
            <p:nvSpPr>
              <p:cNvPr id="2" name="内容占位符 1">
                <a:extLst>
                  <a:ext uri="{FF2B5EF4-FFF2-40B4-BE49-F238E27FC236}">
                    <a16:creationId xmlns:a16="http://schemas.microsoft.com/office/drawing/2014/main" id="{29470C09-483C-44DF-9AB0-083630B252EA}"/>
                  </a:ext>
                </a:extLst>
              </p:cNvPr>
              <p:cNvSpPr>
                <a:spLocks noGrp="1" noRot="1" noChangeAspect="1" noMove="1" noResize="1" noEditPoints="1" noAdjustHandles="1" noChangeArrowheads="1" noChangeShapeType="1" noTextEdit="1"/>
              </p:cNvSpPr>
              <p:nvPr>
                <p:ph idx="1"/>
              </p:nvPr>
            </p:nvSpPr>
            <p:spPr>
              <a:blipFill>
                <a:blip r:embed="rId3"/>
                <a:stretch>
                  <a:fillRect r="-217"/>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A7214C58-88AC-4134-AADE-BFA087C5CB2B}"/>
              </a:ext>
            </a:extLst>
          </p:cNvPr>
          <p:cNvSpPr>
            <a:spLocks noGrp="1"/>
          </p:cNvSpPr>
          <p:nvPr>
            <p:ph type="sldNum" sz="quarter" idx="11"/>
          </p:nvPr>
        </p:nvSpPr>
        <p:spPr/>
        <p:txBody>
          <a:bodyPr/>
          <a:lstStyle/>
          <a:p>
            <a:fld id="{2AEAD966-1EF9-3A44-9B11-0C8090371A9A}" type="slidenum">
              <a:rPr lang="en-US" smtClean="0"/>
              <a:t>35</a:t>
            </a:fld>
            <a:endParaRPr lang="en-US"/>
          </a:p>
        </p:txBody>
      </p:sp>
      <p:sp>
        <p:nvSpPr>
          <p:cNvPr id="4" name="标题 3">
            <a:extLst>
              <a:ext uri="{FF2B5EF4-FFF2-40B4-BE49-F238E27FC236}">
                <a16:creationId xmlns:a16="http://schemas.microsoft.com/office/drawing/2014/main" id="{EA5EEFC2-F145-4662-B252-D8B5D02D0DEC}"/>
              </a:ext>
            </a:extLst>
          </p:cNvPr>
          <p:cNvSpPr>
            <a:spLocks noGrp="1"/>
          </p:cNvSpPr>
          <p:nvPr>
            <p:ph type="title"/>
          </p:nvPr>
        </p:nvSpPr>
        <p:spPr/>
        <p:txBody>
          <a:bodyPr>
            <a:noAutofit/>
          </a:bodyPr>
          <a:lstStyle/>
          <a:p>
            <a:r>
              <a:rPr lang="en-US" altLang="zh-CN" sz="2300" dirty="0"/>
              <a:t>Population-level Doesn’t Require a Parametric Model</a:t>
            </a:r>
            <a:endParaRPr lang="zh-CN" altLang="en-US" sz="2300" dirty="0"/>
          </a:p>
        </p:txBody>
      </p:sp>
      <p:sp>
        <p:nvSpPr>
          <p:cNvPr id="5" name="日期占位符 4">
            <a:extLst>
              <a:ext uri="{FF2B5EF4-FFF2-40B4-BE49-F238E27FC236}">
                <a16:creationId xmlns:a16="http://schemas.microsoft.com/office/drawing/2014/main" id="{3694B8C1-A90F-41C0-8074-760DC0E6BDA8}"/>
              </a:ext>
            </a:extLst>
          </p:cNvPr>
          <p:cNvSpPr>
            <a:spLocks noGrp="1"/>
          </p:cNvSpPr>
          <p:nvPr>
            <p:ph type="dt" sz="half" idx="12"/>
          </p:nvPr>
        </p:nvSpPr>
        <p:spPr/>
        <p:txBody>
          <a:bodyPr/>
          <a:lstStyle/>
          <a:p>
            <a:fld id="{63ADDE33-C9F1-F94F-A20E-DA422DA466DF}" type="datetime1">
              <a:rPr lang="en-US" smtClean="0"/>
              <a:t>9/1/2022</a:t>
            </a:fld>
            <a:endParaRPr lang="en-US" dirty="0"/>
          </a:p>
        </p:txBody>
      </p:sp>
    </p:spTree>
    <p:extLst>
      <p:ext uri="{BB962C8B-B14F-4D97-AF65-F5344CB8AC3E}">
        <p14:creationId xmlns:p14="http://schemas.microsoft.com/office/powerpoint/2010/main" val="39586226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1">
              <a:buClr>
                <a:schemeClr val="accent6">
                  <a:lumMod val="50000"/>
                </a:schemeClr>
              </a:buClr>
            </a:pPr>
            <a:r>
              <a:rPr lang="en-US" altLang="zh-CN" dirty="0">
                <a:solidFill>
                  <a:schemeClr val="bg1">
                    <a:lumMod val="65000"/>
                  </a:schemeClr>
                </a:solidFill>
              </a:rPr>
              <a:t>Counterfactuals Basics</a:t>
            </a:r>
          </a:p>
          <a:p>
            <a:pPr lvl="1">
              <a:buClr>
                <a:schemeClr val="accent6">
                  <a:lumMod val="50000"/>
                </a:schemeClr>
              </a:buClr>
            </a:pPr>
            <a:r>
              <a:rPr lang="en-US" altLang="zh-CN" dirty="0"/>
              <a:t>Important Application: Mediation</a:t>
            </a:r>
          </a:p>
          <a:p>
            <a:pPr lvl="1">
              <a:buClr>
                <a:schemeClr val="accent6">
                  <a:lumMod val="50000"/>
                </a:schemeClr>
              </a:buClr>
            </a:pPr>
            <a:r>
              <a:rPr lang="en-US" altLang="zh-CN" dirty="0">
                <a:solidFill>
                  <a:schemeClr val="bg1">
                    <a:lumMod val="65000"/>
                  </a:schemeClr>
                </a:solidFill>
              </a:rPr>
              <a:t>Representative Works</a:t>
            </a:r>
          </a:p>
        </p:txBody>
      </p:sp>
      <p:sp>
        <p:nvSpPr>
          <p:cNvPr id="3" name="Slide Number Placeholder 2"/>
          <p:cNvSpPr>
            <a:spLocks noGrp="1"/>
          </p:cNvSpPr>
          <p:nvPr>
            <p:ph type="sldNum" sz="quarter" idx="11"/>
          </p:nvPr>
        </p:nvSpPr>
        <p:spPr/>
        <p:txBody>
          <a:bodyPr/>
          <a:lstStyle/>
          <a:p>
            <a:fld id="{2AEAD966-1EF9-3A44-9B11-0C8090371A9A}" type="slidenum">
              <a:rPr lang="en-US" smtClean="0"/>
              <a:t>36</a:t>
            </a:fld>
            <a:endParaRPr lang="en-US"/>
          </a:p>
        </p:txBody>
      </p:sp>
      <p:sp>
        <p:nvSpPr>
          <p:cNvPr id="4" name="Title 3"/>
          <p:cNvSpPr>
            <a:spLocks noGrp="1"/>
          </p:cNvSpPr>
          <p:nvPr>
            <p:ph type="title"/>
          </p:nvPr>
        </p:nvSpPr>
        <p:spPr/>
        <p:txBody>
          <a:bodyPr/>
          <a:lstStyle/>
          <a:p>
            <a:r>
              <a:rPr lang="en-US" dirty="0"/>
              <a:t>Outline</a:t>
            </a:r>
          </a:p>
        </p:txBody>
      </p:sp>
      <p:sp>
        <p:nvSpPr>
          <p:cNvPr id="5" name="Date Placeholder 4"/>
          <p:cNvSpPr>
            <a:spLocks noGrp="1"/>
          </p:cNvSpPr>
          <p:nvPr>
            <p:ph type="dt" sz="half" idx="12"/>
          </p:nvPr>
        </p:nvSpPr>
        <p:spPr/>
        <p:txBody>
          <a:bodyPr/>
          <a:lstStyle/>
          <a:p>
            <a:fld id="{63ADDE33-C9F1-F94F-A20E-DA422DA466DF}" type="datetime1">
              <a:rPr lang="en-US" smtClean="0"/>
              <a:t>9/1/2022</a:t>
            </a:fld>
            <a:endParaRPr lang="en-US" dirty="0"/>
          </a:p>
        </p:txBody>
      </p:sp>
    </p:spTree>
    <p:extLst>
      <p:ext uri="{BB962C8B-B14F-4D97-AF65-F5344CB8AC3E}">
        <p14:creationId xmlns:p14="http://schemas.microsoft.com/office/powerpoint/2010/main" val="2546477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E9AB35B-B2CD-401C-B70C-35DC404D9326}"/>
              </a:ext>
            </a:extLst>
          </p:cNvPr>
          <p:cNvSpPr>
            <a:spLocks noGrp="1"/>
          </p:cNvSpPr>
          <p:nvPr>
            <p:ph type="sldNum" sz="quarter" idx="11"/>
          </p:nvPr>
        </p:nvSpPr>
        <p:spPr/>
        <p:txBody>
          <a:bodyPr/>
          <a:lstStyle/>
          <a:p>
            <a:fld id="{2AEAD966-1EF9-3A44-9B11-0C8090371A9A}" type="slidenum">
              <a:rPr lang="en-US" smtClean="0"/>
              <a:t>37</a:t>
            </a:fld>
            <a:endParaRPr lang="en-US"/>
          </a:p>
        </p:txBody>
      </p:sp>
      <p:sp>
        <p:nvSpPr>
          <p:cNvPr id="4" name="标题 3">
            <a:extLst>
              <a:ext uri="{FF2B5EF4-FFF2-40B4-BE49-F238E27FC236}">
                <a16:creationId xmlns:a16="http://schemas.microsoft.com/office/drawing/2014/main" id="{6A890E39-2799-4267-809D-3B708082DF8E}"/>
              </a:ext>
            </a:extLst>
          </p:cNvPr>
          <p:cNvSpPr>
            <a:spLocks noGrp="1"/>
          </p:cNvSpPr>
          <p:nvPr>
            <p:ph type="title"/>
          </p:nvPr>
        </p:nvSpPr>
        <p:spPr/>
        <p:txBody>
          <a:bodyPr/>
          <a:lstStyle/>
          <a:p>
            <a:r>
              <a:rPr lang="en-US" altLang="zh-CN" dirty="0"/>
              <a:t>Mediation</a:t>
            </a:r>
            <a:endParaRPr lang="zh-CN" altLang="en-US" dirty="0"/>
          </a:p>
        </p:txBody>
      </p:sp>
      <p:sp>
        <p:nvSpPr>
          <p:cNvPr id="5" name="日期占位符 4">
            <a:extLst>
              <a:ext uri="{FF2B5EF4-FFF2-40B4-BE49-F238E27FC236}">
                <a16:creationId xmlns:a16="http://schemas.microsoft.com/office/drawing/2014/main" id="{C15A43BC-9043-4039-925D-3BFC71CD5563}"/>
              </a:ext>
            </a:extLst>
          </p:cNvPr>
          <p:cNvSpPr>
            <a:spLocks noGrp="1"/>
          </p:cNvSpPr>
          <p:nvPr>
            <p:ph type="dt" sz="half" idx="12"/>
          </p:nvPr>
        </p:nvSpPr>
        <p:spPr/>
        <p:txBody>
          <a:bodyPr/>
          <a:lstStyle/>
          <a:p>
            <a:fld id="{63ADDE33-C9F1-F94F-A20E-DA422DA466DF}" type="datetime1">
              <a:rPr lang="en-US" smtClean="0"/>
              <a:t>9/1/2022</a:t>
            </a:fld>
            <a:endParaRPr lang="en-US" dirty="0"/>
          </a:p>
        </p:txBody>
      </p:sp>
      <p:sp>
        <p:nvSpPr>
          <p:cNvPr id="7" name="椭圆 6">
            <a:extLst>
              <a:ext uri="{FF2B5EF4-FFF2-40B4-BE49-F238E27FC236}">
                <a16:creationId xmlns:a16="http://schemas.microsoft.com/office/drawing/2014/main" id="{E6456284-014D-4ADF-B749-74DB158A7FC5}"/>
              </a:ext>
            </a:extLst>
          </p:cNvPr>
          <p:cNvSpPr/>
          <p:nvPr/>
        </p:nvSpPr>
        <p:spPr>
          <a:xfrm>
            <a:off x="6307752" y="2689679"/>
            <a:ext cx="1800550" cy="17262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Happiness</a:t>
            </a:r>
            <a:endParaRPr lang="zh-CN" altLang="en-US" dirty="0"/>
          </a:p>
        </p:txBody>
      </p:sp>
      <p:cxnSp>
        <p:nvCxnSpPr>
          <p:cNvPr id="9" name="直接箭头连接符 8">
            <a:extLst>
              <a:ext uri="{FF2B5EF4-FFF2-40B4-BE49-F238E27FC236}">
                <a16:creationId xmlns:a16="http://schemas.microsoft.com/office/drawing/2014/main" id="{3CA3E6C6-E981-4367-A41E-C620A516795B}"/>
              </a:ext>
            </a:extLst>
          </p:cNvPr>
          <p:cNvCxnSpPr>
            <a:cxnSpLocks/>
            <a:stCxn id="12" idx="6"/>
            <a:endCxn id="7" idx="2"/>
          </p:cNvCxnSpPr>
          <p:nvPr/>
        </p:nvCxnSpPr>
        <p:spPr>
          <a:xfrm>
            <a:off x="2436308" y="3552825"/>
            <a:ext cx="3871444" cy="0"/>
          </a:xfrm>
          <a:prstGeom prst="straightConnector1">
            <a:avLst/>
          </a:prstGeom>
          <a:ln w="381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椭圆 11">
            <a:extLst>
              <a:ext uri="{FF2B5EF4-FFF2-40B4-BE49-F238E27FC236}">
                <a16:creationId xmlns:a16="http://schemas.microsoft.com/office/drawing/2014/main" id="{F9746ECC-86E8-4649-9FD7-5B7C54F2A543}"/>
              </a:ext>
            </a:extLst>
          </p:cNvPr>
          <p:cNvSpPr/>
          <p:nvPr/>
        </p:nvSpPr>
        <p:spPr>
          <a:xfrm>
            <a:off x="1007559" y="2847975"/>
            <a:ext cx="1428749" cy="1409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Get dog</a:t>
            </a:r>
            <a:endParaRPr lang="zh-CN" altLang="en-US" dirty="0"/>
          </a:p>
        </p:txBody>
      </p:sp>
    </p:spTree>
    <p:extLst>
      <p:ext uri="{BB962C8B-B14F-4D97-AF65-F5344CB8AC3E}">
        <p14:creationId xmlns:p14="http://schemas.microsoft.com/office/powerpoint/2010/main" val="6885621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E9AB35B-B2CD-401C-B70C-35DC404D9326}"/>
              </a:ext>
            </a:extLst>
          </p:cNvPr>
          <p:cNvSpPr>
            <a:spLocks noGrp="1"/>
          </p:cNvSpPr>
          <p:nvPr>
            <p:ph type="sldNum" sz="quarter" idx="11"/>
          </p:nvPr>
        </p:nvSpPr>
        <p:spPr/>
        <p:txBody>
          <a:bodyPr/>
          <a:lstStyle/>
          <a:p>
            <a:fld id="{2AEAD966-1EF9-3A44-9B11-0C8090371A9A}" type="slidenum">
              <a:rPr lang="en-US" smtClean="0"/>
              <a:t>38</a:t>
            </a:fld>
            <a:endParaRPr lang="en-US"/>
          </a:p>
        </p:txBody>
      </p:sp>
      <p:sp>
        <p:nvSpPr>
          <p:cNvPr id="4" name="标题 3">
            <a:extLst>
              <a:ext uri="{FF2B5EF4-FFF2-40B4-BE49-F238E27FC236}">
                <a16:creationId xmlns:a16="http://schemas.microsoft.com/office/drawing/2014/main" id="{6A890E39-2799-4267-809D-3B708082DF8E}"/>
              </a:ext>
            </a:extLst>
          </p:cNvPr>
          <p:cNvSpPr>
            <a:spLocks noGrp="1"/>
          </p:cNvSpPr>
          <p:nvPr>
            <p:ph type="title"/>
          </p:nvPr>
        </p:nvSpPr>
        <p:spPr/>
        <p:txBody>
          <a:bodyPr/>
          <a:lstStyle/>
          <a:p>
            <a:r>
              <a:rPr lang="en-US" altLang="zh-CN" dirty="0"/>
              <a:t>Mediation</a:t>
            </a:r>
            <a:endParaRPr lang="zh-CN" altLang="en-US" dirty="0"/>
          </a:p>
        </p:txBody>
      </p:sp>
      <p:sp>
        <p:nvSpPr>
          <p:cNvPr id="5" name="日期占位符 4">
            <a:extLst>
              <a:ext uri="{FF2B5EF4-FFF2-40B4-BE49-F238E27FC236}">
                <a16:creationId xmlns:a16="http://schemas.microsoft.com/office/drawing/2014/main" id="{C15A43BC-9043-4039-925D-3BFC71CD5563}"/>
              </a:ext>
            </a:extLst>
          </p:cNvPr>
          <p:cNvSpPr>
            <a:spLocks noGrp="1"/>
          </p:cNvSpPr>
          <p:nvPr>
            <p:ph type="dt" sz="half" idx="12"/>
          </p:nvPr>
        </p:nvSpPr>
        <p:spPr/>
        <p:txBody>
          <a:bodyPr/>
          <a:lstStyle/>
          <a:p>
            <a:fld id="{63ADDE33-C9F1-F94F-A20E-DA422DA466DF}" type="datetime1">
              <a:rPr lang="en-US" smtClean="0"/>
              <a:t>9/1/2022</a:t>
            </a:fld>
            <a:endParaRPr lang="en-US" dirty="0"/>
          </a:p>
        </p:txBody>
      </p:sp>
      <p:sp>
        <p:nvSpPr>
          <p:cNvPr id="7" name="椭圆 6">
            <a:extLst>
              <a:ext uri="{FF2B5EF4-FFF2-40B4-BE49-F238E27FC236}">
                <a16:creationId xmlns:a16="http://schemas.microsoft.com/office/drawing/2014/main" id="{E6456284-014D-4ADF-B749-74DB158A7FC5}"/>
              </a:ext>
            </a:extLst>
          </p:cNvPr>
          <p:cNvSpPr/>
          <p:nvPr/>
        </p:nvSpPr>
        <p:spPr>
          <a:xfrm>
            <a:off x="6307752" y="2689679"/>
            <a:ext cx="1800550" cy="17262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Happiness</a:t>
            </a:r>
            <a:endParaRPr lang="zh-CN" altLang="en-US" dirty="0"/>
          </a:p>
        </p:txBody>
      </p:sp>
      <p:cxnSp>
        <p:nvCxnSpPr>
          <p:cNvPr id="9" name="直接箭头连接符 8">
            <a:extLst>
              <a:ext uri="{FF2B5EF4-FFF2-40B4-BE49-F238E27FC236}">
                <a16:creationId xmlns:a16="http://schemas.microsoft.com/office/drawing/2014/main" id="{3CA3E6C6-E981-4367-A41E-C620A516795B}"/>
              </a:ext>
            </a:extLst>
          </p:cNvPr>
          <p:cNvCxnSpPr>
            <a:cxnSpLocks/>
            <a:stCxn id="12" idx="6"/>
            <a:endCxn id="7" idx="2"/>
          </p:cNvCxnSpPr>
          <p:nvPr/>
        </p:nvCxnSpPr>
        <p:spPr>
          <a:xfrm>
            <a:off x="2436308" y="3552825"/>
            <a:ext cx="3871444" cy="0"/>
          </a:xfrm>
          <a:prstGeom prst="straightConnector1">
            <a:avLst/>
          </a:prstGeom>
          <a:ln w="381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椭圆 11">
            <a:extLst>
              <a:ext uri="{FF2B5EF4-FFF2-40B4-BE49-F238E27FC236}">
                <a16:creationId xmlns:a16="http://schemas.microsoft.com/office/drawing/2014/main" id="{F9746ECC-86E8-4649-9FD7-5B7C54F2A543}"/>
              </a:ext>
            </a:extLst>
          </p:cNvPr>
          <p:cNvSpPr/>
          <p:nvPr/>
        </p:nvSpPr>
        <p:spPr>
          <a:xfrm>
            <a:off x="1007559" y="2847975"/>
            <a:ext cx="1428749" cy="1409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Get dog</a:t>
            </a:r>
            <a:endParaRPr lang="zh-CN" altLang="en-US" dirty="0"/>
          </a:p>
        </p:txBody>
      </p:sp>
      <p:sp>
        <p:nvSpPr>
          <p:cNvPr id="8" name="椭圆 7">
            <a:extLst>
              <a:ext uri="{FF2B5EF4-FFF2-40B4-BE49-F238E27FC236}">
                <a16:creationId xmlns:a16="http://schemas.microsoft.com/office/drawing/2014/main" id="{297D5AA9-4DF4-4DE3-9B55-A21195E1844B}"/>
              </a:ext>
            </a:extLst>
          </p:cNvPr>
          <p:cNvSpPr/>
          <p:nvPr/>
        </p:nvSpPr>
        <p:spPr>
          <a:xfrm>
            <a:off x="3733809" y="1142696"/>
            <a:ext cx="1047741" cy="9964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Walk more</a:t>
            </a:r>
            <a:endParaRPr lang="zh-CN" altLang="en-US" dirty="0"/>
          </a:p>
        </p:txBody>
      </p:sp>
      <p:cxnSp>
        <p:nvCxnSpPr>
          <p:cNvPr id="6" name="直接箭头连接符 5">
            <a:extLst>
              <a:ext uri="{FF2B5EF4-FFF2-40B4-BE49-F238E27FC236}">
                <a16:creationId xmlns:a16="http://schemas.microsoft.com/office/drawing/2014/main" id="{1DC22BAE-3189-4B84-807F-83FFAC064FA1}"/>
              </a:ext>
            </a:extLst>
          </p:cNvPr>
          <p:cNvCxnSpPr>
            <a:stCxn id="12" idx="7"/>
            <a:endCxn id="8" idx="2"/>
          </p:cNvCxnSpPr>
          <p:nvPr/>
        </p:nvCxnSpPr>
        <p:spPr>
          <a:xfrm flipV="1">
            <a:off x="2227073" y="1640939"/>
            <a:ext cx="1506736" cy="141348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61101201-701F-44CC-849C-6FBE10649494}"/>
              </a:ext>
            </a:extLst>
          </p:cNvPr>
          <p:cNvCxnSpPr>
            <a:stCxn id="8" idx="6"/>
            <a:endCxn id="7" idx="1"/>
          </p:cNvCxnSpPr>
          <p:nvPr/>
        </p:nvCxnSpPr>
        <p:spPr>
          <a:xfrm>
            <a:off x="4781550" y="1640939"/>
            <a:ext cx="1789886" cy="13015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D1C25EB0-6A98-42B5-8468-C51F7A20EBD8}"/>
              </a:ext>
            </a:extLst>
          </p:cNvPr>
          <p:cNvSpPr txBox="1"/>
          <p:nvPr/>
        </p:nvSpPr>
        <p:spPr>
          <a:xfrm>
            <a:off x="3579247" y="3176209"/>
            <a:ext cx="1506736" cy="369332"/>
          </a:xfrm>
          <a:prstGeom prst="rect">
            <a:avLst/>
          </a:prstGeom>
          <a:noFill/>
        </p:spPr>
        <p:txBody>
          <a:bodyPr wrap="square" rtlCol="0">
            <a:spAutoFit/>
          </a:bodyPr>
          <a:lstStyle/>
          <a:p>
            <a:r>
              <a:rPr lang="en-US" altLang="zh-CN" dirty="0"/>
              <a:t>Direct effect</a:t>
            </a:r>
            <a:endParaRPr lang="zh-CN" altLang="en-US" dirty="0"/>
          </a:p>
        </p:txBody>
      </p:sp>
      <p:sp>
        <p:nvSpPr>
          <p:cNvPr id="14" name="文本框 13">
            <a:extLst>
              <a:ext uri="{FF2B5EF4-FFF2-40B4-BE49-F238E27FC236}">
                <a16:creationId xmlns:a16="http://schemas.microsoft.com/office/drawing/2014/main" id="{20D1A6AC-05E7-467D-AE0C-95C0BA81A6FD}"/>
              </a:ext>
            </a:extLst>
          </p:cNvPr>
          <p:cNvSpPr txBox="1"/>
          <p:nvPr/>
        </p:nvSpPr>
        <p:spPr>
          <a:xfrm>
            <a:off x="3485266" y="829711"/>
            <a:ext cx="1696334" cy="369332"/>
          </a:xfrm>
          <a:prstGeom prst="rect">
            <a:avLst/>
          </a:prstGeom>
          <a:noFill/>
        </p:spPr>
        <p:txBody>
          <a:bodyPr wrap="square" rtlCol="0">
            <a:spAutoFit/>
          </a:bodyPr>
          <a:lstStyle/>
          <a:p>
            <a:r>
              <a:rPr lang="en-US" altLang="zh-CN" dirty="0"/>
              <a:t>Indirect effect</a:t>
            </a:r>
            <a:endParaRPr lang="zh-CN" altLang="en-US" dirty="0"/>
          </a:p>
        </p:txBody>
      </p:sp>
    </p:spTree>
    <p:extLst>
      <p:ext uri="{BB962C8B-B14F-4D97-AF65-F5344CB8AC3E}">
        <p14:creationId xmlns:p14="http://schemas.microsoft.com/office/powerpoint/2010/main" val="14816025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E9AB35B-B2CD-401C-B70C-35DC404D9326}"/>
              </a:ext>
            </a:extLst>
          </p:cNvPr>
          <p:cNvSpPr>
            <a:spLocks noGrp="1"/>
          </p:cNvSpPr>
          <p:nvPr>
            <p:ph type="sldNum" sz="quarter" idx="11"/>
          </p:nvPr>
        </p:nvSpPr>
        <p:spPr/>
        <p:txBody>
          <a:bodyPr/>
          <a:lstStyle/>
          <a:p>
            <a:fld id="{2AEAD966-1EF9-3A44-9B11-0C8090371A9A}" type="slidenum">
              <a:rPr lang="en-US" smtClean="0"/>
              <a:t>39</a:t>
            </a:fld>
            <a:endParaRPr lang="en-US"/>
          </a:p>
        </p:txBody>
      </p:sp>
      <p:sp>
        <p:nvSpPr>
          <p:cNvPr id="4" name="标题 3">
            <a:extLst>
              <a:ext uri="{FF2B5EF4-FFF2-40B4-BE49-F238E27FC236}">
                <a16:creationId xmlns:a16="http://schemas.microsoft.com/office/drawing/2014/main" id="{6A890E39-2799-4267-809D-3B708082DF8E}"/>
              </a:ext>
            </a:extLst>
          </p:cNvPr>
          <p:cNvSpPr>
            <a:spLocks noGrp="1"/>
          </p:cNvSpPr>
          <p:nvPr>
            <p:ph type="title"/>
          </p:nvPr>
        </p:nvSpPr>
        <p:spPr/>
        <p:txBody>
          <a:bodyPr/>
          <a:lstStyle/>
          <a:p>
            <a:r>
              <a:rPr lang="en-US" altLang="zh-CN" dirty="0"/>
              <a:t>Mediation</a:t>
            </a:r>
            <a:endParaRPr lang="zh-CN" altLang="en-US" dirty="0"/>
          </a:p>
        </p:txBody>
      </p:sp>
      <p:sp>
        <p:nvSpPr>
          <p:cNvPr id="5" name="日期占位符 4">
            <a:extLst>
              <a:ext uri="{FF2B5EF4-FFF2-40B4-BE49-F238E27FC236}">
                <a16:creationId xmlns:a16="http://schemas.microsoft.com/office/drawing/2014/main" id="{C15A43BC-9043-4039-925D-3BFC71CD5563}"/>
              </a:ext>
            </a:extLst>
          </p:cNvPr>
          <p:cNvSpPr>
            <a:spLocks noGrp="1"/>
          </p:cNvSpPr>
          <p:nvPr>
            <p:ph type="dt" sz="half" idx="12"/>
          </p:nvPr>
        </p:nvSpPr>
        <p:spPr/>
        <p:txBody>
          <a:bodyPr/>
          <a:lstStyle/>
          <a:p>
            <a:fld id="{63ADDE33-C9F1-F94F-A20E-DA422DA466DF}" type="datetime1">
              <a:rPr lang="en-US" smtClean="0"/>
              <a:t>9/1/2022</a:t>
            </a:fld>
            <a:endParaRPr lang="en-US" dirty="0"/>
          </a:p>
        </p:txBody>
      </p:sp>
      <p:sp>
        <p:nvSpPr>
          <p:cNvPr id="7" name="椭圆 6">
            <a:extLst>
              <a:ext uri="{FF2B5EF4-FFF2-40B4-BE49-F238E27FC236}">
                <a16:creationId xmlns:a16="http://schemas.microsoft.com/office/drawing/2014/main" id="{E6456284-014D-4ADF-B749-74DB158A7FC5}"/>
              </a:ext>
            </a:extLst>
          </p:cNvPr>
          <p:cNvSpPr/>
          <p:nvPr/>
        </p:nvSpPr>
        <p:spPr>
          <a:xfrm>
            <a:off x="6307752" y="2689679"/>
            <a:ext cx="1800550" cy="17262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Happiness</a:t>
            </a:r>
            <a:endParaRPr lang="zh-CN" altLang="en-US" dirty="0"/>
          </a:p>
        </p:txBody>
      </p:sp>
      <p:sp>
        <p:nvSpPr>
          <p:cNvPr id="12" name="椭圆 11">
            <a:extLst>
              <a:ext uri="{FF2B5EF4-FFF2-40B4-BE49-F238E27FC236}">
                <a16:creationId xmlns:a16="http://schemas.microsoft.com/office/drawing/2014/main" id="{F9746ECC-86E8-4649-9FD7-5B7C54F2A543}"/>
              </a:ext>
            </a:extLst>
          </p:cNvPr>
          <p:cNvSpPr/>
          <p:nvPr/>
        </p:nvSpPr>
        <p:spPr>
          <a:xfrm>
            <a:off x="1007559" y="2847975"/>
            <a:ext cx="1428749" cy="1409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Get dog</a:t>
            </a:r>
            <a:endParaRPr lang="zh-CN" altLang="en-US" dirty="0"/>
          </a:p>
        </p:txBody>
      </p:sp>
      <p:sp>
        <p:nvSpPr>
          <p:cNvPr id="8" name="椭圆 7">
            <a:extLst>
              <a:ext uri="{FF2B5EF4-FFF2-40B4-BE49-F238E27FC236}">
                <a16:creationId xmlns:a16="http://schemas.microsoft.com/office/drawing/2014/main" id="{297D5AA9-4DF4-4DE3-9B55-A21195E1844B}"/>
              </a:ext>
            </a:extLst>
          </p:cNvPr>
          <p:cNvSpPr/>
          <p:nvPr/>
        </p:nvSpPr>
        <p:spPr>
          <a:xfrm>
            <a:off x="3733809" y="1142696"/>
            <a:ext cx="1047741" cy="9964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Walk more</a:t>
            </a:r>
            <a:endParaRPr lang="zh-CN" altLang="en-US" dirty="0"/>
          </a:p>
        </p:txBody>
      </p:sp>
      <p:cxnSp>
        <p:nvCxnSpPr>
          <p:cNvPr id="6" name="直接箭头连接符 5">
            <a:extLst>
              <a:ext uri="{FF2B5EF4-FFF2-40B4-BE49-F238E27FC236}">
                <a16:creationId xmlns:a16="http://schemas.microsoft.com/office/drawing/2014/main" id="{1DC22BAE-3189-4B84-807F-83FFAC064FA1}"/>
              </a:ext>
            </a:extLst>
          </p:cNvPr>
          <p:cNvCxnSpPr>
            <a:stCxn id="12" idx="7"/>
            <a:endCxn id="8" idx="2"/>
          </p:cNvCxnSpPr>
          <p:nvPr/>
        </p:nvCxnSpPr>
        <p:spPr>
          <a:xfrm flipV="1">
            <a:off x="2227073" y="1640939"/>
            <a:ext cx="1506736" cy="141348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61101201-701F-44CC-849C-6FBE10649494}"/>
              </a:ext>
            </a:extLst>
          </p:cNvPr>
          <p:cNvCxnSpPr>
            <a:stCxn id="8" idx="6"/>
            <a:endCxn id="7" idx="1"/>
          </p:cNvCxnSpPr>
          <p:nvPr/>
        </p:nvCxnSpPr>
        <p:spPr>
          <a:xfrm>
            <a:off x="4781550" y="1640939"/>
            <a:ext cx="1789886" cy="13015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D1C25EB0-6A98-42B5-8468-C51F7A20EBD8}"/>
              </a:ext>
            </a:extLst>
          </p:cNvPr>
          <p:cNvSpPr txBox="1"/>
          <p:nvPr/>
        </p:nvSpPr>
        <p:spPr>
          <a:xfrm>
            <a:off x="3579247" y="4956202"/>
            <a:ext cx="1506736" cy="369332"/>
          </a:xfrm>
          <a:prstGeom prst="rect">
            <a:avLst/>
          </a:prstGeom>
          <a:noFill/>
        </p:spPr>
        <p:txBody>
          <a:bodyPr wrap="square" rtlCol="0">
            <a:spAutoFit/>
          </a:bodyPr>
          <a:lstStyle/>
          <a:p>
            <a:r>
              <a:rPr lang="en-US" altLang="zh-CN" dirty="0"/>
              <a:t>Direct effect</a:t>
            </a:r>
            <a:endParaRPr lang="zh-CN" altLang="en-US" dirty="0"/>
          </a:p>
        </p:txBody>
      </p:sp>
      <p:sp>
        <p:nvSpPr>
          <p:cNvPr id="14" name="文本框 13">
            <a:extLst>
              <a:ext uri="{FF2B5EF4-FFF2-40B4-BE49-F238E27FC236}">
                <a16:creationId xmlns:a16="http://schemas.microsoft.com/office/drawing/2014/main" id="{20D1A6AC-05E7-467D-AE0C-95C0BA81A6FD}"/>
              </a:ext>
            </a:extLst>
          </p:cNvPr>
          <p:cNvSpPr txBox="1"/>
          <p:nvPr/>
        </p:nvSpPr>
        <p:spPr>
          <a:xfrm>
            <a:off x="3485266" y="829711"/>
            <a:ext cx="1696334" cy="369332"/>
          </a:xfrm>
          <a:prstGeom prst="rect">
            <a:avLst/>
          </a:prstGeom>
          <a:noFill/>
        </p:spPr>
        <p:txBody>
          <a:bodyPr wrap="square" rtlCol="0">
            <a:spAutoFit/>
          </a:bodyPr>
          <a:lstStyle/>
          <a:p>
            <a:r>
              <a:rPr lang="en-US" altLang="zh-CN" dirty="0"/>
              <a:t>Indirect effect</a:t>
            </a:r>
            <a:endParaRPr lang="zh-CN" altLang="en-US" dirty="0"/>
          </a:p>
        </p:txBody>
      </p:sp>
      <p:sp>
        <p:nvSpPr>
          <p:cNvPr id="15" name="椭圆 14">
            <a:extLst>
              <a:ext uri="{FF2B5EF4-FFF2-40B4-BE49-F238E27FC236}">
                <a16:creationId xmlns:a16="http://schemas.microsoft.com/office/drawing/2014/main" id="{74FBBAE0-DD6A-49AC-AD01-FDC4907D3367}"/>
              </a:ext>
            </a:extLst>
          </p:cNvPr>
          <p:cNvSpPr/>
          <p:nvPr/>
        </p:nvSpPr>
        <p:spPr>
          <a:xfrm>
            <a:off x="3655822" y="2942489"/>
            <a:ext cx="1267311" cy="11532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More</a:t>
            </a:r>
          </a:p>
          <a:p>
            <a:pPr algn="ctr"/>
            <a:r>
              <a:rPr lang="en-US" altLang="zh-CN" dirty="0"/>
              <a:t>friends</a:t>
            </a:r>
            <a:endParaRPr lang="zh-CN" altLang="en-US" dirty="0"/>
          </a:p>
        </p:txBody>
      </p:sp>
      <p:cxnSp>
        <p:nvCxnSpPr>
          <p:cNvPr id="10" name="直接箭头连接符 9">
            <a:extLst>
              <a:ext uri="{FF2B5EF4-FFF2-40B4-BE49-F238E27FC236}">
                <a16:creationId xmlns:a16="http://schemas.microsoft.com/office/drawing/2014/main" id="{A679E330-71B1-45AE-A999-CD605B867C3F}"/>
              </a:ext>
            </a:extLst>
          </p:cNvPr>
          <p:cNvCxnSpPr>
            <a:stCxn id="12" idx="6"/>
            <a:endCxn id="15" idx="2"/>
          </p:cNvCxnSpPr>
          <p:nvPr/>
        </p:nvCxnSpPr>
        <p:spPr>
          <a:xfrm flipV="1">
            <a:off x="2436308" y="3519120"/>
            <a:ext cx="1219514" cy="33705"/>
          </a:xfrm>
          <a:prstGeom prst="straightConnector1">
            <a:avLst/>
          </a:prstGeom>
          <a:ln w="381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88BCBDF3-22FD-4B2F-8365-522DC46CF72E}"/>
              </a:ext>
            </a:extLst>
          </p:cNvPr>
          <p:cNvCxnSpPr>
            <a:stCxn id="15" idx="6"/>
            <a:endCxn id="7" idx="2"/>
          </p:cNvCxnSpPr>
          <p:nvPr/>
        </p:nvCxnSpPr>
        <p:spPr>
          <a:xfrm>
            <a:off x="4923133" y="3519120"/>
            <a:ext cx="1384619" cy="33705"/>
          </a:xfrm>
          <a:prstGeom prst="straightConnector1">
            <a:avLst/>
          </a:prstGeom>
          <a:ln w="381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连接符: 曲线 23">
            <a:extLst>
              <a:ext uri="{FF2B5EF4-FFF2-40B4-BE49-F238E27FC236}">
                <a16:creationId xmlns:a16="http://schemas.microsoft.com/office/drawing/2014/main" id="{430D3DE8-C052-4ACE-B702-4434FFA02641}"/>
              </a:ext>
            </a:extLst>
          </p:cNvPr>
          <p:cNvCxnSpPr>
            <a:stCxn id="12" idx="4"/>
            <a:endCxn id="7" idx="4"/>
          </p:cNvCxnSpPr>
          <p:nvPr/>
        </p:nvCxnSpPr>
        <p:spPr>
          <a:xfrm rot="16200000" flipH="1">
            <a:off x="4385832" y="1593776"/>
            <a:ext cx="158296" cy="5486093"/>
          </a:xfrm>
          <a:prstGeom prst="curvedConnector3">
            <a:avLst>
              <a:gd name="adj1" fmla="val 388826"/>
            </a:avLst>
          </a:prstGeom>
          <a:ln w="38100">
            <a:solidFill>
              <a:schemeClr val="accent1">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66584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E9AB35B-B2CD-401C-B70C-35DC404D9326}"/>
              </a:ext>
            </a:extLst>
          </p:cNvPr>
          <p:cNvSpPr>
            <a:spLocks noGrp="1"/>
          </p:cNvSpPr>
          <p:nvPr>
            <p:ph type="sldNum" sz="quarter" idx="11"/>
          </p:nvPr>
        </p:nvSpPr>
        <p:spPr/>
        <p:txBody>
          <a:bodyPr/>
          <a:lstStyle/>
          <a:p>
            <a:fld id="{2AEAD966-1EF9-3A44-9B11-0C8090371A9A}" type="slidenum">
              <a:rPr lang="en-US" smtClean="0"/>
              <a:t>40</a:t>
            </a:fld>
            <a:endParaRPr lang="en-US"/>
          </a:p>
        </p:txBody>
      </p:sp>
      <p:sp>
        <p:nvSpPr>
          <p:cNvPr id="4" name="标题 3">
            <a:extLst>
              <a:ext uri="{FF2B5EF4-FFF2-40B4-BE49-F238E27FC236}">
                <a16:creationId xmlns:a16="http://schemas.microsoft.com/office/drawing/2014/main" id="{6A890E39-2799-4267-809D-3B708082DF8E}"/>
              </a:ext>
            </a:extLst>
          </p:cNvPr>
          <p:cNvSpPr>
            <a:spLocks noGrp="1"/>
          </p:cNvSpPr>
          <p:nvPr>
            <p:ph type="title"/>
          </p:nvPr>
        </p:nvSpPr>
        <p:spPr/>
        <p:txBody>
          <a:bodyPr/>
          <a:lstStyle/>
          <a:p>
            <a:r>
              <a:rPr lang="en-US" altLang="zh-CN" dirty="0"/>
              <a:t>Mediation</a:t>
            </a:r>
            <a:endParaRPr lang="zh-CN" altLang="en-US" dirty="0"/>
          </a:p>
        </p:txBody>
      </p:sp>
      <p:sp>
        <p:nvSpPr>
          <p:cNvPr id="5" name="日期占位符 4">
            <a:extLst>
              <a:ext uri="{FF2B5EF4-FFF2-40B4-BE49-F238E27FC236}">
                <a16:creationId xmlns:a16="http://schemas.microsoft.com/office/drawing/2014/main" id="{C15A43BC-9043-4039-925D-3BFC71CD5563}"/>
              </a:ext>
            </a:extLst>
          </p:cNvPr>
          <p:cNvSpPr>
            <a:spLocks noGrp="1"/>
          </p:cNvSpPr>
          <p:nvPr>
            <p:ph type="dt" sz="half" idx="12"/>
          </p:nvPr>
        </p:nvSpPr>
        <p:spPr/>
        <p:txBody>
          <a:bodyPr/>
          <a:lstStyle/>
          <a:p>
            <a:fld id="{63ADDE33-C9F1-F94F-A20E-DA422DA466DF}" type="datetime1">
              <a:rPr lang="en-US" smtClean="0"/>
              <a:t>9/1/2022</a:t>
            </a:fld>
            <a:endParaRPr lang="en-US" dirty="0"/>
          </a:p>
        </p:txBody>
      </p:sp>
      <p:sp>
        <p:nvSpPr>
          <p:cNvPr id="7" name="椭圆 6">
            <a:extLst>
              <a:ext uri="{FF2B5EF4-FFF2-40B4-BE49-F238E27FC236}">
                <a16:creationId xmlns:a16="http://schemas.microsoft.com/office/drawing/2014/main" id="{E6456284-014D-4ADF-B749-74DB158A7FC5}"/>
              </a:ext>
            </a:extLst>
          </p:cNvPr>
          <p:cNvSpPr/>
          <p:nvPr/>
        </p:nvSpPr>
        <p:spPr>
          <a:xfrm>
            <a:off x="6307752" y="2689679"/>
            <a:ext cx="1800550" cy="17262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Happiness</a:t>
            </a:r>
            <a:endParaRPr lang="zh-CN" altLang="en-US" dirty="0"/>
          </a:p>
        </p:txBody>
      </p:sp>
      <p:sp>
        <p:nvSpPr>
          <p:cNvPr id="12" name="椭圆 11">
            <a:extLst>
              <a:ext uri="{FF2B5EF4-FFF2-40B4-BE49-F238E27FC236}">
                <a16:creationId xmlns:a16="http://schemas.microsoft.com/office/drawing/2014/main" id="{F9746ECC-86E8-4649-9FD7-5B7C54F2A543}"/>
              </a:ext>
            </a:extLst>
          </p:cNvPr>
          <p:cNvSpPr/>
          <p:nvPr/>
        </p:nvSpPr>
        <p:spPr>
          <a:xfrm>
            <a:off x="1007559" y="2847975"/>
            <a:ext cx="1428749" cy="1409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Get dog</a:t>
            </a:r>
            <a:endParaRPr lang="zh-CN" altLang="en-US" dirty="0"/>
          </a:p>
        </p:txBody>
      </p:sp>
      <p:sp>
        <p:nvSpPr>
          <p:cNvPr id="8" name="椭圆 7">
            <a:extLst>
              <a:ext uri="{FF2B5EF4-FFF2-40B4-BE49-F238E27FC236}">
                <a16:creationId xmlns:a16="http://schemas.microsoft.com/office/drawing/2014/main" id="{297D5AA9-4DF4-4DE3-9B55-A21195E1844B}"/>
              </a:ext>
            </a:extLst>
          </p:cNvPr>
          <p:cNvSpPr/>
          <p:nvPr/>
        </p:nvSpPr>
        <p:spPr>
          <a:xfrm>
            <a:off x="3733809" y="1142696"/>
            <a:ext cx="1047741" cy="9964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Walk more</a:t>
            </a:r>
            <a:endParaRPr lang="zh-CN" altLang="en-US" dirty="0"/>
          </a:p>
        </p:txBody>
      </p:sp>
      <p:cxnSp>
        <p:nvCxnSpPr>
          <p:cNvPr id="6" name="直接箭头连接符 5">
            <a:extLst>
              <a:ext uri="{FF2B5EF4-FFF2-40B4-BE49-F238E27FC236}">
                <a16:creationId xmlns:a16="http://schemas.microsoft.com/office/drawing/2014/main" id="{1DC22BAE-3189-4B84-807F-83FFAC064FA1}"/>
              </a:ext>
            </a:extLst>
          </p:cNvPr>
          <p:cNvCxnSpPr>
            <a:stCxn id="12" idx="7"/>
            <a:endCxn id="8" idx="2"/>
          </p:cNvCxnSpPr>
          <p:nvPr/>
        </p:nvCxnSpPr>
        <p:spPr>
          <a:xfrm flipV="1">
            <a:off x="2227073" y="1640939"/>
            <a:ext cx="1506736" cy="141348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61101201-701F-44CC-849C-6FBE10649494}"/>
              </a:ext>
            </a:extLst>
          </p:cNvPr>
          <p:cNvCxnSpPr>
            <a:stCxn id="8" idx="6"/>
            <a:endCxn id="7" idx="1"/>
          </p:cNvCxnSpPr>
          <p:nvPr/>
        </p:nvCxnSpPr>
        <p:spPr>
          <a:xfrm>
            <a:off x="4781550" y="1640939"/>
            <a:ext cx="1789886" cy="13015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D1C25EB0-6A98-42B5-8468-C51F7A20EBD8}"/>
              </a:ext>
            </a:extLst>
          </p:cNvPr>
          <p:cNvSpPr txBox="1"/>
          <p:nvPr/>
        </p:nvSpPr>
        <p:spPr>
          <a:xfrm>
            <a:off x="3579247" y="4956202"/>
            <a:ext cx="1506736" cy="369332"/>
          </a:xfrm>
          <a:prstGeom prst="rect">
            <a:avLst/>
          </a:prstGeom>
          <a:noFill/>
        </p:spPr>
        <p:txBody>
          <a:bodyPr wrap="square" rtlCol="0">
            <a:spAutoFit/>
          </a:bodyPr>
          <a:lstStyle/>
          <a:p>
            <a:r>
              <a:rPr lang="en-US" altLang="zh-CN" dirty="0"/>
              <a:t>Direct effect</a:t>
            </a:r>
            <a:endParaRPr lang="zh-CN" altLang="en-US" dirty="0"/>
          </a:p>
        </p:txBody>
      </p:sp>
      <p:sp>
        <p:nvSpPr>
          <p:cNvPr id="14" name="文本框 13">
            <a:extLst>
              <a:ext uri="{FF2B5EF4-FFF2-40B4-BE49-F238E27FC236}">
                <a16:creationId xmlns:a16="http://schemas.microsoft.com/office/drawing/2014/main" id="{20D1A6AC-05E7-467D-AE0C-95C0BA81A6FD}"/>
              </a:ext>
            </a:extLst>
          </p:cNvPr>
          <p:cNvSpPr txBox="1"/>
          <p:nvPr/>
        </p:nvSpPr>
        <p:spPr>
          <a:xfrm>
            <a:off x="3485266" y="829711"/>
            <a:ext cx="1696334" cy="369332"/>
          </a:xfrm>
          <a:prstGeom prst="rect">
            <a:avLst/>
          </a:prstGeom>
          <a:noFill/>
        </p:spPr>
        <p:txBody>
          <a:bodyPr wrap="square" rtlCol="0">
            <a:spAutoFit/>
          </a:bodyPr>
          <a:lstStyle/>
          <a:p>
            <a:r>
              <a:rPr lang="en-US" altLang="zh-CN" dirty="0"/>
              <a:t>Indirect effect</a:t>
            </a:r>
            <a:endParaRPr lang="zh-CN" altLang="en-US" dirty="0"/>
          </a:p>
        </p:txBody>
      </p:sp>
      <p:sp>
        <p:nvSpPr>
          <p:cNvPr id="15" name="椭圆 14">
            <a:extLst>
              <a:ext uri="{FF2B5EF4-FFF2-40B4-BE49-F238E27FC236}">
                <a16:creationId xmlns:a16="http://schemas.microsoft.com/office/drawing/2014/main" id="{74FBBAE0-DD6A-49AC-AD01-FDC4907D3367}"/>
              </a:ext>
            </a:extLst>
          </p:cNvPr>
          <p:cNvSpPr/>
          <p:nvPr/>
        </p:nvSpPr>
        <p:spPr>
          <a:xfrm>
            <a:off x="3655822" y="2942489"/>
            <a:ext cx="1267311" cy="11532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More</a:t>
            </a:r>
          </a:p>
          <a:p>
            <a:pPr algn="ctr"/>
            <a:r>
              <a:rPr lang="en-US" altLang="zh-CN" dirty="0"/>
              <a:t>friends</a:t>
            </a:r>
            <a:endParaRPr lang="zh-CN" altLang="en-US" dirty="0"/>
          </a:p>
        </p:txBody>
      </p:sp>
      <p:cxnSp>
        <p:nvCxnSpPr>
          <p:cNvPr id="10" name="直接箭头连接符 9">
            <a:extLst>
              <a:ext uri="{FF2B5EF4-FFF2-40B4-BE49-F238E27FC236}">
                <a16:creationId xmlns:a16="http://schemas.microsoft.com/office/drawing/2014/main" id="{A679E330-71B1-45AE-A999-CD605B867C3F}"/>
              </a:ext>
            </a:extLst>
          </p:cNvPr>
          <p:cNvCxnSpPr>
            <a:stCxn id="12" idx="6"/>
            <a:endCxn id="15" idx="2"/>
          </p:cNvCxnSpPr>
          <p:nvPr/>
        </p:nvCxnSpPr>
        <p:spPr>
          <a:xfrm flipV="1">
            <a:off x="2436308" y="3519120"/>
            <a:ext cx="1219514" cy="33705"/>
          </a:xfrm>
          <a:prstGeom prst="straightConnector1">
            <a:avLst/>
          </a:prstGeom>
          <a:ln w="381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88BCBDF3-22FD-4B2F-8365-522DC46CF72E}"/>
              </a:ext>
            </a:extLst>
          </p:cNvPr>
          <p:cNvCxnSpPr>
            <a:stCxn id="15" idx="6"/>
            <a:endCxn id="7" idx="2"/>
          </p:cNvCxnSpPr>
          <p:nvPr/>
        </p:nvCxnSpPr>
        <p:spPr>
          <a:xfrm>
            <a:off x="4923133" y="3519120"/>
            <a:ext cx="1384619" cy="33705"/>
          </a:xfrm>
          <a:prstGeom prst="straightConnector1">
            <a:avLst/>
          </a:prstGeom>
          <a:ln w="381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连接符: 曲线 23">
            <a:extLst>
              <a:ext uri="{FF2B5EF4-FFF2-40B4-BE49-F238E27FC236}">
                <a16:creationId xmlns:a16="http://schemas.microsoft.com/office/drawing/2014/main" id="{430D3DE8-C052-4ACE-B702-4434FFA02641}"/>
              </a:ext>
            </a:extLst>
          </p:cNvPr>
          <p:cNvCxnSpPr>
            <a:stCxn id="12" idx="4"/>
            <a:endCxn id="7" idx="4"/>
          </p:cNvCxnSpPr>
          <p:nvPr/>
        </p:nvCxnSpPr>
        <p:spPr>
          <a:xfrm rot="16200000" flipH="1">
            <a:off x="4385832" y="1593776"/>
            <a:ext cx="158296" cy="5486093"/>
          </a:xfrm>
          <a:prstGeom prst="curvedConnector3">
            <a:avLst>
              <a:gd name="adj1" fmla="val 388826"/>
            </a:avLst>
          </a:prstGeom>
          <a:ln w="38100">
            <a:solidFill>
              <a:schemeClr val="accent1">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5A8A95C6-9337-4EE2-8BCD-C20402F0D144}"/>
              </a:ext>
            </a:extLst>
          </p:cNvPr>
          <p:cNvSpPr txBox="1"/>
          <p:nvPr/>
        </p:nvSpPr>
        <p:spPr>
          <a:xfrm>
            <a:off x="5867399" y="4956202"/>
            <a:ext cx="2562225" cy="646331"/>
          </a:xfrm>
          <a:prstGeom prst="rect">
            <a:avLst/>
          </a:prstGeom>
          <a:noFill/>
        </p:spPr>
        <p:txBody>
          <a:bodyPr wrap="square" rtlCol="0">
            <a:spAutoFit/>
          </a:bodyPr>
          <a:lstStyle/>
          <a:p>
            <a:r>
              <a:rPr lang="en-US" altLang="zh-CN" dirty="0"/>
              <a:t>How can we measure the direct effect?</a:t>
            </a:r>
            <a:endParaRPr lang="zh-CN" altLang="en-US" dirty="0"/>
          </a:p>
        </p:txBody>
      </p:sp>
    </p:spTree>
    <p:extLst>
      <p:ext uri="{BB962C8B-B14F-4D97-AF65-F5344CB8AC3E}">
        <p14:creationId xmlns:p14="http://schemas.microsoft.com/office/powerpoint/2010/main" val="42553775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E84E11A-5D42-4195-A9BA-DF7319F4FBC4}"/>
              </a:ext>
            </a:extLst>
          </p:cNvPr>
          <p:cNvSpPr>
            <a:spLocks noGrp="1"/>
          </p:cNvSpPr>
          <p:nvPr>
            <p:ph type="sldNum" sz="quarter" idx="11"/>
          </p:nvPr>
        </p:nvSpPr>
        <p:spPr/>
        <p:txBody>
          <a:bodyPr/>
          <a:lstStyle/>
          <a:p>
            <a:fld id="{2AEAD966-1EF9-3A44-9B11-0C8090371A9A}" type="slidenum">
              <a:rPr lang="en-US" smtClean="0"/>
              <a:t>41</a:t>
            </a:fld>
            <a:endParaRPr lang="en-US"/>
          </a:p>
        </p:txBody>
      </p:sp>
      <p:sp>
        <p:nvSpPr>
          <p:cNvPr id="4" name="标题 3">
            <a:extLst>
              <a:ext uri="{FF2B5EF4-FFF2-40B4-BE49-F238E27FC236}">
                <a16:creationId xmlns:a16="http://schemas.microsoft.com/office/drawing/2014/main" id="{52ED0D6B-85F3-469C-B6DB-B2306A0F884E}"/>
              </a:ext>
            </a:extLst>
          </p:cNvPr>
          <p:cNvSpPr>
            <a:spLocks noGrp="1"/>
          </p:cNvSpPr>
          <p:nvPr>
            <p:ph type="title"/>
          </p:nvPr>
        </p:nvSpPr>
        <p:spPr/>
        <p:txBody>
          <a:bodyPr/>
          <a:lstStyle/>
          <a:p>
            <a:r>
              <a:rPr lang="en-US" altLang="zh-CN" dirty="0"/>
              <a:t>Controlled Direct Effect (CDE)</a:t>
            </a:r>
            <a:endParaRPr lang="zh-CN" altLang="en-US" dirty="0"/>
          </a:p>
        </p:txBody>
      </p:sp>
      <p:sp>
        <p:nvSpPr>
          <p:cNvPr id="5" name="日期占位符 4">
            <a:extLst>
              <a:ext uri="{FF2B5EF4-FFF2-40B4-BE49-F238E27FC236}">
                <a16:creationId xmlns:a16="http://schemas.microsoft.com/office/drawing/2014/main" id="{E11D346B-EFD4-4D96-90D9-52C008DE6416}"/>
              </a:ext>
            </a:extLst>
          </p:cNvPr>
          <p:cNvSpPr>
            <a:spLocks noGrp="1"/>
          </p:cNvSpPr>
          <p:nvPr>
            <p:ph type="dt" sz="half" idx="12"/>
          </p:nvPr>
        </p:nvSpPr>
        <p:spPr/>
        <p:txBody>
          <a:bodyPr/>
          <a:lstStyle/>
          <a:p>
            <a:fld id="{63ADDE33-C9F1-F94F-A20E-DA422DA466DF}" type="datetime1">
              <a:rPr lang="en-US" smtClean="0"/>
              <a:t>9/1/2022</a:t>
            </a:fld>
            <a:endParaRPr lang="en-US" dirty="0"/>
          </a:p>
        </p:txBody>
      </p:sp>
      <mc:AlternateContent xmlns:mc="http://schemas.openxmlformats.org/markup-compatibility/2006">
        <mc:Choice xmlns:a14="http://schemas.microsoft.com/office/drawing/2010/main" Requires="a14">
          <p:sp>
            <p:nvSpPr>
              <p:cNvPr id="6" name="椭圆 5">
                <a:extLst>
                  <a:ext uri="{FF2B5EF4-FFF2-40B4-BE49-F238E27FC236}">
                    <a16:creationId xmlns:a16="http://schemas.microsoft.com/office/drawing/2014/main" id="{B665C9EB-B109-4082-BAAF-4F060384049B}"/>
                  </a:ext>
                </a:extLst>
              </p:cNvPr>
              <p:cNvSpPr/>
              <p:nvPr/>
            </p:nvSpPr>
            <p:spPr>
              <a:xfrm>
                <a:off x="1159896" y="3291215"/>
                <a:ext cx="600075" cy="552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  </m:t>
                      </m:r>
                      <m:r>
                        <a:rPr lang="en-US" altLang="zh-CN" b="0" i="1" smtClean="0">
                          <a:latin typeface="Cambria Math" panose="02040503050406030204" pitchFamily="18" charset="0"/>
                        </a:rPr>
                        <m:t>𝑇</m:t>
                      </m:r>
                    </m:oMath>
                  </m:oMathPara>
                </a14:m>
                <a:endParaRPr lang="zh-CN" altLang="en-US" dirty="0"/>
              </a:p>
            </p:txBody>
          </p:sp>
        </mc:Choice>
        <mc:Fallback>
          <p:sp>
            <p:nvSpPr>
              <p:cNvPr id="6" name="椭圆 5">
                <a:extLst>
                  <a:ext uri="{FF2B5EF4-FFF2-40B4-BE49-F238E27FC236}">
                    <a16:creationId xmlns:a16="http://schemas.microsoft.com/office/drawing/2014/main" id="{B665C9EB-B109-4082-BAAF-4F060384049B}"/>
                  </a:ext>
                </a:extLst>
              </p:cNvPr>
              <p:cNvSpPr>
                <a:spLocks noRot="1" noChangeAspect="1" noMove="1" noResize="1" noEditPoints="1" noAdjustHandles="1" noChangeArrowheads="1" noChangeShapeType="1" noTextEdit="1"/>
              </p:cNvSpPr>
              <p:nvPr/>
            </p:nvSpPr>
            <p:spPr>
              <a:xfrm>
                <a:off x="1159896" y="3291215"/>
                <a:ext cx="600075" cy="552450"/>
              </a:xfrm>
              <a:prstGeom prst="ellipse">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椭圆 6">
                <a:extLst>
                  <a:ext uri="{FF2B5EF4-FFF2-40B4-BE49-F238E27FC236}">
                    <a16:creationId xmlns:a16="http://schemas.microsoft.com/office/drawing/2014/main" id="{341EC86E-A212-4C0B-ADC6-7E536A6A5B65}"/>
                  </a:ext>
                </a:extLst>
              </p:cNvPr>
              <p:cNvSpPr/>
              <p:nvPr/>
            </p:nvSpPr>
            <p:spPr>
              <a:xfrm>
                <a:off x="2298133" y="2486563"/>
                <a:ext cx="600075" cy="552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  </m:t>
                      </m:r>
                      <m:r>
                        <a:rPr lang="en-US" altLang="zh-CN" b="0" i="1" smtClean="0">
                          <a:latin typeface="Cambria Math" panose="02040503050406030204" pitchFamily="18" charset="0"/>
                        </a:rPr>
                        <m:t>𝑀</m:t>
                      </m:r>
                    </m:oMath>
                  </m:oMathPara>
                </a14:m>
                <a:endParaRPr lang="zh-CN" altLang="en-US" dirty="0"/>
              </a:p>
            </p:txBody>
          </p:sp>
        </mc:Choice>
        <mc:Fallback>
          <p:sp>
            <p:nvSpPr>
              <p:cNvPr id="7" name="椭圆 6">
                <a:extLst>
                  <a:ext uri="{FF2B5EF4-FFF2-40B4-BE49-F238E27FC236}">
                    <a16:creationId xmlns:a16="http://schemas.microsoft.com/office/drawing/2014/main" id="{341EC86E-A212-4C0B-ADC6-7E536A6A5B65}"/>
                  </a:ext>
                </a:extLst>
              </p:cNvPr>
              <p:cNvSpPr>
                <a:spLocks noRot="1" noChangeAspect="1" noMove="1" noResize="1" noEditPoints="1" noAdjustHandles="1" noChangeArrowheads="1" noChangeShapeType="1" noTextEdit="1"/>
              </p:cNvSpPr>
              <p:nvPr/>
            </p:nvSpPr>
            <p:spPr>
              <a:xfrm>
                <a:off x="2298133" y="2486563"/>
                <a:ext cx="600075" cy="552450"/>
              </a:xfrm>
              <a:prstGeom prst="ellipse">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椭圆 7">
                <a:extLst>
                  <a:ext uri="{FF2B5EF4-FFF2-40B4-BE49-F238E27FC236}">
                    <a16:creationId xmlns:a16="http://schemas.microsoft.com/office/drawing/2014/main" id="{651AE2D8-A683-4473-A23A-D8D2FDF1F14A}"/>
                  </a:ext>
                </a:extLst>
              </p:cNvPr>
              <p:cNvSpPr/>
              <p:nvPr/>
            </p:nvSpPr>
            <p:spPr>
              <a:xfrm>
                <a:off x="3293496" y="3291215"/>
                <a:ext cx="600075" cy="552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  </m:t>
                      </m:r>
                      <m:r>
                        <a:rPr lang="en-US" altLang="zh-CN" b="0" i="1" smtClean="0">
                          <a:latin typeface="Cambria Math" panose="02040503050406030204" pitchFamily="18" charset="0"/>
                        </a:rPr>
                        <m:t>𝑌</m:t>
                      </m:r>
                    </m:oMath>
                  </m:oMathPara>
                </a14:m>
                <a:endParaRPr lang="zh-CN" altLang="en-US" dirty="0"/>
              </a:p>
            </p:txBody>
          </p:sp>
        </mc:Choice>
        <mc:Fallback>
          <p:sp>
            <p:nvSpPr>
              <p:cNvPr id="8" name="椭圆 7">
                <a:extLst>
                  <a:ext uri="{FF2B5EF4-FFF2-40B4-BE49-F238E27FC236}">
                    <a16:creationId xmlns:a16="http://schemas.microsoft.com/office/drawing/2014/main" id="{651AE2D8-A683-4473-A23A-D8D2FDF1F14A}"/>
                  </a:ext>
                </a:extLst>
              </p:cNvPr>
              <p:cNvSpPr>
                <a:spLocks noRot="1" noChangeAspect="1" noMove="1" noResize="1" noEditPoints="1" noAdjustHandles="1" noChangeArrowheads="1" noChangeShapeType="1" noTextEdit="1"/>
              </p:cNvSpPr>
              <p:nvPr/>
            </p:nvSpPr>
            <p:spPr>
              <a:xfrm>
                <a:off x="3293496" y="3291215"/>
                <a:ext cx="600075" cy="552450"/>
              </a:xfrm>
              <a:prstGeom prst="ellipse">
                <a:avLst/>
              </a:prstGeom>
              <a:blipFill>
                <a:blip r:embed="rId4"/>
                <a:stretch>
                  <a:fillRect/>
                </a:stretch>
              </a:blipFill>
            </p:spPr>
            <p:txBody>
              <a:bodyPr/>
              <a:lstStyle/>
              <a:p>
                <a:r>
                  <a:rPr lang="zh-CN" altLang="en-US">
                    <a:noFill/>
                  </a:rPr>
                  <a:t> </a:t>
                </a:r>
              </a:p>
            </p:txBody>
          </p:sp>
        </mc:Fallback>
      </mc:AlternateContent>
      <p:cxnSp>
        <p:nvCxnSpPr>
          <p:cNvPr id="10" name="直接箭头连接符 9">
            <a:extLst>
              <a:ext uri="{FF2B5EF4-FFF2-40B4-BE49-F238E27FC236}">
                <a16:creationId xmlns:a16="http://schemas.microsoft.com/office/drawing/2014/main" id="{1B0E4E58-E9ED-4FA1-850B-234C0058AF2B}"/>
              </a:ext>
            </a:extLst>
          </p:cNvPr>
          <p:cNvCxnSpPr>
            <a:stCxn id="6" idx="7"/>
            <a:endCxn id="7" idx="3"/>
          </p:cNvCxnSpPr>
          <p:nvPr/>
        </p:nvCxnSpPr>
        <p:spPr>
          <a:xfrm flipV="1">
            <a:off x="1672092" y="2958109"/>
            <a:ext cx="713920" cy="4140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直接箭头连接符 11">
            <a:extLst>
              <a:ext uri="{FF2B5EF4-FFF2-40B4-BE49-F238E27FC236}">
                <a16:creationId xmlns:a16="http://schemas.microsoft.com/office/drawing/2014/main" id="{917192F4-DC8F-4347-8596-3FE2C3EA5D7F}"/>
              </a:ext>
            </a:extLst>
          </p:cNvPr>
          <p:cNvCxnSpPr>
            <a:stCxn id="6" idx="6"/>
            <a:endCxn id="8" idx="2"/>
          </p:cNvCxnSpPr>
          <p:nvPr/>
        </p:nvCxnSpPr>
        <p:spPr>
          <a:xfrm>
            <a:off x="1759971" y="3567440"/>
            <a:ext cx="15335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直接箭头连接符 13">
            <a:extLst>
              <a:ext uri="{FF2B5EF4-FFF2-40B4-BE49-F238E27FC236}">
                <a16:creationId xmlns:a16="http://schemas.microsoft.com/office/drawing/2014/main" id="{B5967EEA-704B-4ACF-9BFB-B78EF9E96797}"/>
              </a:ext>
            </a:extLst>
          </p:cNvPr>
          <p:cNvCxnSpPr>
            <a:stCxn id="7" idx="5"/>
            <a:endCxn id="8" idx="1"/>
          </p:cNvCxnSpPr>
          <p:nvPr/>
        </p:nvCxnSpPr>
        <p:spPr>
          <a:xfrm>
            <a:off x="2810329" y="2958109"/>
            <a:ext cx="571046" cy="4140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444285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E84E11A-5D42-4195-A9BA-DF7319F4FBC4}"/>
              </a:ext>
            </a:extLst>
          </p:cNvPr>
          <p:cNvSpPr>
            <a:spLocks noGrp="1"/>
          </p:cNvSpPr>
          <p:nvPr>
            <p:ph type="sldNum" sz="quarter" idx="11"/>
          </p:nvPr>
        </p:nvSpPr>
        <p:spPr/>
        <p:txBody>
          <a:bodyPr/>
          <a:lstStyle/>
          <a:p>
            <a:fld id="{2AEAD966-1EF9-3A44-9B11-0C8090371A9A}" type="slidenum">
              <a:rPr lang="en-US" smtClean="0"/>
              <a:t>42</a:t>
            </a:fld>
            <a:endParaRPr lang="en-US"/>
          </a:p>
        </p:txBody>
      </p:sp>
      <p:sp>
        <p:nvSpPr>
          <p:cNvPr id="4" name="标题 3">
            <a:extLst>
              <a:ext uri="{FF2B5EF4-FFF2-40B4-BE49-F238E27FC236}">
                <a16:creationId xmlns:a16="http://schemas.microsoft.com/office/drawing/2014/main" id="{52ED0D6B-85F3-469C-B6DB-B2306A0F884E}"/>
              </a:ext>
            </a:extLst>
          </p:cNvPr>
          <p:cNvSpPr>
            <a:spLocks noGrp="1"/>
          </p:cNvSpPr>
          <p:nvPr>
            <p:ph type="title"/>
          </p:nvPr>
        </p:nvSpPr>
        <p:spPr/>
        <p:txBody>
          <a:bodyPr/>
          <a:lstStyle/>
          <a:p>
            <a:r>
              <a:rPr lang="en-US" altLang="zh-CN" dirty="0"/>
              <a:t>Controlled Direct Effect (CDE)</a:t>
            </a:r>
            <a:endParaRPr lang="zh-CN" altLang="en-US" dirty="0"/>
          </a:p>
        </p:txBody>
      </p:sp>
      <p:sp>
        <p:nvSpPr>
          <p:cNvPr id="5" name="日期占位符 4">
            <a:extLst>
              <a:ext uri="{FF2B5EF4-FFF2-40B4-BE49-F238E27FC236}">
                <a16:creationId xmlns:a16="http://schemas.microsoft.com/office/drawing/2014/main" id="{E11D346B-EFD4-4D96-90D9-52C008DE6416}"/>
              </a:ext>
            </a:extLst>
          </p:cNvPr>
          <p:cNvSpPr>
            <a:spLocks noGrp="1"/>
          </p:cNvSpPr>
          <p:nvPr>
            <p:ph type="dt" sz="half" idx="12"/>
          </p:nvPr>
        </p:nvSpPr>
        <p:spPr/>
        <p:txBody>
          <a:bodyPr/>
          <a:lstStyle/>
          <a:p>
            <a:fld id="{63ADDE33-C9F1-F94F-A20E-DA422DA466DF}" type="datetime1">
              <a:rPr lang="en-US" smtClean="0"/>
              <a:t>9/1/2022</a:t>
            </a:fld>
            <a:endParaRPr lang="en-US" dirty="0"/>
          </a:p>
        </p:txBody>
      </p:sp>
      <mc:AlternateContent xmlns:mc="http://schemas.openxmlformats.org/markup-compatibility/2006">
        <mc:Choice xmlns:a14="http://schemas.microsoft.com/office/drawing/2010/main" Requires="a14">
          <p:sp>
            <p:nvSpPr>
              <p:cNvPr id="6" name="椭圆 5">
                <a:extLst>
                  <a:ext uri="{FF2B5EF4-FFF2-40B4-BE49-F238E27FC236}">
                    <a16:creationId xmlns:a16="http://schemas.microsoft.com/office/drawing/2014/main" id="{B665C9EB-B109-4082-BAAF-4F060384049B}"/>
                  </a:ext>
                </a:extLst>
              </p:cNvPr>
              <p:cNvSpPr/>
              <p:nvPr/>
            </p:nvSpPr>
            <p:spPr>
              <a:xfrm>
                <a:off x="1159896" y="3291215"/>
                <a:ext cx="600075" cy="552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  </m:t>
                      </m:r>
                      <m:r>
                        <a:rPr lang="en-US" altLang="zh-CN" b="0" i="1" smtClean="0">
                          <a:latin typeface="Cambria Math" panose="02040503050406030204" pitchFamily="18" charset="0"/>
                        </a:rPr>
                        <m:t>𝑇</m:t>
                      </m:r>
                    </m:oMath>
                  </m:oMathPara>
                </a14:m>
                <a:endParaRPr lang="zh-CN" altLang="en-US" dirty="0"/>
              </a:p>
            </p:txBody>
          </p:sp>
        </mc:Choice>
        <mc:Fallback>
          <p:sp>
            <p:nvSpPr>
              <p:cNvPr id="6" name="椭圆 5">
                <a:extLst>
                  <a:ext uri="{FF2B5EF4-FFF2-40B4-BE49-F238E27FC236}">
                    <a16:creationId xmlns:a16="http://schemas.microsoft.com/office/drawing/2014/main" id="{B665C9EB-B109-4082-BAAF-4F060384049B}"/>
                  </a:ext>
                </a:extLst>
              </p:cNvPr>
              <p:cNvSpPr>
                <a:spLocks noRot="1" noChangeAspect="1" noMove="1" noResize="1" noEditPoints="1" noAdjustHandles="1" noChangeArrowheads="1" noChangeShapeType="1" noTextEdit="1"/>
              </p:cNvSpPr>
              <p:nvPr/>
            </p:nvSpPr>
            <p:spPr>
              <a:xfrm>
                <a:off x="1159896" y="3291215"/>
                <a:ext cx="600075" cy="552450"/>
              </a:xfrm>
              <a:prstGeom prst="ellipse">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椭圆 6">
                <a:extLst>
                  <a:ext uri="{FF2B5EF4-FFF2-40B4-BE49-F238E27FC236}">
                    <a16:creationId xmlns:a16="http://schemas.microsoft.com/office/drawing/2014/main" id="{341EC86E-A212-4C0B-ADC6-7E536A6A5B65}"/>
                  </a:ext>
                </a:extLst>
              </p:cNvPr>
              <p:cNvSpPr/>
              <p:nvPr/>
            </p:nvSpPr>
            <p:spPr>
              <a:xfrm>
                <a:off x="2298133" y="2486563"/>
                <a:ext cx="600075" cy="552450"/>
              </a:xfrm>
              <a:prstGeom prst="ellipse">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  </m:t>
                      </m:r>
                      <m:r>
                        <a:rPr lang="en-US" altLang="zh-CN" b="0" i="1" smtClean="0">
                          <a:latin typeface="Cambria Math" panose="02040503050406030204" pitchFamily="18" charset="0"/>
                        </a:rPr>
                        <m:t>𝑀</m:t>
                      </m:r>
                    </m:oMath>
                  </m:oMathPara>
                </a14:m>
                <a:endParaRPr lang="zh-CN" altLang="en-US" dirty="0"/>
              </a:p>
            </p:txBody>
          </p:sp>
        </mc:Choice>
        <mc:Fallback>
          <p:sp>
            <p:nvSpPr>
              <p:cNvPr id="7" name="椭圆 6">
                <a:extLst>
                  <a:ext uri="{FF2B5EF4-FFF2-40B4-BE49-F238E27FC236}">
                    <a16:creationId xmlns:a16="http://schemas.microsoft.com/office/drawing/2014/main" id="{341EC86E-A212-4C0B-ADC6-7E536A6A5B65}"/>
                  </a:ext>
                </a:extLst>
              </p:cNvPr>
              <p:cNvSpPr>
                <a:spLocks noRot="1" noChangeAspect="1" noMove="1" noResize="1" noEditPoints="1" noAdjustHandles="1" noChangeArrowheads="1" noChangeShapeType="1" noTextEdit="1"/>
              </p:cNvSpPr>
              <p:nvPr/>
            </p:nvSpPr>
            <p:spPr>
              <a:xfrm>
                <a:off x="2298133" y="2486563"/>
                <a:ext cx="600075" cy="552450"/>
              </a:xfrm>
              <a:prstGeom prst="ellipse">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椭圆 7">
                <a:extLst>
                  <a:ext uri="{FF2B5EF4-FFF2-40B4-BE49-F238E27FC236}">
                    <a16:creationId xmlns:a16="http://schemas.microsoft.com/office/drawing/2014/main" id="{651AE2D8-A683-4473-A23A-D8D2FDF1F14A}"/>
                  </a:ext>
                </a:extLst>
              </p:cNvPr>
              <p:cNvSpPr/>
              <p:nvPr/>
            </p:nvSpPr>
            <p:spPr>
              <a:xfrm>
                <a:off x="3293496" y="3291215"/>
                <a:ext cx="600075" cy="552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  </m:t>
                      </m:r>
                      <m:r>
                        <a:rPr lang="en-US" altLang="zh-CN" b="0" i="1" smtClean="0">
                          <a:latin typeface="Cambria Math" panose="02040503050406030204" pitchFamily="18" charset="0"/>
                        </a:rPr>
                        <m:t>𝑌</m:t>
                      </m:r>
                    </m:oMath>
                  </m:oMathPara>
                </a14:m>
                <a:endParaRPr lang="zh-CN" altLang="en-US" dirty="0"/>
              </a:p>
            </p:txBody>
          </p:sp>
        </mc:Choice>
        <mc:Fallback>
          <p:sp>
            <p:nvSpPr>
              <p:cNvPr id="8" name="椭圆 7">
                <a:extLst>
                  <a:ext uri="{FF2B5EF4-FFF2-40B4-BE49-F238E27FC236}">
                    <a16:creationId xmlns:a16="http://schemas.microsoft.com/office/drawing/2014/main" id="{651AE2D8-A683-4473-A23A-D8D2FDF1F14A}"/>
                  </a:ext>
                </a:extLst>
              </p:cNvPr>
              <p:cNvSpPr>
                <a:spLocks noRot="1" noChangeAspect="1" noMove="1" noResize="1" noEditPoints="1" noAdjustHandles="1" noChangeArrowheads="1" noChangeShapeType="1" noTextEdit="1"/>
              </p:cNvSpPr>
              <p:nvPr/>
            </p:nvSpPr>
            <p:spPr>
              <a:xfrm>
                <a:off x="3293496" y="3291215"/>
                <a:ext cx="600075" cy="552450"/>
              </a:xfrm>
              <a:prstGeom prst="ellipse">
                <a:avLst/>
              </a:prstGeom>
              <a:blipFill>
                <a:blip r:embed="rId4"/>
                <a:stretch>
                  <a:fillRect/>
                </a:stretch>
              </a:blipFill>
            </p:spPr>
            <p:txBody>
              <a:bodyPr/>
              <a:lstStyle/>
              <a:p>
                <a:r>
                  <a:rPr lang="zh-CN" altLang="en-US">
                    <a:noFill/>
                  </a:rPr>
                  <a:t> </a:t>
                </a:r>
              </a:p>
            </p:txBody>
          </p:sp>
        </mc:Fallback>
      </mc:AlternateContent>
      <p:cxnSp>
        <p:nvCxnSpPr>
          <p:cNvPr id="10" name="直接箭头连接符 9">
            <a:extLst>
              <a:ext uri="{FF2B5EF4-FFF2-40B4-BE49-F238E27FC236}">
                <a16:creationId xmlns:a16="http://schemas.microsoft.com/office/drawing/2014/main" id="{1B0E4E58-E9ED-4FA1-850B-234C0058AF2B}"/>
              </a:ext>
            </a:extLst>
          </p:cNvPr>
          <p:cNvCxnSpPr>
            <a:stCxn id="6" idx="7"/>
            <a:endCxn id="7" idx="3"/>
          </p:cNvCxnSpPr>
          <p:nvPr/>
        </p:nvCxnSpPr>
        <p:spPr>
          <a:xfrm flipV="1">
            <a:off x="1672092" y="2958109"/>
            <a:ext cx="713920" cy="4140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直接箭头连接符 11">
            <a:extLst>
              <a:ext uri="{FF2B5EF4-FFF2-40B4-BE49-F238E27FC236}">
                <a16:creationId xmlns:a16="http://schemas.microsoft.com/office/drawing/2014/main" id="{917192F4-DC8F-4347-8596-3FE2C3EA5D7F}"/>
              </a:ext>
            </a:extLst>
          </p:cNvPr>
          <p:cNvCxnSpPr>
            <a:stCxn id="6" idx="6"/>
            <a:endCxn id="8" idx="2"/>
          </p:cNvCxnSpPr>
          <p:nvPr/>
        </p:nvCxnSpPr>
        <p:spPr>
          <a:xfrm>
            <a:off x="1759971" y="3567440"/>
            <a:ext cx="15335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直接箭头连接符 13">
            <a:extLst>
              <a:ext uri="{FF2B5EF4-FFF2-40B4-BE49-F238E27FC236}">
                <a16:creationId xmlns:a16="http://schemas.microsoft.com/office/drawing/2014/main" id="{B5967EEA-704B-4ACF-9BFB-B78EF9E96797}"/>
              </a:ext>
            </a:extLst>
          </p:cNvPr>
          <p:cNvCxnSpPr>
            <a:stCxn id="7" idx="5"/>
            <a:endCxn id="8" idx="1"/>
          </p:cNvCxnSpPr>
          <p:nvPr/>
        </p:nvCxnSpPr>
        <p:spPr>
          <a:xfrm>
            <a:off x="2810329" y="2958109"/>
            <a:ext cx="571046" cy="4140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3" name="文本框 12">
                <a:extLst>
                  <a:ext uri="{FF2B5EF4-FFF2-40B4-BE49-F238E27FC236}">
                    <a16:creationId xmlns:a16="http://schemas.microsoft.com/office/drawing/2014/main" id="{873BDECA-B37A-47FF-B046-0ED3DAE6E584}"/>
                  </a:ext>
                </a:extLst>
              </p:cNvPr>
              <p:cNvSpPr txBox="1"/>
              <p:nvPr/>
            </p:nvSpPr>
            <p:spPr>
              <a:xfrm>
                <a:off x="1133929" y="4426391"/>
                <a:ext cx="5290615"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𝑌</m:t>
                          </m:r>
                          <m:r>
                            <a:rPr lang="en-US" altLang="zh-CN" b="0" i="1" smtClean="0">
                              <a:latin typeface="Cambria Math" panose="02040503050406030204" pitchFamily="18" charset="0"/>
                            </a:rPr>
                            <m:t> </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𝑑𝑜</m:t>
                      </m:r>
                      <m:r>
                        <a:rPr lang="en-US" altLang="zh-CN" b="0" i="1" smtClean="0">
                          <a:latin typeface="Cambria Math" panose="02040503050406030204" pitchFamily="18" charset="0"/>
                        </a:rPr>
                        <m:t>(</m:t>
                      </m:r>
                      <m:r>
                        <a:rPr lang="en-US" altLang="zh-CN" b="0" i="1" smtClean="0">
                          <a:latin typeface="Cambria Math" panose="02040503050406030204" pitchFamily="18" charset="0"/>
                        </a:rPr>
                        <m:t>𝑇</m:t>
                      </m:r>
                      <m:r>
                        <a:rPr lang="en-US" altLang="zh-CN" b="0" i="1" smtClean="0">
                          <a:latin typeface="Cambria Math" panose="02040503050406030204" pitchFamily="18" charset="0"/>
                        </a:rPr>
                        <m:t>=1,) </m:t>
                      </m:r>
                      <m:r>
                        <a:rPr lang="en-US" altLang="zh-CN" b="0" i="1" smtClean="0">
                          <a:latin typeface="Cambria Math" panose="02040503050406030204" pitchFamily="18" charset="0"/>
                        </a:rPr>
                        <m:t>𝑀</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r>
                        <a:rPr lang="en-US" altLang="zh-CN" b="0" i="1" smtClean="0">
                          <a:latin typeface="Cambria Math" panose="02040503050406030204" pitchFamily="18" charset="0"/>
                        </a:rPr>
                        <m:t>]−</m:t>
                      </m:r>
                      <m:r>
                        <a:rPr lang="en-US" altLang="zh-CN" b="0" i="1" smtClean="0">
                          <a:latin typeface="Cambria Math" panose="02040503050406030204" pitchFamily="18" charset="0"/>
                        </a:rPr>
                        <m:t>𝐸</m:t>
                      </m:r>
                      <m:r>
                        <a:rPr lang="en-US" altLang="zh-CN" b="0" i="1" smtClean="0">
                          <a:latin typeface="Cambria Math" panose="02040503050406030204" pitchFamily="18" charset="0"/>
                        </a:rPr>
                        <m:t>[</m:t>
                      </m:r>
                      <m:r>
                        <a:rPr lang="en-US" altLang="zh-CN" b="0" i="1" smtClean="0">
                          <a:latin typeface="Cambria Math" panose="02040503050406030204" pitchFamily="18" charset="0"/>
                        </a:rPr>
                        <m:t>𝑌</m:t>
                      </m:r>
                      <m:r>
                        <a:rPr lang="en-US" altLang="zh-CN" b="0" i="1" smtClean="0">
                          <a:latin typeface="Cambria Math" panose="02040503050406030204" pitchFamily="18" charset="0"/>
                        </a:rPr>
                        <m:t> | </m:t>
                      </m:r>
                      <m:r>
                        <a:rPr lang="en-US" altLang="zh-CN" b="0" i="1" smtClean="0">
                          <a:latin typeface="Cambria Math" panose="02040503050406030204" pitchFamily="18" charset="0"/>
                        </a:rPr>
                        <m:t>𝑑𝑜</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𝑇</m:t>
                          </m:r>
                          <m:r>
                            <a:rPr lang="en-US" altLang="zh-CN" b="0" i="1" smtClean="0">
                              <a:latin typeface="Cambria Math" panose="02040503050406030204" pitchFamily="18" charset="0"/>
                            </a:rPr>
                            <m:t>=0</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𝑀</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r>
                        <a:rPr lang="en-US" altLang="zh-CN" b="0" i="1" smtClean="0">
                          <a:latin typeface="Cambria Math" panose="02040503050406030204" pitchFamily="18" charset="0"/>
                        </a:rPr>
                        <m:t>]</m:t>
                      </m:r>
                    </m:oMath>
                  </m:oMathPara>
                </a14:m>
                <a:endParaRPr lang="zh-CN" altLang="en-US" dirty="0"/>
              </a:p>
            </p:txBody>
          </p:sp>
        </mc:Choice>
        <mc:Fallback>
          <p:sp>
            <p:nvSpPr>
              <p:cNvPr id="13" name="文本框 12">
                <a:extLst>
                  <a:ext uri="{FF2B5EF4-FFF2-40B4-BE49-F238E27FC236}">
                    <a16:creationId xmlns:a16="http://schemas.microsoft.com/office/drawing/2014/main" id="{873BDECA-B37A-47FF-B046-0ED3DAE6E584}"/>
                  </a:ext>
                </a:extLst>
              </p:cNvPr>
              <p:cNvSpPr txBox="1">
                <a:spLocks noRot="1" noChangeAspect="1" noMove="1" noResize="1" noEditPoints="1" noAdjustHandles="1" noChangeArrowheads="1" noChangeShapeType="1" noTextEdit="1"/>
              </p:cNvSpPr>
              <p:nvPr/>
            </p:nvSpPr>
            <p:spPr>
              <a:xfrm>
                <a:off x="1133929" y="4426391"/>
                <a:ext cx="5290615" cy="276999"/>
              </a:xfrm>
              <a:prstGeom prst="rect">
                <a:avLst/>
              </a:prstGeom>
              <a:blipFill>
                <a:blip r:embed="rId5"/>
                <a:stretch>
                  <a:fillRect l="-461" r="-1037" b="-39130"/>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92EA4994-1B1F-485F-99C1-C84C07F6A0DD}"/>
              </a:ext>
            </a:extLst>
          </p:cNvPr>
          <p:cNvSpPr txBox="1"/>
          <p:nvPr/>
        </p:nvSpPr>
        <p:spPr>
          <a:xfrm>
            <a:off x="1000125" y="962025"/>
            <a:ext cx="2893446" cy="369332"/>
          </a:xfrm>
          <a:prstGeom prst="rect">
            <a:avLst/>
          </a:prstGeom>
          <a:noFill/>
        </p:spPr>
        <p:txBody>
          <a:bodyPr wrap="square" rtlCol="0">
            <a:spAutoFit/>
          </a:bodyPr>
          <a:lstStyle/>
          <a:p>
            <a:r>
              <a:rPr lang="en-US" altLang="zh-CN" dirty="0"/>
              <a:t>Condition on m</a:t>
            </a:r>
            <a:endParaRPr lang="zh-CN" altLang="en-US" dirty="0"/>
          </a:p>
        </p:txBody>
      </p:sp>
    </p:spTree>
    <p:extLst>
      <p:ext uri="{BB962C8B-B14F-4D97-AF65-F5344CB8AC3E}">
        <p14:creationId xmlns:p14="http://schemas.microsoft.com/office/powerpoint/2010/main" val="16294771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E84E11A-5D42-4195-A9BA-DF7319F4FBC4}"/>
              </a:ext>
            </a:extLst>
          </p:cNvPr>
          <p:cNvSpPr>
            <a:spLocks noGrp="1"/>
          </p:cNvSpPr>
          <p:nvPr>
            <p:ph type="sldNum" sz="quarter" idx="11"/>
          </p:nvPr>
        </p:nvSpPr>
        <p:spPr/>
        <p:txBody>
          <a:bodyPr/>
          <a:lstStyle/>
          <a:p>
            <a:fld id="{2AEAD966-1EF9-3A44-9B11-0C8090371A9A}" type="slidenum">
              <a:rPr lang="en-US" smtClean="0"/>
              <a:t>43</a:t>
            </a:fld>
            <a:endParaRPr lang="en-US"/>
          </a:p>
        </p:txBody>
      </p:sp>
      <p:sp>
        <p:nvSpPr>
          <p:cNvPr id="4" name="标题 3">
            <a:extLst>
              <a:ext uri="{FF2B5EF4-FFF2-40B4-BE49-F238E27FC236}">
                <a16:creationId xmlns:a16="http://schemas.microsoft.com/office/drawing/2014/main" id="{52ED0D6B-85F3-469C-B6DB-B2306A0F884E}"/>
              </a:ext>
            </a:extLst>
          </p:cNvPr>
          <p:cNvSpPr>
            <a:spLocks noGrp="1"/>
          </p:cNvSpPr>
          <p:nvPr>
            <p:ph type="title"/>
          </p:nvPr>
        </p:nvSpPr>
        <p:spPr/>
        <p:txBody>
          <a:bodyPr/>
          <a:lstStyle/>
          <a:p>
            <a:r>
              <a:rPr lang="en-US" altLang="zh-CN" dirty="0"/>
              <a:t>Controlled Direct Effect (CDE)</a:t>
            </a:r>
            <a:endParaRPr lang="zh-CN" altLang="en-US" dirty="0"/>
          </a:p>
        </p:txBody>
      </p:sp>
      <p:sp>
        <p:nvSpPr>
          <p:cNvPr id="5" name="日期占位符 4">
            <a:extLst>
              <a:ext uri="{FF2B5EF4-FFF2-40B4-BE49-F238E27FC236}">
                <a16:creationId xmlns:a16="http://schemas.microsoft.com/office/drawing/2014/main" id="{E11D346B-EFD4-4D96-90D9-52C008DE6416}"/>
              </a:ext>
            </a:extLst>
          </p:cNvPr>
          <p:cNvSpPr>
            <a:spLocks noGrp="1"/>
          </p:cNvSpPr>
          <p:nvPr>
            <p:ph type="dt" sz="half" idx="12"/>
          </p:nvPr>
        </p:nvSpPr>
        <p:spPr/>
        <p:txBody>
          <a:bodyPr/>
          <a:lstStyle/>
          <a:p>
            <a:fld id="{63ADDE33-C9F1-F94F-A20E-DA422DA466DF}" type="datetime1">
              <a:rPr lang="en-US" smtClean="0"/>
              <a:t>9/1/2022</a:t>
            </a:fld>
            <a:endParaRPr lang="en-US" dirty="0"/>
          </a:p>
        </p:txBody>
      </p:sp>
      <mc:AlternateContent xmlns:mc="http://schemas.openxmlformats.org/markup-compatibility/2006">
        <mc:Choice xmlns:a14="http://schemas.microsoft.com/office/drawing/2010/main" Requires="a14">
          <p:sp>
            <p:nvSpPr>
              <p:cNvPr id="6" name="椭圆 5">
                <a:extLst>
                  <a:ext uri="{FF2B5EF4-FFF2-40B4-BE49-F238E27FC236}">
                    <a16:creationId xmlns:a16="http://schemas.microsoft.com/office/drawing/2014/main" id="{B665C9EB-B109-4082-BAAF-4F060384049B}"/>
                  </a:ext>
                </a:extLst>
              </p:cNvPr>
              <p:cNvSpPr/>
              <p:nvPr/>
            </p:nvSpPr>
            <p:spPr>
              <a:xfrm>
                <a:off x="1159896" y="3291215"/>
                <a:ext cx="600075" cy="552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  </m:t>
                      </m:r>
                      <m:r>
                        <a:rPr lang="en-US" altLang="zh-CN" b="0" i="1" smtClean="0">
                          <a:latin typeface="Cambria Math" panose="02040503050406030204" pitchFamily="18" charset="0"/>
                        </a:rPr>
                        <m:t>𝑇</m:t>
                      </m:r>
                    </m:oMath>
                  </m:oMathPara>
                </a14:m>
                <a:endParaRPr lang="zh-CN" altLang="en-US" dirty="0"/>
              </a:p>
            </p:txBody>
          </p:sp>
        </mc:Choice>
        <mc:Fallback>
          <p:sp>
            <p:nvSpPr>
              <p:cNvPr id="6" name="椭圆 5">
                <a:extLst>
                  <a:ext uri="{FF2B5EF4-FFF2-40B4-BE49-F238E27FC236}">
                    <a16:creationId xmlns:a16="http://schemas.microsoft.com/office/drawing/2014/main" id="{B665C9EB-B109-4082-BAAF-4F060384049B}"/>
                  </a:ext>
                </a:extLst>
              </p:cNvPr>
              <p:cNvSpPr>
                <a:spLocks noRot="1" noChangeAspect="1" noMove="1" noResize="1" noEditPoints="1" noAdjustHandles="1" noChangeArrowheads="1" noChangeShapeType="1" noTextEdit="1"/>
              </p:cNvSpPr>
              <p:nvPr/>
            </p:nvSpPr>
            <p:spPr>
              <a:xfrm>
                <a:off x="1159896" y="3291215"/>
                <a:ext cx="600075" cy="552450"/>
              </a:xfrm>
              <a:prstGeom prst="ellipse">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椭圆 6">
                <a:extLst>
                  <a:ext uri="{FF2B5EF4-FFF2-40B4-BE49-F238E27FC236}">
                    <a16:creationId xmlns:a16="http://schemas.microsoft.com/office/drawing/2014/main" id="{341EC86E-A212-4C0B-ADC6-7E536A6A5B65}"/>
                  </a:ext>
                </a:extLst>
              </p:cNvPr>
              <p:cNvSpPr/>
              <p:nvPr/>
            </p:nvSpPr>
            <p:spPr>
              <a:xfrm>
                <a:off x="2298133" y="2486563"/>
                <a:ext cx="600075" cy="552450"/>
              </a:xfrm>
              <a:prstGeom prst="ellipse">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  </m:t>
                      </m:r>
                      <m:r>
                        <a:rPr lang="en-US" altLang="zh-CN" b="0" i="1" smtClean="0">
                          <a:latin typeface="Cambria Math" panose="02040503050406030204" pitchFamily="18" charset="0"/>
                        </a:rPr>
                        <m:t>𝑀</m:t>
                      </m:r>
                    </m:oMath>
                  </m:oMathPara>
                </a14:m>
                <a:endParaRPr lang="zh-CN" altLang="en-US" dirty="0"/>
              </a:p>
            </p:txBody>
          </p:sp>
        </mc:Choice>
        <mc:Fallback>
          <p:sp>
            <p:nvSpPr>
              <p:cNvPr id="7" name="椭圆 6">
                <a:extLst>
                  <a:ext uri="{FF2B5EF4-FFF2-40B4-BE49-F238E27FC236}">
                    <a16:creationId xmlns:a16="http://schemas.microsoft.com/office/drawing/2014/main" id="{341EC86E-A212-4C0B-ADC6-7E536A6A5B65}"/>
                  </a:ext>
                </a:extLst>
              </p:cNvPr>
              <p:cNvSpPr>
                <a:spLocks noRot="1" noChangeAspect="1" noMove="1" noResize="1" noEditPoints="1" noAdjustHandles="1" noChangeArrowheads="1" noChangeShapeType="1" noTextEdit="1"/>
              </p:cNvSpPr>
              <p:nvPr/>
            </p:nvSpPr>
            <p:spPr>
              <a:xfrm>
                <a:off x="2298133" y="2486563"/>
                <a:ext cx="600075" cy="552450"/>
              </a:xfrm>
              <a:prstGeom prst="ellipse">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椭圆 7">
                <a:extLst>
                  <a:ext uri="{FF2B5EF4-FFF2-40B4-BE49-F238E27FC236}">
                    <a16:creationId xmlns:a16="http://schemas.microsoft.com/office/drawing/2014/main" id="{651AE2D8-A683-4473-A23A-D8D2FDF1F14A}"/>
                  </a:ext>
                </a:extLst>
              </p:cNvPr>
              <p:cNvSpPr/>
              <p:nvPr/>
            </p:nvSpPr>
            <p:spPr>
              <a:xfrm>
                <a:off x="3293496" y="3291215"/>
                <a:ext cx="600075" cy="552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  </m:t>
                      </m:r>
                      <m:r>
                        <a:rPr lang="en-US" altLang="zh-CN" b="0" i="1" smtClean="0">
                          <a:latin typeface="Cambria Math" panose="02040503050406030204" pitchFamily="18" charset="0"/>
                        </a:rPr>
                        <m:t>𝑌</m:t>
                      </m:r>
                    </m:oMath>
                  </m:oMathPara>
                </a14:m>
                <a:endParaRPr lang="zh-CN" altLang="en-US" dirty="0"/>
              </a:p>
            </p:txBody>
          </p:sp>
        </mc:Choice>
        <mc:Fallback>
          <p:sp>
            <p:nvSpPr>
              <p:cNvPr id="8" name="椭圆 7">
                <a:extLst>
                  <a:ext uri="{FF2B5EF4-FFF2-40B4-BE49-F238E27FC236}">
                    <a16:creationId xmlns:a16="http://schemas.microsoft.com/office/drawing/2014/main" id="{651AE2D8-A683-4473-A23A-D8D2FDF1F14A}"/>
                  </a:ext>
                </a:extLst>
              </p:cNvPr>
              <p:cNvSpPr>
                <a:spLocks noRot="1" noChangeAspect="1" noMove="1" noResize="1" noEditPoints="1" noAdjustHandles="1" noChangeArrowheads="1" noChangeShapeType="1" noTextEdit="1"/>
              </p:cNvSpPr>
              <p:nvPr/>
            </p:nvSpPr>
            <p:spPr>
              <a:xfrm>
                <a:off x="3293496" y="3291215"/>
                <a:ext cx="600075" cy="552450"/>
              </a:xfrm>
              <a:prstGeom prst="ellipse">
                <a:avLst/>
              </a:prstGeom>
              <a:blipFill>
                <a:blip r:embed="rId4"/>
                <a:stretch>
                  <a:fillRect/>
                </a:stretch>
              </a:blipFill>
            </p:spPr>
            <p:txBody>
              <a:bodyPr/>
              <a:lstStyle/>
              <a:p>
                <a:r>
                  <a:rPr lang="zh-CN" altLang="en-US">
                    <a:noFill/>
                  </a:rPr>
                  <a:t> </a:t>
                </a:r>
              </a:p>
            </p:txBody>
          </p:sp>
        </mc:Fallback>
      </mc:AlternateContent>
      <p:cxnSp>
        <p:nvCxnSpPr>
          <p:cNvPr id="10" name="直接箭头连接符 9">
            <a:extLst>
              <a:ext uri="{FF2B5EF4-FFF2-40B4-BE49-F238E27FC236}">
                <a16:creationId xmlns:a16="http://schemas.microsoft.com/office/drawing/2014/main" id="{1B0E4E58-E9ED-4FA1-850B-234C0058AF2B}"/>
              </a:ext>
            </a:extLst>
          </p:cNvPr>
          <p:cNvCxnSpPr>
            <a:stCxn id="6" idx="7"/>
            <a:endCxn id="7" idx="3"/>
          </p:cNvCxnSpPr>
          <p:nvPr/>
        </p:nvCxnSpPr>
        <p:spPr>
          <a:xfrm flipV="1">
            <a:off x="1672092" y="2958109"/>
            <a:ext cx="713920" cy="4140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直接箭头连接符 11">
            <a:extLst>
              <a:ext uri="{FF2B5EF4-FFF2-40B4-BE49-F238E27FC236}">
                <a16:creationId xmlns:a16="http://schemas.microsoft.com/office/drawing/2014/main" id="{917192F4-DC8F-4347-8596-3FE2C3EA5D7F}"/>
              </a:ext>
            </a:extLst>
          </p:cNvPr>
          <p:cNvCxnSpPr>
            <a:stCxn id="6" idx="6"/>
            <a:endCxn id="8" idx="2"/>
          </p:cNvCxnSpPr>
          <p:nvPr/>
        </p:nvCxnSpPr>
        <p:spPr>
          <a:xfrm>
            <a:off x="1759971" y="3567440"/>
            <a:ext cx="15335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直接箭头连接符 13">
            <a:extLst>
              <a:ext uri="{FF2B5EF4-FFF2-40B4-BE49-F238E27FC236}">
                <a16:creationId xmlns:a16="http://schemas.microsoft.com/office/drawing/2014/main" id="{B5967EEA-704B-4ACF-9BFB-B78EF9E96797}"/>
              </a:ext>
            </a:extLst>
          </p:cNvPr>
          <p:cNvCxnSpPr>
            <a:stCxn id="7" idx="5"/>
            <a:endCxn id="8" idx="1"/>
          </p:cNvCxnSpPr>
          <p:nvPr/>
        </p:nvCxnSpPr>
        <p:spPr>
          <a:xfrm>
            <a:off x="2810329" y="2958109"/>
            <a:ext cx="571046" cy="4140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3" name="文本框 12">
                <a:extLst>
                  <a:ext uri="{FF2B5EF4-FFF2-40B4-BE49-F238E27FC236}">
                    <a16:creationId xmlns:a16="http://schemas.microsoft.com/office/drawing/2014/main" id="{873BDECA-B37A-47FF-B046-0ED3DAE6E584}"/>
                  </a:ext>
                </a:extLst>
              </p:cNvPr>
              <p:cNvSpPr txBox="1"/>
              <p:nvPr/>
            </p:nvSpPr>
            <p:spPr>
              <a:xfrm>
                <a:off x="1133929" y="4426391"/>
                <a:ext cx="5290615"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𝑌</m:t>
                          </m:r>
                          <m:r>
                            <a:rPr lang="en-US" altLang="zh-CN" b="0" i="1" smtClean="0">
                              <a:latin typeface="Cambria Math" panose="02040503050406030204" pitchFamily="18" charset="0"/>
                            </a:rPr>
                            <m:t> </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𝑑𝑜</m:t>
                      </m:r>
                      <m:r>
                        <a:rPr lang="en-US" altLang="zh-CN" b="0" i="1" smtClean="0">
                          <a:latin typeface="Cambria Math" panose="02040503050406030204" pitchFamily="18" charset="0"/>
                        </a:rPr>
                        <m:t>(</m:t>
                      </m:r>
                      <m:r>
                        <a:rPr lang="en-US" altLang="zh-CN" b="0" i="1" smtClean="0">
                          <a:latin typeface="Cambria Math" panose="02040503050406030204" pitchFamily="18" charset="0"/>
                        </a:rPr>
                        <m:t>𝑇</m:t>
                      </m:r>
                      <m:r>
                        <a:rPr lang="en-US" altLang="zh-CN" b="0" i="1" smtClean="0">
                          <a:latin typeface="Cambria Math" panose="02040503050406030204" pitchFamily="18" charset="0"/>
                        </a:rPr>
                        <m:t>=1,) </m:t>
                      </m:r>
                      <m:r>
                        <a:rPr lang="en-US" altLang="zh-CN" b="0" i="1" smtClean="0">
                          <a:latin typeface="Cambria Math" panose="02040503050406030204" pitchFamily="18" charset="0"/>
                        </a:rPr>
                        <m:t>𝑀</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r>
                        <a:rPr lang="en-US" altLang="zh-CN" b="0" i="1" smtClean="0">
                          <a:latin typeface="Cambria Math" panose="02040503050406030204" pitchFamily="18" charset="0"/>
                        </a:rPr>
                        <m:t>]−</m:t>
                      </m:r>
                      <m:r>
                        <a:rPr lang="en-US" altLang="zh-CN" b="0" i="1" smtClean="0">
                          <a:latin typeface="Cambria Math" panose="02040503050406030204" pitchFamily="18" charset="0"/>
                        </a:rPr>
                        <m:t>𝐸</m:t>
                      </m:r>
                      <m:r>
                        <a:rPr lang="en-US" altLang="zh-CN" b="0" i="1" smtClean="0">
                          <a:latin typeface="Cambria Math" panose="02040503050406030204" pitchFamily="18" charset="0"/>
                        </a:rPr>
                        <m:t>[</m:t>
                      </m:r>
                      <m:r>
                        <a:rPr lang="en-US" altLang="zh-CN" b="0" i="1" smtClean="0">
                          <a:latin typeface="Cambria Math" panose="02040503050406030204" pitchFamily="18" charset="0"/>
                        </a:rPr>
                        <m:t>𝑌</m:t>
                      </m:r>
                      <m:r>
                        <a:rPr lang="en-US" altLang="zh-CN" b="0" i="1" smtClean="0">
                          <a:latin typeface="Cambria Math" panose="02040503050406030204" pitchFamily="18" charset="0"/>
                        </a:rPr>
                        <m:t> | </m:t>
                      </m:r>
                      <m:r>
                        <a:rPr lang="en-US" altLang="zh-CN" b="0" i="1" smtClean="0">
                          <a:latin typeface="Cambria Math" panose="02040503050406030204" pitchFamily="18" charset="0"/>
                        </a:rPr>
                        <m:t>𝑑𝑜</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𝑇</m:t>
                          </m:r>
                          <m:r>
                            <a:rPr lang="en-US" altLang="zh-CN" b="0" i="1" smtClean="0">
                              <a:latin typeface="Cambria Math" panose="02040503050406030204" pitchFamily="18" charset="0"/>
                            </a:rPr>
                            <m:t>=0</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𝑀</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r>
                        <a:rPr lang="en-US" altLang="zh-CN" b="0" i="1" smtClean="0">
                          <a:latin typeface="Cambria Math" panose="02040503050406030204" pitchFamily="18" charset="0"/>
                        </a:rPr>
                        <m:t>]</m:t>
                      </m:r>
                    </m:oMath>
                  </m:oMathPara>
                </a14:m>
                <a:endParaRPr lang="zh-CN" altLang="en-US" dirty="0"/>
              </a:p>
            </p:txBody>
          </p:sp>
        </mc:Choice>
        <mc:Fallback>
          <p:sp>
            <p:nvSpPr>
              <p:cNvPr id="13" name="文本框 12">
                <a:extLst>
                  <a:ext uri="{FF2B5EF4-FFF2-40B4-BE49-F238E27FC236}">
                    <a16:creationId xmlns:a16="http://schemas.microsoft.com/office/drawing/2014/main" id="{873BDECA-B37A-47FF-B046-0ED3DAE6E584}"/>
                  </a:ext>
                </a:extLst>
              </p:cNvPr>
              <p:cNvSpPr txBox="1">
                <a:spLocks noRot="1" noChangeAspect="1" noMove="1" noResize="1" noEditPoints="1" noAdjustHandles="1" noChangeArrowheads="1" noChangeShapeType="1" noTextEdit="1"/>
              </p:cNvSpPr>
              <p:nvPr/>
            </p:nvSpPr>
            <p:spPr>
              <a:xfrm>
                <a:off x="1133929" y="4426391"/>
                <a:ext cx="5290615" cy="276999"/>
              </a:xfrm>
              <a:prstGeom prst="rect">
                <a:avLst/>
              </a:prstGeom>
              <a:blipFill>
                <a:blip r:embed="rId5"/>
                <a:stretch>
                  <a:fillRect l="-461" r="-1037" b="-39130"/>
                </a:stretch>
              </a:blipFill>
            </p:spPr>
            <p:txBody>
              <a:bodyPr/>
              <a:lstStyle/>
              <a:p>
                <a:r>
                  <a:rPr lang="zh-CN" altLang="en-US">
                    <a:noFill/>
                  </a:rPr>
                  <a:t> </a:t>
                </a:r>
              </a:p>
            </p:txBody>
          </p:sp>
        </mc:Fallback>
      </mc:AlternateContent>
      <p:sp>
        <p:nvSpPr>
          <p:cNvPr id="15" name="椭圆 14">
            <a:extLst>
              <a:ext uri="{FF2B5EF4-FFF2-40B4-BE49-F238E27FC236}">
                <a16:creationId xmlns:a16="http://schemas.microsoft.com/office/drawing/2014/main" id="{A5EFEC32-D822-4F22-B9F2-5742BB7DD9E5}"/>
              </a:ext>
            </a:extLst>
          </p:cNvPr>
          <p:cNvSpPr/>
          <p:nvPr/>
        </p:nvSpPr>
        <p:spPr>
          <a:xfrm>
            <a:off x="1133929" y="1321661"/>
            <a:ext cx="600075" cy="552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6" name="椭圆 15">
            <a:extLst>
              <a:ext uri="{FF2B5EF4-FFF2-40B4-BE49-F238E27FC236}">
                <a16:creationId xmlns:a16="http://schemas.microsoft.com/office/drawing/2014/main" id="{96FB1A65-5518-4553-B212-0F3A0DB18099}"/>
              </a:ext>
            </a:extLst>
          </p:cNvPr>
          <p:cNvSpPr/>
          <p:nvPr/>
        </p:nvSpPr>
        <p:spPr>
          <a:xfrm>
            <a:off x="3296104" y="1318196"/>
            <a:ext cx="600075" cy="552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9" name="直接箭头连接符 8">
            <a:extLst>
              <a:ext uri="{FF2B5EF4-FFF2-40B4-BE49-F238E27FC236}">
                <a16:creationId xmlns:a16="http://schemas.microsoft.com/office/drawing/2014/main" id="{35BF04E5-F936-48F7-9C8A-D87C7E3E3BC7}"/>
              </a:ext>
            </a:extLst>
          </p:cNvPr>
          <p:cNvCxnSpPr>
            <a:stCxn id="15" idx="5"/>
            <a:endCxn id="7" idx="1"/>
          </p:cNvCxnSpPr>
          <p:nvPr/>
        </p:nvCxnSpPr>
        <p:spPr>
          <a:xfrm>
            <a:off x="1646125" y="1793207"/>
            <a:ext cx="739887" cy="7742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直接箭头连接符 16">
            <a:extLst>
              <a:ext uri="{FF2B5EF4-FFF2-40B4-BE49-F238E27FC236}">
                <a16:creationId xmlns:a16="http://schemas.microsoft.com/office/drawing/2014/main" id="{22C55BAD-67DC-4736-9330-065FC6613BD2}"/>
              </a:ext>
            </a:extLst>
          </p:cNvPr>
          <p:cNvCxnSpPr>
            <a:stCxn id="15" idx="4"/>
            <a:endCxn id="6" idx="0"/>
          </p:cNvCxnSpPr>
          <p:nvPr/>
        </p:nvCxnSpPr>
        <p:spPr>
          <a:xfrm>
            <a:off x="1433967" y="1874111"/>
            <a:ext cx="25967" cy="14171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a:extLst>
              <a:ext uri="{FF2B5EF4-FFF2-40B4-BE49-F238E27FC236}">
                <a16:creationId xmlns:a16="http://schemas.microsoft.com/office/drawing/2014/main" id="{DA5B71A6-BB78-4B40-94E2-7A5FD65D2F1E}"/>
              </a:ext>
            </a:extLst>
          </p:cNvPr>
          <p:cNvCxnSpPr>
            <a:stCxn id="16" idx="3"/>
            <a:endCxn id="7" idx="7"/>
          </p:cNvCxnSpPr>
          <p:nvPr/>
        </p:nvCxnSpPr>
        <p:spPr>
          <a:xfrm flipH="1">
            <a:off x="2810329" y="1789742"/>
            <a:ext cx="573654" cy="7777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接箭头连接符 22">
            <a:extLst>
              <a:ext uri="{FF2B5EF4-FFF2-40B4-BE49-F238E27FC236}">
                <a16:creationId xmlns:a16="http://schemas.microsoft.com/office/drawing/2014/main" id="{395A343F-639D-4BCE-BAD6-3DBE377A3CF6}"/>
              </a:ext>
            </a:extLst>
          </p:cNvPr>
          <p:cNvCxnSpPr>
            <a:stCxn id="16" idx="4"/>
            <a:endCxn id="8" idx="0"/>
          </p:cNvCxnSpPr>
          <p:nvPr/>
        </p:nvCxnSpPr>
        <p:spPr>
          <a:xfrm flipH="1">
            <a:off x="3593534" y="1870646"/>
            <a:ext cx="2608" cy="14205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文本框 27">
            <a:extLst>
              <a:ext uri="{FF2B5EF4-FFF2-40B4-BE49-F238E27FC236}">
                <a16:creationId xmlns:a16="http://schemas.microsoft.com/office/drawing/2014/main" id="{AF944650-7ABA-46AC-B84A-8EC5F8321701}"/>
              </a:ext>
            </a:extLst>
          </p:cNvPr>
          <p:cNvSpPr txBox="1"/>
          <p:nvPr/>
        </p:nvSpPr>
        <p:spPr>
          <a:xfrm>
            <a:off x="1133929" y="5038725"/>
            <a:ext cx="5290615" cy="369332"/>
          </a:xfrm>
          <a:prstGeom prst="rect">
            <a:avLst/>
          </a:prstGeom>
          <a:noFill/>
        </p:spPr>
        <p:txBody>
          <a:bodyPr wrap="square" rtlCol="0">
            <a:spAutoFit/>
          </a:bodyPr>
          <a:lstStyle/>
          <a:p>
            <a:r>
              <a:rPr lang="en-US" altLang="zh-CN" dirty="0"/>
              <a:t>Condition on m could open up other paths</a:t>
            </a:r>
            <a:endParaRPr lang="zh-CN" altLang="en-US" dirty="0"/>
          </a:p>
        </p:txBody>
      </p:sp>
      <p:cxnSp>
        <p:nvCxnSpPr>
          <p:cNvPr id="30" name="直接连接符 29">
            <a:extLst>
              <a:ext uri="{FF2B5EF4-FFF2-40B4-BE49-F238E27FC236}">
                <a16:creationId xmlns:a16="http://schemas.microsoft.com/office/drawing/2014/main" id="{086AE87A-33D8-4E79-AAB4-CEFEEEB216B5}"/>
              </a:ext>
            </a:extLst>
          </p:cNvPr>
          <p:cNvCxnSpPr>
            <a:stCxn id="13" idx="1"/>
            <a:endCxn id="13" idx="3"/>
          </p:cNvCxnSpPr>
          <p:nvPr/>
        </p:nvCxnSpPr>
        <p:spPr>
          <a:xfrm>
            <a:off x="1133929" y="4564891"/>
            <a:ext cx="5290615"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sp>
        <p:nvSpPr>
          <p:cNvPr id="31" name="文本框 30">
            <a:extLst>
              <a:ext uri="{FF2B5EF4-FFF2-40B4-BE49-F238E27FC236}">
                <a16:creationId xmlns:a16="http://schemas.microsoft.com/office/drawing/2014/main" id="{84C036C1-BAC0-4D08-9426-5B345A7E2368}"/>
              </a:ext>
            </a:extLst>
          </p:cNvPr>
          <p:cNvSpPr txBox="1"/>
          <p:nvPr/>
        </p:nvSpPr>
        <p:spPr>
          <a:xfrm>
            <a:off x="1000125" y="962025"/>
            <a:ext cx="2893446" cy="369332"/>
          </a:xfrm>
          <a:prstGeom prst="rect">
            <a:avLst/>
          </a:prstGeom>
          <a:noFill/>
        </p:spPr>
        <p:txBody>
          <a:bodyPr wrap="square" rtlCol="0">
            <a:spAutoFit/>
          </a:bodyPr>
          <a:lstStyle/>
          <a:p>
            <a:r>
              <a:rPr lang="en-US" altLang="zh-CN" dirty="0"/>
              <a:t>intervene on m</a:t>
            </a:r>
            <a:endParaRPr lang="zh-CN" altLang="en-US" dirty="0"/>
          </a:p>
        </p:txBody>
      </p:sp>
    </p:spTree>
    <p:extLst>
      <p:ext uri="{BB962C8B-B14F-4D97-AF65-F5344CB8AC3E}">
        <p14:creationId xmlns:p14="http://schemas.microsoft.com/office/powerpoint/2010/main" val="20601069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E84E11A-5D42-4195-A9BA-DF7319F4FBC4}"/>
              </a:ext>
            </a:extLst>
          </p:cNvPr>
          <p:cNvSpPr>
            <a:spLocks noGrp="1"/>
          </p:cNvSpPr>
          <p:nvPr>
            <p:ph type="sldNum" sz="quarter" idx="11"/>
          </p:nvPr>
        </p:nvSpPr>
        <p:spPr/>
        <p:txBody>
          <a:bodyPr/>
          <a:lstStyle/>
          <a:p>
            <a:fld id="{2AEAD966-1EF9-3A44-9B11-0C8090371A9A}" type="slidenum">
              <a:rPr lang="en-US" smtClean="0"/>
              <a:t>44</a:t>
            </a:fld>
            <a:endParaRPr lang="en-US"/>
          </a:p>
        </p:txBody>
      </p:sp>
      <p:sp>
        <p:nvSpPr>
          <p:cNvPr id="4" name="标题 3">
            <a:extLst>
              <a:ext uri="{FF2B5EF4-FFF2-40B4-BE49-F238E27FC236}">
                <a16:creationId xmlns:a16="http://schemas.microsoft.com/office/drawing/2014/main" id="{52ED0D6B-85F3-469C-B6DB-B2306A0F884E}"/>
              </a:ext>
            </a:extLst>
          </p:cNvPr>
          <p:cNvSpPr>
            <a:spLocks noGrp="1"/>
          </p:cNvSpPr>
          <p:nvPr>
            <p:ph type="title"/>
          </p:nvPr>
        </p:nvSpPr>
        <p:spPr/>
        <p:txBody>
          <a:bodyPr/>
          <a:lstStyle/>
          <a:p>
            <a:r>
              <a:rPr lang="en-US" altLang="zh-CN" dirty="0"/>
              <a:t>Controlled Direct Effect (CDE)</a:t>
            </a:r>
            <a:endParaRPr lang="zh-CN" altLang="en-US" dirty="0"/>
          </a:p>
        </p:txBody>
      </p:sp>
      <p:sp>
        <p:nvSpPr>
          <p:cNvPr id="5" name="日期占位符 4">
            <a:extLst>
              <a:ext uri="{FF2B5EF4-FFF2-40B4-BE49-F238E27FC236}">
                <a16:creationId xmlns:a16="http://schemas.microsoft.com/office/drawing/2014/main" id="{E11D346B-EFD4-4D96-90D9-52C008DE6416}"/>
              </a:ext>
            </a:extLst>
          </p:cNvPr>
          <p:cNvSpPr>
            <a:spLocks noGrp="1"/>
          </p:cNvSpPr>
          <p:nvPr>
            <p:ph type="dt" sz="half" idx="12"/>
          </p:nvPr>
        </p:nvSpPr>
        <p:spPr/>
        <p:txBody>
          <a:bodyPr/>
          <a:lstStyle/>
          <a:p>
            <a:fld id="{63ADDE33-C9F1-F94F-A20E-DA422DA466DF}" type="datetime1">
              <a:rPr lang="en-US" smtClean="0"/>
              <a:t>9/1/2022</a:t>
            </a:fld>
            <a:endParaRPr lang="en-US" dirty="0"/>
          </a:p>
        </p:txBody>
      </p:sp>
      <mc:AlternateContent xmlns:mc="http://schemas.openxmlformats.org/markup-compatibility/2006">
        <mc:Choice xmlns:a14="http://schemas.microsoft.com/office/drawing/2010/main" Requires="a14">
          <p:sp>
            <p:nvSpPr>
              <p:cNvPr id="6" name="椭圆 5">
                <a:extLst>
                  <a:ext uri="{FF2B5EF4-FFF2-40B4-BE49-F238E27FC236}">
                    <a16:creationId xmlns:a16="http://schemas.microsoft.com/office/drawing/2014/main" id="{B665C9EB-B109-4082-BAAF-4F060384049B}"/>
                  </a:ext>
                </a:extLst>
              </p:cNvPr>
              <p:cNvSpPr/>
              <p:nvPr/>
            </p:nvSpPr>
            <p:spPr>
              <a:xfrm>
                <a:off x="1159896" y="3291215"/>
                <a:ext cx="600075" cy="552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  </m:t>
                      </m:r>
                      <m:r>
                        <a:rPr lang="en-US" altLang="zh-CN" b="0" i="1" smtClean="0">
                          <a:latin typeface="Cambria Math" panose="02040503050406030204" pitchFamily="18" charset="0"/>
                        </a:rPr>
                        <m:t>𝑇</m:t>
                      </m:r>
                    </m:oMath>
                  </m:oMathPara>
                </a14:m>
                <a:endParaRPr lang="zh-CN" altLang="en-US" dirty="0"/>
              </a:p>
            </p:txBody>
          </p:sp>
        </mc:Choice>
        <mc:Fallback>
          <p:sp>
            <p:nvSpPr>
              <p:cNvPr id="6" name="椭圆 5">
                <a:extLst>
                  <a:ext uri="{FF2B5EF4-FFF2-40B4-BE49-F238E27FC236}">
                    <a16:creationId xmlns:a16="http://schemas.microsoft.com/office/drawing/2014/main" id="{B665C9EB-B109-4082-BAAF-4F060384049B}"/>
                  </a:ext>
                </a:extLst>
              </p:cNvPr>
              <p:cNvSpPr>
                <a:spLocks noRot="1" noChangeAspect="1" noMove="1" noResize="1" noEditPoints="1" noAdjustHandles="1" noChangeArrowheads="1" noChangeShapeType="1" noTextEdit="1"/>
              </p:cNvSpPr>
              <p:nvPr/>
            </p:nvSpPr>
            <p:spPr>
              <a:xfrm>
                <a:off x="1159896" y="3291215"/>
                <a:ext cx="600075" cy="552450"/>
              </a:xfrm>
              <a:prstGeom prst="ellipse">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椭圆 6">
                <a:extLst>
                  <a:ext uri="{FF2B5EF4-FFF2-40B4-BE49-F238E27FC236}">
                    <a16:creationId xmlns:a16="http://schemas.microsoft.com/office/drawing/2014/main" id="{341EC86E-A212-4C0B-ADC6-7E536A6A5B65}"/>
                  </a:ext>
                </a:extLst>
              </p:cNvPr>
              <p:cNvSpPr/>
              <p:nvPr/>
            </p:nvSpPr>
            <p:spPr>
              <a:xfrm>
                <a:off x="2298133" y="2486563"/>
                <a:ext cx="600075" cy="552450"/>
              </a:xfrm>
              <a:prstGeom prst="ellipse">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  </m:t>
                      </m:r>
                      <m:r>
                        <a:rPr lang="en-US" altLang="zh-CN" b="0" i="1" smtClean="0">
                          <a:latin typeface="Cambria Math" panose="02040503050406030204" pitchFamily="18" charset="0"/>
                        </a:rPr>
                        <m:t>𝑀</m:t>
                      </m:r>
                    </m:oMath>
                  </m:oMathPara>
                </a14:m>
                <a:endParaRPr lang="zh-CN" altLang="en-US" dirty="0"/>
              </a:p>
            </p:txBody>
          </p:sp>
        </mc:Choice>
        <mc:Fallback>
          <p:sp>
            <p:nvSpPr>
              <p:cNvPr id="7" name="椭圆 6">
                <a:extLst>
                  <a:ext uri="{FF2B5EF4-FFF2-40B4-BE49-F238E27FC236}">
                    <a16:creationId xmlns:a16="http://schemas.microsoft.com/office/drawing/2014/main" id="{341EC86E-A212-4C0B-ADC6-7E536A6A5B65}"/>
                  </a:ext>
                </a:extLst>
              </p:cNvPr>
              <p:cNvSpPr>
                <a:spLocks noRot="1" noChangeAspect="1" noMove="1" noResize="1" noEditPoints="1" noAdjustHandles="1" noChangeArrowheads="1" noChangeShapeType="1" noTextEdit="1"/>
              </p:cNvSpPr>
              <p:nvPr/>
            </p:nvSpPr>
            <p:spPr>
              <a:xfrm>
                <a:off x="2298133" y="2486563"/>
                <a:ext cx="600075" cy="552450"/>
              </a:xfrm>
              <a:prstGeom prst="ellipse">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椭圆 7">
                <a:extLst>
                  <a:ext uri="{FF2B5EF4-FFF2-40B4-BE49-F238E27FC236}">
                    <a16:creationId xmlns:a16="http://schemas.microsoft.com/office/drawing/2014/main" id="{651AE2D8-A683-4473-A23A-D8D2FDF1F14A}"/>
                  </a:ext>
                </a:extLst>
              </p:cNvPr>
              <p:cNvSpPr/>
              <p:nvPr/>
            </p:nvSpPr>
            <p:spPr>
              <a:xfrm>
                <a:off x="3293496" y="3291215"/>
                <a:ext cx="600075" cy="552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  </m:t>
                      </m:r>
                      <m:r>
                        <a:rPr lang="en-US" altLang="zh-CN" b="0" i="1" smtClean="0">
                          <a:latin typeface="Cambria Math" panose="02040503050406030204" pitchFamily="18" charset="0"/>
                        </a:rPr>
                        <m:t>𝑌</m:t>
                      </m:r>
                    </m:oMath>
                  </m:oMathPara>
                </a14:m>
                <a:endParaRPr lang="zh-CN" altLang="en-US" dirty="0"/>
              </a:p>
            </p:txBody>
          </p:sp>
        </mc:Choice>
        <mc:Fallback>
          <p:sp>
            <p:nvSpPr>
              <p:cNvPr id="8" name="椭圆 7">
                <a:extLst>
                  <a:ext uri="{FF2B5EF4-FFF2-40B4-BE49-F238E27FC236}">
                    <a16:creationId xmlns:a16="http://schemas.microsoft.com/office/drawing/2014/main" id="{651AE2D8-A683-4473-A23A-D8D2FDF1F14A}"/>
                  </a:ext>
                </a:extLst>
              </p:cNvPr>
              <p:cNvSpPr>
                <a:spLocks noRot="1" noChangeAspect="1" noMove="1" noResize="1" noEditPoints="1" noAdjustHandles="1" noChangeArrowheads="1" noChangeShapeType="1" noTextEdit="1"/>
              </p:cNvSpPr>
              <p:nvPr/>
            </p:nvSpPr>
            <p:spPr>
              <a:xfrm>
                <a:off x="3293496" y="3291215"/>
                <a:ext cx="600075" cy="552450"/>
              </a:xfrm>
              <a:prstGeom prst="ellipse">
                <a:avLst/>
              </a:prstGeom>
              <a:blipFill>
                <a:blip r:embed="rId4"/>
                <a:stretch>
                  <a:fillRect/>
                </a:stretch>
              </a:blipFill>
            </p:spPr>
            <p:txBody>
              <a:bodyPr/>
              <a:lstStyle/>
              <a:p>
                <a:r>
                  <a:rPr lang="zh-CN" altLang="en-US">
                    <a:noFill/>
                  </a:rPr>
                  <a:t> </a:t>
                </a:r>
              </a:p>
            </p:txBody>
          </p:sp>
        </mc:Fallback>
      </mc:AlternateContent>
      <p:cxnSp>
        <p:nvCxnSpPr>
          <p:cNvPr id="12" name="直接箭头连接符 11">
            <a:extLst>
              <a:ext uri="{FF2B5EF4-FFF2-40B4-BE49-F238E27FC236}">
                <a16:creationId xmlns:a16="http://schemas.microsoft.com/office/drawing/2014/main" id="{917192F4-DC8F-4347-8596-3FE2C3EA5D7F}"/>
              </a:ext>
            </a:extLst>
          </p:cNvPr>
          <p:cNvCxnSpPr>
            <a:stCxn id="6" idx="6"/>
            <a:endCxn id="8" idx="2"/>
          </p:cNvCxnSpPr>
          <p:nvPr/>
        </p:nvCxnSpPr>
        <p:spPr>
          <a:xfrm>
            <a:off x="1759971" y="3567440"/>
            <a:ext cx="15335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直接箭头连接符 13">
            <a:extLst>
              <a:ext uri="{FF2B5EF4-FFF2-40B4-BE49-F238E27FC236}">
                <a16:creationId xmlns:a16="http://schemas.microsoft.com/office/drawing/2014/main" id="{B5967EEA-704B-4ACF-9BFB-B78EF9E96797}"/>
              </a:ext>
            </a:extLst>
          </p:cNvPr>
          <p:cNvCxnSpPr>
            <a:stCxn id="7" idx="5"/>
            <a:endCxn id="8" idx="1"/>
          </p:cNvCxnSpPr>
          <p:nvPr/>
        </p:nvCxnSpPr>
        <p:spPr>
          <a:xfrm>
            <a:off x="2810329" y="2958109"/>
            <a:ext cx="571046" cy="4140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3" name="文本框 12">
                <a:extLst>
                  <a:ext uri="{FF2B5EF4-FFF2-40B4-BE49-F238E27FC236}">
                    <a16:creationId xmlns:a16="http://schemas.microsoft.com/office/drawing/2014/main" id="{873BDECA-B37A-47FF-B046-0ED3DAE6E584}"/>
                  </a:ext>
                </a:extLst>
              </p:cNvPr>
              <p:cNvSpPr txBox="1"/>
              <p:nvPr/>
            </p:nvSpPr>
            <p:spPr>
              <a:xfrm>
                <a:off x="1133929" y="4426391"/>
                <a:ext cx="5290615"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𝑌</m:t>
                          </m:r>
                          <m:r>
                            <a:rPr lang="en-US" altLang="zh-CN" b="0" i="1" smtClean="0">
                              <a:latin typeface="Cambria Math" panose="02040503050406030204" pitchFamily="18" charset="0"/>
                            </a:rPr>
                            <m:t> </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𝑑𝑜</m:t>
                      </m:r>
                      <m:r>
                        <a:rPr lang="en-US" altLang="zh-CN" b="0" i="1" smtClean="0">
                          <a:latin typeface="Cambria Math" panose="02040503050406030204" pitchFamily="18" charset="0"/>
                        </a:rPr>
                        <m:t>(</m:t>
                      </m:r>
                      <m:r>
                        <a:rPr lang="en-US" altLang="zh-CN" b="0" i="1" smtClean="0">
                          <a:latin typeface="Cambria Math" panose="02040503050406030204" pitchFamily="18" charset="0"/>
                        </a:rPr>
                        <m:t>𝑇</m:t>
                      </m:r>
                      <m:r>
                        <a:rPr lang="en-US" altLang="zh-CN" b="0" i="1" smtClean="0">
                          <a:latin typeface="Cambria Math" panose="02040503050406030204" pitchFamily="18" charset="0"/>
                        </a:rPr>
                        <m:t>=1,) </m:t>
                      </m:r>
                      <m:r>
                        <a:rPr lang="en-US" altLang="zh-CN" b="0" i="1" smtClean="0">
                          <a:latin typeface="Cambria Math" panose="02040503050406030204" pitchFamily="18" charset="0"/>
                        </a:rPr>
                        <m:t>𝑀</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r>
                        <a:rPr lang="en-US" altLang="zh-CN" b="0" i="1" smtClean="0">
                          <a:latin typeface="Cambria Math" panose="02040503050406030204" pitchFamily="18" charset="0"/>
                        </a:rPr>
                        <m:t>]−</m:t>
                      </m:r>
                      <m:r>
                        <a:rPr lang="en-US" altLang="zh-CN" b="0" i="1" smtClean="0">
                          <a:latin typeface="Cambria Math" panose="02040503050406030204" pitchFamily="18" charset="0"/>
                        </a:rPr>
                        <m:t>𝐸</m:t>
                      </m:r>
                      <m:r>
                        <a:rPr lang="en-US" altLang="zh-CN" b="0" i="1" smtClean="0">
                          <a:latin typeface="Cambria Math" panose="02040503050406030204" pitchFamily="18" charset="0"/>
                        </a:rPr>
                        <m:t>[</m:t>
                      </m:r>
                      <m:r>
                        <a:rPr lang="en-US" altLang="zh-CN" b="0" i="1" smtClean="0">
                          <a:latin typeface="Cambria Math" panose="02040503050406030204" pitchFamily="18" charset="0"/>
                        </a:rPr>
                        <m:t>𝑌</m:t>
                      </m:r>
                      <m:r>
                        <a:rPr lang="en-US" altLang="zh-CN" b="0" i="1" smtClean="0">
                          <a:latin typeface="Cambria Math" panose="02040503050406030204" pitchFamily="18" charset="0"/>
                        </a:rPr>
                        <m:t> | </m:t>
                      </m:r>
                      <m:r>
                        <a:rPr lang="en-US" altLang="zh-CN" b="0" i="1" smtClean="0">
                          <a:latin typeface="Cambria Math" panose="02040503050406030204" pitchFamily="18" charset="0"/>
                        </a:rPr>
                        <m:t>𝑑𝑜</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𝑇</m:t>
                          </m:r>
                          <m:r>
                            <a:rPr lang="en-US" altLang="zh-CN" b="0" i="1" smtClean="0">
                              <a:latin typeface="Cambria Math" panose="02040503050406030204" pitchFamily="18" charset="0"/>
                            </a:rPr>
                            <m:t>=0</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𝑀</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r>
                        <a:rPr lang="en-US" altLang="zh-CN" b="0" i="1" smtClean="0">
                          <a:latin typeface="Cambria Math" panose="02040503050406030204" pitchFamily="18" charset="0"/>
                        </a:rPr>
                        <m:t>]</m:t>
                      </m:r>
                    </m:oMath>
                  </m:oMathPara>
                </a14:m>
                <a:endParaRPr lang="zh-CN" altLang="en-US" dirty="0"/>
              </a:p>
            </p:txBody>
          </p:sp>
        </mc:Choice>
        <mc:Fallback>
          <p:sp>
            <p:nvSpPr>
              <p:cNvPr id="13" name="文本框 12">
                <a:extLst>
                  <a:ext uri="{FF2B5EF4-FFF2-40B4-BE49-F238E27FC236}">
                    <a16:creationId xmlns:a16="http://schemas.microsoft.com/office/drawing/2014/main" id="{873BDECA-B37A-47FF-B046-0ED3DAE6E584}"/>
                  </a:ext>
                </a:extLst>
              </p:cNvPr>
              <p:cNvSpPr txBox="1">
                <a:spLocks noRot="1" noChangeAspect="1" noMove="1" noResize="1" noEditPoints="1" noAdjustHandles="1" noChangeArrowheads="1" noChangeShapeType="1" noTextEdit="1"/>
              </p:cNvSpPr>
              <p:nvPr/>
            </p:nvSpPr>
            <p:spPr>
              <a:xfrm>
                <a:off x="1133929" y="4426391"/>
                <a:ext cx="5290615" cy="276999"/>
              </a:xfrm>
              <a:prstGeom prst="rect">
                <a:avLst/>
              </a:prstGeom>
              <a:blipFill>
                <a:blip r:embed="rId5"/>
                <a:stretch>
                  <a:fillRect l="-461" r="-1037" b="-39130"/>
                </a:stretch>
              </a:blipFill>
            </p:spPr>
            <p:txBody>
              <a:bodyPr/>
              <a:lstStyle/>
              <a:p>
                <a:r>
                  <a:rPr lang="zh-CN" altLang="en-US">
                    <a:noFill/>
                  </a:rPr>
                  <a:t> </a:t>
                </a:r>
              </a:p>
            </p:txBody>
          </p:sp>
        </mc:Fallback>
      </mc:AlternateContent>
      <p:sp>
        <p:nvSpPr>
          <p:cNvPr id="15" name="椭圆 14">
            <a:extLst>
              <a:ext uri="{FF2B5EF4-FFF2-40B4-BE49-F238E27FC236}">
                <a16:creationId xmlns:a16="http://schemas.microsoft.com/office/drawing/2014/main" id="{A5EFEC32-D822-4F22-B9F2-5742BB7DD9E5}"/>
              </a:ext>
            </a:extLst>
          </p:cNvPr>
          <p:cNvSpPr/>
          <p:nvPr/>
        </p:nvSpPr>
        <p:spPr>
          <a:xfrm>
            <a:off x="1133929" y="1321661"/>
            <a:ext cx="600075" cy="552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6" name="椭圆 15">
            <a:extLst>
              <a:ext uri="{FF2B5EF4-FFF2-40B4-BE49-F238E27FC236}">
                <a16:creationId xmlns:a16="http://schemas.microsoft.com/office/drawing/2014/main" id="{96FB1A65-5518-4553-B212-0F3A0DB18099}"/>
              </a:ext>
            </a:extLst>
          </p:cNvPr>
          <p:cNvSpPr/>
          <p:nvPr/>
        </p:nvSpPr>
        <p:spPr>
          <a:xfrm>
            <a:off x="3296104" y="1318196"/>
            <a:ext cx="600075" cy="552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17" name="直接箭头连接符 16">
            <a:extLst>
              <a:ext uri="{FF2B5EF4-FFF2-40B4-BE49-F238E27FC236}">
                <a16:creationId xmlns:a16="http://schemas.microsoft.com/office/drawing/2014/main" id="{22C55BAD-67DC-4736-9330-065FC6613BD2}"/>
              </a:ext>
            </a:extLst>
          </p:cNvPr>
          <p:cNvCxnSpPr>
            <a:stCxn id="15" idx="4"/>
            <a:endCxn id="6" idx="0"/>
          </p:cNvCxnSpPr>
          <p:nvPr/>
        </p:nvCxnSpPr>
        <p:spPr>
          <a:xfrm>
            <a:off x="1433967" y="1874111"/>
            <a:ext cx="25967" cy="14171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接箭头连接符 22">
            <a:extLst>
              <a:ext uri="{FF2B5EF4-FFF2-40B4-BE49-F238E27FC236}">
                <a16:creationId xmlns:a16="http://schemas.microsoft.com/office/drawing/2014/main" id="{395A343F-639D-4BCE-BAD6-3DBE377A3CF6}"/>
              </a:ext>
            </a:extLst>
          </p:cNvPr>
          <p:cNvCxnSpPr>
            <a:stCxn id="16" idx="4"/>
            <a:endCxn id="8" idx="0"/>
          </p:cNvCxnSpPr>
          <p:nvPr/>
        </p:nvCxnSpPr>
        <p:spPr>
          <a:xfrm flipH="1">
            <a:off x="3593534" y="1870646"/>
            <a:ext cx="2608" cy="14205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接连接符 29">
            <a:extLst>
              <a:ext uri="{FF2B5EF4-FFF2-40B4-BE49-F238E27FC236}">
                <a16:creationId xmlns:a16="http://schemas.microsoft.com/office/drawing/2014/main" id="{086AE87A-33D8-4E79-AAB4-CEFEEEB216B5}"/>
              </a:ext>
            </a:extLst>
          </p:cNvPr>
          <p:cNvCxnSpPr>
            <a:stCxn id="13" idx="1"/>
            <a:endCxn id="13" idx="3"/>
          </p:cNvCxnSpPr>
          <p:nvPr/>
        </p:nvCxnSpPr>
        <p:spPr>
          <a:xfrm>
            <a:off x="1133929" y="4564891"/>
            <a:ext cx="5290615"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mc:Choice xmlns:a14="http://schemas.microsoft.com/office/drawing/2010/main" Requires="a14">
          <p:sp>
            <p:nvSpPr>
              <p:cNvPr id="20" name="文本框 19">
                <a:extLst>
                  <a:ext uri="{FF2B5EF4-FFF2-40B4-BE49-F238E27FC236}">
                    <a16:creationId xmlns:a16="http://schemas.microsoft.com/office/drawing/2014/main" id="{EC0F2220-E3B2-4F77-9871-270C3F30ADF4}"/>
                  </a:ext>
                </a:extLst>
              </p:cNvPr>
              <p:cNvSpPr txBox="1"/>
              <p:nvPr/>
            </p:nvSpPr>
            <p:spPr>
              <a:xfrm>
                <a:off x="1133929" y="4961272"/>
                <a:ext cx="5240089"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𝑌</m:t>
                          </m:r>
                          <m:r>
                            <a:rPr lang="en-US" altLang="zh-CN" b="0" i="1" smtClean="0">
                              <a:latin typeface="Cambria Math" panose="02040503050406030204" pitchFamily="18" charset="0"/>
                            </a:rPr>
                            <m:t> </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𝑑𝑜</m:t>
                      </m:r>
                      <m:r>
                        <a:rPr lang="en-US" altLang="zh-CN" b="0" i="1" smtClean="0">
                          <a:latin typeface="Cambria Math" panose="02040503050406030204" pitchFamily="18" charset="0"/>
                        </a:rPr>
                        <m:t>(</m:t>
                      </m:r>
                      <m:r>
                        <a:rPr lang="en-US" altLang="zh-CN" b="0" i="1" smtClean="0">
                          <a:latin typeface="Cambria Math" panose="02040503050406030204" pitchFamily="18" charset="0"/>
                        </a:rPr>
                        <m:t>𝑇</m:t>
                      </m:r>
                      <m:r>
                        <a:rPr lang="en-US" altLang="zh-CN" b="0" i="1" smtClean="0">
                          <a:latin typeface="Cambria Math" panose="02040503050406030204" pitchFamily="18" charset="0"/>
                        </a:rPr>
                        <m:t>=1, </m:t>
                      </m:r>
                      <m:r>
                        <a:rPr lang="en-US" altLang="zh-CN" b="0" i="1" smtClean="0">
                          <a:latin typeface="Cambria Math" panose="02040503050406030204" pitchFamily="18" charset="0"/>
                        </a:rPr>
                        <m:t>𝑀</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r>
                        <a:rPr lang="en-US" altLang="zh-CN" b="0" i="1" smtClean="0">
                          <a:latin typeface="Cambria Math" panose="02040503050406030204" pitchFamily="18" charset="0"/>
                        </a:rPr>
                        <m:t>)]−</m:t>
                      </m:r>
                      <m:r>
                        <a:rPr lang="en-US" altLang="zh-CN" b="0" i="1" smtClean="0">
                          <a:latin typeface="Cambria Math" panose="02040503050406030204" pitchFamily="18" charset="0"/>
                        </a:rPr>
                        <m:t>𝐸</m:t>
                      </m:r>
                      <m:r>
                        <a:rPr lang="en-US" altLang="zh-CN" b="0" i="1" smtClean="0">
                          <a:latin typeface="Cambria Math" panose="02040503050406030204" pitchFamily="18" charset="0"/>
                        </a:rPr>
                        <m:t>[</m:t>
                      </m:r>
                      <m:r>
                        <a:rPr lang="en-US" altLang="zh-CN" b="0" i="1" smtClean="0">
                          <a:latin typeface="Cambria Math" panose="02040503050406030204" pitchFamily="18" charset="0"/>
                        </a:rPr>
                        <m:t>𝑌</m:t>
                      </m:r>
                      <m:r>
                        <a:rPr lang="en-US" altLang="zh-CN" b="0" i="1" smtClean="0">
                          <a:latin typeface="Cambria Math" panose="02040503050406030204" pitchFamily="18" charset="0"/>
                        </a:rPr>
                        <m:t> | </m:t>
                      </m:r>
                      <m:r>
                        <a:rPr lang="en-US" altLang="zh-CN" b="0" i="1" smtClean="0">
                          <a:latin typeface="Cambria Math" panose="02040503050406030204" pitchFamily="18" charset="0"/>
                        </a:rPr>
                        <m:t>𝑑𝑜</m:t>
                      </m:r>
                      <m:r>
                        <a:rPr lang="en-US" altLang="zh-CN" b="0" i="1" smtClean="0">
                          <a:latin typeface="Cambria Math" panose="02040503050406030204" pitchFamily="18" charset="0"/>
                        </a:rPr>
                        <m:t>(</m:t>
                      </m:r>
                      <m:r>
                        <a:rPr lang="en-US" altLang="zh-CN" b="0" i="1" smtClean="0">
                          <a:latin typeface="Cambria Math" panose="02040503050406030204" pitchFamily="18" charset="0"/>
                        </a:rPr>
                        <m:t>𝑇</m:t>
                      </m:r>
                      <m:r>
                        <a:rPr lang="en-US" altLang="zh-CN" b="0" i="1" smtClean="0">
                          <a:latin typeface="Cambria Math" panose="02040503050406030204" pitchFamily="18" charset="0"/>
                        </a:rPr>
                        <m:t>=0,</m:t>
                      </m:r>
                      <m:r>
                        <a:rPr lang="en-US" altLang="zh-CN" b="0" i="1" smtClean="0">
                          <a:latin typeface="Cambria Math" panose="02040503050406030204" pitchFamily="18" charset="0"/>
                        </a:rPr>
                        <m:t>𝑀</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r>
                        <a:rPr lang="en-US" altLang="zh-CN" b="0" i="1" smtClean="0">
                          <a:latin typeface="Cambria Math" panose="02040503050406030204" pitchFamily="18" charset="0"/>
                        </a:rPr>
                        <m:t>)]</m:t>
                      </m:r>
                    </m:oMath>
                  </m:oMathPara>
                </a14:m>
                <a:endParaRPr lang="zh-CN" altLang="en-US" dirty="0"/>
              </a:p>
            </p:txBody>
          </p:sp>
        </mc:Choice>
        <mc:Fallback>
          <p:sp>
            <p:nvSpPr>
              <p:cNvPr id="20" name="文本框 19">
                <a:extLst>
                  <a:ext uri="{FF2B5EF4-FFF2-40B4-BE49-F238E27FC236}">
                    <a16:creationId xmlns:a16="http://schemas.microsoft.com/office/drawing/2014/main" id="{EC0F2220-E3B2-4F77-9871-270C3F30ADF4}"/>
                  </a:ext>
                </a:extLst>
              </p:cNvPr>
              <p:cNvSpPr txBox="1">
                <a:spLocks noRot="1" noChangeAspect="1" noMove="1" noResize="1" noEditPoints="1" noAdjustHandles="1" noChangeArrowheads="1" noChangeShapeType="1" noTextEdit="1"/>
              </p:cNvSpPr>
              <p:nvPr/>
            </p:nvSpPr>
            <p:spPr>
              <a:xfrm>
                <a:off x="1133929" y="4961272"/>
                <a:ext cx="5240089" cy="276999"/>
              </a:xfrm>
              <a:prstGeom prst="rect">
                <a:avLst/>
              </a:prstGeom>
              <a:blipFill>
                <a:blip r:embed="rId6"/>
                <a:stretch>
                  <a:fillRect l="-465" t="-2222" r="-1047" b="-40000"/>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B5469B13-F4FD-4B39-84A6-C3BBC0450D7A}"/>
              </a:ext>
            </a:extLst>
          </p:cNvPr>
          <p:cNvSpPr txBox="1"/>
          <p:nvPr/>
        </p:nvSpPr>
        <p:spPr>
          <a:xfrm>
            <a:off x="624468" y="5417330"/>
            <a:ext cx="7633708" cy="830997"/>
          </a:xfrm>
          <a:prstGeom prst="rect">
            <a:avLst/>
          </a:prstGeom>
          <a:noFill/>
        </p:spPr>
        <p:txBody>
          <a:bodyPr wrap="square" rtlCol="0">
            <a:spAutoFit/>
          </a:bodyPr>
          <a:lstStyle/>
          <a:p>
            <a:r>
              <a:rPr lang="en-US" altLang="zh-CN" sz="1600" dirty="0"/>
              <a:t>We do m then we remove all incoming edges to m </a:t>
            </a:r>
          </a:p>
          <a:p>
            <a:r>
              <a:rPr lang="en-US" altLang="zh-CN" sz="1600" dirty="0"/>
              <a:t>And then we’ve effectively isolated the flow of causation from t to y in this graph</a:t>
            </a:r>
          </a:p>
          <a:p>
            <a:r>
              <a:rPr lang="en-US" altLang="zh-CN" sz="1600" dirty="0"/>
              <a:t>This is known as controlled direct effect </a:t>
            </a:r>
            <a:endParaRPr lang="zh-CN" altLang="en-US" sz="1600" dirty="0"/>
          </a:p>
        </p:txBody>
      </p:sp>
      <p:sp>
        <p:nvSpPr>
          <p:cNvPr id="22" name="文本框 21">
            <a:extLst>
              <a:ext uri="{FF2B5EF4-FFF2-40B4-BE49-F238E27FC236}">
                <a16:creationId xmlns:a16="http://schemas.microsoft.com/office/drawing/2014/main" id="{38B6D00B-44C3-4F98-B53F-025D06BC53B6}"/>
              </a:ext>
            </a:extLst>
          </p:cNvPr>
          <p:cNvSpPr txBox="1"/>
          <p:nvPr/>
        </p:nvSpPr>
        <p:spPr>
          <a:xfrm>
            <a:off x="1000125" y="962025"/>
            <a:ext cx="2893446" cy="369332"/>
          </a:xfrm>
          <a:prstGeom prst="rect">
            <a:avLst/>
          </a:prstGeom>
          <a:noFill/>
        </p:spPr>
        <p:txBody>
          <a:bodyPr wrap="square" rtlCol="0">
            <a:spAutoFit/>
          </a:bodyPr>
          <a:lstStyle/>
          <a:p>
            <a:r>
              <a:rPr lang="en-US" altLang="zh-CN" dirty="0"/>
              <a:t>intervene on m</a:t>
            </a:r>
            <a:endParaRPr lang="zh-CN" altLang="en-US" dirty="0"/>
          </a:p>
        </p:txBody>
      </p:sp>
    </p:spTree>
    <p:extLst>
      <p:ext uri="{BB962C8B-B14F-4D97-AF65-F5344CB8AC3E}">
        <p14:creationId xmlns:p14="http://schemas.microsoft.com/office/powerpoint/2010/main" val="16008734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E84E11A-5D42-4195-A9BA-DF7319F4FBC4}"/>
              </a:ext>
            </a:extLst>
          </p:cNvPr>
          <p:cNvSpPr>
            <a:spLocks noGrp="1"/>
          </p:cNvSpPr>
          <p:nvPr>
            <p:ph type="sldNum" sz="quarter" idx="11"/>
          </p:nvPr>
        </p:nvSpPr>
        <p:spPr/>
        <p:txBody>
          <a:bodyPr/>
          <a:lstStyle/>
          <a:p>
            <a:fld id="{2AEAD966-1EF9-3A44-9B11-0C8090371A9A}" type="slidenum">
              <a:rPr lang="en-US" smtClean="0"/>
              <a:t>45</a:t>
            </a:fld>
            <a:endParaRPr lang="en-US"/>
          </a:p>
        </p:txBody>
      </p:sp>
      <p:sp>
        <p:nvSpPr>
          <p:cNvPr id="4" name="标题 3">
            <a:extLst>
              <a:ext uri="{FF2B5EF4-FFF2-40B4-BE49-F238E27FC236}">
                <a16:creationId xmlns:a16="http://schemas.microsoft.com/office/drawing/2014/main" id="{52ED0D6B-85F3-469C-B6DB-B2306A0F884E}"/>
              </a:ext>
            </a:extLst>
          </p:cNvPr>
          <p:cNvSpPr>
            <a:spLocks noGrp="1"/>
          </p:cNvSpPr>
          <p:nvPr>
            <p:ph type="title"/>
          </p:nvPr>
        </p:nvSpPr>
        <p:spPr/>
        <p:txBody>
          <a:bodyPr/>
          <a:lstStyle/>
          <a:p>
            <a:r>
              <a:rPr lang="en-US" altLang="zh-CN" dirty="0"/>
              <a:t>Controlled Direct Effect (CDE)</a:t>
            </a:r>
            <a:endParaRPr lang="zh-CN" altLang="en-US" dirty="0"/>
          </a:p>
        </p:txBody>
      </p:sp>
      <p:sp>
        <p:nvSpPr>
          <p:cNvPr id="5" name="日期占位符 4">
            <a:extLst>
              <a:ext uri="{FF2B5EF4-FFF2-40B4-BE49-F238E27FC236}">
                <a16:creationId xmlns:a16="http://schemas.microsoft.com/office/drawing/2014/main" id="{E11D346B-EFD4-4D96-90D9-52C008DE6416}"/>
              </a:ext>
            </a:extLst>
          </p:cNvPr>
          <p:cNvSpPr>
            <a:spLocks noGrp="1"/>
          </p:cNvSpPr>
          <p:nvPr>
            <p:ph type="dt" sz="half" idx="12"/>
          </p:nvPr>
        </p:nvSpPr>
        <p:spPr/>
        <p:txBody>
          <a:bodyPr/>
          <a:lstStyle/>
          <a:p>
            <a:fld id="{63ADDE33-C9F1-F94F-A20E-DA422DA466DF}" type="datetime1">
              <a:rPr lang="en-US" smtClean="0"/>
              <a:t>9/1/2022</a:t>
            </a:fld>
            <a:endParaRPr lang="en-US" dirty="0"/>
          </a:p>
        </p:txBody>
      </p:sp>
      <mc:AlternateContent xmlns:mc="http://schemas.openxmlformats.org/markup-compatibility/2006">
        <mc:Choice xmlns:a14="http://schemas.microsoft.com/office/drawing/2010/main" Requires="a14">
          <p:sp>
            <p:nvSpPr>
              <p:cNvPr id="6" name="椭圆 5">
                <a:extLst>
                  <a:ext uri="{FF2B5EF4-FFF2-40B4-BE49-F238E27FC236}">
                    <a16:creationId xmlns:a16="http://schemas.microsoft.com/office/drawing/2014/main" id="{B665C9EB-B109-4082-BAAF-4F060384049B}"/>
                  </a:ext>
                </a:extLst>
              </p:cNvPr>
              <p:cNvSpPr/>
              <p:nvPr/>
            </p:nvSpPr>
            <p:spPr>
              <a:xfrm>
                <a:off x="1159896" y="3291215"/>
                <a:ext cx="600075" cy="552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  </m:t>
                      </m:r>
                      <m:r>
                        <a:rPr lang="en-US" altLang="zh-CN" b="0" i="1" smtClean="0">
                          <a:latin typeface="Cambria Math" panose="02040503050406030204" pitchFamily="18" charset="0"/>
                        </a:rPr>
                        <m:t>𝑇</m:t>
                      </m:r>
                    </m:oMath>
                  </m:oMathPara>
                </a14:m>
                <a:endParaRPr lang="zh-CN" altLang="en-US" dirty="0"/>
              </a:p>
            </p:txBody>
          </p:sp>
        </mc:Choice>
        <mc:Fallback>
          <p:sp>
            <p:nvSpPr>
              <p:cNvPr id="6" name="椭圆 5">
                <a:extLst>
                  <a:ext uri="{FF2B5EF4-FFF2-40B4-BE49-F238E27FC236}">
                    <a16:creationId xmlns:a16="http://schemas.microsoft.com/office/drawing/2014/main" id="{B665C9EB-B109-4082-BAAF-4F060384049B}"/>
                  </a:ext>
                </a:extLst>
              </p:cNvPr>
              <p:cNvSpPr>
                <a:spLocks noRot="1" noChangeAspect="1" noMove="1" noResize="1" noEditPoints="1" noAdjustHandles="1" noChangeArrowheads="1" noChangeShapeType="1" noTextEdit="1"/>
              </p:cNvSpPr>
              <p:nvPr/>
            </p:nvSpPr>
            <p:spPr>
              <a:xfrm>
                <a:off x="1159896" y="3291215"/>
                <a:ext cx="600075" cy="552450"/>
              </a:xfrm>
              <a:prstGeom prst="ellipse">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椭圆 6">
                <a:extLst>
                  <a:ext uri="{FF2B5EF4-FFF2-40B4-BE49-F238E27FC236}">
                    <a16:creationId xmlns:a16="http://schemas.microsoft.com/office/drawing/2014/main" id="{341EC86E-A212-4C0B-ADC6-7E536A6A5B65}"/>
                  </a:ext>
                </a:extLst>
              </p:cNvPr>
              <p:cNvSpPr/>
              <p:nvPr/>
            </p:nvSpPr>
            <p:spPr>
              <a:xfrm>
                <a:off x="2298133" y="2486563"/>
                <a:ext cx="600075" cy="552450"/>
              </a:xfrm>
              <a:prstGeom prst="ellipse">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  </m:t>
                      </m:r>
                      <m:r>
                        <a:rPr lang="en-US" altLang="zh-CN" b="0" i="1" smtClean="0">
                          <a:latin typeface="Cambria Math" panose="02040503050406030204" pitchFamily="18" charset="0"/>
                        </a:rPr>
                        <m:t>𝑀</m:t>
                      </m:r>
                    </m:oMath>
                  </m:oMathPara>
                </a14:m>
                <a:endParaRPr lang="zh-CN" altLang="en-US" dirty="0"/>
              </a:p>
            </p:txBody>
          </p:sp>
        </mc:Choice>
        <mc:Fallback>
          <p:sp>
            <p:nvSpPr>
              <p:cNvPr id="7" name="椭圆 6">
                <a:extLst>
                  <a:ext uri="{FF2B5EF4-FFF2-40B4-BE49-F238E27FC236}">
                    <a16:creationId xmlns:a16="http://schemas.microsoft.com/office/drawing/2014/main" id="{341EC86E-A212-4C0B-ADC6-7E536A6A5B65}"/>
                  </a:ext>
                </a:extLst>
              </p:cNvPr>
              <p:cNvSpPr>
                <a:spLocks noRot="1" noChangeAspect="1" noMove="1" noResize="1" noEditPoints="1" noAdjustHandles="1" noChangeArrowheads="1" noChangeShapeType="1" noTextEdit="1"/>
              </p:cNvSpPr>
              <p:nvPr/>
            </p:nvSpPr>
            <p:spPr>
              <a:xfrm>
                <a:off x="2298133" y="2486563"/>
                <a:ext cx="600075" cy="552450"/>
              </a:xfrm>
              <a:prstGeom prst="ellipse">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椭圆 7">
                <a:extLst>
                  <a:ext uri="{FF2B5EF4-FFF2-40B4-BE49-F238E27FC236}">
                    <a16:creationId xmlns:a16="http://schemas.microsoft.com/office/drawing/2014/main" id="{651AE2D8-A683-4473-A23A-D8D2FDF1F14A}"/>
                  </a:ext>
                </a:extLst>
              </p:cNvPr>
              <p:cNvSpPr/>
              <p:nvPr/>
            </p:nvSpPr>
            <p:spPr>
              <a:xfrm>
                <a:off x="3293496" y="3291215"/>
                <a:ext cx="600075" cy="552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  </m:t>
                      </m:r>
                      <m:r>
                        <a:rPr lang="en-US" altLang="zh-CN" b="0" i="1" smtClean="0">
                          <a:latin typeface="Cambria Math" panose="02040503050406030204" pitchFamily="18" charset="0"/>
                        </a:rPr>
                        <m:t>𝑌</m:t>
                      </m:r>
                    </m:oMath>
                  </m:oMathPara>
                </a14:m>
                <a:endParaRPr lang="zh-CN" altLang="en-US" dirty="0"/>
              </a:p>
            </p:txBody>
          </p:sp>
        </mc:Choice>
        <mc:Fallback>
          <p:sp>
            <p:nvSpPr>
              <p:cNvPr id="8" name="椭圆 7">
                <a:extLst>
                  <a:ext uri="{FF2B5EF4-FFF2-40B4-BE49-F238E27FC236}">
                    <a16:creationId xmlns:a16="http://schemas.microsoft.com/office/drawing/2014/main" id="{651AE2D8-A683-4473-A23A-D8D2FDF1F14A}"/>
                  </a:ext>
                </a:extLst>
              </p:cNvPr>
              <p:cNvSpPr>
                <a:spLocks noRot="1" noChangeAspect="1" noMove="1" noResize="1" noEditPoints="1" noAdjustHandles="1" noChangeArrowheads="1" noChangeShapeType="1" noTextEdit="1"/>
              </p:cNvSpPr>
              <p:nvPr/>
            </p:nvSpPr>
            <p:spPr>
              <a:xfrm>
                <a:off x="3293496" y="3291215"/>
                <a:ext cx="600075" cy="552450"/>
              </a:xfrm>
              <a:prstGeom prst="ellipse">
                <a:avLst/>
              </a:prstGeom>
              <a:blipFill>
                <a:blip r:embed="rId4"/>
                <a:stretch>
                  <a:fillRect/>
                </a:stretch>
              </a:blipFill>
            </p:spPr>
            <p:txBody>
              <a:bodyPr/>
              <a:lstStyle/>
              <a:p>
                <a:r>
                  <a:rPr lang="zh-CN" altLang="en-US">
                    <a:noFill/>
                  </a:rPr>
                  <a:t> </a:t>
                </a:r>
              </a:p>
            </p:txBody>
          </p:sp>
        </mc:Fallback>
      </mc:AlternateContent>
      <p:cxnSp>
        <p:nvCxnSpPr>
          <p:cNvPr id="12" name="直接箭头连接符 11">
            <a:extLst>
              <a:ext uri="{FF2B5EF4-FFF2-40B4-BE49-F238E27FC236}">
                <a16:creationId xmlns:a16="http://schemas.microsoft.com/office/drawing/2014/main" id="{917192F4-DC8F-4347-8596-3FE2C3EA5D7F}"/>
              </a:ext>
            </a:extLst>
          </p:cNvPr>
          <p:cNvCxnSpPr>
            <a:stCxn id="6" idx="6"/>
            <a:endCxn id="8" idx="2"/>
          </p:cNvCxnSpPr>
          <p:nvPr/>
        </p:nvCxnSpPr>
        <p:spPr>
          <a:xfrm>
            <a:off x="1759971" y="3567440"/>
            <a:ext cx="15335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直接箭头连接符 13">
            <a:extLst>
              <a:ext uri="{FF2B5EF4-FFF2-40B4-BE49-F238E27FC236}">
                <a16:creationId xmlns:a16="http://schemas.microsoft.com/office/drawing/2014/main" id="{B5967EEA-704B-4ACF-9BFB-B78EF9E96797}"/>
              </a:ext>
            </a:extLst>
          </p:cNvPr>
          <p:cNvCxnSpPr>
            <a:stCxn id="7" idx="5"/>
            <a:endCxn id="8" idx="1"/>
          </p:cNvCxnSpPr>
          <p:nvPr/>
        </p:nvCxnSpPr>
        <p:spPr>
          <a:xfrm>
            <a:off x="2810329" y="2958109"/>
            <a:ext cx="571046" cy="4140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3" name="文本框 12">
                <a:extLst>
                  <a:ext uri="{FF2B5EF4-FFF2-40B4-BE49-F238E27FC236}">
                    <a16:creationId xmlns:a16="http://schemas.microsoft.com/office/drawing/2014/main" id="{873BDECA-B37A-47FF-B046-0ED3DAE6E584}"/>
                  </a:ext>
                </a:extLst>
              </p:cNvPr>
              <p:cNvSpPr txBox="1"/>
              <p:nvPr/>
            </p:nvSpPr>
            <p:spPr>
              <a:xfrm>
                <a:off x="1133929" y="4426391"/>
                <a:ext cx="5290615"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𝑌</m:t>
                          </m:r>
                          <m:r>
                            <a:rPr lang="en-US" altLang="zh-CN" b="0" i="1" smtClean="0">
                              <a:latin typeface="Cambria Math" panose="02040503050406030204" pitchFamily="18" charset="0"/>
                            </a:rPr>
                            <m:t> </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𝑑𝑜</m:t>
                      </m:r>
                      <m:r>
                        <a:rPr lang="en-US" altLang="zh-CN" b="0" i="1" smtClean="0">
                          <a:latin typeface="Cambria Math" panose="02040503050406030204" pitchFamily="18" charset="0"/>
                        </a:rPr>
                        <m:t>(</m:t>
                      </m:r>
                      <m:r>
                        <a:rPr lang="en-US" altLang="zh-CN" b="0" i="1" smtClean="0">
                          <a:latin typeface="Cambria Math" panose="02040503050406030204" pitchFamily="18" charset="0"/>
                        </a:rPr>
                        <m:t>𝑇</m:t>
                      </m:r>
                      <m:r>
                        <a:rPr lang="en-US" altLang="zh-CN" b="0" i="1" smtClean="0">
                          <a:latin typeface="Cambria Math" panose="02040503050406030204" pitchFamily="18" charset="0"/>
                        </a:rPr>
                        <m:t>=1,) </m:t>
                      </m:r>
                      <m:r>
                        <a:rPr lang="en-US" altLang="zh-CN" b="0" i="1" smtClean="0">
                          <a:latin typeface="Cambria Math" panose="02040503050406030204" pitchFamily="18" charset="0"/>
                        </a:rPr>
                        <m:t>𝑀</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r>
                        <a:rPr lang="en-US" altLang="zh-CN" b="0" i="1" smtClean="0">
                          <a:latin typeface="Cambria Math" panose="02040503050406030204" pitchFamily="18" charset="0"/>
                        </a:rPr>
                        <m:t>]−</m:t>
                      </m:r>
                      <m:r>
                        <a:rPr lang="en-US" altLang="zh-CN" b="0" i="1" smtClean="0">
                          <a:latin typeface="Cambria Math" panose="02040503050406030204" pitchFamily="18" charset="0"/>
                        </a:rPr>
                        <m:t>𝐸</m:t>
                      </m:r>
                      <m:r>
                        <a:rPr lang="en-US" altLang="zh-CN" b="0" i="1" smtClean="0">
                          <a:latin typeface="Cambria Math" panose="02040503050406030204" pitchFamily="18" charset="0"/>
                        </a:rPr>
                        <m:t>[</m:t>
                      </m:r>
                      <m:r>
                        <a:rPr lang="en-US" altLang="zh-CN" b="0" i="1" smtClean="0">
                          <a:latin typeface="Cambria Math" panose="02040503050406030204" pitchFamily="18" charset="0"/>
                        </a:rPr>
                        <m:t>𝑌</m:t>
                      </m:r>
                      <m:r>
                        <a:rPr lang="en-US" altLang="zh-CN" b="0" i="1" smtClean="0">
                          <a:latin typeface="Cambria Math" panose="02040503050406030204" pitchFamily="18" charset="0"/>
                        </a:rPr>
                        <m:t> | </m:t>
                      </m:r>
                      <m:r>
                        <a:rPr lang="en-US" altLang="zh-CN" b="0" i="1" smtClean="0">
                          <a:latin typeface="Cambria Math" panose="02040503050406030204" pitchFamily="18" charset="0"/>
                        </a:rPr>
                        <m:t>𝑑𝑜</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𝑇</m:t>
                          </m:r>
                          <m:r>
                            <a:rPr lang="en-US" altLang="zh-CN" b="0" i="1" smtClean="0">
                              <a:latin typeface="Cambria Math" panose="02040503050406030204" pitchFamily="18" charset="0"/>
                            </a:rPr>
                            <m:t>=0</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𝑀</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r>
                        <a:rPr lang="en-US" altLang="zh-CN" b="0" i="1" smtClean="0">
                          <a:latin typeface="Cambria Math" panose="02040503050406030204" pitchFamily="18" charset="0"/>
                        </a:rPr>
                        <m:t>]</m:t>
                      </m:r>
                    </m:oMath>
                  </m:oMathPara>
                </a14:m>
                <a:endParaRPr lang="zh-CN" altLang="en-US" dirty="0"/>
              </a:p>
            </p:txBody>
          </p:sp>
        </mc:Choice>
        <mc:Fallback>
          <p:sp>
            <p:nvSpPr>
              <p:cNvPr id="13" name="文本框 12">
                <a:extLst>
                  <a:ext uri="{FF2B5EF4-FFF2-40B4-BE49-F238E27FC236}">
                    <a16:creationId xmlns:a16="http://schemas.microsoft.com/office/drawing/2014/main" id="{873BDECA-B37A-47FF-B046-0ED3DAE6E584}"/>
                  </a:ext>
                </a:extLst>
              </p:cNvPr>
              <p:cNvSpPr txBox="1">
                <a:spLocks noRot="1" noChangeAspect="1" noMove="1" noResize="1" noEditPoints="1" noAdjustHandles="1" noChangeArrowheads="1" noChangeShapeType="1" noTextEdit="1"/>
              </p:cNvSpPr>
              <p:nvPr/>
            </p:nvSpPr>
            <p:spPr>
              <a:xfrm>
                <a:off x="1133929" y="4426391"/>
                <a:ext cx="5290615" cy="276999"/>
              </a:xfrm>
              <a:prstGeom prst="rect">
                <a:avLst/>
              </a:prstGeom>
              <a:blipFill>
                <a:blip r:embed="rId5"/>
                <a:stretch>
                  <a:fillRect l="-461" r="-1037" b="-39130"/>
                </a:stretch>
              </a:blipFill>
            </p:spPr>
            <p:txBody>
              <a:bodyPr/>
              <a:lstStyle/>
              <a:p>
                <a:r>
                  <a:rPr lang="zh-CN" altLang="en-US">
                    <a:noFill/>
                  </a:rPr>
                  <a:t> </a:t>
                </a:r>
              </a:p>
            </p:txBody>
          </p:sp>
        </mc:Fallback>
      </mc:AlternateContent>
      <p:sp>
        <p:nvSpPr>
          <p:cNvPr id="15" name="椭圆 14">
            <a:extLst>
              <a:ext uri="{FF2B5EF4-FFF2-40B4-BE49-F238E27FC236}">
                <a16:creationId xmlns:a16="http://schemas.microsoft.com/office/drawing/2014/main" id="{A5EFEC32-D822-4F22-B9F2-5742BB7DD9E5}"/>
              </a:ext>
            </a:extLst>
          </p:cNvPr>
          <p:cNvSpPr/>
          <p:nvPr/>
        </p:nvSpPr>
        <p:spPr>
          <a:xfrm>
            <a:off x="1133929" y="1321661"/>
            <a:ext cx="600075" cy="552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6" name="椭圆 15">
            <a:extLst>
              <a:ext uri="{FF2B5EF4-FFF2-40B4-BE49-F238E27FC236}">
                <a16:creationId xmlns:a16="http://schemas.microsoft.com/office/drawing/2014/main" id="{96FB1A65-5518-4553-B212-0F3A0DB18099}"/>
              </a:ext>
            </a:extLst>
          </p:cNvPr>
          <p:cNvSpPr/>
          <p:nvPr/>
        </p:nvSpPr>
        <p:spPr>
          <a:xfrm>
            <a:off x="3296104" y="1318196"/>
            <a:ext cx="600075" cy="552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17" name="直接箭头连接符 16">
            <a:extLst>
              <a:ext uri="{FF2B5EF4-FFF2-40B4-BE49-F238E27FC236}">
                <a16:creationId xmlns:a16="http://schemas.microsoft.com/office/drawing/2014/main" id="{22C55BAD-67DC-4736-9330-065FC6613BD2}"/>
              </a:ext>
            </a:extLst>
          </p:cNvPr>
          <p:cNvCxnSpPr>
            <a:stCxn id="15" idx="4"/>
            <a:endCxn id="6" idx="0"/>
          </p:cNvCxnSpPr>
          <p:nvPr/>
        </p:nvCxnSpPr>
        <p:spPr>
          <a:xfrm>
            <a:off x="1433967" y="1874111"/>
            <a:ext cx="25967" cy="14171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接箭头连接符 22">
            <a:extLst>
              <a:ext uri="{FF2B5EF4-FFF2-40B4-BE49-F238E27FC236}">
                <a16:creationId xmlns:a16="http://schemas.microsoft.com/office/drawing/2014/main" id="{395A343F-639D-4BCE-BAD6-3DBE377A3CF6}"/>
              </a:ext>
            </a:extLst>
          </p:cNvPr>
          <p:cNvCxnSpPr>
            <a:stCxn id="16" idx="4"/>
            <a:endCxn id="8" idx="0"/>
          </p:cNvCxnSpPr>
          <p:nvPr/>
        </p:nvCxnSpPr>
        <p:spPr>
          <a:xfrm flipH="1">
            <a:off x="3593534" y="1870646"/>
            <a:ext cx="2608" cy="14205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接连接符 29">
            <a:extLst>
              <a:ext uri="{FF2B5EF4-FFF2-40B4-BE49-F238E27FC236}">
                <a16:creationId xmlns:a16="http://schemas.microsoft.com/office/drawing/2014/main" id="{086AE87A-33D8-4E79-AAB4-CEFEEEB216B5}"/>
              </a:ext>
            </a:extLst>
          </p:cNvPr>
          <p:cNvCxnSpPr>
            <a:stCxn id="13" idx="1"/>
            <a:endCxn id="13" idx="3"/>
          </p:cNvCxnSpPr>
          <p:nvPr/>
        </p:nvCxnSpPr>
        <p:spPr>
          <a:xfrm>
            <a:off x="1133929" y="4564891"/>
            <a:ext cx="5290615"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mc:Choice xmlns:a14="http://schemas.microsoft.com/office/drawing/2010/main" Requires="a14">
          <p:sp>
            <p:nvSpPr>
              <p:cNvPr id="20" name="文本框 19">
                <a:extLst>
                  <a:ext uri="{FF2B5EF4-FFF2-40B4-BE49-F238E27FC236}">
                    <a16:creationId xmlns:a16="http://schemas.microsoft.com/office/drawing/2014/main" id="{EC0F2220-E3B2-4F77-9871-270C3F30ADF4}"/>
                  </a:ext>
                </a:extLst>
              </p:cNvPr>
              <p:cNvSpPr txBox="1"/>
              <p:nvPr/>
            </p:nvSpPr>
            <p:spPr>
              <a:xfrm>
                <a:off x="1133929" y="4961272"/>
                <a:ext cx="5240089"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𝑌</m:t>
                          </m:r>
                          <m:r>
                            <a:rPr lang="en-US" altLang="zh-CN" b="0" i="1" smtClean="0">
                              <a:latin typeface="Cambria Math" panose="02040503050406030204" pitchFamily="18" charset="0"/>
                            </a:rPr>
                            <m:t> </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𝑑𝑜</m:t>
                      </m:r>
                      <m:r>
                        <a:rPr lang="en-US" altLang="zh-CN" b="0" i="1" smtClean="0">
                          <a:latin typeface="Cambria Math" panose="02040503050406030204" pitchFamily="18" charset="0"/>
                        </a:rPr>
                        <m:t>(</m:t>
                      </m:r>
                      <m:r>
                        <a:rPr lang="en-US" altLang="zh-CN" b="0" i="1" smtClean="0">
                          <a:latin typeface="Cambria Math" panose="02040503050406030204" pitchFamily="18" charset="0"/>
                        </a:rPr>
                        <m:t>𝑇</m:t>
                      </m:r>
                      <m:r>
                        <a:rPr lang="en-US" altLang="zh-CN" b="0" i="1" smtClean="0">
                          <a:latin typeface="Cambria Math" panose="02040503050406030204" pitchFamily="18" charset="0"/>
                        </a:rPr>
                        <m:t>=1, </m:t>
                      </m:r>
                      <m:r>
                        <a:rPr lang="en-US" altLang="zh-CN" b="0" i="1" smtClean="0">
                          <a:latin typeface="Cambria Math" panose="02040503050406030204" pitchFamily="18" charset="0"/>
                        </a:rPr>
                        <m:t>𝑀</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r>
                        <a:rPr lang="en-US" altLang="zh-CN" b="0" i="1" smtClean="0">
                          <a:latin typeface="Cambria Math" panose="02040503050406030204" pitchFamily="18" charset="0"/>
                        </a:rPr>
                        <m:t>)]−</m:t>
                      </m:r>
                      <m:r>
                        <a:rPr lang="en-US" altLang="zh-CN" b="0" i="1" smtClean="0">
                          <a:latin typeface="Cambria Math" panose="02040503050406030204" pitchFamily="18" charset="0"/>
                        </a:rPr>
                        <m:t>𝐸</m:t>
                      </m:r>
                      <m:r>
                        <a:rPr lang="en-US" altLang="zh-CN" b="0" i="1" smtClean="0">
                          <a:latin typeface="Cambria Math" panose="02040503050406030204" pitchFamily="18" charset="0"/>
                        </a:rPr>
                        <m:t>[</m:t>
                      </m:r>
                      <m:r>
                        <a:rPr lang="en-US" altLang="zh-CN" b="0" i="1" smtClean="0">
                          <a:latin typeface="Cambria Math" panose="02040503050406030204" pitchFamily="18" charset="0"/>
                        </a:rPr>
                        <m:t>𝑌</m:t>
                      </m:r>
                      <m:r>
                        <a:rPr lang="en-US" altLang="zh-CN" b="0" i="1" smtClean="0">
                          <a:latin typeface="Cambria Math" panose="02040503050406030204" pitchFamily="18" charset="0"/>
                        </a:rPr>
                        <m:t> | </m:t>
                      </m:r>
                      <m:r>
                        <a:rPr lang="en-US" altLang="zh-CN" b="0" i="1" smtClean="0">
                          <a:latin typeface="Cambria Math" panose="02040503050406030204" pitchFamily="18" charset="0"/>
                        </a:rPr>
                        <m:t>𝑑𝑜</m:t>
                      </m:r>
                      <m:r>
                        <a:rPr lang="en-US" altLang="zh-CN" b="0" i="1" smtClean="0">
                          <a:latin typeface="Cambria Math" panose="02040503050406030204" pitchFamily="18" charset="0"/>
                        </a:rPr>
                        <m:t>(</m:t>
                      </m:r>
                      <m:r>
                        <a:rPr lang="en-US" altLang="zh-CN" b="0" i="1" smtClean="0">
                          <a:latin typeface="Cambria Math" panose="02040503050406030204" pitchFamily="18" charset="0"/>
                        </a:rPr>
                        <m:t>𝑇</m:t>
                      </m:r>
                      <m:r>
                        <a:rPr lang="en-US" altLang="zh-CN" b="0" i="1" smtClean="0">
                          <a:latin typeface="Cambria Math" panose="02040503050406030204" pitchFamily="18" charset="0"/>
                        </a:rPr>
                        <m:t>=0,</m:t>
                      </m:r>
                      <m:r>
                        <a:rPr lang="en-US" altLang="zh-CN" b="0" i="1" smtClean="0">
                          <a:latin typeface="Cambria Math" panose="02040503050406030204" pitchFamily="18" charset="0"/>
                        </a:rPr>
                        <m:t>𝑀</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r>
                        <a:rPr lang="en-US" altLang="zh-CN" b="0" i="1" smtClean="0">
                          <a:latin typeface="Cambria Math" panose="02040503050406030204" pitchFamily="18" charset="0"/>
                        </a:rPr>
                        <m:t>)]</m:t>
                      </m:r>
                    </m:oMath>
                  </m:oMathPara>
                </a14:m>
                <a:endParaRPr lang="zh-CN" altLang="en-US" dirty="0"/>
              </a:p>
            </p:txBody>
          </p:sp>
        </mc:Choice>
        <mc:Fallback>
          <p:sp>
            <p:nvSpPr>
              <p:cNvPr id="20" name="文本框 19">
                <a:extLst>
                  <a:ext uri="{FF2B5EF4-FFF2-40B4-BE49-F238E27FC236}">
                    <a16:creationId xmlns:a16="http://schemas.microsoft.com/office/drawing/2014/main" id="{EC0F2220-E3B2-4F77-9871-270C3F30ADF4}"/>
                  </a:ext>
                </a:extLst>
              </p:cNvPr>
              <p:cNvSpPr txBox="1">
                <a:spLocks noRot="1" noChangeAspect="1" noMove="1" noResize="1" noEditPoints="1" noAdjustHandles="1" noChangeArrowheads="1" noChangeShapeType="1" noTextEdit="1"/>
              </p:cNvSpPr>
              <p:nvPr/>
            </p:nvSpPr>
            <p:spPr>
              <a:xfrm>
                <a:off x="1133929" y="4961272"/>
                <a:ext cx="5240089" cy="276999"/>
              </a:xfrm>
              <a:prstGeom prst="rect">
                <a:avLst/>
              </a:prstGeom>
              <a:blipFill>
                <a:blip r:embed="rId6"/>
                <a:stretch>
                  <a:fillRect l="-465" t="-2222" r="-1047" b="-40000"/>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44AAF245-50CA-450D-BA7E-68F1E797C098}"/>
              </a:ext>
            </a:extLst>
          </p:cNvPr>
          <p:cNvSpPr txBox="1"/>
          <p:nvPr/>
        </p:nvSpPr>
        <p:spPr>
          <a:xfrm>
            <a:off x="5076787" y="1407200"/>
            <a:ext cx="3894856" cy="1569660"/>
          </a:xfrm>
          <a:prstGeom prst="rect">
            <a:avLst/>
          </a:prstGeom>
          <a:noFill/>
        </p:spPr>
        <p:txBody>
          <a:bodyPr wrap="square" rtlCol="0">
            <a:spAutoFit/>
          </a:bodyPr>
          <a:lstStyle/>
          <a:p>
            <a:r>
              <a:rPr lang="en-US" altLang="zh-CN" sz="1600" dirty="0"/>
              <a:t>Problems:</a:t>
            </a:r>
          </a:p>
          <a:p>
            <a:pPr marL="285750" indent="-285750">
              <a:buFont typeface="Arial" panose="020B0604020202020204" pitchFamily="34" charset="0"/>
              <a:buChar char="•"/>
            </a:pPr>
            <a:r>
              <a:rPr lang="en-US" altLang="zh-CN" sz="1600" dirty="0"/>
              <a:t>CDE is specific to the arbitrary choice of m</a:t>
            </a:r>
          </a:p>
          <a:p>
            <a:pPr marL="285750" indent="-285750">
              <a:buFont typeface="Arial" panose="020B0604020202020204" pitchFamily="34" charset="0"/>
              <a:buChar char="•"/>
            </a:pPr>
            <a:r>
              <a:rPr lang="en-US" altLang="zh-CN" sz="1600" dirty="0"/>
              <a:t>How do we get the indirect effect? Can’t just subtract the CDE from the total effect?</a:t>
            </a:r>
            <a:endParaRPr lang="zh-CN" altLang="en-US" sz="1600" dirty="0"/>
          </a:p>
        </p:txBody>
      </p:sp>
    </p:spTree>
    <p:extLst>
      <p:ext uri="{BB962C8B-B14F-4D97-AF65-F5344CB8AC3E}">
        <p14:creationId xmlns:p14="http://schemas.microsoft.com/office/powerpoint/2010/main" val="10449710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E84E11A-5D42-4195-A9BA-DF7319F4FBC4}"/>
              </a:ext>
            </a:extLst>
          </p:cNvPr>
          <p:cNvSpPr>
            <a:spLocks noGrp="1"/>
          </p:cNvSpPr>
          <p:nvPr>
            <p:ph type="sldNum" sz="quarter" idx="11"/>
          </p:nvPr>
        </p:nvSpPr>
        <p:spPr/>
        <p:txBody>
          <a:bodyPr/>
          <a:lstStyle/>
          <a:p>
            <a:fld id="{2AEAD966-1EF9-3A44-9B11-0C8090371A9A}" type="slidenum">
              <a:rPr lang="en-US" smtClean="0"/>
              <a:t>46</a:t>
            </a:fld>
            <a:endParaRPr lang="en-US"/>
          </a:p>
        </p:txBody>
      </p:sp>
      <p:sp>
        <p:nvSpPr>
          <p:cNvPr id="4" name="标题 3">
            <a:extLst>
              <a:ext uri="{FF2B5EF4-FFF2-40B4-BE49-F238E27FC236}">
                <a16:creationId xmlns:a16="http://schemas.microsoft.com/office/drawing/2014/main" id="{52ED0D6B-85F3-469C-B6DB-B2306A0F884E}"/>
              </a:ext>
            </a:extLst>
          </p:cNvPr>
          <p:cNvSpPr>
            <a:spLocks noGrp="1"/>
          </p:cNvSpPr>
          <p:nvPr>
            <p:ph type="title"/>
          </p:nvPr>
        </p:nvSpPr>
        <p:spPr/>
        <p:txBody>
          <a:bodyPr/>
          <a:lstStyle/>
          <a:p>
            <a:r>
              <a:rPr lang="en-US" altLang="zh-CN" dirty="0"/>
              <a:t>Natural Direct and Indirect Effects</a:t>
            </a:r>
            <a:endParaRPr lang="zh-CN" altLang="en-US" dirty="0"/>
          </a:p>
        </p:txBody>
      </p:sp>
      <p:sp>
        <p:nvSpPr>
          <p:cNvPr id="5" name="日期占位符 4">
            <a:extLst>
              <a:ext uri="{FF2B5EF4-FFF2-40B4-BE49-F238E27FC236}">
                <a16:creationId xmlns:a16="http://schemas.microsoft.com/office/drawing/2014/main" id="{E11D346B-EFD4-4D96-90D9-52C008DE6416}"/>
              </a:ext>
            </a:extLst>
          </p:cNvPr>
          <p:cNvSpPr>
            <a:spLocks noGrp="1"/>
          </p:cNvSpPr>
          <p:nvPr>
            <p:ph type="dt" sz="half" idx="12"/>
          </p:nvPr>
        </p:nvSpPr>
        <p:spPr/>
        <p:txBody>
          <a:bodyPr/>
          <a:lstStyle/>
          <a:p>
            <a:fld id="{63ADDE33-C9F1-F94F-A20E-DA422DA466DF}" type="datetime1">
              <a:rPr lang="en-US" smtClean="0"/>
              <a:t>9/1/2022</a:t>
            </a:fld>
            <a:endParaRPr lang="en-US" dirty="0"/>
          </a:p>
        </p:txBody>
      </p:sp>
      <mc:AlternateContent xmlns:mc="http://schemas.openxmlformats.org/markup-compatibility/2006">
        <mc:Choice xmlns:a14="http://schemas.microsoft.com/office/drawing/2010/main" Requires="a14">
          <p:sp>
            <p:nvSpPr>
              <p:cNvPr id="2" name="文本框 1">
                <a:extLst>
                  <a:ext uri="{FF2B5EF4-FFF2-40B4-BE49-F238E27FC236}">
                    <a16:creationId xmlns:a16="http://schemas.microsoft.com/office/drawing/2014/main" id="{B781512C-397E-4E2D-AD29-B9ED05DEA874}"/>
                  </a:ext>
                </a:extLst>
              </p:cNvPr>
              <p:cNvSpPr txBox="1"/>
              <p:nvPr/>
            </p:nvSpPr>
            <p:spPr>
              <a:xfrm>
                <a:off x="466725" y="1104900"/>
                <a:ext cx="7739333" cy="1150956"/>
              </a:xfrm>
              <a:prstGeom prst="rect">
                <a:avLst/>
              </a:prstGeom>
              <a:noFill/>
            </p:spPr>
            <p:txBody>
              <a:bodyPr wrap="square" rtlCol="0">
                <a:spAutoFit/>
              </a:bodyPr>
              <a:lstStyle/>
              <a:p>
                <a:r>
                  <a:rPr lang="en-US" altLang="zh-CN" sz="1600" dirty="0"/>
                  <a:t>Subscript notation:</a:t>
                </a:r>
              </a:p>
              <a:p>
                <a:endParaRPr lang="en-US" altLang="zh-CN" sz="1600" dirty="0"/>
              </a:p>
              <a:p>
                <a:r>
                  <a:rPr lang="en-US" altLang="zh-CN" dirty="0"/>
                  <a:t>	</a:t>
                </a:r>
                <a14:m>
                  <m:oMath xmlns:m="http://schemas.openxmlformats.org/officeDocument/2006/math">
                    <m:r>
                      <a:rPr lang="en-US" altLang="zh-CN" b="0" i="1" smtClean="0">
                        <a:latin typeface="Cambria Math" panose="02040503050406030204" pitchFamily="18" charset="0"/>
                      </a:rPr>
                      <m:t>𝐸</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𝑌</m:t>
                        </m:r>
                        <m:r>
                          <a:rPr lang="en-US" altLang="zh-CN" b="0" i="1" smtClean="0">
                            <a:latin typeface="Cambria Math" panose="02040503050406030204" pitchFamily="18" charset="0"/>
                          </a:rPr>
                          <m:t> </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𝑑𝑜</m:t>
                    </m:r>
                    <m:r>
                      <a:rPr lang="en-US" altLang="zh-CN" b="0" i="1" smtClean="0">
                        <a:latin typeface="Cambria Math" panose="02040503050406030204" pitchFamily="18" charset="0"/>
                      </a:rPr>
                      <m:t>(</m:t>
                    </m:r>
                    <m:r>
                      <a:rPr lang="en-US" altLang="zh-CN" b="0" i="1" smtClean="0">
                        <a:latin typeface="Cambria Math" panose="02040503050406030204" pitchFamily="18" charset="0"/>
                      </a:rPr>
                      <m:t>𝑇</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𝑀</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r>
                      <a:rPr lang="en-US" altLang="zh-CN" b="0" i="1" smtClean="0">
                        <a:latin typeface="Cambria Math" panose="02040503050406030204" pitchFamily="18" charset="0"/>
                      </a:rPr>
                      <m:t>)]]    </m:t>
                    </m:r>
                    <m:r>
                      <a:rPr lang="en-US" altLang="zh-CN" b="0" i="1" smtClean="0">
                        <a:latin typeface="Cambria Math" panose="02040503050406030204" pitchFamily="18" charset="0"/>
                      </a:rPr>
                      <m:t>𝐸</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𝐸</m:t>
                    </m:r>
                    <m:r>
                      <a:rPr lang="en-US" altLang="zh-CN" b="0" i="1" smtClean="0">
                        <a:latin typeface="Cambria Math" panose="02040503050406030204" pitchFamily="18" charset="0"/>
                      </a:rPr>
                      <m:t>[</m:t>
                    </m:r>
                    <m:r>
                      <a:rPr lang="en-US" altLang="zh-CN" b="0" i="1" smtClean="0">
                        <a:latin typeface="Cambria Math" panose="02040503050406030204" pitchFamily="18" charset="0"/>
                      </a:rPr>
                      <m:t>𝑀</m:t>
                    </m:r>
                    <m:r>
                      <a:rPr lang="en-US" altLang="zh-CN" b="0" i="1" smtClean="0">
                        <a:latin typeface="Cambria Math" panose="02040503050406030204" pitchFamily="18" charset="0"/>
                      </a:rPr>
                      <m:t> | </m:t>
                    </m:r>
                    <m:r>
                      <a:rPr lang="en-US" altLang="zh-CN" b="0" i="1" smtClean="0">
                        <a:latin typeface="Cambria Math" panose="02040503050406030204" pitchFamily="18" charset="0"/>
                      </a:rPr>
                      <m:t>𝑑𝑜</m:t>
                    </m:r>
                    <m:r>
                      <a:rPr lang="en-US" altLang="zh-CN" b="0" i="1" smtClean="0">
                        <a:latin typeface="Cambria Math" panose="02040503050406030204" pitchFamily="18" charset="0"/>
                      </a:rPr>
                      <m:t>(</m:t>
                    </m:r>
                    <m:r>
                      <a:rPr lang="en-US" altLang="zh-CN" b="0" i="1" smtClean="0">
                        <a:latin typeface="Cambria Math" panose="02040503050406030204" pitchFamily="18" charset="0"/>
                      </a:rPr>
                      <m:t>𝑇</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oMath>
                </a14:m>
                <a:endParaRPr lang="en-US" altLang="zh-CN" dirty="0"/>
              </a:p>
              <a:p>
                <a:endParaRPr lang="zh-CN" altLang="en-US" dirty="0"/>
              </a:p>
            </p:txBody>
          </p:sp>
        </mc:Choice>
        <mc:Fallback>
          <p:sp>
            <p:nvSpPr>
              <p:cNvPr id="2" name="文本框 1">
                <a:extLst>
                  <a:ext uri="{FF2B5EF4-FFF2-40B4-BE49-F238E27FC236}">
                    <a16:creationId xmlns:a16="http://schemas.microsoft.com/office/drawing/2014/main" id="{B781512C-397E-4E2D-AD29-B9ED05DEA874}"/>
                  </a:ext>
                </a:extLst>
              </p:cNvPr>
              <p:cNvSpPr txBox="1">
                <a:spLocks noRot="1" noChangeAspect="1" noMove="1" noResize="1" noEditPoints="1" noAdjustHandles="1" noChangeArrowheads="1" noChangeShapeType="1" noTextEdit="1"/>
              </p:cNvSpPr>
              <p:nvPr/>
            </p:nvSpPr>
            <p:spPr>
              <a:xfrm>
                <a:off x="466725" y="1104900"/>
                <a:ext cx="7739333" cy="1150956"/>
              </a:xfrm>
              <a:prstGeom prst="rect">
                <a:avLst/>
              </a:prstGeom>
              <a:blipFill>
                <a:blip r:embed="rId2"/>
                <a:stretch>
                  <a:fillRect l="-473" t="-158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矩形 9">
                <a:extLst>
                  <a:ext uri="{FF2B5EF4-FFF2-40B4-BE49-F238E27FC236}">
                    <a16:creationId xmlns:a16="http://schemas.microsoft.com/office/drawing/2014/main" id="{6A56E76B-14DB-4FD0-A064-C36E9BE5BF68}"/>
                  </a:ext>
                </a:extLst>
              </p:cNvPr>
              <p:cNvSpPr/>
              <p:nvPr/>
            </p:nvSpPr>
            <p:spPr>
              <a:xfrm>
                <a:off x="1381152" y="2040413"/>
                <a:ext cx="2373663" cy="38151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𝐶𝐷𝐸</m:t>
                      </m:r>
                      <m:r>
                        <a:rPr lang="en-US" altLang="zh-CN" i="1">
                          <a:latin typeface="Cambria Math" panose="02040503050406030204" pitchFamily="18" charset="0"/>
                        </a:rPr>
                        <m:t>≜</m:t>
                      </m:r>
                      <m:r>
                        <m:rPr>
                          <m:sty m:val="p"/>
                        </m:rPr>
                        <a:rPr lang="en-US" altLang="zh-CN" b="0" i="0" smtClean="0">
                          <a:latin typeface="Cambria Math" panose="02040503050406030204" pitchFamily="18" charset="0"/>
                        </a:rPr>
                        <m:t>E</m:t>
                      </m:r>
                      <m:r>
                        <a:rPr lang="en-US" altLang="zh-CN" b="0" i="0"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1,</m:t>
                          </m:r>
                          <m:r>
                            <a:rPr lang="en-US" altLang="zh-CN" b="0" i="1" smtClean="0">
                              <a:latin typeface="Cambria Math" panose="02040503050406030204" pitchFamily="18" charset="0"/>
                            </a:rPr>
                            <m:t>𝑚</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0,</m:t>
                          </m:r>
                          <m:r>
                            <a:rPr lang="en-US" altLang="zh-CN" b="0" i="1" smtClean="0">
                              <a:latin typeface="Cambria Math" panose="02040503050406030204" pitchFamily="18" charset="0"/>
                            </a:rPr>
                            <m:t>𝑚</m:t>
                          </m:r>
                        </m:sub>
                      </m:sSub>
                      <m:r>
                        <a:rPr lang="en-US" altLang="zh-CN" b="0" i="0" smtClean="0">
                          <a:latin typeface="Cambria Math" panose="02040503050406030204" pitchFamily="18" charset="0"/>
                        </a:rPr>
                        <m:t>]</m:t>
                      </m:r>
                    </m:oMath>
                  </m:oMathPara>
                </a14:m>
                <a:endParaRPr lang="zh-CN" altLang="en-US" dirty="0"/>
              </a:p>
            </p:txBody>
          </p:sp>
        </mc:Choice>
        <mc:Fallback>
          <p:sp>
            <p:nvSpPr>
              <p:cNvPr id="10" name="矩形 9">
                <a:extLst>
                  <a:ext uri="{FF2B5EF4-FFF2-40B4-BE49-F238E27FC236}">
                    <a16:creationId xmlns:a16="http://schemas.microsoft.com/office/drawing/2014/main" id="{6A56E76B-14DB-4FD0-A064-C36E9BE5BF68}"/>
                  </a:ext>
                </a:extLst>
              </p:cNvPr>
              <p:cNvSpPr>
                <a:spLocks noRot="1" noChangeAspect="1" noMove="1" noResize="1" noEditPoints="1" noAdjustHandles="1" noChangeArrowheads="1" noChangeShapeType="1" noTextEdit="1"/>
              </p:cNvSpPr>
              <p:nvPr/>
            </p:nvSpPr>
            <p:spPr>
              <a:xfrm>
                <a:off x="1381152" y="2040413"/>
                <a:ext cx="2373663" cy="381515"/>
              </a:xfrm>
              <a:prstGeom prst="rect">
                <a:avLst/>
              </a:prstGeom>
              <a:blipFill>
                <a:blip r:embed="rId3"/>
                <a:stretch>
                  <a:fillRect b="-1451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350096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E84E11A-5D42-4195-A9BA-DF7319F4FBC4}"/>
              </a:ext>
            </a:extLst>
          </p:cNvPr>
          <p:cNvSpPr>
            <a:spLocks noGrp="1"/>
          </p:cNvSpPr>
          <p:nvPr>
            <p:ph type="sldNum" sz="quarter" idx="11"/>
          </p:nvPr>
        </p:nvSpPr>
        <p:spPr/>
        <p:txBody>
          <a:bodyPr/>
          <a:lstStyle/>
          <a:p>
            <a:fld id="{2AEAD966-1EF9-3A44-9B11-0C8090371A9A}" type="slidenum">
              <a:rPr lang="en-US" smtClean="0"/>
              <a:t>47</a:t>
            </a:fld>
            <a:endParaRPr lang="en-US" dirty="0"/>
          </a:p>
        </p:txBody>
      </p:sp>
      <p:sp>
        <p:nvSpPr>
          <p:cNvPr id="4" name="标题 3">
            <a:extLst>
              <a:ext uri="{FF2B5EF4-FFF2-40B4-BE49-F238E27FC236}">
                <a16:creationId xmlns:a16="http://schemas.microsoft.com/office/drawing/2014/main" id="{52ED0D6B-85F3-469C-B6DB-B2306A0F884E}"/>
              </a:ext>
            </a:extLst>
          </p:cNvPr>
          <p:cNvSpPr>
            <a:spLocks noGrp="1"/>
          </p:cNvSpPr>
          <p:nvPr>
            <p:ph type="title"/>
          </p:nvPr>
        </p:nvSpPr>
        <p:spPr/>
        <p:txBody>
          <a:bodyPr/>
          <a:lstStyle/>
          <a:p>
            <a:r>
              <a:rPr lang="en-US" altLang="zh-CN" dirty="0"/>
              <a:t>Natural Direct and Indirect Effects</a:t>
            </a:r>
            <a:endParaRPr lang="zh-CN" altLang="en-US" dirty="0"/>
          </a:p>
        </p:txBody>
      </p:sp>
      <p:sp>
        <p:nvSpPr>
          <p:cNvPr id="5" name="日期占位符 4">
            <a:extLst>
              <a:ext uri="{FF2B5EF4-FFF2-40B4-BE49-F238E27FC236}">
                <a16:creationId xmlns:a16="http://schemas.microsoft.com/office/drawing/2014/main" id="{E11D346B-EFD4-4D96-90D9-52C008DE6416}"/>
              </a:ext>
            </a:extLst>
          </p:cNvPr>
          <p:cNvSpPr>
            <a:spLocks noGrp="1"/>
          </p:cNvSpPr>
          <p:nvPr>
            <p:ph type="dt" sz="half" idx="12"/>
          </p:nvPr>
        </p:nvSpPr>
        <p:spPr/>
        <p:txBody>
          <a:bodyPr/>
          <a:lstStyle/>
          <a:p>
            <a:fld id="{63ADDE33-C9F1-F94F-A20E-DA422DA466DF}" type="datetime1">
              <a:rPr lang="en-US" smtClean="0"/>
              <a:t>9/1/2022</a:t>
            </a:fld>
            <a:endParaRPr lang="en-US" dirty="0"/>
          </a:p>
        </p:txBody>
      </p:sp>
      <mc:AlternateContent xmlns:mc="http://schemas.openxmlformats.org/markup-compatibility/2006">
        <mc:Choice xmlns:a14="http://schemas.microsoft.com/office/drawing/2010/main" Requires="a14">
          <p:sp>
            <p:nvSpPr>
              <p:cNvPr id="2" name="文本框 1">
                <a:extLst>
                  <a:ext uri="{FF2B5EF4-FFF2-40B4-BE49-F238E27FC236}">
                    <a16:creationId xmlns:a16="http://schemas.microsoft.com/office/drawing/2014/main" id="{B781512C-397E-4E2D-AD29-B9ED05DEA874}"/>
                  </a:ext>
                </a:extLst>
              </p:cNvPr>
              <p:cNvSpPr txBox="1"/>
              <p:nvPr/>
            </p:nvSpPr>
            <p:spPr>
              <a:xfrm>
                <a:off x="466725" y="1104900"/>
                <a:ext cx="7858125" cy="3151504"/>
              </a:xfrm>
              <a:prstGeom prst="rect">
                <a:avLst/>
              </a:prstGeom>
              <a:noFill/>
            </p:spPr>
            <p:txBody>
              <a:bodyPr wrap="square" rtlCol="0">
                <a:spAutoFit/>
              </a:bodyPr>
              <a:lstStyle/>
              <a:p>
                <a:r>
                  <a:rPr lang="en-US" altLang="zh-CN" sz="1600" dirty="0"/>
                  <a:t>Subscript notation:</a:t>
                </a:r>
              </a:p>
              <a:p>
                <a:endParaRPr lang="en-US" altLang="zh-CN" dirty="0"/>
              </a:p>
              <a:p>
                <a:r>
                  <a:rPr lang="en-US" altLang="zh-CN" dirty="0"/>
                  <a:t>	</a:t>
                </a:r>
                <a14:m>
                  <m:oMath xmlns:m="http://schemas.openxmlformats.org/officeDocument/2006/math">
                    <m:r>
                      <a:rPr lang="en-US" altLang="zh-CN" b="0" i="1" smtClean="0">
                        <a:latin typeface="Cambria Math" panose="02040503050406030204" pitchFamily="18" charset="0"/>
                      </a:rPr>
                      <m:t>𝐸</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𝑌</m:t>
                        </m:r>
                        <m:r>
                          <a:rPr lang="en-US" altLang="zh-CN" b="0" i="1" smtClean="0">
                            <a:latin typeface="Cambria Math" panose="02040503050406030204" pitchFamily="18" charset="0"/>
                          </a:rPr>
                          <m:t> </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𝑑𝑜</m:t>
                    </m:r>
                    <m:r>
                      <a:rPr lang="en-US" altLang="zh-CN" b="0" i="1" smtClean="0">
                        <a:latin typeface="Cambria Math" panose="02040503050406030204" pitchFamily="18" charset="0"/>
                      </a:rPr>
                      <m:t>(</m:t>
                    </m:r>
                    <m:r>
                      <a:rPr lang="en-US" altLang="zh-CN" b="0" i="1" smtClean="0">
                        <a:latin typeface="Cambria Math" panose="02040503050406030204" pitchFamily="18" charset="0"/>
                      </a:rPr>
                      <m:t>𝑇</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𝑀</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r>
                      <a:rPr lang="en-US" altLang="zh-CN" b="0" i="1" smtClean="0">
                        <a:latin typeface="Cambria Math" panose="02040503050406030204" pitchFamily="18" charset="0"/>
                      </a:rPr>
                      <m:t>)]]    </m:t>
                    </m:r>
                    <m:r>
                      <a:rPr lang="en-US" altLang="zh-CN" b="0" i="1" smtClean="0">
                        <a:latin typeface="Cambria Math" panose="02040503050406030204" pitchFamily="18" charset="0"/>
                      </a:rPr>
                      <m:t>𝐸</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𝐸</m:t>
                    </m:r>
                    <m:r>
                      <a:rPr lang="en-US" altLang="zh-CN" b="0" i="1" smtClean="0">
                        <a:latin typeface="Cambria Math" panose="02040503050406030204" pitchFamily="18" charset="0"/>
                      </a:rPr>
                      <m:t>[</m:t>
                    </m:r>
                    <m:r>
                      <a:rPr lang="en-US" altLang="zh-CN" b="0" i="1" smtClean="0">
                        <a:latin typeface="Cambria Math" panose="02040503050406030204" pitchFamily="18" charset="0"/>
                      </a:rPr>
                      <m:t>𝑀</m:t>
                    </m:r>
                    <m:r>
                      <a:rPr lang="en-US" altLang="zh-CN" b="0" i="1" smtClean="0">
                        <a:latin typeface="Cambria Math" panose="02040503050406030204" pitchFamily="18" charset="0"/>
                      </a:rPr>
                      <m:t> | </m:t>
                    </m:r>
                    <m:r>
                      <a:rPr lang="en-US" altLang="zh-CN" b="0" i="1" smtClean="0">
                        <a:latin typeface="Cambria Math" panose="02040503050406030204" pitchFamily="18" charset="0"/>
                      </a:rPr>
                      <m:t>𝑑𝑜</m:t>
                    </m:r>
                    <m:r>
                      <a:rPr lang="en-US" altLang="zh-CN" b="0" i="1" smtClean="0">
                        <a:latin typeface="Cambria Math" panose="02040503050406030204" pitchFamily="18" charset="0"/>
                      </a:rPr>
                      <m:t>(</m:t>
                    </m:r>
                    <m:r>
                      <a:rPr lang="en-US" altLang="zh-CN" b="0" i="1" smtClean="0">
                        <a:latin typeface="Cambria Math" panose="02040503050406030204" pitchFamily="18" charset="0"/>
                      </a:rPr>
                      <m:t>𝑇</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oMath>
                </a14:m>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mc:Choice>
        <mc:Fallback>
          <p:sp>
            <p:nvSpPr>
              <p:cNvPr id="2" name="文本框 1">
                <a:extLst>
                  <a:ext uri="{FF2B5EF4-FFF2-40B4-BE49-F238E27FC236}">
                    <a16:creationId xmlns:a16="http://schemas.microsoft.com/office/drawing/2014/main" id="{B781512C-397E-4E2D-AD29-B9ED05DEA874}"/>
                  </a:ext>
                </a:extLst>
              </p:cNvPr>
              <p:cNvSpPr txBox="1">
                <a:spLocks noRot="1" noChangeAspect="1" noMove="1" noResize="1" noEditPoints="1" noAdjustHandles="1" noChangeArrowheads="1" noChangeShapeType="1" noTextEdit="1"/>
              </p:cNvSpPr>
              <p:nvPr/>
            </p:nvSpPr>
            <p:spPr>
              <a:xfrm>
                <a:off x="466725" y="1104900"/>
                <a:ext cx="7858125" cy="3151504"/>
              </a:xfrm>
              <a:prstGeom prst="rect">
                <a:avLst/>
              </a:prstGeom>
              <a:blipFill>
                <a:blip r:embed="rId2"/>
                <a:stretch>
                  <a:fillRect l="-465" t="-58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矩形 9">
                <a:extLst>
                  <a:ext uri="{FF2B5EF4-FFF2-40B4-BE49-F238E27FC236}">
                    <a16:creationId xmlns:a16="http://schemas.microsoft.com/office/drawing/2014/main" id="{6A56E76B-14DB-4FD0-A064-C36E9BE5BF68}"/>
                  </a:ext>
                </a:extLst>
              </p:cNvPr>
              <p:cNvSpPr/>
              <p:nvPr/>
            </p:nvSpPr>
            <p:spPr>
              <a:xfrm>
                <a:off x="1381151" y="2280084"/>
                <a:ext cx="2373663" cy="38151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𝐶𝐷𝐸</m:t>
                      </m:r>
                      <m:r>
                        <a:rPr lang="en-US" altLang="zh-CN" i="1">
                          <a:latin typeface="Cambria Math" panose="02040503050406030204" pitchFamily="18" charset="0"/>
                        </a:rPr>
                        <m:t>≜</m:t>
                      </m:r>
                      <m:r>
                        <m:rPr>
                          <m:sty m:val="p"/>
                        </m:rPr>
                        <a:rPr lang="en-US" altLang="zh-CN" b="0" i="0" smtClean="0">
                          <a:latin typeface="Cambria Math" panose="02040503050406030204" pitchFamily="18" charset="0"/>
                        </a:rPr>
                        <m:t>E</m:t>
                      </m:r>
                      <m:r>
                        <a:rPr lang="en-US" altLang="zh-CN" b="0" i="0"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1,</m:t>
                          </m:r>
                          <m:r>
                            <a:rPr lang="en-US" altLang="zh-CN" b="0" i="1" smtClean="0">
                              <a:latin typeface="Cambria Math" panose="02040503050406030204" pitchFamily="18" charset="0"/>
                            </a:rPr>
                            <m:t>𝑚</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0,</m:t>
                          </m:r>
                          <m:r>
                            <a:rPr lang="en-US" altLang="zh-CN" b="0" i="1" smtClean="0">
                              <a:latin typeface="Cambria Math" panose="02040503050406030204" pitchFamily="18" charset="0"/>
                            </a:rPr>
                            <m:t>𝑚</m:t>
                          </m:r>
                        </m:sub>
                      </m:sSub>
                      <m:r>
                        <a:rPr lang="en-US" altLang="zh-CN" b="0" i="0" smtClean="0">
                          <a:latin typeface="Cambria Math" panose="02040503050406030204" pitchFamily="18" charset="0"/>
                        </a:rPr>
                        <m:t>]</m:t>
                      </m:r>
                    </m:oMath>
                  </m:oMathPara>
                </a14:m>
                <a:endParaRPr lang="zh-CN" altLang="en-US" dirty="0"/>
              </a:p>
            </p:txBody>
          </p:sp>
        </mc:Choice>
        <mc:Fallback>
          <p:sp>
            <p:nvSpPr>
              <p:cNvPr id="10" name="矩形 9">
                <a:extLst>
                  <a:ext uri="{FF2B5EF4-FFF2-40B4-BE49-F238E27FC236}">
                    <a16:creationId xmlns:a16="http://schemas.microsoft.com/office/drawing/2014/main" id="{6A56E76B-14DB-4FD0-A064-C36E9BE5BF68}"/>
                  </a:ext>
                </a:extLst>
              </p:cNvPr>
              <p:cNvSpPr>
                <a:spLocks noRot="1" noChangeAspect="1" noMove="1" noResize="1" noEditPoints="1" noAdjustHandles="1" noChangeArrowheads="1" noChangeShapeType="1" noTextEdit="1"/>
              </p:cNvSpPr>
              <p:nvPr/>
            </p:nvSpPr>
            <p:spPr>
              <a:xfrm>
                <a:off x="1381151" y="2280084"/>
                <a:ext cx="2373663" cy="381515"/>
              </a:xfrm>
              <a:prstGeom prst="rect">
                <a:avLst/>
              </a:prstGeom>
              <a:blipFill>
                <a:blip r:embed="rId3"/>
                <a:stretch>
                  <a:fillRect b="-1269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矩形 6">
                <a:extLst>
                  <a:ext uri="{FF2B5EF4-FFF2-40B4-BE49-F238E27FC236}">
                    <a16:creationId xmlns:a16="http://schemas.microsoft.com/office/drawing/2014/main" id="{D05B4699-6B88-471E-BF66-4631059780BA}"/>
                  </a:ext>
                </a:extLst>
              </p:cNvPr>
              <p:cNvSpPr/>
              <p:nvPr/>
            </p:nvSpPr>
            <p:spPr>
              <a:xfrm>
                <a:off x="1381152" y="2975926"/>
                <a:ext cx="2600455" cy="404213"/>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𝑁𝐷𝐸</m:t>
                      </m:r>
                      <m:r>
                        <a:rPr lang="en-US" altLang="zh-CN" i="1">
                          <a:latin typeface="Cambria Math" panose="02040503050406030204" pitchFamily="18" charset="0"/>
                        </a:rPr>
                        <m:t>≜</m:t>
                      </m:r>
                      <m:r>
                        <m:rPr>
                          <m:sty m:val="p"/>
                        </m:rPr>
                        <a:rPr lang="en-US" altLang="zh-CN" b="0" i="0" smtClean="0">
                          <a:latin typeface="Cambria Math" panose="02040503050406030204" pitchFamily="18" charset="0"/>
                        </a:rPr>
                        <m:t>E</m:t>
                      </m:r>
                      <m:r>
                        <a:rPr lang="en-US" altLang="zh-CN" b="0" i="0"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1,</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0</m:t>
                              </m:r>
                            </m:sub>
                          </m:sSub>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0,</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0</m:t>
                              </m:r>
                            </m:sub>
                          </m:sSub>
                        </m:sub>
                      </m:sSub>
                      <m:r>
                        <a:rPr lang="en-US" altLang="zh-CN" b="0" i="0" smtClean="0">
                          <a:latin typeface="Cambria Math" panose="02040503050406030204" pitchFamily="18" charset="0"/>
                        </a:rPr>
                        <m:t>]</m:t>
                      </m:r>
                    </m:oMath>
                  </m:oMathPara>
                </a14:m>
                <a:endParaRPr lang="zh-CN" altLang="en-US" dirty="0"/>
              </a:p>
            </p:txBody>
          </p:sp>
        </mc:Choice>
        <mc:Fallback>
          <p:sp>
            <p:nvSpPr>
              <p:cNvPr id="7" name="矩形 6">
                <a:extLst>
                  <a:ext uri="{FF2B5EF4-FFF2-40B4-BE49-F238E27FC236}">
                    <a16:creationId xmlns:a16="http://schemas.microsoft.com/office/drawing/2014/main" id="{D05B4699-6B88-471E-BF66-4631059780BA}"/>
                  </a:ext>
                </a:extLst>
              </p:cNvPr>
              <p:cNvSpPr>
                <a:spLocks noRot="1" noChangeAspect="1" noMove="1" noResize="1" noEditPoints="1" noAdjustHandles="1" noChangeArrowheads="1" noChangeShapeType="1" noTextEdit="1"/>
              </p:cNvSpPr>
              <p:nvPr/>
            </p:nvSpPr>
            <p:spPr>
              <a:xfrm>
                <a:off x="1381152" y="2975926"/>
                <a:ext cx="2600455" cy="404213"/>
              </a:xfrm>
              <a:prstGeom prst="rect">
                <a:avLst/>
              </a:prstGeom>
              <a:blipFill>
                <a:blip r:embed="rId4"/>
                <a:stretch>
                  <a:fillRect b="-757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a:extLst>
                  <a:ext uri="{FF2B5EF4-FFF2-40B4-BE49-F238E27FC236}">
                    <a16:creationId xmlns:a16="http://schemas.microsoft.com/office/drawing/2014/main" id="{5E6B4CAF-FD72-4C21-8DB3-DCC18322DA7A}"/>
                  </a:ext>
                </a:extLst>
              </p:cNvPr>
              <p:cNvSpPr/>
              <p:nvPr/>
            </p:nvSpPr>
            <p:spPr>
              <a:xfrm>
                <a:off x="1385822" y="3634676"/>
                <a:ext cx="2525628" cy="404213"/>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𝑁𝐼𝐸</m:t>
                      </m:r>
                      <m:r>
                        <a:rPr lang="en-US" altLang="zh-CN" i="1">
                          <a:latin typeface="Cambria Math" panose="02040503050406030204" pitchFamily="18" charset="0"/>
                        </a:rPr>
                        <m:t>≜</m:t>
                      </m:r>
                      <m:r>
                        <m:rPr>
                          <m:sty m:val="p"/>
                        </m:rPr>
                        <a:rPr lang="en-US" altLang="zh-CN" b="0" i="0" smtClean="0">
                          <a:latin typeface="Cambria Math" panose="02040503050406030204" pitchFamily="18" charset="0"/>
                        </a:rPr>
                        <m:t>E</m:t>
                      </m:r>
                      <m:r>
                        <a:rPr lang="en-US" altLang="zh-CN" b="0" i="0"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0,</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1</m:t>
                              </m:r>
                            </m:sub>
                          </m:sSub>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0,</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0</m:t>
                              </m:r>
                            </m:sub>
                          </m:sSub>
                        </m:sub>
                      </m:sSub>
                      <m:r>
                        <a:rPr lang="en-US" altLang="zh-CN" b="0" i="0" smtClean="0">
                          <a:latin typeface="Cambria Math" panose="02040503050406030204" pitchFamily="18" charset="0"/>
                        </a:rPr>
                        <m:t>]</m:t>
                      </m:r>
                    </m:oMath>
                  </m:oMathPara>
                </a14:m>
                <a:endParaRPr lang="zh-CN" altLang="en-US" dirty="0"/>
              </a:p>
            </p:txBody>
          </p:sp>
        </mc:Choice>
        <mc:Fallback>
          <p:sp>
            <p:nvSpPr>
              <p:cNvPr id="8" name="矩形 7">
                <a:extLst>
                  <a:ext uri="{FF2B5EF4-FFF2-40B4-BE49-F238E27FC236}">
                    <a16:creationId xmlns:a16="http://schemas.microsoft.com/office/drawing/2014/main" id="{5E6B4CAF-FD72-4C21-8DB3-DCC18322DA7A}"/>
                  </a:ext>
                </a:extLst>
              </p:cNvPr>
              <p:cNvSpPr>
                <a:spLocks noRot="1" noChangeAspect="1" noMove="1" noResize="1" noEditPoints="1" noAdjustHandles="1" noChangeArrowheads="1" noChangeShapeType="1" noTextEdit="1"/>
              </p:cNvSpPr>
              <p:nvPr/>
            </p:nvSpPr>
            <p:spPr>
              <a:xfrm>
                <a:off x="1385822" y="3634676"/>
                <a:ext cx="2525628" cy="404213"/>
              </a:xfrm>
              <a:prstGeom prst="rect">
                <a:avLst/>
              </a:prstGeom>
              <a:blipFill>
                <a:blip r:embed="rId5"/>
                <a:stretch>
                  <a:fillRect b="-597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73786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E84E11A-5D42-4195-A9BA-DF7319F4FBC4}"/>
              </a:ext>
            </a:extLst>
          </p:cNvPr>
          <p:cNvSpPr>
            <a:spLocks noGrp="1"/>
          </p:cNvSpPr>
          <p:nvPr>
            <p:ph type="sldNum" sz="quarter" idx="11"/>
          </p:nvPr>
        </p:nvSpPr>
        <p:spPr/>
        <p:txBody>
          <a:bodyPr/>
          <a:lstStyle/>
          <a:p>
            <a:fld id="{2AEAD966-1EF9-3A44-9B11-0C8090371A9A}" type="slidenum">
              <a:rPr lang="en-US" smtClean="0"/>
              <a:t>48</a:t>
            </a:fld>
            <a:endParaRPr lang="en-US" dirty="0"/>
          </a:p>
        </p:txBody>
      </p:sp>
      <p:sp>
        <p:nvSpPr>
          <p:cNvPr id="4" name="标题 3">
            <a:extLst>
              <a:ext uri="{FF2B5EF4-FFF2-40B4-BE49-F238E27FC236}">
                <a16:creationId xmlns:a16="http://schemas.microsoft.com/office/drawing/2014/main" id="{52ED0D6B-85F3-469C-B6DB-B2306A0F884E}"/>
              </a:ext>
            </a:extLst>
          </p:cNvPr>
          <p:cNvSpPr>
            <a:spLocks noGrp="1"/>
          </p:cNvSpPr>
          <p:nvPr>
            <p:ph type="title"/>
          </p:nvPr>
        </p:nvSpPr>
        <p:spPr/>
        <p:txBody>
          <a:bodyPr/>
          <a:lstStyle/>
          <a:p>
            <a:r>
              <a:rPr lang="en-US" altLang="zh-CN" dirty="0"/>
              <a:t>Natural Direct and Indirect Effects</a:t>
            </a:r>
            <a:endParaRPr lang="zh-CN" altLang="en-US" dirty="0"/>
          </a:p>
        </p:txBody>
      </p:sp>
      <p:sp>
        <p:nvSpPr>
          <p:cNvPr id="5" name="日期占位符 4">
            <a:extLst>
              <a:ext uri="{FF2B5EF4-FFF2-40B4-BE49-F238E27FC236}">
                <a16:creationId xmlns:a16="http://schemas.microsoft.com/office/drawing/2014/main" id="{E11D346B-EFD4-4D96-90D9-52C008DE6416}"/>
              </a:ext>
            </a:extLst>
          </p:cNvPr>
          <p:cNvSpPr>
            <a:spLocks noGrp="1"/>
          </p:cNvSpPr>
          <p:nvPr>
            <p:ph type="dt" sz="half" idx="12"/>
          </p:nvPr>
        </p:nvSpPr>
        <p:spPr/>
        <p:txBody>
          <a:bodyPr/>
          <a:lstStyle/>
          <a:p>
            <a:fld id="{63ADDE33-C9F1-F94F-A20E-DA422DA466DF}" type="datetime1">
              <a:rPr lang="en-US" smtClean="0"/>
              <a:t>9/1/2022</a:t>
            </a:fld>
            <a:endParaRPr lang="en-US" dirty="0"/>
          </a:p>
        </p:txBody>
      </p:sp>
      <mc:AlternateContent xmlns:mc="http://schemas.openxmlformats.org/markup-compatibility/2006">
        <mc:Choice xmlns:a14="http://schemas.microsoft.com/office/drawing/2010/main" Requires="a14">
          <p:sp>
            <p:nvSpPr>
              <p:cNvPr id="2" name="文本框 1">
                <a:extLst>
                  <a:ext uri="{FF2B5EF4-FFF2-40B4-BE49-F238E27FC236}">
                    <a16:creationId xmlns:a16="http://schemas.microsoft.com/office/drawing/2014/main" id="{B781512C-397E-4E2D-AD29-B9ED05DEA874}"/>
                  </a:ext>
                </a:extLst>
              </p:cNvPr>
              <p:cNvSpPr txBox="1"/>
              <p:nvPr/>
            </p:nvSpPr>
            <p:spPr>
              <a:xfrm>
                <a:off x="466725" y="1104900"/>
                <a:ext cx="7858125" cy="3796424"/>
              </a:xfrm>
              <a:prstGeom prst="rect">
                <a:avLst/>
              </a:prstGeom>
              <a:noFill/>
            </p:spPr>
            <p:txBody>
              <a:bodyPr wrap="square" rtlCol="0">
                <a:spAutoFit/>
              </a:bodyPr>
              <a:lstStyle/>
              <a:p>
                <a:r>
                  <a:rPr lang="en-US" altLang="zh-CN" sz="1600" dirty="0"/>
                  <a:t>Subscript notation:</a:t>
                </a:r>
              </a:p>
              <a:p>
                <a:endParaRPr lang="en-US" altLang="zh-CN" sz="1600" dirty="0"/>
              </a:p>
              <a:p>
                <a:r>
                  <a:rPr lang="en-US" altLang="zh-CN" sz="1600" dirty="0"/>
                  <a:t>	</a:t>
                </a:r>
                <a14:m>
                  <m:oMath xmlns:m="http://schemas.openxmlformats.org/officeDocument/2006/math">
                    <m:r>
                      <a:rPr lang="en-US" altLang="zh-CN" sz="1600" b="0" i="1" smtClean="0">
                        <a:latin typeface="Cambria Math" panose="02040503050406030204" pitchFamily="18" charset="0"/>
                      </a:rPr>
                      <m:t>𝐸</m:t>
                    </m:r>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𝑌</m:t>
                        </m:r>
                      </m:e>
                      <m:sub>
                        <m:r>
                          <a:rPr lang="en-US" altLang="zh-CN" sz="1600" b="0" i="1" smtClean="0">
                            <a:latin typeface="Cambria Math" panose="02040503050406030204" pitchFamily="18" charset="0"/>
                          </a:rPr>
                          <m:t>𝑡</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𝑚</m:t>
                        </m:r>
                      </m:sub>
                    </m:sSub>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𝐸</m:t>
                    </m:r>
                    <m:d>
                      <m:dPr>
                        <m:begChr m:val="["/>
                        <m:end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𝑌</m:t>
                        </m:r>
                        <m:r>
                          <a:rPr lang="en-US" altLang="zh-CN" sz="1600" b="0" i="1" smtClean="0">
                            <a:latin typeface="Cambria Math" panose="02040503050406030204" pitchFamily="18" charset="0"/>
                          </a:rPr>
                          <m:t> </m:t>
                        </m:r>
                      </m:e>
                    </m:d>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𝑑𝑜</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𝑡</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𝑀</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𝑚</m:t>
                    </m:r>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𝐸</m:t>
                    </m:r>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𝑀</m:t>
                        </m:r>
                      </m:e>
                      <m:sub>
                        <m:r>
                          <a:rPr lang="en-US" altLang="zh-CN" sz="1600" b="0" i="1" smtClean="0">
                            <a:latin typeface="Cambria Math" panose="02040503050406030204" pitchFamily="18" charset="0"/>
                          </a:rPr>
                          <m:t>𝑡</m:t>
                        </m:r>
                      </m:sub>
                    </m:sSub>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𝐸</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𝑀</m:t>
                    </m:r>
                    <m:r>
                      <a:rPr lang="en-US" altLang="zh-CN" sz="1600" b="0" i="1" smtClean="0">
                        <a:latin typeface="Cambria Math" panose="02040503050406030204" pitchFamily="18" charset="0"/>
                      </a:rPr>
                      <m:t> | </m:t>
                    </m:r>
                    <m:r>
                      <a:rPr lang="en-US" altLang="zh-CN" sz="1600" b="0" i="1" smtClean="0">
                        <a:latin typeface="Cambria Math" panose="02040503050406030204" pitchFamily="18" charset="0"/>
                      </a:rPr>
                      <m:t>𝑑𝑜</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𝑡</m:t>
                    </m:r>
                    <m:r>
                      <a:rPr lang="en-US" altLang="zh-CN" sz="1600" b="0" i="1" smtClean="0">
                        <a:latin typeface="Cambria Math" panose="02040503050406030204" pitchFamily="18" charset="0"/>
                      </a:rPr>
                      <m:t>)]</m:t>
                    </m:r>
                  </m:oMath>
                </a14:m>
                <a:endParaRPr lang="en-US" altLang="zh-CN" sz="1600" dirty="0"/>
              </a:p>
              <a:p>
                <a:endParaRPr lang="en-US" altLang="zh-CN" sz="1600" dirty="0"/>
              </a:p>
              <a:p>
                <a:endParaRPr lang="en-US" altLang="zh-CN" sz="1600" dirty="0"/>
              </a:p>
              <a:p>
                <a:endParaRPr lang="en-US" altLang="zh-CN" sz="1600" dirty="0"/>
              </a:p>
              <a:p>
                <a:endParaRPr lang="en-US" altLang="zh-CN" sz="1600" dirty="0"/>
              </a:p>
              <a:p>
                <a:endParaRPr lang="en-US" altLang="zh-CN" sz="1600" dirty="0"/>
              </a:p>
              <a:p>
                <a:endParaRPr lang="en-US" altLang="zh-CN" sz="1600" dirty="0"/>
              </a:p>
              <a:p>
                <a:endParaRPr lang="en-US" altLang="zh-CN" sz="1600" dirty="0"/>
              </a:p>
              <a:p>
                <a:endParaRPr lang="en-US" altLang="zh-CN" sz="1600" dirty="0"/>
              </a:p>
              <a:p>
                <a:endParaRPr lang="en-US" altLang="zh-CN" sz="1600" dirty="0"/>
              </a:p>
              <a:p>
                <a:endParaRPr lang="en-US" altLang="zh-CN" sz="1600" dirty="0"/>
              </a:p>
              <a:p>
                <a:endParaRPr lang="en-US" altLang="zh-CN" sz="1600" dirty="0"/>
              </a:p>
              <a:p>
                <a:r>
                  <a:rPr lang="en-US" altLang="zh-CN" sz="1600" dirty="0"/>
                  <a:t>For example in linear setting, </a:t>
                </a:r>
                <a14:m>
                  <m:oMath xmlns:m="http://schemas.openxmlformats.org/officeDocument/2006/math">
                    <m:r>
                      <a:rPr lang="en-US" altLang="zh-CN" i="1">
                        <a:latin typeface="Cambria Math" panose="02040503050406030204" pitchFamily="18" charset="0"/>
                      </a:rPr>
                      <m:t>𝑇𝐸</m:t>
                    </m:r>
                    <m:r>
                      <a:rPr lang="en-US" altLang="zh-CN" b="0" i="1" smtClean="0">
                        <a:latin typeface="Cambria Math" panose="02040503050406030204" pitchFamily="18" charset="0"/>
                      </a:rPr>
                      <m:t>=</m:t>
                    </m:r>
                    <m:r>
                      <a:rPr lang="en-US" altLang="zh-CN" b="0" i="1" smtClean="0">
                        <a:latin typeface="Cambria Math" panose="02040503050406030204" pitchFamily="18" charset="0"/>
                      </a:rPr>
                      <m:t>𝑁𝐷𝐸</m:t>
                    </m:r>
                    <m:r>
                      <a:rPr lang="en-US" altLang="zh-CN" b="0" i="1" smtClean="0">
                        <a:latin typeface="Cambria Math" panose="02040503050406030204" pitchFamily="18" charset="0"/>
                      </a:rPr>
                      <m:t>+</m:t>
                    </m:r>
                    <m:r>
                      <a:rPr lang="en-US" altLang="zh-CN" b="0" i="1" smtClean="0">
                        <a:latin typeface="Cambria Math" panose="02040503050406030204" pitchFamily="18" charset="0"/>
                      </a:rPr>
                      <m:t>𝑁𝐼𝐸</m:t>
                    </m:r>
                  </m:oMath>
                </a14:m>
                <a:endParaRPr lang="zh-CN" altLang="en-US" dirty="0"/>
              </a:p>
            </p:txBody>
          </p:sp>
        </mc:Choice>
        <mc:Fallback>
          <p:sp>
            <p:nvSpPr>
              <p:cNvPr id="2" name="文本框 1">
                <a:extLst>
                  <a:ext uri="{FF2B5EF4-FFF2-40B4-BE49-F238E27FC236}">
                    <a16:creationId xmlns:a16="http://schemas.microsoft.com/office/drawing/2014/main" id="{B781512C-397E-4E2D-AD29-B9ED05DEA874}"/>
                  </a:ext>
                </a:extLst>
              </p:cNvPr>
              <p:cNvSpPr txBox="1">
                <a:spLocks noRot="1" noChangeAspect="1" noMove="1" noResize="1" noEditPoints="1" noAdjustHandles="1" noChangeArrowheads="1" noChangeShapeType="1" noTextEdit="1"/>
              </p:cNvSpPr>
              <p:nvPr/>
            </p:nvSpPr>
            <p:spPr>
              <a:xfrm>
                <a:off x="466725" y="1104900"/>
                <a:ext cx="7858125" cy="3796424"/>
              </a:xfrm>
              <a:prstGeom prst="rect">
                <a:avLst/>
              </a:prstGeom>
              <a:blipFill>
                <a:blip r:embed="rId2"/>
                <a:stretch>
                  <a:fillRect l="-465" t="-482" b="-176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矩形 9">
                <a:extLst>
                  <a:ext uri="{FF2B5EF4-FFF2-40B4-BE49-F238E27FC236}">
                    <a16:creationId xmlns:a16="http://schemas.microsoft.com/office/drawing/2014/main" id="{6A56E76B-14DB-4FD0-A064-C36E9BE5BF68}"/>
                  </a:ext>
                </a:extLst>
              </p:cNvPr>
              <p:cNvSpPr/>
              <p:nvPr/>
            </p:nvSpPr>
            <p:spPr>
              <a:xfrm>
                <a:off x="1381151" y="2280084"/>
                <a:ext cx="2373663" cy="38151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𝐶𝐷𝐸</m:t>
                      </m:r>
                      <m:r>
                        <a:rPr lang="en-US" altLang="zh-CN" i="1">
                          <a:latin typeface="Cambria Math" panose="02040503050406030204" pitchFamily="18" charset="0"/>
                        </a:rPr>
                        <m:t>≜</m:t>
                      </m:r>
                      <m:r>
                        <m:rPr>
                          <m:sty m:val="p"/>
                        </m:rPr>
                        <a:rPr lang="en-US" altLang="zh-CN" b="0" i="0" smtClean="0">
                          <a:latin typeface="Cambria Math" panose="02040503050406030204" pitchFamily="18" charset="0"/>
                        </a:rPr>
                        <m:t>E</m:t>
                      </m:r>
                      <m:r>
                        <a:rPr lang="en-US" altLang="zh-CN" b="0" i="0"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1,</m:t>
                          </m:r>
                          <m:r>
                            <a:rPr lang="en-US" altLang="zh-CN" b="0" i="1" smtClean="0">
                              <a:latin typeface="Cambria Math" panose="02040503050406030204" pitchFamily="18" charset="0"/>
                            </a:rPr>
                            <m:t>𝑚</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0,</m:t>
                          </m:r>
                          <m:r>
                            <a:rPr lang="en-US" altLang="zh-CN" b="0" i="1" smtClean="0">
                              <a:latin typeface="Cambria Math" panose="02040503050406030204" pitchFamily="18" charset="0"/>
                            </a:rPr>
                            <m:t>𝑚</m:t>
                          </m:r>
                        </m:sub>
                      </m:sSub>
                      <m:r>
                        <a:rPr lang="en-US" altLang="zh-CN" b="0" i="0" smtClean="0">
                          <a:latin typeface="Cambria Math" panose="02040503050406030204" pitchFamily="18" charset="0"/>
                        </a:rPr>
                        <m:t>]</m:t>
                      </m:r>
                    </m:oMath>
                  </m:oMathPara>
                </a14:m>
                <a:endParaRPr lang="zh-CN" altLang="en-US" dirty="0"/>
              </a:p>
            </p:txBody>
          </p:sp>
        </mc:Choice>
        <mc:Fallback>
          <p:sp>
            <p:nvSpPr>
              <p:cNvPr id="10" name="矩形 9">
                <a:extLst>
                  <a:ext uri="{FF2B5EF4-FFF2-40B4-BE49-F238E27FC236}">
                    <a16:creationId xmlns:a16="http://schemas.microsoft.com/office/drawing/2014/main" id="{6A56E76B-14DB-4FD0-A064-C36E9BE5BF68}"/>
                  </a:ext>
                </a:extLst>
              </p:cNvPr>
              <p:cNvSpPr>
                <a:spLocks noRot="1" noChangeAspect="1" noMove="1" noResize="1" noEditPoints="1" noAdjustHandles="1" noChangeArrowheads="1" noChangeShapeType="1" noTextEdit="1"/>
              </p:cNvSpPr>
              <p:nvPr/>
            </p:nvSpPr>
            <p:spPr>
              <a:xfrm>
                <a:off x="1381151" y="2280084"/>
                <a:ext cx="2373663" cy="381515"/>
              </a:xfrm>
              <a:prstGeom prst="rect">
                <a:avLst/>
              </a:prstGeom>
              <a:blipFill>
                <a:blip r:embed="rId3"/>
                <a:stretch>
                  <a:fillRect b="-1269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矩形 6">
                <a:extLst>
                  <a:ext uri="{FF2B5EF4-FFF2-40B4-BE49-F238E27FC236}">
                    <a16:creationId xmlns:a16="http://schemas.microsoft.com/office/drawing/2014/main" id="{D05B4699-6B88-471E-BF66-4631059780BA}"/>
                  </a:ext>
                </a:extLst>
              </p:cNvPr>
              <p:cNvSpPr/>
              <p:nvPr/>
            </p:nvSpPr>
            <p:spPr>
              <a:xfrm>
                <a:off x="1381152" y="2975926"/>
                <a:ext cx="2600455" cy="404213"/>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𝑁𝐷𝐸</m:t>
                      </m:r>
                      <m:r>
                        <a:rPr lang="en-US" altLang="zh-CN" i="1">
                          <a:latin typeface="Cambria Math" panose="02040503050406030204" pitchFamily="18" charset="0"/>
                        </a:rPr>
                        <m:t>≜</m:t>
                      </m:r>
                      <m:r>
                        <m:rPr>
                          <m:sty m:val="p"/>
                        </m:rPr>
                        <a:rPr lang="en-US" altLang="zh-CN" b="0" i="0" smtClean="0">
                          <a:latin typeface="Cambria Math" panose="02040503050406030204" pitchFamily="18" charset="0"/>
                        </a:rPr>
                        <m:t>E</m:t>
                      </m:r>
                      <m:r>
                        <a:rPr lang="en-US" altLang="zh-CN" b="0" i="0"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1,</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0</m:t>
                              </m:r>
                            </m:sub>
                          </m:sSub>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0,</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0</m:t>
                              </m:r>
                            </m:sub>
                          </m:sSub>
                        </m:sub>
                      </m:sSub>
                      <m:r>
                        <a:rPr lang="en-US" altLang="zh-CN" b="0" i="0" smtClean="0">
                          <a:latin typeface="Cambria Math" panose="02040503050406030204" pitchFamily="18" charset="0"/>
                        </a:rPr>
                        <m:t>]</m:t>
                      </m:r>
                    </m:oMath>
                  </m:oMathPara>
                </a14:m>
                <a:endParaRPr lang="zh-CN" altLang="en-US" dirty="0"/>
              </a:p>
            </p:txBody>
          </p:sp>
        </mc:Choice>
        <mc:Fallback>
          <p:sp>
            <p:nvSpPr>
              <p:cNvPr id="7" name="矩形 6">
                <a:extLst>
                  <a:ext uri="{FF2B5EF4-FFF2-40B4-BE49-F238E27FC236}">
                    <a16:creationId xmlns:a16="http://schemas.microsoft.com/office/drawing/2014/main" id="{D05B4699-6B88-471E-BF66-4631059780BA}"/>
                  </a:ext>
                </a:extLst>
              </p:cNvPr>
              <p:cNvSpPr>
                <a:spLocks noRot="1" noChangeAspect="1" noMove="1" noResize="1" noEditPoints="1" noAdjustHandles="1" noChangeArrowheads="1" noChangeShapeType="1" noTextEdit="1"/>
              </p:cNvSpPr>
              <p:nvPr/>
            </p:nvSpPr>
            <p:spPr>
              <a:xfrm>
                <a:off x="1381152" y="2975926"/>
                <a:ext cx="2600455" cy="404213"/>
              </a:xfrm>
              <a:prstGeom prst="rect">
                <a:avLst/>
              </a:prstGeom>
              <a:blipFill>
                <a:blip r:embed="rId4"/>
                <a:stretch>
                  <a:fillRect b="-757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a:extLst>
                  <a:ext uri="{FF2B5EF4-FFF2-40B4-BE49-F238E27FC236}">
                    <a16:creationId xmlns:a16="http://schemas.microsoft.com/office/drawing/2014/main" id="{5E6B4CAF-FD72-4C21-8DB3-DCC18322DA7A}"/>
                  </a:ext>
                </a:extLst>
              </p:cNvPr>
              <p:cNvSpPr/>
              <p:nvPr/>
            </p:nvSpPr>
            <p:spPr>
              <a:xfrm>
                <a:off x="1385822" y="3634676"/>
                <a:ext cx="2525628" cy="404213"/>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𝑁𝐼𝐸</m:t>
                      </m:r>
                      <m:r>
                        <a:rPr lang="en-US" altLang="zh-CN" i="1">
                          <a:latin typeface="Cambria Math" panose="02040503050406030204" pitchFamily="18" charset="0"/>
                        </a:rPr>
                        <m:t>≜</m:t>
                      </m:r>
                      <m:r>
                        <m:rPr>
                          <m:sty m:val="p"/>
                        </m:rPr>
                        <a:rPr lang="en-US" altLang="zh-CN" b="0" i="0" smtClean="0">
                          <a:latin typeface="Cambria Math" panose="02040503050406030204" pitchFamily="18" charset="0"/>
                        </a:rPr>
                        <m:t>E</m:t>
                      </m:r>
                      <m:r>
                        <a:rPr lang="en-US" altLang="zh-CN" b="0" i="0"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0,</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1</m:t>
                              </m:r>
                            </m:sub>
                          </m:sSub>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0,</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0</m:t>
                              </m:r>
                            </m:sub>
                          </m:sSub>
                        </m:sub>
                      </m:sSub>
                      <m:r>
                        <a:rPr lang="en-US" altLang="zh-CN" b="0" i="0" smtClean="0">
                          <a:latin typeface="Cambria Math" panose="02040503050406030204" pitchFamily="18" charset="0"/>
                        </a:rPr>
                        <m:t>]</m:t>
                      </m:r>
                    </m:oMath>
                  </m:oMathPara>
                </a14:m>
                <a:endParaRPr lang="zh-CN" altLang="en-US" dirty="0"/>
              </a:p>
            </p:txBody>
          </p:sp>
        </mc:Choice>
        <mc:Fallback>
          <p:sp>
            <p:nvSpPr>
              <p:cNvPr id="8" name="矩形 7">
                <a:extLst>
                  <a:ext uri="{FF2B5EF4-FFF2-40B4-BE49-F238E27FC236}">
                    <a16:creationId xmlns:a16="http://schemas.microsoft.com/office/drawing/2014/main" id="{5E6B4CAF-FD72-4C21-8DB3-DCC18322DA7A}"/>
                  </a:ext>
                </a:extLst>
              </p:cNvPr>
              <p:cNvSpPr>
                <a:spLocks noRot="1" noChangeAspect="1" noMove="1" noResize="1" noEditPoints="1" noAdjustHandles="1" noChangeArrowheads="1" noChangeShapeType="1" noTextEdit="1"/>
              </p:cNvSpPr>
              <p:nvPr/>
            </p:nvSpPr>
            <p:spPr>
              <a:xfrm>
                <a:off x="1385822" y="3634676"/>
                <a:ext cx="2525628" cy="404213"/>
              </a:xfrm>
              <a:prstGeom prst="rect">
                <a:avLst/>
              </a:prstGeom>
              <a:blipFill>
                <a:blip r:embed="rId5"/>
                <a:stretch>
                  <a:fillRect b="-5970"/>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BE98C996-36D5-4D6E-A5C9-2CFBFD31A87F}"/>
              </a:ext>
            </a:extLst>
          </p:cNvPr>
          <p:cNvSpPr txBox="1"/>
          <p:nvPr/>
        </p:nvSpPr>
        <p:spPr>
          <a:xfrm>
            <a:off x="4541870" y="2470841"/>
            <a:ext cx="4186212" cy="1569660"/>
          </a:xfrm>
          <a:prstGeom prst="rect">
            <a:avLst/>
          </a:prstGeom>
          <a:noFill/>
        </p:spPr>
        <p:txBody>
          <a:bodyPr wrap="square" rtlCol="0">
            <a:spAutoFit/>
          </a:bodyPr>
          <a:lstStyle/>
          <a:p>
            <a:r>
              <a:rPr lang="en-US" altLang="zh-CN" sz="1600" dirty="0"/>
              <a:t>Recall problems with CDE:</a:t>
            </a:r>
          </a:p>
          <a:p>
            <a:pPr marL="285750" indent="-285750">
              <a:buFont typeface="Arial" panose="020B0604020202020204" pitchFamily="34" charset="0"/>
              <a:buChar char="•"/>
            </a:pPr>
            <a:r>
              <a:rPr lang="en-US" altLang="zh-CN" sz="1600" dirty="0"/>
              <a:t>CDE is specific to the arbitrary choice of m</a:t>
            </a:r>
          </a:p>
          <a:p>
            <a:pPr marL="285750" indent="-285750">
              <a:buFont typeface="Arial" panose="020B0604020202020204" pitchFamily="34" charset="0"/>
              <a:buChar char="•"/>
            </a:pPr>
            <a:r>
              <a:rPr lang="en-US" altLang="zh-CN" sz="1600" dirty="0"/>
              <a:t>How do we get the indirect effect? Can’t just subtract the CDE from the total effect </a:t>
            </a:r>
            <a:endParaRPr lang="zh-CN" altLang="en-US" sz="1600" dirty="0"/>
          </a:p>
        </p:txBody>
      </p:sp>
      <mc:AlternateContent xmlns:mc="http://schemas.openxmlformats.org/markup-compatibility/2006">
        <mc:Choice xmlns:a14="http://schemas.microsoft.com/office/drawing/2010/main" Requires="a14">
          <p:sp>
            <p:nvSpPr>
              <p:cNvPr id="11" name="矩形 10">
                <a:extLst>
                  <a:ext uri="{FF2B5EF4-FFF2-40B4-BE49-F238E27FC236}">
                    <a16:creationId xmlns:a16="http://schemas.microsoft.com/office/drawing/2014/main" id="{79AAC6EA-C279-4B27-BF9A-FF3C202CF595}"/>
                  </a:ext>
                </a:extLst>
              </p:cNvPr>
              <p:cNvSpPr/>
              <p:nvPr/>
            </p:nvSpPr>
            <p:spPr>
              <a:xfrm>
                <a:off x="1455979" y="4158931"/>
                <a:ext cx="2091983"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𝑇𝐸</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𝑁𝐷𝐸</m:t>
                          </m:r>
                          <m:r>
                            <a:rPr lang="en-US" altLang="zh-CN" b="0" i="1" smtClean="0">
                              <a:latin typeface="Cambria Math" panose="02040503050406030204" pitchFamily="18" charset="0"/>
                            </a:rPr>
                            <m:t>−</m:t>
                          </m:r>
                          <m:r>
                            <a:rPr lang="en-US" altLang="zh-CN" b="0" i="1" smtClean="0">
                              <a:latin typeface="Cambria Math" panose="02040503050406030204" pitchFamily="18" charset="0"/>
                            </a:rPr>
                            <m:t>𝑁𝐼𝐸</m:t>
                          </m:r>
                        </m:e>
                        <m:sub>
                          <m:r>
                            <a:rPr lang="en-US" altLang="zh-CN" b="0" i="1" smtClean="0">
                              <a:latin typeface="Cambria Math" panose="02040503050406030204" pitchFamily="18" charset="0"/>
                            </a:rPr>
                            <m:t>𝑟</m:t>
                          </m:r>
                        </m:sub>
                      </m:sSub>
                    </m:oMath>
                  </m:oMathPara>
                </a14:m>
                <a:endParaRPr lang="zh-CN" altLang="en-US" dirty="0"/>
              </a:p>
            </p:txBody>
          </p:sp>
        </mc:Choice>
        <mc:Fallback>
          <p:sp>
            <p:nvSpPr>
              <p:cNvPr id="11" name="矩形 10">
                <a:extLst>
                  <a:ext uri="{FF2B5EF4-FFF2-40B4-BE49-F238E27FC236}">
                    <a16:creationId xmlns:a16="http://schemas.microsoft.com/office/drawing/2014/main" id="{79AAC6EA-C279-4B27-BF9A-FF3C202CF595}"/>
                  </a:ext>
                </a:extLst>
              </p:cNvPr>
              <p:cNvSpPr>
                <a:spLocks noRot="1" noChangeAspect="1" noMove="1" noResize="1" noEditPoints="1" noAdjustHandles="1" noChangeArrowheads="1" noChangeShapeType="1" noTextEdit="1"/>
              </p:cNvSpPr>
              <p:nvPr/>
            </p:nvSpPr>
            <p:spPr>
              <a:xfrm>
                <a:off x="1455979" y="4158931"/>
                <a:ext cx="2091983" cy="369332"/>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651388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ED86D996-8AEA-4DFC-8468-4AF0E855F90B}"/>
                  </a:ext>
                </a:extLst>
              </p:cNvPr>
              <p:cNvSpPr>
                <a:spLocks noGrp="1"/>
              </p:cNvSpPr>
              <p:nvPr>
                <p:ph idx="1"/>
              </p:nvPr>
            </p:nvSpPr>
            <p:spPr/>
            <p:txBody>
              <a:bodyPr/>
              <a:lstStyle/>
              <a:p>
                <a:r>
                  <a:rPr lang="en-US" altLang="zh-CN" dirty="0"/>
                  <a:t>Show</a:t>
                </a:r>
                <a:r>
                  <a:rPr lang="zh-CN" altLang="en-US" dirty="0"/>
                  <a:t> </a:t>
                </a:r>
                <a:r>
                  <a:rPr lang="en-US" altLang="zh-CN" dirty="0"/>
                  <a:t>that </a:t>
                </a:r>
                <a14:m>
                  <m:oMath xmlns:m="http://schemas.openxmlformats.org/officeDocument/2006/math">
                    <m:r>
                      <a:rPr lang="en-US" altLang="zh-CN" i="1">
                        <a:latin typeface="Cambria Math" panose="02040503050406030204" pitchFamily="18" charset="0"/>
                      </a:rPr>
                      <m:t>𝑇𝐸</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𝑁𝐷𝐸</m:t>
                        </m:r>
                        <m:r>
                          <a:rPr lang="en-US" altLang="zh-CN" i="1">
                            <a:latin typeface="Cambria Math" panose="02040503050406030204" pitchFamily="18" charset="0"/>
                          </a:rPr>
                          <m:t>−</m:t>
                        </m:r>
                        <m:r>
                          <a:rPr lang="en-US" altLang="zh-CN" i="1">
                            <a:latin typeface="Cambria Math" panose="02040503050406030204" pitchFamily="18" charset="0"/>
                          </a:rPr>
                          <m:t>𝑁𝐼𝐸</m:t>
                        </m:r>
                      </m:e>
                      <m:sub>
                        <m:r>
                          <a:rPr lang="en-US" altLang="zh-CN" i="1">
                            <a:latin typeface="Cambria Math" panose="02040503050406030204" pitchFamily="18" charset="0"/>
                          </a:rPr>
                          <m:t>𝑟</m:t>
                        </m:r>
                      </m:sub>
                    </m:sSub>
                  </m:oMath>
                </a14:m>
                <a:r>
                  <a:rPr lang="en-US" altLang="zh-CN" dirty="0"/>
                  <a:t>, where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𝑁𝐼𝐸</m:t>
                        </m:r>
                      </m:e>
                      <m:sub>
                        <m:r>
                          <a:rPr lang="en-US" altLang="zh-CN" b="0" i="1" smtClean="0">
                            <a:latin typeface="Cambria Math" panose="02040503050406030204" pitchFamily="18" charset="0"/>
                          </a:rPr>
                          <m:t>𝑟</m:t>
                        </m:r>
                      </m:sub>
                    </m:sSub>
                    <m:r>
                      <a:rPr lang="en-US" altLang="zh-CN" i="1" smtClean="0">
                        <a:latin typeface="Cambria Math" panose="02040503050406030204" pitchFamily="18" charset="0"/>
                      </a:rPr>
                      <m:t>≜</m:t>
                    </m:r>
                    <m:r>
                      <a:rPr lang="en-US" altLang="zh-CN" b="0" i="1" smtClean="0">
                        <a:latin typeface="Cambria Math" panose="02040503050406030204" pitchFamily="18" charset="0"/>
                      </a:rPr>
                      <m:t>𝐸</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1,</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0</m:t>
                            </m:r>
                          </m:sub>
                        </m:sSub>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1,</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1</m:t>
                            </m:r>
                          </m:sub>
                        </m:sSub>
                      </m:sub>
                    </m:sSub>
                    <m:r>
                      <a:rPr lang="en-US" altLang="zh-CN" b="0" i="1" smtClean="0">
                        <a:latin typeface="Cambria Math" panose="02040503050406030204" pitchFamily="18" charset="0"/>
                      </a:rPr>
                      <m:t>]</m:t>
                    </m:r>
                  </m:oMath>
                </a14:m>
                <a:r>
                  <a:rPr lang="en-US" altLang="zh-CN" dirty="0"/>
                  <a:t>.</a:t>
                </a:r>
                <a:endParaRPr lang="zh-CN" altLang="en-US" dirty="0"/>
              </a:p>
            </p:txBody>
          </p:sp>
        </mc:Choice>
        <mc:Fallback>
          <p:sp>
            <p:nvSpPr>
              <p:cNvPr id="2" name="内容占位符 1">
                <a:extLst>
                  <a:ext uri="{FF2B5EF4-FFF2-40B4-BE49-F238E27FC236}">
                    <a16:creationId xmlns:a16="http://schemas.microsoft.com/office/drawing/2014/main" id="{ED86D996-8AEA-4DFC-8468-4AF0E855F90B}"/>
                  </a:ext>
                </a:extLst>
              </p:cNvPr>
              <p:cNvSpPr>
                <a:spLocks noGrp="1" noRot="1" noChangeAspect="1" noMove="1" noResize="1" noEditPoints="1" noAdjustHandles="1" noChangeArrowheads="1" noChangeShapeType="1" noTextEdit="1"/>
              </p:cNvSpPr>
              <p:nvPr>
                <p:ph idx="1"/>
              </p:nvPr>
            </p:nvSpPr>
            <p:spPr>
              <a:blipFill>
                <a:blip r:embed="rId2"/>
                <a:stretch>
                  <a:fillRect l="-72" r="-289"/>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75C8A9FF-805D-4E89-A0F2-7EB368DB3411}"/>
              </a:ext>
            </a:extLst>
          </p:cNvPr>
          <p:cNvSpPr>
            <a:spLocks noGrp="1"/>
          </p:cNvSpPr>
          <p:nvPr>
            <p:ph type="sldNum" sz="quarter" idx="11"/>
          </p:nvPr>
        </p:nvSpPr>
        <p:spPr/>
        <p:txBody>
          <a:bodyPr/>
          <a:lstStyle/>
          <a:p>
            <a:fld id="{2AEAD966-1EF9-3A44-9B11-0C8090371A9A}" type="slidenum">
              <a:rPr lang="en-US" smtClean="0"/>
              <a:t>49</a:t>
            </a:fld>
            <a:endParaRPr lang="en-US"/>
          </a:p>
        </p:txBody>
      </p:sp>
      <p:sp>
        <p:nvSpPr>
          <p:cNvPr id="4" name="标题 3">
            <a:extLst>
              <a:ext uri="{FF2B5EF4-FFF2-40B4-BE49-F238E27FC236}">
                <a16:creationId xmlns:a16="http://schemas.microsoft.com/office/drawing/2014/main" id="{8A82D491-F413-48F9-A828-155B6C0A2161}"/>
              </a:ext>
            </a:extLst>
          </p:cNvPr>
          <p:cNvSpPr>
            <a:spLocks noGrp="1"/>
          </p:cNvSpPr>
          <p:nvPr>
            <p:ph type="title"/>
          </p:nvPr>
        </p:nvSpPr>
        <p:spPr/>
        <p:txBody>
          <a:bodyPr/>
          <a:lstStyle/>
          <a:p>
            <a:r>
              <a:rPr lang="en-US" altLang="zh-CN" dirty="0"/>
              <a:t>Question</a:t>
            </a:r>
            <a:endParaRPr lang="zh-CN" altLang="en-US" dirty="0"/>
          </a:p>
        </p:txBody>
      </p:sp>
      <p:sp>
        <p:nvSpPr>
          <p:cNvPr id="5" name="日期占位符 4">
            <a:extLst>
              <a:ext uri="{FF2B5EF4-FFF2-40B4-BE49-F238E27FC236}">
                <a16:creationId xmlns:a16="http://schemas.microsoft.com/office/drawing/2014/main" id="{64A6C2B1-5648-4329-9B66-362DA61D3762}"/>
              </a:ext>
            </a:extLst>
          </p:cNvPr>
          <p:cNvSpPr>
            <a:spLocks noGrp="1"/>
          </p:cNvSpPr>
          <p:nvPr>
            <p:ph type="dt" sz="half" idx="12"/>
          </p:nvPr>
        </p:nvSpPr>
        <p:spPr/>
        <p:txBody>
          <a:bodyPr/>
          <a:lstStyle/>
          <a:p>
            <a:fld id="{63ADDE33-C9F1-F94F-A20E-DA422DA466DF}" type="datetime1">
              <a:rPr lang="en-US" smtClean="0"/>
              <a:t>9/2/2022</a:t>
            </a:fld>
            <a:endParaRPr lang="en-US" dirty="0"/>
          </a:p>
        </p:txBody>
      </p:sp>
    </p:spTree>
    <p:extLst>
      <p:ext uri="{BB962C8B-B14F-4D97-AF65-F5344CB8AC3E}">
        <p14:creationId xmlns:p14="http://schemas.microsoft.com/office/powerpoint/2010/main" val="25773267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06D7D0E-EB4E-4CFF-992C-8E8CAAB9C42A}"/>
              </a:ext>
            </a:extLst>
          </p:cNvPr>
          <p:cNvSpPr>
            <a:spLocks noGrp="1"/>
          </p:cNvSpPr>
          <p:nvPr>
            <p:ph idx="1"/>
          </p:nvPr>
        </p:nvSpPr>
        <p:spPr/>
        <p:txBody>
          <a:bodyPr>
            <a:normAutofit/>
          </a:bodyPr>
          <a:lstStyle/>
          <a:p>
            <a:r>
              <a:rPr lang="en-US" altLang="zh-CN" sz="1600" dirty="0"/>
              <a:t>CDE can always be measured via experiments (do-operator), but it has no clear undirect effect since there is no decomposition</a:t>
            </a:r>
          </a:p>
          <a:p>
            <a:endParaRPr lang="en-US" altLang="zh-CN" sz="1600" dirty="0"/>
          </a:p>
          <a:p>
            <a:r>
              <a:rPr lang="en-US" altLang="zh-CN" sz="1600" dirty="0"/>
              <a:t>NDE cannot always be measured via experiments since it is counterfactual, but it allows for complete decomposition of the total effect into the NDE and NIE, which is what we’d like in mediation analysis</a:t>
            </a:r>
            <a:endParaRPr lang="zh-CN" altLang="en-US" sz="1600" dirty="0"/>
          </a:p>
        </p:txBody>
      </p:sp>
      <p:sp>
        <p:nvSpPr>
          <p:cNvPr id="3" name="灯片编号占位符 2">
            <a:extLst>
              <a:ext uri="{FF2B5EF4-FFF2-40B4-BE49-F238E27FC236}">
                <a16:creationId xmlns:a16="http://schemas.microsoft.com/office/drawing/2014/main" id="{A709B37B-CCFC-4EA9-B801-70FE8C88F180}"/>
              </a:ext>
            </a:extLst>
          </p:cNvPr>
          <p:cNvSpPr>
            <a:spLocks noGrp="1"/>
          </p:cNvSpPr>
          <p:nvPr>
            <p:ph type="sldNum" sz="quarter" idx="11"/>
          </p:nvPr>
        </p:nvSpPr>
        <p:spPr/>
        <p:txBody>
          <a:bodyPr/>
          <a:lstStyle/>
          <a:p>
            <a:fld id="{2AEAD966-1EF9-3A44-9B11-0C8090371A9A}" type="slidenum">
              <a:rPr lang="en-US" smtClean="0"/>
              <a:t>50</a:t>
            </a:fld>
            <a:endParaRPr lang="en-US"/>
          </a:p>
        </p:txBody>
      </p:sp>
      <p:sp>
        <p:nvSpPr>
          <p:cNvPr id="4" name="标题 3">
            <a:extLst>
              <a:ext uri="{FF2B5EF4-FFF2-40B4-BE49-F238E27FC236}">
                <a16:creationId xmlns:a16="http://schemas.microsoft.com/office/drawing/2014/main" id="{91A5729F-F431-4F06-A6B8-14D397907818}"/>
              </a:ext>
            </a:extLst>
          </p:cNvPr>
          <p:cNvSpPr>
            <a:spLocks noGrp="1"/>
          </p:cNvSpPr>
          <p:nvPr>
            <p:ph type="title"/>
          </p:nvPr>
        </p:nvSpPr>
        <p:spPr/>
        <p:txBody>
          <a:bodyPr>
            <a:normAutofit/>
          </a:bodyPr>
          <a:lstStyle/>
          <a:p>
            <a:r>
              <a:rPr lang="en-US" altLang="zh-CN" sz="2600" dirty="0"/>
              <a:t>Comparison of Controlled vs. Natural Mediation</a:t>
            </a:r>
            <a:endParaRPr lang="zh-CN" altLang="en-US" sz="2600" dirty="0"/>
          </a:p>
        </p:txBody>
      </p:sp>
      <p:sp>
        <p:nvSpPr>
          <p:cNvPr id="5" name="日期占位符 4">
            <a:extLst>
              <a:ext uri="{FF2B5EF4-FFF2-40B4-BE49-F238E27FC236}">
                <a16:creationId xmlns:a16="http://schemas.microsoft.com/office/drawing/2014/main" id="{CC1BF69B-E5E6-447B-86F0-9FDCEE866444}"/>
              </a:ext>
            </a:extLst>
          </p:cNvPr>
          <p:cNvSpPr>
            <a:spLocks noGrp="1"/>
          </p:cNvSpPr>
          <p:nvPr>
            <p:ph type="dt" sz="half" idx="12"/>
          </p:nvPr>
        </p:nvSpPr>
        <p:spPr/>
        <p:txBody>
          <a:bodyPr/>
          <a:lstStyle/>
          <a:p>
            <a:fld id="{63ADDE33-C9F1-F94F-A20E-DA422DA466DF}" type="datetime1">
              <a:rPr lang="en-US" smtClean="0"/>
              <a:t>9/2/2022</a:t>
            </a:fld>
            <a:endParaRPr lang="en-US" dirty="0"/>
          </a:p>
        </p:txBody>
      </p:sp>
    </p:spTree>
    <p:extLst>
      <p:ext uri="{BB962C8B-B14F-4D97-AF65-F5344CB8AC3E}">
        <p14:creationId xmlns:p14="http://schemas.microsoft.com/office/powerpoint/2010/main" val="1985704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AFADFA7-48E8-45EC-A199-0B93EC4E9082}"/>
              </a:ext>
            </a:extLst>
          </p:cNvPr>
          <p:cNvSpPr>
            <a:spLocks noGrp="1"/>
          </p:cNvSpPr>
          <p:nvPr>
            <p:ph idx="1"/>
          </p:nvPr>
        </p:nvSpPr>
        <p:spPr/>
        <p:txBody>
          <a:bodyPr/>
          <a:lstStyle/>
          <a:p>
            <a:pPr marL="0" indent="-713232" algn="ctr">
              <a:lnSpc>
                <a:spcPct val="90000"/>
              </a:lnSpc>
              <a:spcBef>
                <a:spcPct val="0"/>
              </a:spcBef>
            </a:pPr>
            <a:endParaRPr lang="en-US" altLang="zh-CN" sz="3000" b="1" dirty="0">
              <a:solidFill>
                <a:srgbClr val="42672B"/>
              </a:solidFill>
              <a:latin typeface="+mj-lt"/>
              <a:ea typeface="+mj-ea"/>
              <a:cs typeface="+mj-cs"/>
            </a:endParaRPr>
          </a:p>
          <a:p>
            <a:pPr marL="0" indent="-713232" algn="ctr">
              <a:lnSpc>
                <a:spcPct val="90000"/>
              </a:lnSpc>
              <a:spcBef>
                <a:spcPct val="0"/>
              </a:spcBef>
            </a:pPr>
            <a:endParaRPr lang="en-US" altLang="zh-CN" sz="3000" b="1" dirty="0">
              <a:solidFill>
                <a:srgbClr val="42672B"/>
              </a:solidFill>
              <a:latin typeface="+mj-lt"/>
              <a:ea typeface="+mj-ea"/>
              <a:cs typeface="+mj-cs"/>
            </a:endParaRPr>
          </a:p>
          <a:p>
            <a:pPr marL="0" indent="-713232" algn="ctr">
              <a:lnSpc>
                <a:spcPct val="90000"/>
              </a:lnSpc>
              <a:spcBef>
                <a:spcPct val="0"/>
              </a:spcBef>
            </a:pPr>
            <a:endParaRPr lang="en-US" altLang="zh-CN" sz="3000" b="1" dirty="0">
              <a:solidFill>
                <a:srgbClr val="42672B"/>
              </a:solidFill>
              <a:latin typeface="+mj-lt"/>
              <a:ea typeface="+mj-ea"/>
              <a:cs typeface="+mj-cs"/>
            </a:endParaRPr>
          </a:p>
          <a:p>
            <a:pPr marL="0" indent="-713232" algn="ctr">
              <a:lnSpc>
                <a:spcPct val="90000"/>
              </a:lnSpc>
              <a:spcBef>
                <a:spcPct val="0"/>
              </a:spcBef>
            </a:pPr>
            <a:endParaRPr lang="en-US" altLang="zh-CN" sz="3000" b="1" dirty="0">
              <a:solidFill>
                <a:srgbClr val="42672B"/>
              </a:solidFill>
              <a:latin typeface="+mj-lt"/>
              <a:ea typeface="+mj-ea"/>
              <a:cs typeface="+mj-cs"/>
            </a:endParaRPr>
          </a:p>
          <a:p>
            <a:pPr marL="0" indent="-713232" algn="ctr">
              <a:lnSpc>
                <a:spcPct val="90000"/>
              </a:lnSpc>
              <a:spcBef>
                <a:spcPct val="0"/>
              </a:spcBef>
            </a:pPr>
            <a:endParaRPr lang="en-US" altLang="zh-CN" sz="3000" b="1" dirty="0">
              <a:solidFill>
                <a:srgbClr val="42672B"/>
              </a:solidFill>
              <a:latin typeface="+mj-lt"/>
              <a:ea typeface="+mj-ea"/>
              <a:cs typeface="+mj-cs"/>
            </a:endParaRPr>
          </a:p>
          <a:p>
            <a:pPr marL="0" indent="-713232" algn="ctr">
              <a:lnSpc>
                <a:spcPct val="90000"/>
              </a:lnSpc>
              <a:spcBef>
                <a:spcPct val="0"/>
              </a:spcBef>
            </a:pPr>
            <a:r>
              <a:rPr lang="en-US" altLang="zh-CN" sz="3000" b="1" dirty="0">
                <a:solidFill>
                  <a:srgbClr val="42672B"/>
                </a:solidFill>
                <a:latin typeface="+mj-lt"/>
                <a:ea typeface="+mj-ea"/>
                <a:cs typeface="+mj-cs"/>
              </a:rPr>
              <a:t>When We Can Measure NDE and NIE</a:t>
            </a:r>
            <a:endParaRPr lang="zh-CN" altLang="en-US" sz="3000" b="1" dirty="0">
              <a:solidFill>
                <a:srgbClr val="42672B"/>
              </a:solidFill>
              <a:latin typeface="+mj-lt"/>
              <a:ea typeface="+mj-ea"/>
              <a:cs typeface="+mj-cs"/>
            </a:endParaRPr>
          </a:p>
        </p:txBody>
      </p:sp>
      <p:sp>
        <p:nvSpPr>
          <p:cNvPr id="3" name="灯片编号占位符 2">
            <a:extLst>
              <a:ext uri="{FF2B5EF4-FFF2-40B4-BE49-F238E27FC236}">
                <a16:creationId xmlns:a16="http://schemas.microsoft.com/office/drawing/2014/main" id="{B416911C-4780-436A-9958-DDE5ED5677BB}"/>
              </a:ext>
            </a:extLst>
          </p:cNvPr>
          <p:cNvSpPr>
            <a:spLocks noGrp="1"/>
          </p:cNvSpPr>
          <p:nvPr>
            <p:ph type="sldNum" sz="quarter" idx="11"/>
          </p:nvPr>
        </p:nvSpPr>
        <p:spPr/>
        <p:txBody>
          <a:bodyPr/>
          <a:lstStyle/>
          <a:p>
            <a:fld id="{2AEAD966-1EF9-3A44-9B11-0C8090371A9A}" type="slidenum">
              <a:rPr lang="en-US" smtClean="0"/>
              <a:t>51</a:t>
            </a:fld>
            <a:endParaRPr lang="en-US"/>
          </a:p>
        </p:txBody>
      </p:sp>
      <p:sp>
        <p:nvSpPr>
          <p:cNvPr id="5" name="日期占位符 4">
            <a:extLst>
              <a:ext uri="{FF2B5EF4-FFF2-40B4-BE49-F238E27FC236}">
                <a16:creationId xmlns:a16="http://schemas.microsoft.com/office/drawing/2014/main" id="{66B38F9B-8C14-4FAC-A915-9F370EA9AD6F}"/>
              </a:ext>
            </a:extLst>
          </p:cNvPr>
          <p:cNvSpPr>
            <a:spLocks noGrp="1"/>
          </p:cNvSpPr>
          <p:nvPr>
            <p:ph type="dt" sz="half" idx="12"/>
          </p:nvPr>
        </p:nvSpPr>
        <p:spPr/>
        <p:txBody>
          <a:bodyPr/>
          <a:lstStyle/>
          <a:p>
            <a:fld id="{63ADDE33-C9F1-F94F-A20E-DA422DA466DF}" type="datetime1">
              <a:rPr lang="en-US" smtClean="0"/>
              <a:t>9/2/2022</a:t>
            </a:fld>
            <a:endParaRPr lang="en-US" dirty="0"/>
          </a:p>
        </p:txBody>
      </p:sp>
    </p:spTree>
    <p:extLst>
      <p:ext uri="{BB962C8B-B14F-4D97-AF65-F5344CB8AC3E}">
        <p14:creationId xmlns:p14="http://schemas.microsoft.com/office/powerpoint/2010/main" val="36290261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18C76333-D98C-4F4F-B5DC-172EC44340CC}"/>
                  </a:ext>
                </a:extLst>
              </p:cNvPr>
              <p:cNvSpPr>
                <a:spLocks noGrp="1"/>
              </p:cNvSpPr>
              <p:nvPr>
                <p:ph idx="1"/>
              </p:nvPr>
            </p:nvSpPr>
            <p:spPr/>
            <p:txBody>
              <a:bodyPr>
                <a:normAutofit/>
              </a:bodyPr>
              <a:lstStyle/>
              <a:p>
                <a:r>
                  <a:rPr lang="en-US" altLang="zh-CN" sz="1600" dirty="0"/>
                  <a:t>Adjustment set </a:t>
                </a:r>
                <a14:m>
                  <m:oMath xmlns:m="http://schemas.openxmlformats.org/officeDocument/2006/math">
                    <m:r>
                      <a:rPr lang="en-US" altLang="zh-CN" sz="1600" b="0" i="1" smtClean="0">
                        <a:latin typeface="Cambria Math" panose="02040503050406030204" pitchFamily="18" charset="0"/>
                      </a:rPr>
                      <m:t>𝑊</m:t>
                    </m:r>
                  </m:oMath>
                </a14:m>
                <a:endParaRPr lang="en-US" altLang="zh-CN" sz="1600" dirty="0"/>
              </a:p>
              <a:p>
                <a:r>
                  <a:rPr lang="en-US" altLang="zh-CN" sz="1600" dirty="0"/>
                  <a:t>Sufficient conditions for identifying NDE:</a:t>
                </a:r>
              </a:p>
              <a:p>
                <a:pPr marL="434340" indent="-342900">
                  <a:buClr>
                    <a:schemeClr val="tx1"/>
                  </a:buClr>
                  <a:buFont typeface="Arial" panose="020B0604020202020204" pitchFamily="34" charset="0"/>
                  <a:buChar char="•"/>
                </a:pPr>
                <a:r>
                  <a:rPr lang="en-US" altLang="zh-CN" sz="1600" dirty="0"/>
                  <a:t>No member of </a:t>
                </a:r>
                <a14:m>
                  <m:oMath xmlns:m="http://schemas.openxmlformats.org/officeDocument/2006/math">
                    <m:r>
                      <a:rPr lang="en-US" altLang="zh-CN" sz="1600" i="1">
                        <a:latin typeface="Cambria Math" panose="02040503050406030204" pitchFamily="18" charset="0"/>
                      </a:rPr>
                      <m:t>𝑊</m:t>
                    </m:r>
                  </m:oMath>
                </a14:m>
                <a:r>
                  <a:rPr lang="en-US" altLang="zh-CN" sz="1600" dirty="0"/>
                  <a:t> is a descendant of T</a:t>
                </a:r>
              </a:p>
              <a:p>
                <a:pPr marL="434340" indent="-342900">
                  <a:buClr>
                    <a:schemeClr val="tx1"/>
                  </a:buClr>
                  <a:buFont typeface="Arial" panose="020B0604020202020204" pitchFamily="34" charset="0"/>
                  <a:buChar char="•"/>
                </a:pPr>
                <a14:m>
                  <m:oMath xmlns:m="http://schemas.openxmlformats.org/officeDocument/2006/math">
                    <m:r>
                      <a:rPr lang="en-US" altLang="zh-CN" sz="1600" i="1">
                        <a:latin typeface="Cambria Math" panose="02040503050406030204" pitchFamily="18" charset="0"/>
                      </a:rPr>
                      <m:t>𝑊</m:t>
                    </m:r>
                  </m:oMath>
                </a14:m>
                <a:r>
                  <a:rPr lang="zh-CN" altLang="en-US" sz="1600" dirty="0"/>
                  <a:t> </a:t>
                </a:r>
                <a:r>
                  <a:rPr lang="en-US" altLang="zh-CN" sz="1600" dirty="0"/>
                  <a:t>blocks all backdoor paths from M to Y</a:t>
                </a:r>
              </a:p>
            </p:txBody>
          </p:sp>
        </mc:Choice>
        <mc:Fallback>
          <p:sp>
            <p:nvSpPr>
              <p:cNvPr id="2" name="内容占位符 1">
                <a:extLst>
                  <a:ext uri="{FF2B5EF4-FFF2-40B4-BE49-F238E27FC236}">
                    <a16:creationId xmlns:a16="http://schemas.microsoft.com/office/drawing/2014/main" id="{18C76333-D98C-4F4F-B5DC-172EC44340CC}"/>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23AC9D83-192E-40AD-BAF7-0D18D5C4193E}"/>
              </a:ext>
            </a:extLst>
          </p:cNvPr>
          <p:cNvSpPr>
            <a:spLocks noGrp="1"/>
          </p:cNvSpPr>
          <p:nvPr>
            <p:ph type="sldNum" sz="quarter" idx="11"/>
          </p:nvPr>
        </p:nvSpPr>
        <p:spPr/>
        <p:txBody>
          <a:bodyPr/>
          <a:lstStyle/>
          <a:p>
            <a:fld id="{2AEAD966-1EF9-3A44-9B11-0C8090371A9A}" type="slidenum">
              <a:rPr lang="en-US" smtClean="0"/>
              <a:t>52</a:t>
            </a:fld>
            <a:endParaRPr lang="en-US"/>
          </a:p>
        </p:txBody>
      </p:sp>
      <p:sp>
        <p:nvSpPr>
          <p:cNvPr id="4" name="标题 3">
            <a:extLst>
              <a:ext uri="{FF2B5EF4-FFF2-40B4-BE49-F238E27FC236}">
                <a16:creationId xmlns:a16="http://schemas.microsoft.com/office/drawing/2014/main" id="{CC363693-4283-4DE7-98FB-928463F92FEE}"/>
              </a:ext>
            </a:extLst>
          </p:cNvPr>
          <p:cNvSpPr>
            <a:spLocks noGrp="1"/>
          </p:cNvSpPr>
          <p:nvPr>
            <p:ph type="title"/>
          </p:nvPr>
        </p:nvSpPr>
        <p:spPr/>
        <p:txBody>
          <a:bodyPr/>
          <a:lstStyle/>
          <a:p>
            <a:r>
              <a:rPr lang="en-US" altLang="zh-CN" dirty="0"/>
              <a:t>When We Can Measure NDE and NIE</a:t>
            </a:r>
            <a:endParaRPr lang="zh-CN" altLang="en-US" dirty="0"/>
          </a:p>
        </p:txBody>
      </p:sp>
      <p:sp>
        <p:nvSpPr>
          <p:cNvPr id="5" name="日期占位符 4">
            <a:extLst>
              <a:ext uri="{FF2B5EF4-FFF2-40B4-BE49-F238E27FC236}">
                <a16:creationId xmlns:a16="http://schemas.microsoft.com/office/drawing/2014/main" id="{746D9BCF-D486-42CE-B829-01E6737F1022}"/>
              </a:ext>
            </a:extLst>
          </p:cNvPr>
          <p:cNvSpPr>
            <a:spLocks noGrp="1"/>
          </p:cNvSpPr>
          <p:nvPr>
            <p:ph type="dt" sz="half" idx="12"/>
          </p:nvPr>
        </p:nvSpPr>
        <p:spPr/>
        <p:txBody>
          <a:bodyPr/>
          <a:lstStyle/>
          <a:p>
            <a:fld id="{63ADDE33-C9F1-F94F-A20E-DA422DA466DF}" type="datetime1">
              <a:rPr lang="en-US" smtClean="0"/>
              <a:t>9/2/2022</a:t>
            </a:fld>
            <a:endParaRPr lang="en-US" dirty="0"/>
          </a:p>
        </p:txBody>
      </p:sp>
    </p:spTree>
    <p:extLst>
      <p:ext uri="{BB962C8B-B14F-4D97-AF65-F5344CB8AC3E}">
        <p14:creationId xmlns:p14="http://schemas.microsoft.com/office/powerpoint/2010/main" val="24433188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18C76333-D98C-4F4F-B5DC-172EC44340CC}"/>
                  </a:ext>
                </a:extLst>
              </p:cNvPr>
              <p:cNvSpPr>
                <a:spLocks noGrp="1"/>
              </p:cNvSpPr>
              <p:nvPr>
                <p:ph idx="1"/>
              </p:nvPr>
            </p:nvSpPr>
            <p:spPr/>
            <p:txBody>
              <a:bodyPr>
                <a:normAutofit/>
              </a:bodyPr>
              <a:lstStyle/>
              <a:p>
                <a:r>
                  <a:rPr lang="en-US" altLang="zh-CN" sz="1600" dirty="0"/>
                  <a:t>Adjustment set </a:t>
                </a:r>
                <a14:m>
                  <m:oMath xmlns:m="http://schemas.openxmlformats.org/officeDocument/2006/math">
                    <m:r>
                      <a:rPr lang="en-US" altLang="zh-CN" sz="1600" b="0" i="1" smtClean="0">
                        <a:latin typeface="Cambria Math" panose="02040503050406030204" pitchFamily="18" charset="0"/>
                      </a:rPr>
                      <m:t>𝑊</m:t>
                    </m:r>
                  </m:oMath>
                </a14:m>
                <a:endParaRPr lang="en-US" altLang="zh-CN" sz="1600" dirty="0"/>
              </a:p>
              <a:p>
                <a:r>
                  <a:rPr lang="en-US" altLang="zh-CN" sz="1600" dirty="0"/>
                  <a:t>Sufficient conditions for identifying NDE:</a:t>
                </a:r>
              </a:p>
              <a:p>
                <a:pPr marL="434340" indent="-342900">
                  <a:buClr>
                    <a:schemeClr val="tx1"/>
                  </a:buClr>
                  <a:buFont typeface="Arial" panose="020B0604020202020204" pitchFamily="34" charset="0"/>
                  <a:buChar char="•"/>
                </a:pPr>
                <a:r>
                  <a:rPr lang="en-US" altLang="zh-CN" sz="1600" dirty="0"/>
                  <a:t>No member of </a:t>
                </a:r>
                <a14:m>
                  <m:oMath xmlns:m="http://schemas.openxmlformats.org/officeDocument/2006/math">
                    <m:r>
                      <a:rPr lang="en-US" altLang="zh-CN" sz="1600" i="1">
                        <a:latin typeface="Cambria Math" panose="02040503050406030204" pitchFamily="18" charset="0"/>
                      </a:rPr>
                      <m:t>𝑊</m:t>
                    </m:r>
                  </m:oMath>
                </a14:m>
                <a:r>
                  <a:rPr lang="en-US" altLang="zh-CN" sz="1600" dirty="0"/>
                  <a:t> is a descendant of T</a:t>
                </a:r>
              </a:p>
              <a:p>
                <a:pPr marL="434340" indent="-342900">
                  <a:buClr>
                    <a:schemeClr val="tx1"/>
                  </a:buClr>
                  <a:buFont typeface="Arial" panose="020B0604020202020204" pitchFamily="34" charset="0"/>
                  <a:buChar char="•"/>
                </a:pPr>
                <a14:m>
                  <m:oMath xmlns:m="http://schemas.openxmlformats.org/officeDocument/2006/math">
                    <m:r>
                      <a:rPr lang="en-US" altLang="zh-CN" sz="1600" i="1">
                        <a:latin typeface="Cambria Math" panose="02040503050406030204" pitchFamily="18" charset="0"/>
                      </a:rPr>
                      <m:t>𝑊</m:t>
                    </m:r>
                  </m:oMath>
                </a14:m>
                <a:r>
                  <a:rPr lang="zh-CN" altLang="en-US" sz="1600" dirty="0"/>
                  <a:t> </a:t>
                </a:r>
                <a:r>
                  <a:rPr lang="en-US" altLang="zh-CN" sz="1600" dirty="0"/>
                  <a:t>blocks all backdoor paths from M to Y</a:t>
                </a:r>
              </a:p>
              <a:p>
                <a:pPr marL="434340" indent="-342900">
                  <a:buClr>
                    <a:schemeClr val="tx1"/>
                  </a:buClr>
                  <a:buFont typeface="Arial" panose="020B0604020202020204" pitchFamily="34" charset="0"/>
                  <a:buChar char="•"/>
                </a:pPr>
                <a:endParaRPr lang="en-US" altLang="zh-CN" sz="1600" dirty="0"/>
              </a:p>
              <a:p>
                <a:pPr marL="434340" indent="-342900">
                  <a:buClr>
                    <a:schemeClr val="tx1"/>
                  </a:buClr>
                  <a:buFont typeface="Arial" panose="020B0604020202020204" pitchFamily="34" charset="0"/>
                  <a:buChar char="•"/>
                </a:pPr>
                <a:endParaRPr lang="en-US" altLang="zh-CN" sz="1600" dirty="0"/>
              </a:p>
              <a:p>
                <a:pPr>
                  <a:buClr>
                    <a:schemeClr val="tx1"/>
                  </a:buClr>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𝑁𝐷𝐸</m:t>
                      </m:r>
                      <m:r>
                        <a:rPr lang="en-US" altLang="zh-CN" sz="1600" b="0" i="1" smtClean="0">
                          <a:latin typeface="Cambria Math" panose="02040503050406030204" pitchFamily="18" charset="0"/>
                        </a:rPr>
                        <m:t>=</m:t>
                      </m:r>
                      <m:nary>
                        <m:naryPr>
                          <m:chr m:val="∑"/>
                          <m:supHide m:val="on"/>
                          <m:ctrlPr>
                            <a:rPr lang="en-US" altLang="zh-CN" sz="1600" b="0" i="1" smtClean="0">
                              <a:latin typeface="Cambria Math" panose="02040503050406030204" pitchFamily="18" charset="0"/>
                            </a:rPr>
                          </m:ctrlPr>
                        </m:naryPr>
                        <m:sub>
                          <m:r>
                            <m:rPr>
                              <m:brk m:alnAt="7"/>
                            </m:rPr>
                            <a:rPr lang="en-US" altLang="zh-CN" sz="1600" b="0" i="1" smtClean="0">
                              <a:latin typeface="Cambria Math" panose="02040503050406030204" pitchFamily="18" charset="0"/>
                            </a:rPr>
                            <m:t>𝑚</m:t>
                          </m:r>
                        </m:sub>
                        <m:sup/>
                        <m:e>
                          <m:nary>
                            <m:naryPr>
                              <m:chr m:val="∑"/>
                              <m:supHide m:val="on"/>
                              <m:ctrlPr>
                                <a:rPr lang="en-US" altLang="zh-CN" sz="1600" b="0" i="1" smtClean="0">
                                  <a:latin typeface="Cambria Math" panose="02040503050406030204" pitchFamily="18" charset="0"/>
                                </a:rPr>
                              </m:ctrlPr>
                            </m:naryPr>
                            <m:sub>
                              <m:r>
                                <m:rPr>
                                  <m:brk m:alnAt="7"/>
                                </m:rPr>
                                <a:rPr lang="en-US" altLang="zh-CN" sz="1600" b="0" i="1" smtClean="0">
                                  <a:latin typeface="Cambria Math" panose="02040503050406030204" pitchFamily="18" charset="0"/>
                                </a:rPr>
                                <m:t>𝑤</m:t>
                              </m:r>
                            </m:sub>
                            <m:sup/>
                            <m:e>
                              <m:d>
                                <m:dPr>
                                  <m:end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𝐸</m:t>
                                  </m:r>
                                  <m:d>
                                    <m:dPr>
                                      <m:begChr m:val="["/>
                                      <m:end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𝑌</m:t>
                                      </m:r>
                                      <m:r>
                                        <a:rPr lang="en-US" altLang="zh-CN" sz="1600" b="0" i="1" smtClean="0">
                                          <a:latin typeface="Cambria Math" panose="02040503050406030204" pitchFamily="18" charset="0"/>
                                        </a:rPr>
                                        <m:t> </m:t>
                                      </m:r>
                                    </m:e>
                                  </m:d>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𝑑𝑜</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𝑀</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𝑚</m:t>
                                      </m:r>
                                    </m:e>
                                  </m:d>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𝑊</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𝑤</m:t>
                                  </m:r>
                                </m:e>
                              </m:d>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𝐸</m:t>
                              </m:r>
                              <m:d>
                                <m:dPr>
                                  <m:begChr m:val="["/>
                                  <m:end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𝑌</m:t>
                                  </m:r>
                                  <m:r>
                                    <a:rPr lang="en-US" altLang="zh-CN" sz="1600" b="0" i="1" smtClean="0">
                                      <a:latin typeface="Cambria Math" panose="02040503050406030204" pitchFamily="18" charset="0"/>
                                    </a:rPr>
                                    <m:t> </m:t>
                                  </m:r>
                                </m:e>
                              </m:d>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𝑑𝑜</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=0,</m:t>
                                  </m:r>
                                  <m:r>
                                    <a:rPr lang="en-US" altLang="zh-CN" sz="1600" b="0" i="1" smtClean="0">
                                      <a:latin typeface="Cambria Math" panose="02040503050406030204" pitchFamily="18" charset="0"/>
                                    </a:rPr>
                                    <m:t>𝑀</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𝑚</m:t>
                                  </m:r>
                                </m:e>
                              </m:d>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𝑊</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𝑤</m:t>
                              </m:r>
                              <m:r>
                                <a:rPr lang="en-US" altLang="zh-CN" sz="1600" b="0" i="1" smtClean="0">
                                  <a:latin typeface="Cambria Math" panose="02040503050406030204" pitchFamily="18" charset="0"/>
                                </a:rPr>
                                <m:t>])</m:t>
                              </m:r>
                            </m:e>
                          </m:nary>
                        </m:e>
                      </m:nary>
                    </m:oMath>
                  </m:oMathPara>
                </a14:m>
                <a:endParaRPr lang="en-US" altLang="zh-CN" sz="1600" b="0" dirty="0"/>
              </a:p>
              <a:p>
                <a:pPr>
                  <a:buClr>
                    <a:schemeClr val="tx1"/>
                  </a:buClr>
                </a:pPr>
                <a:r>
                  <a:rPr lang="en-US" altLang="zh-CN" sz="1600" dirty="0"/>
                  <a:t>		</a:t>
                </a:r>
                <a14:m>
                  <m:oMath xmlns:m="http://schemas.openxmlformats.org/officeDocument/2006/math">
                    <m:r>
                      <a:rPr lang="en-US" altLang="zh-CN" sz="160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𝑃</m:t>
                    </m:r>
                    <m:d>
                      <m:dPr>
                        <m:ctrlPr>
                          <a:rPr lang="en-US" altLang="zh-CN" sz="1600" b="0" i="1" smtClean="0">
                            <a:latin typeface="Cambria Math" panose="02040503050406030204" pitchFamily="18" charset="0"/>
                            <a:ea typeface="Cambria Math" panose="02040503050406030204" pitchFamily="18" charset="0"/>
                          </a:rPr>
                        </m:ctrlPr>
                      </m:dPr>
                      <m:e>
                        <m:r>
                          <a:rPr lang="en-US" altLang="zh-CN" sz="1600" b="0" i="1" smtClean="0">
                            <a:latin typeface="Cambria Math" panose="02040503050406030204" pitchFamily="18" charset="0"/>
                            <a:ea typeface="Cambria Math" panose="02040503050406030204" pitchFamily="18" charset="0"/>
                          </a:rPr>
                          <m:t>𝑀</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𝑚</m:t>
                        </m:r>
                      </m:e>
                      <m:e>
                        <m:r>
                          <a:rPr lang="en-US" altLang="zh-CN" sz="1600" b="0" i="1" smtClean="0">
                            <a:latin typeface="Cambria Math" panose="02040503050406030204" pitchFamily="18" charset="0"/>
                            <a:ea typeface="Cambria Math" panose="02040503050406030204" pitchFamily="18" charset="0"/>
                          </a:rPr>
                          <m:t>𝑑𝑜</m:t>
                        </m:r>
                        <m:d>
                          <m:dPr>
                            <m:ctrlPr>
                              <a:rPr lang="en-US" altLang="zh-CN" sz="1600" b="0" i="1" smtClean="0">
                                <a:latin typeface="Cambria Math" panose="02040503050406030204" pitchFamily="18" charset="0"/>
                                <a:ea typeface="Cambria Math" panose="02040503050406030204" pitchFamily="18" charset="0"/>
                              </a:rPr>
                            </m:ctrlPr>
                          </m:dPr>
                          <m:e>
                            <m:r>
                              <a:rPr lang="en-US" altLang="zh-CN" sz="1600" b="0" i="1" smtClean="0">
                                <a:latin typeface="Cambria Math" panose="02040503050406030204" pitchFamily="18" charset="0"/>
                                <a:ea typeface="Cambria Math" panose="02040503050406030204" pitchFamily="18" charset="0"/>
                              </a:rPr>
                              <m:t>𝑇</m:t>
                            </m:r>
                            <m:r>
                              <a:rPr lang="en-US" altLang="zh-CN" sz="1600" b="0" i="1" smtClean="0">
                                <a:latin typeface="Cambria Math" panose="02040503050406030204" pitchFamily="18" charset="0"/>
                                <a:ea typeface="Cambria Math" panose="02040503050406030204" pitchFamily="18" charset="0"/>
                              </a:rPr>
                              <m:t>=0</m:t>
                            </m:r>
                          </m:e>
                        </m:d>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𝑊</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𝑤</m:t>
                        </m:r>
                      </m:e>
                    </m:d>
                    <m:r>
                      <a:rPr lang="en-US" altLang="zh-CN" sz="1600" b="0" i="1" smtClean="0">
                        <a:latin typeface="Cambria Math" panose="02040503050406030204" pitchFamily="18" charset="0"/>
                        <a:ea typeface="Cambria Math" panose="02040503050406030204" pitchFamily="18" charset="0"/>
                      </a:rPr>
                      <m:t>𝑃</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𝑊</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𝑤</m:t>
                    </m:r>
                    <m:r>
                      <a:rPr lang="en-US" altLang="zh-CN" sz="1600" b="0" i="1" smtClean="0">
                        <a:latin typeface="Cambria Math" panose="02040503050406030204" pitchFamily="18" charset="0"/>
                        <a:ea typeface="Cambria Math" panose="02040503050406030204" pitchFamily="18" charset="0"/>
                      </a:rPr>
                      <m:t>)</m:t>
                    </m:r>
                  </m:oMath>
                </a14:m>
                <a:endParaRPr lang="en-US" altLang="zh-CN" sz="1600" dirty="0"/>
              </a:p>
            </p:txBody>
          </p:sp>
        </mc:Choice>
        <mc:Fallback>
          <p:sp>
            <p:nvSpPr>
              <p:cNvPr id="2" name="内容占位符 1">
                <a:extLst>
                  <a:ext uri="{FF2B5EF4-FFF2-40B4-BE49-F238E27FC236}">
                    <a16:creationId xmlns:a16="http://schemas.microsoft.com/office/drawing/2014/main" id="{18C76333-D98C-4F4F-B5DC-172EC44340CC}"/>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23AC9D83-192E-40AD-BAF7-0D18D5C4193E}"/>
              </a:ext>
            </a:extLst>
          </p:cNvPr>
          <p:cNvSpPr>
            <a:spLocks noGrp="1"/>
          </p:cNvSpPr>
          <p:nvPr>
            <p:ph type="sldNum" sz="quarter" idx="11"/>
          </p:nvPr>
        </p:nvSpPr>
        <p:spPr/>
        <p:txBody>
          <a:bodyPr/>
          <a:lstStyle/>
          <a:p>
            <a:fld id="{2AEAD966-1EF9-3A44-9B11-0C8090371A9A}" type="slidenum">
              <a:rPr lang="en-US" smtClean="0"/>
              <a:t>53</a:t>
            </a:fld>
            <a:endParaRPr lang="en-US"/>
          </a:p>
        </p:txBody>
      </p:sp>
      <p:sp>
        <p:nvSpPr>
          <p:cNvPr id="4" name="标题 3">
            <a:extLst>
              <a:ext uri="{FF2B5EF4-FFF2-40B4-BE49-F238E27FC236}">
                <a16:creationId xmlns:a16="http://schemas.microsoft.com/office/drawing/2014/main" id="{CC363693-4283-4DE7-98FB-928463F92FEE}"/>
              </a:ext>
            </a:extLst>
          </p:cNvPr>
          <p:cNvSpPr>
            <a:spLocks noGrp="1"/>
          </p:cNvSpPr>
          <p:nvPr>
            <p:ph type="title"/>
          </p:nvPr>
        </p:nvSpPr>
        <p:spPr/>
        <p:txBody>
          <a:bodyPr/>
          <a:lstStyle/>
          <a:p>
            <a:r>
              <a:rPr lang="en-US" altLang="zh-CN" dirty="0"/>
              <a:t>When We Can Measure NDE and NIE</a:t>
            </a:r>
            <a:endParaRPr lang="zh-CN" altLang="en-US" dirty="0"/>
          </a:p>
        </p:txBody>
      </p:sp>
      <p:sp>
        <p:nvSpPr>
          <p:cNvPr id="5" name="日期占位符 4">
            <a:extLst>
              <a:ext uri="{FF2B5EF4-FFF2-40B4-BE49-F238E27FC236}">
                <a16:creationId xmlns:a16="http://schemas.microsoft.com/office/drawing/2014/main" id="{746D9BCF-D486-42CE-B829-01E6737F1022}"/>
              </a:ext>
            </a:extLst>
          </p:cNvPr>
          <p:cNvSpPr>
            <a:spLocks noGrp="1"/>
          </p:cNvSpPr>
          <p:nvPr>
            <p:ph type="dt" sz="half" idx="12"/>
          </p:nvPr>
        </p:nvSpPr>
        <p:spPr/>
        <p:txBody>
          <a:bodyPr/>
          <a:lstStyle/>
          <a:p>
            <a:fld id="{63ADDE33-C9F1-F94F-A20E-DA422DA466DF}" type="datetime1">
              <a:rPr lang="en-US" smtClean="0"/>
              <a:t>9/2/2022</a:t>
            </a:fld>
            <a:endParaRPr lang="en-US" dirty="0"/>
          </a:p>
        </p:txBody>
      </p:sp>
    </p:spTree>
    <p:extLst>
      <p:ext uri="{BB962C8B-B14F-4D97-AF65-F5344CB8AC3E}">
        <p14:creationId xmlns:p14="http://schemas.microsoft.com/office/powerpoint/2010/main" val="6155070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18C76333-D98C-4F4F-B5DC-172EC44340CC}"/>
                  </a:ext>
                </a:extLst>
              </p:cNvPr>
              <p:cNvSpPr>
                <a:spLocks noGrp="1"/>
              </p:cNvSpPr>
              <p:nvPr>
                <p:ph idx="1"/>
              </p:nvPr>
            </p:nvSpPr>
            <p:spPr/>
            <p:txBody>
              <a:bodyPr>
                <a:normAutofit/>
              </a:bodyPr>
              <a:lstStyle/>
              <a:p>
                <a:r>
                  <a:rPr lang="en-US" altLang="zh-CN" sz="1600" dirty="0"/>
                  <a:t>Adjustment set </a:t>
                </a:r>
                <a14:m>
                  <m:oMath xmlns:m="http://schemas.openxmlformats.org/officeDocument/2006/math">
                    <m:r>
                      <a:rPr lang="en-US" altLang="zh-CN" sz="1600" b="0" i="1" smtClean="0">
                        <a:latin typeface="Cambria Math" panose="02040503050406030204" pitchFamily="18" charset="0"/>
                      </a:rPr>
                      <m:t>𝑊</m:t>
                    </m:r>
                  </m:oMath>
                </a14:m>
                <a:endParaRPr lang="en-US" altLang="zh-CN" sz="1600" dirty="0"/>
              </a:p>
              <a:p>
                <a:r>
                  <a:rPr lang="en-US" altLang="zh-CN" sz="1600" dirty="0"/>
                  <a:t>Sufficient conditions for identifying NDE:</a:t>
                </a:r>
              </a:p>
              <a:p>
                <a:pPr marL="434340" indent="-342900">
                  <a:buClr>
                    <a:schemeClr val="tx1"/>
                  </a:buClr>
                  <a:buFont typeface="Arial" panose="020B0604020202020204" pitchFamily="34" charset="0"/>
                  <a:buChar char="•"/>
                </a:pPr>
                <a:r>
                  <a:rPr lang="en-US" altLang="zh-CN" sz="1600" dirty="0"/>
                  <a:t>No member of </a:t>
                </a:r>
                <a14:m>
                  <m:oMath xmlns:m="http://schemas.openxmlformats.org/officeDocument/2006/math">
                    <m:r>
                      <a:rPr lang="en-US" altLang="zh-CN" sz="1600" i="1">
                        <a:latin typeface="Cambria Math" panose="02040503050406030204" pitchFamily="18" charset="0"/>
                      </a:rPr>
                      <m:t>𝑊</m:t>
                    </m:r>
                  </m:oMath>
                </a14:m>
                <a:r>
                  <a:rPr lang="en-US" altLang="zh-CN" sz="1600" dirty="0"/>
                  <a:t> is a descendant of T</a:t>
                </a:r>
              </a:p>
              <a:p>
                <a:pPr marL="434340" indent="-342900">
                  <a:buClr>
                    <a:schemeClr val="tx1"/>
                  </a:buClr>
                  <a:buFont typeface="Arial" panose="020B0604020202020204" pitchFamily="34" charset="0"/>
                  <a:buChar char="•"/>
                </a:pPr>
                <a14:m>
                  <m:oMath xmlns:m="http://schemas.openxmlformats.org/officeDocument/2006/math">
                    <m:r>
                      <a:rPr lang="en-US" altLang="zh-CN" sz="1600" i="1">
                        <a:latin typeface="Cambria Math" panose="02040503050406030204" pitchFamily="18" charset="0"/>
                      </a:rPr>
                      <m:t>𝑊</m:t>
                    </m:r>
                  </m:oMath>
                </a14:m>
                <a:r>
                  <a:rPr lang="zh-CN" altLang="en-US" sz="1600" dirty="0"/>
                  <a:t> </a:t>
                </a:r>
                <a:r>
                  <a:rPr lang="en-US" altLang="zh-CN" sz="1600" dirty="0"/>
                  <a:t>blocks all backdoor paths from M to Y</a:t>
                </a:r>
              </a:p>
              <a:p>
                <a:pPr marL="434340" indent="-342900">
                  <a:buClr>
                    <a:schemeClr val="tx1"/>
                  </a:buClr>
                  <a:buFont typeface="Arial" panose="020B0604020202020204" pitchFamily="34" charset="0"/>
                  <a:buChar char="•"/>
                </a:pPr>
                <a:endParaRPr lang="en-US" altLang="zh-CN" sz="1600" dirty="0"/>
              </a:p>
              <a:p>
                <a:pPr marL="434340" indent="-342900">
                  <a:buClr>
                    <a:schemeClr val="tx1"/>
                  </a:buClr>
                  <a:buFont typeface="Arial" panose="020B0604020202020204" pitchFamily="34" charset="0"/>
                  <a:buChar char="•"/>
                </a:pPr>
                <a:endParaRPr lang="en-US" altLang="zh-CN" sz="1600" dirty="0"/>
              </a:p>
              <a:p>
                <a:pPr>
                  <a:buClr>
                    <a:schemeClr val="tx1"/>
                  </a:buClr>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𝑁𝐷𝐸</m:t>
                      </m:r>
                      <m:r>
                        <a:rPr lang="en-US" altLang="zh-CN" sz="1600" b="0" i="1" smtClean="0">
                          <a:latin typeface="Cambria Math" panose="02040503050406030204" pitchFamily="18" charset="0"/>
                        </a:rPr>
                        <m:t>=</m:t>
                      </m:r>
                      <m:nary>
                        <m:naryPr>
                          <m:chr m:val="∑"/>
                          <m:supHide m:val="on"/>
                          <m:ctrlPr>
                            <a:rPr lang="en-US" altLang="zh-CN" sz="1600" b="0" i="1" smtClean="0">
                              <a:latin typeface="Cambria Math" panose="02040503050406030204" pitchFamily="18" charset="0"/>
                            </a:rPr>
                          </m:ctrlPr>
                        </m:naryPr>
                        <m:sub>
                          <m:r>
                            <m:rPr>
                              <m:brk m:alnAt="7"/>
                            </m:rPr>
                            <a:rPr lang="en-US" altLang="zh-CN" sz="1600" b="0" i="1" smtClean="0">
                              <a:latin typeface="Cambria Math" panose="02040503050406030204" pitchFamily="18" charset="0"/>
                            </a:rPr>
                            <m:t>𝑚</m:t>
                          </m:r>
                        </m:sub>
                        <m:sup/>
                        <m:e>
                          <m:nary>
                            <m:naryPr>
                              <m:chr m:val="∑"/>
                              <m:supHide m:val="on"/>
                              <m:ctrlPr>
                                <a:rPr lang="en-US" altLang="zh-CN" sz="1600" b="0" i="1" smtClean="0">
                                  <a:latin typeface="Cambria Math" panose="02040503050406030204" pitchFamily="18" charset="0"/>
                                </a:rPr>
                              </m:ctrlPr>
                            </m:naryPr>
                            <m:sub>
                              <m:r>
                                <m:rPr>
                                  <m:brk m:alnAt="7"/>
                                </m:rPr>
                                <a:rPr lang="en-US" altLang="zh-CN" sz="1600" b="0" i="1" smtClean="0">
                                  <a:latin typeface="Cambria Math" panose="02040503050406030204" pitchFamily="18" charset="0"/>
                                </a:rPr>
                                <m:t>𝑤</m:t>
                              </m:r>
                            </m:sub>
                            <m:sup/>
                            <m:e>
                              <m:d>
                                <m:dPr>
                                  <m:end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𝐸</m:t>
                                  </m:r>
                                  <m:d>
                                    <m:dPr>
                                      <m:begChr m:val="["/>
                                      <m:end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𝑌</m:t>
                                      </m:r>
                                      <m:r>
                                        <a:rPr lang="en-US" altLang="zh-CN" sz="1600" b="0" i="1" smtClean="0">
                                          <a:latin typeface="Cambria Math" panose="02040503050406030204" pitchFamily="18" charset="0"/>
                                        </a:rPr>
                                        <m:t> </m:t>
                                      </m:r>
                                    </m:e>
                                  </m:d>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𝑑𝑜</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𝑀</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𝑚</m:t>
                                      </m:r>
                                    </m:e>
                                  </m:d>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𝑊</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𝑤</m:t>
                                  </m:r>
                                </m:e>
                              </m:d>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𝐸</m:t>
                              </m:r>
                              <m:d>
                                <m:dPr>
                                  <m:begChr m:val="["/>
                                  <m:end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𝑌</m:t>
                                  </m:r>
                                  <m:r>
                                    <a:rPr lang="en-US" altLang="zh-CN" sz="1600" b="0" i="1" smtClean="0">
                                      <a:latin typeface="Cambria Math" panose="02040503050406030204" pitchFamily="18" charset="0"/>
                                    </a:rPr>
                                    <m:t> </m:t>
                                  </m:r>
                                </m:e>
                              </m:d>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𝑑𝑜</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=0,</m:t>
                                  </m:r>
                                  <m:r>
                                    <a:rPr lang="en-US" altLang="zh-CN" sz="1600" b="0" i="1" smtClean="0">
                                      <a:latin typeface="Cambria Math" panose="02040503050406030204" pitchFamily="18" charset="0"/>
                                    </a:rPr>
                                    <m:t>𝑀</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𝑚</m:t>
                                  </m:r>
                                </m:e>
                              </m:d>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𝑊</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𝑤</m:t>
                              </m:r>
                              <m:r>
                                <a:rPr lang="en-US" altLang="zh-CN" sz="1600" b="0" i="1" smtClean="0">
                                  <a:latin typeface="Cambria Math" panose="02040503050406030204" pitchFamily="18" charset="0"/>
                                </a:rPr>
                                <m:t>])</m:t>
                              </m:r>
                            </m:e>
                          </m:nary>
                        </m:e>
                      </m:nary>
                    </m:oMath>
                  </m:oMathPara>
                </a14:m>
                <a:endParaRPr lang="en-US" altLang="zh-CN" sz="1600" b="0" dirty="0"/>
              </a:p>
              <a:p>
                <a:pPr>
                  <a:buClr>
                    <a:schemeClr val="tx1"/>
                  </a:buClr>
                </a:pPr>
                <a:r>
                  <a:rPr lang="en-US" altLang="zh-CN" sz="1600" dirty="0"/>
                  <a:t>		</a:t>
                </a:r>
                <a14:m>
                  <m:oMath xmlns:m="http://schemas.openxmlformats.org/officeDocument/2006/math">
                    <m:r>
                      <a:rPr lang="en-US" altLang="zh-CN" sz="160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𝑃</m:t>
                    </m:r>
                    <m:d>
                      <m:dPr>
                        <m:ctrlPr>
                          <a:rPr lang="en-US" altLang="zh-CN" sz="1600" b="0" i="1" smtClean="0">
                            <a:latin typeface="Cambria Math" panose="02040503050406030204" pitchFamily="18" charset="0"/>
                            <a:ea typeface="Cambria Math" panose="02040503050406030204" pitchFamily="18" charset="0"/>
                          </a:rPr>
                        </m:ctrlPr>
                      </m:dPr>
                      <m:e>
                        <m:r>
                          <a:rPr lang="en-US" altLang="zh-CN" sz="1600" b="0" i="1" smtClean="0">
                            <a:latin typeface="Cambria Math" panose="02040503050406030204" pitchFamily="18" charset="0"/>
                            <a:ea typeface="Cambria Math" panose="02040503050406030204" pitchFamily="18" charset="0"/>
                          </a:rPr>
                          <m:t>𝑀</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𝑚</m:t>
                        </m:r>
                      </m:e>
                      <m:e>
                        <m:r>
                          <a:rPr lang="en-US" altLang="zh-CN" sz="1600" b="0" i="1" smtClean="0">
                            <a:latin typeface="Cambria Math" panose="02040503050406030204" pitchFamily="18" charset="0"/>
                            <a:ea typeface="Cambria Math" panose="02040503050406030204" pitchFamily="18" charset="0"/>
                          </a:rPr>
                          <m:t>𝑑𝑜</m:t>
                        </m:r>
                        <m:d>
                          <m:dPr>
                            <m:ctrlPr>
                              <a:rPr lang="en-US" altLang="zh-CN" sz="1600" b="0" i="1" smtClean="0">
                                <a:latin typeface="Cambria Math" panose="02040503050406030204" pitchFamily="18" charset="0"/>
                                <a:ea typeface="Cambria Math" panose="02040503050406030204" pitchFamily="18" charset="0"/>
                              </a:rPr>
                            </m:ctrlPr>
                          </m:dPr>
                          <m:e>
                            <m:r>
                              <a:rPr lang="en-US" altLang="zh-CN" sz="1600" b="0" i="1" smtClean="0">
                                <a:latin typeface="Cambria Math" panose="02040503050406030204" pitchFamily="18" charset="0"/>
                                <a:ea typeface="Cambria Math" panose="02040503050406030204" pitchFamily="18" charset="0"/>
                              </a:rPr>
                              <m:t>𝑇</m:t>
                            </m:r>
                            <m:r>
                              <a:rPr lang="en-US" altLang="zh-CN" sz="1600" b="0" i="1" smtClean="0">
                                <a:latin typeface="Cambria Math" panose="02040503050406030204" pitchFamily="18" charset="0"/>
                                <a:ea typeface="Cambria Math" panose="02040503050406030204" pitchFamily="18" charset="0"/>
                              </a:rPr>
                              <m:t>=0</m:t>
                            </m:r>
                          </m:e>
                        </m:d>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𝑊</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𝑤</m:t>
                        </m:r>
                      </m:e>
                    </m:d>
                    <m:r>
                      <a:rPr lang="en-US" altLang="zh-CN" sz="1600" b="0" i="1" smtClean="0">
                        <a:latin typeface="Cambria Math" panose="02040503050406030204" pitchFamily="18" charset="0"/>
                        <a:ea typeface="Cambria Math" panose="02040503050406030204" pitchFamily="18" charset="0"/>
                      </a:rPr>
                      <m:t>𝑃</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𝑊</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𝑤</m:t>
                    </m:r>
                    <m:r>
                      <a:rPr lang="en-US" altLang="zh-CN" sz="1600" b="0" i="1" smtClean="0">
                        <a:latin typeface="Cambria Math" panose="02040503050406030204" pitchFamily="18" charset="0"/>
                        <a:ea typeface="Cambria Math" panose="02040503050406030204" pitchFamily="18" charset="0"/>
                      </a:rPr>
                      <m:t>)</m:t>
                    </m:r>
                  </m:oMath>
                </a14:m>
                <a:endParaRPr lang="en-US" altLang="zh-CN" sz="1600" dirty="0"/>
              </a:p>
              <a:p>
                <a:pPr>
                  <a:buClr>
                    <a:schemeClr val="tx1"/>
                  </a:buClr>
                </a:pPr>
                <a:endParaRPr lang="en-US" altLang="zh-CN" sz="1600" dirty="0"/>
              </a:p>
              <a:p>
                <a:pPr>
                  <a:buClr>
                    <a:schemeClr val="tx1"/>
                  </a:buClr>
                </a:pPr>
                <a:r>
                  <a:rPr lang="en-US" altLang="zh-CN" sz="1600" dirty="0"/>
                  <a:t>How can we get rid of these do operators to identify NDE ?</a:t>
                </a:r>
              </a:p>
            </p:txBody>
          </p:sp>
        </mc:Choice>
        <mc:Fallback>
          <p:sp>
            <p:nvSpPr>
              <p:cNvPr id="2" name="内容占位符 1">
                <a:extLst>
                  <a:ext uri="{FF2B5EF4-FFF2-40B4-BE49-F238E27FC236}">
                    <a16:creationId xmlns:a16="http://schemas.microsoft.com/office/drawing/2014/main" id="{18C76333-D98C-4F4F-B5DC-172EC44340CC}"/>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23AC9D83-192E-40AD-BAF7-0D18D5C4193E}"/>
              </a:ext>
            </a:extLst>
          </p:cNvPr>
          <p:cNvSpPr>
            <a:spLocks noGrp="1"/>
          </p:cNvSpPr>
          <p:nvPr>
            <p:ph type="sldNum" sz="quarter" idx="11"/>
          </p:nvPr>
        </p:nvSpPr>
        <p:spPr/>
        <p:txBody>
          <a:bodyPr/>
          <a:lstStyle/>
          <a:p>
            <a:fld id="{2AEAD966-1EF9-3A44-9B11-0C8090371A9A}" type="slidenum">
              <a:rPr lang="en-US" smtClean="0"/>
              <a:t>54</a:t>
            </a:fld>
            <a:endParaRPr lang="en-US"/>
          </a:p>
        </p:txBody>
      </p:sp>
      <p:sp>
        <p:nvSpPr>
          <p:cNvPr id="4" name="标题 3">
            <a:extLst>
              <a:ext uri="{FF2B5EF4-FFF2-40B4-BE49-F238E27FC236}">
                <a16:creationId xmlns:a16="http://schemas.microsoft.com/office/drawing/2014/main" id="{CC363693-4283-4DE7-98FB-928463F92FEE}"/>
              </a:ext>
            </a:extLst>
          </p:cNvPr>
          <p:cNvSpPr>
            <a:spLocks noGrp="1"/>
          </p:cNvSpPr>
          <p:nvPr>
            <p:ph type="title"/>
          </p:nvPr>
        </p:nvSpPr>
        <p:spPr/>
        <p:txBody>
          <a:bodyPr/>
          <a:lstStyle/>
          <a:p>
            <a:r>
              <a:rPr lang="en-US" altLang="zh-CN" dirty="0"/>
              <a:t>When We Can Measure NDE and NIE</a:t>
            </a:r>
            <a:endParaRPr lang="zh-CN" altLang="en-US" dirty="0"/>
          </a:p>
        </p:txBody>
      </p:sp>
      <p:sp>
        <p:nvSpPr>
          <p:cNvPr id="5" name="日期占位符 4">
            <a:extLst>
              <a:ext uri="{FF2B5EF4-FFF2-40B4-BE49-F238E27FC236}">
                <a16:creationId xmlns:a16="http://schemas.microsoft.com/office/drawing/2014/main" id="{746D9BCF-D486-42CE-B829-01E6737F1022}"/>
              </a:ext>
            </a:extLst>
          </p:cNvPr>
          <p:cNvSpPr>
            <a:spLocks noGrp="1"/>
          </p:cNvSpPr>
          <p:nvPr>
            <p:ph type="dt" sz="half" idx="12"/>
          </p:nvPr>
        </p:nvSpPr>
        <p:spPr/>
        <p:txBody>
          <a:bodyPr/>
          <a:lstStyle/>
          <a:p>
            <a:fld id="{63ADDE33-C9F1-F94F-A20E-DA422DA466DF}" type="datetime1">
              <a:rPr lang="en-US" smtClean="0"/>
              <a:t>9/2/2022</a:t>
            </a:fld>
            <a:endParaRPr lang="en-US" dirty="0"/>
          </a:p>
        </p:txBody>
      </p:sp>
    </p:spTree>
    <p:extLst>
      <p:ext uri="{BB962C8B-B14F-4D97-AF65-F5344CB8AC3E}">
        <p14:creationId xmlns:p14="http://schemas.microsoft.com/office/powerpoint/2010/main" val="5508220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18C76333-D98C-4F4F-B5DC-172EC44340CC}"/>
                  </a:ext>
                </a:extLst>
              </p:cNvPr>
              <p:cNvSpPr>
                <a:spLocks noGrp="1"/>
              </p:cNvSpPr>
              <p:nvPr>
                <p:ph idx="1"/>
              </p:nvPr>
            </p:nvSpPr>
            <p:spPr/>
            <p:txBody>
              <a:bodyPr>
                <a:normAutofit/>
              </a:bodyPr>
              <a:lstStyle/>
              <a:p>
                <a:r>
                  <a:rPr lang="en-US" altLang="zh-CN" sz="1600" dirty="0"/>
                  <a:t>Adjustment set </a:t>
                </a:r>
                <a14:m>
                  <m:oMath xmlns:m="http://schemas.openxmlformats.org/officeDocument/2006/math">
                    <m:r>
                      <a:rPr lang="en-US" altLang="zh-CN" sz="1600" b="0" i="1" smtClean="0">
                        <a:latin typeface="Cambria Math" panose="02040503050406030204" pitchFamily="18" charset="0"/>
                      </a:rPr>
                      <m:t>𝑊</m:t>
                    </m:r>
                  </m:oMath>
                </a14:m>
                <a:endParaRPr lang="en-US" altLang="zh-CN" sz="1600" dirty="0"/>
              </a:p>
              <a:p>
                <a:r>
                  <a:rPr lang="en-US" altLang="zh-CN" sz="1600" dirty="0"/>
                  <a:t>Sufficient conditions for identifying NDE:</a:t>
                </a:r>
              </a:p>
              <a:p>
                <a:pPr marL="434340" indent="-342900">
                  <a:buClr>
                    <a:schemeClr val="tx1"/>
                  </a:buClr>
                  <a:buFont typeface="Arial" panose="020B0604020202020204" pitchFamily="34" charset="0"/>
                  <a:buChar char="•"/>
                </a:pPr>
                <a:r>
                  <a:rPr lang="en-US" altLang="zh-CN" sz="1600" dirty="0"/>
                  <a:t>No member of </a:t>
                </a:r>
                <a14:m>
                  <m:oMath xmlns:m="http://schemas.openxmlformats.org/officeDocument/2006/math">
                    <m:r>
                      <a:rPr lang="en-US" altLang="zh-CN" sz="1600" i="1">
                        <a:latin typeface="Cambria Math" panose="02040503050406030204" pitchFamily="18" charset="0"/>
                      </a:rPr>
                      <m:t>𝑊</m:t>
                    </m:r>
                  </m:oMath>
                </a14:m>
                <a:r>
                  <a:rPr lang="en-US" altLang="zh-CN" sz="1600" dirty="0"/>
                  <a:t> is a descendant of T</a:t>
                </a:r>
              </a:p>
              <a:p>
                <a:pPr marL="434340" indent="-342900">
                  <a:buClr>
                    <a:schemeClr val="tx1"/>
                  </a:buClr>
                  <a:buFont typeface="Arial" panose="020B0604020202020204" pitchFamily="34" charset="0"/>
                  <a:buChar char="•"/>
                </a:pPr>
                <a14:m>
                  <m:oMath xmlns:m="http://schemas.openxmlformats.org/officeDocument/2006/math">
                    <m:r>
                      <a:rPr lang="en-US" altLang="zh-CN" sz="1600" i="1">
                        <a:latin typeface="Cambria Math" panose="02040503050406030204" pitchFamily="18" charset="0"/>
                      </a:rPr>
                      <m:t>𝑊</m:t>
                    </m:r>
                  </m:oMath>
                </a14:m>
                <a:r>
                  <a:rPr lang="zh-CN" altLang="en-US" sz="1600" dirty="0"/>
                  <a:t> </a:t>
                </a:r>
                <a:r>
                  <a:rPr lang="en-US" altLang="zh-CN" sz="1600" dirty="0"/>
                  <a:t>blocks all backdoor paths from M to Y</a:t>
                </a:r>
              </a:p>
              <a:p>
                <a:pPr marL="434340" indent="-342900">
                  <a:buClr>
                    <a:schemeClr val="tx1"/>
                  </a:buClr>
                  <a:buFont typeface="Arial" panose="020B0604020202020204" pitchFamily="34" charset="0"/>
                  <a:buChar char="•"/>
                </a:pPr>
                <a14:m>
                  <m:oMath xmlns:m="http://schemas.openxmlformats.org/officeDocument/2006/math">
                    <m:r>
                      <a:rPr lang="en-US" altLang="zh-CN" sz="1600" i="1">
                        <a:latin typeface="Cambria Math" panose="02040503050406030204" pitchFamily="18" charset="0"/>
                        <a:ea typeface="Cambria Math" panose="02040503050406030204" pitchFamily="18" charset="0"/>
                      </a:rPr>
                      <m:t>𝑃</m:t>
                    </m:r>
                    <m:d>
                      <m:dPr>
                        <m:ctrlPr>
                          <a:rPr lang="en-US" altLang="zh-CN" sz="1600" i="1">
                            <a:latin typeface="Cambria Math" panose="02040503050406030204" pitchFamily="18" charset="0"/>
                            <a:ea typeface="Cambria Math" panose="02040503050406030204" pitchFamily="18" charset="0"/>
                          </a:rPr>
                        </m:ctrlPr>
                      </m:dPr>
                      <m:e>
                        <m:r>
                          <a:rPr lang="en-US" altLang="zh-CN" sz="1600" i="1">
                            <a:latin typeface="Cambria Math" panose="02040503050406030204" pitchFamily="18" charset="0"/>
                            <a:ea typeface="Cambria Math" panose="02040503050406030204" pitchFamily="18" charset="0"/>
                          </a:rPr>
                          <m:t>𝑀</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𝑚</m:t>
                        </m:r>
                      </m:e>
                      <m:e>
                        <m:r>
                          <a:rPr lang="en-US" altLang="zh-CN" sz="1600" i="1">
                            <a:latin typeface="Cambria Math" panose="02040503050406030204" pitchFamily="18" charset="0"/>
                            <a:ea typeface="Cambria Math" panose="02040503050406030204" pitchFamily="18" charset="0"/>
                          </a:rPr>
                          <m:t>𝑑𝑜</m:t>
                        </m:r>
                        <m:d>
                          <m:dPr>
                            <m:ctrlPr>
                              <a:rPr lang="en-US" altLang="zh-CN" sz="1600" i="1">
                                <a:latin typeface="Cambria Math" panose="02040503050406030204" pitchFamily="18" charset="0"/>
                                <a:ea typeface="Cambria Math" panose="02040503050406030204" pitchFamily="18" charset="0"/>
                              </a:rPr>
                            </m:ctrlPr>
                          </m:dPr>
                          <m:e>
                            <m:r>
                              <a:rPr lang="en-US" altLang="zh-CN" sz="1600" i="1">
                                <a:latin typeface="Cambria Math" panose="02040503050406030204" pitchFamily="18" charset="0"/>
                                <a:ea typeface="Cambria Math" panose="02040503050406030204" pitchFamily="18" charset="0"/>
                              </a:rPr>
                              <m:t>𝑇</m:t>
                            </m:r>
                            <m:r>
                              <a:rPr lang="en-US" altLang="zh-CN" sz="1600" i="1">
                                <a:latin typeface="Cambria Math" panose="02040503050406030204" pitchFamily="18" charset="0"/>
                                <a:ea typeface="Cambria Math" panose="02040503050406030204" pitchFamily="18" charset="0"/>
                              </a:rPr>
                              <m:t>=0</m:t>
                            </m:r>
                          </m:e>
                        </m:d>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𝑊</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𝑤</m:t>
                        </m:r>
                      </m:e>
                    </m:d>
                  </m:oMath>
                </a14:m>
                <a:r>
                  <a:rPr lang="en-US" altLang="zh-CN" sz="1600" dirty="0"/>
                  <a:t> is identifiable (e.g. no </a:t>
                </a:r>
                <a:r>
                  <a:rPr lang="en-US" altLang="zh-CN" sz="1600" dirty="0" err="1"/>
                  <a:t>unblockable</a:t>
                </a:r>
                <a:r>
                  <a:rPr lang="en-US" altLang="zh-CN" sz="1600" dirty="0"/>
                  <a:t> backdoor paths from T to M)</a:t>
                </a:r>
              </a:p>
              <a:p>
                <a:pPr marL="434340" indent="-342900">
                  <a:buClr>
                    <a:schemeClr val="tx1"/>
                  </a:buClr>
                  <a:buFont typeface="Arial" panose="020B0604020202020204" pitchFamily="34" charset="0"/>
                  <a:buChar char="•"/>
                </a:pPr>
                <a14:m>
                  <m:oMath xmlns:m="http://schemas.openxmlformats.org/officeDocument/2006/math">
                    <m:r>
                      <a:rPr lang="en-US" altLang="zh-CN" sz="1600" i="1">
                        <a:latin typeface="Cambria Math" panose="02040503050406030204" pitchFamily="18" charset="0"/>
                      </a:rPr>
                      <m:t>𝐸</m:t>
                    </m:r>
                    <m:d>
                      <m:dPr>
                        <m:begChr m:val="["/>
                        <m:endChr m:val="|"/>
                        <m:ctrlPr>
                          <a:rPr lang="en-US" altLang="zh-CN" sz="1600" i="1">
                            <a:latin typeface="Cambria Math" panose="02040503050406030204" pitchFamily="18" charset="0"/>
                          </a:rPr>
                        </m:ctrlPr>
                      </m:dPr>
                      <m:e>
                        <m:r>
                          <a:rPr lang="en-US" altLang="zh-CN" sz="1600" i="1">
                            <a:latin typeface="Cambria Math" panose="02040503050406030204" pitchFamily="18" charset="0"/>
                          </a:rPr>
                          <m:t>𝑌</m:t>
                        </m:r>
                        <m:r>
                          <a:rPr lang="en-US" altLang="zh-CN" sz="1600" i="1">
                            <a:latin typeface="Cambria Math" panose="02040503050406030204" pitchFamily="18" charset="0"/>
                          </a:rPr>
                          <m:t> </m:t>
                        </m:r>
                      </m:e>
                    </m:d>
                    <m:r>
                      <a:rPr lang="en-US" altLang="zh-CN" sz="1600" i="1">
                        <a:latin typeface="Cambria Math" panose="02040503050406030204" pitchFamily="18" charset="0"/>
                      </a:rPr>
                      <m:t> </m:t>
                    </m:r>
                    <m:r>
                      <a:rPr lang="en-US" altLang="zh-CN" sz="1600" i="1">
                        <a:latin typeface="Cambria Math" panose="02040503050406030204" pitchFamily="18" charset="0"/>
                      </a:rPr>
                      <m:t>𝑑𝑜</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𝑇</m:t>
                        </m:r>
                        <m:r>
                          <a:rPr lang="en-US" altLang="zh-CN" sz="1600" i="1">
                            <a:latin typeface="Cambria Math" panose="02040503050406030204" pitchFamily="18" charset="0"/>
                          </a:rPr>
                          <m:t>=1,</m:t>
                        </m:r>
                        <m:r>
                          <a:rPr lang="en-US" altLang="zh-CN" sz="1600" i="1">
                            <a:latin typeface="Cambria Math" panose="02040503050406030204" pitchFamily="18" charset="0"/>
                          </a:rPr>
                          <m:t>𝑀</m:t>
                        </m:r>
                        <m:r>
                          <a:rPr lang="en-US" altLang="zh-CN" sz="1600" i="1">
                            <a:latin typeface="Cambria Math" panose="02040503050406030204" pitchFamily="18" charset="0"/>
                          </a:rPr>
                          <m:t>=</m:t>
                        </m:r>
                        <m:r>
                          <a:rPr lang="en-US" altLang="zh-CN" sz="1600" i="1">
                            <a:latin typeface="Cambria Math" panose="02040503050406030204" pitchFamily="18" charset="0"/>
                          </a:rPr>
                          <m:t>𝑚</m:t>
                        </m:r>
                      </m:e>
                    </m:d>
                    <m:r>
                      <a:rPr lang="en-US" altLang="zh-CN" sz="1600" i="1">
                        <a:latin typeface="Cambria Math" panose="02040503050406030204" pitchFamily="18" charset="0"/>
                      </a:rPr>
                      <m:t>,</m:t>
                    </m:r>
                    <m:r>
                      <a:rPr lang="en-US" altLang="zh-CN" sz="1600" i="1">
                        <a:latin typeface="Cambria Math" panose="02040503050406030204" pitchFamily="18" charset="0"/>
                      </a:rPr>
                      <m:t>𝑊</m:t>
                    </m:r>
                    <m:r>
                      <a:rPr lang="en-US" altLang="zh-CN" sz="1600" i="1">
                        <a:latin typeface="Cambria Math" panose="02040503050406030204" pitchFamily="18" charset="0"/>
                      </a:rPr>
                      <m:t>=</m:t>
                    </m:r>
                    <m:r>
                      <a:rPr lang="en-US" altLang="zh-CN" sz="1600" b="0" i="1" smtClean="0">
                        <a:latin typeface="Cambria Math" panose="02040503050406030204" pitchFamily="18" charset="0"/>
                      </a:rPr>
                      <m:t>𝑤</m:t>
                    </m:r>
                    <m:r>
                      <a:rPr lang="en-US" altLang="zh-CN" sz="1600" b="0" i="1" smtClean="0">
                        <a:latin typeface="Cambria Math" panose="02040503050406030204" pitchFamily="18" charset="0"/>
                      </a:rPr>
                      <m:t>]</m:t>
                    </m:r>
                  </m:oMath>
                </a14:m>
                <a:r>
                  <a:rPr lang="en-US" altLang="zh-CN" sz="1600" dirty="0"/>
                  <a:t> is identifiable (e.g. no </a:t>
                </a:r>
                <a:r>
                  <a:rPr lang="en-US" altLang="zh-CN" sz="1600" dirty="0" err="1"/>
                  <a:t>unblockable</a:t>
                </a:r>
                <a:r>
                  <a:rPr lang="en-US" altLang="zh-CN" sz="1600" dirty="0"/>
                  <a:t> backdoor paths from T to Y)</a:t>
                </a:r>
              </a:p>
              <a:p>
                <a:pPr>
                  <a:buClr>
                    <a:schemeClr val="tx1"/>
                  </a:buClr>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𝑁𝐷𝐸</m:t>
                      </m:r>
                      <m:r>
                        <a:rPr lang="en-US" altLang="zh-CN" sz="1600" b="0" i="1" smtClean="0">
                          <a:latin typeface="Cambria Math" panose="02040503050406030204" pitchFamily="18" charset="0"/>
                        </a:rPr>
                        <m:t>=</m:t>
                      </m:r>
                      <m:nary>
                        <m:naryPr>
                          <m:chr m:val="∑"/>
                          <m:supHide m:val="on"/>
                          <m:ctrlPr>
                            <a:rPr lang="en-US" altLang="zh-CN" sz="1600" b="0" i="1" smtClean="0">
                              <a:latin typeface="Cambria Math" panose="02040503050406030204" pitchFamily="18" charset="0"/>
                            </a:rPr>
                          </m:ctrlPr>
                        </m:naryPr>
                        <m:sub>
                          <m:r>
                            <m:rPr>
                              <m:brk m:alnAt="7"/>
                            </m:rPr>
                            <a:rPr lang="en-US" altLang="zh-CN" sz="1600" b="0" i="1" smtClean="0">
                              <a:latin typeface="Cambria Math" panose="02040503050406030204" pitchFamily="18" charset="0"/>
                            </a:rPr>
                            <m:t>𝑚</m:t>
                          </m:r>
                        </m:sub>
                        <m:sup/>
                        <m:e>
                          <m:nary>
                            <m:naryPr>
                              <m:chr m:val="∑"/>
                              <m:supHide m:val="on"/>
                              <m:ctrlPr>
                                <a:rPr lang="en-US" altLang="zh-CN" sz="1600" b="0" i="1" smtClean="0">
                                  <a:latin typeface="Cambria Math" panose="02040503050406030204" pitchFamily="18" charset="0"/>
                                </a:rPr>
                              </m:ctrlPr>
                            </m:naryPr>
                            <m:sub>
                              <m:r>
                                <m:rPr>
                                  <m:brk m:alnAt="7"/>
                                </m:rPr>
                                <a:rPr lang="en-US" altLang="zh-CN" sz="1600" b="0" i="1" smtClean="0">
                                  <a:latin typeface="Cambria Math" panose="02040503050406030204" pitchFamily="18" charset="0"/>
                                </a:rPr>
                                <m:t>𝑤</m:t>
                              </m:r>
                            </m:sub>
                            <m:sup/>
                            <m:e>
                              <m:d>
                                <m:dPr>
                                  <m:end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𝐸</m:t>
                                  </m:r>
                                  <m:d>
                                    <m:dPr>
                                      <m:begChr m:val="["/>
                                      <m:end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𝑌</m:t>
                                      </m:r>
                                      <m:r>
                                        <a:rPr lang="en-US" altLang="zh-CN" sz="1600" b="0" i="1" smtClean="0">
                                          <a:latin typeface="Cambria Math" panose="02040503050406030204" pitchFamily="18" charset="0"/>
                                        </a:rPr>
                                        <m:t> </m:t>
                                      </m:r>
                                    </m:e>
                                  </m:d>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𝑑𝑜</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𝑀</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𝑚</m:t>
                                      </m:r>
                                    </m:e>
                                  </m:d>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𝑊</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𝑤</m:t>
                                  </m:r>
                                </m:e>
                              </m:d>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𝐸</m:t>
                              </m:r>
                              <m:d>
                                <m:dPr>
                                  <m:begChr m:val="["/>
                                  <m:end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𝑌</m:t>
                                  </m:r>
                                  <m:r>
                                    <a:rPr lang="en-US" altLang="zh-CN" sz="1600" b="0" i="1" smtClean="0">
                                      <a:latin typeface="Cambria Math" panose="02040503050406030204" pitchFamily="18" charset="0"/>
                                    </a:rPr>
                                    <m:t> </m:t>
                                  </m:r>
                                </m:e>
                              </m:d>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𝑑𝑜</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=0,</m:t>
                                  </m:r>
                                  <m:r>
                                    <a:rPr lang="en-US" altLang="zh-CN" sz="1600" b="0" i="1" smtClean="0">
                                      <a:latin typeface="Cambria Math" panose="02040503050406030204" pitchFamily="18" charset="0"/>
                                    </a:rPr>
                                    <m:t>𝑀</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𝑚</m:t>
                                  </m:r>
                                </m:e>
                              </m:d>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𝑊</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𝑤</m:t>
                              </m:r>
                              <m:r>
                                <a:rPr lang="en-US" altLang="zh-CN" sz="1600" b="0" i="1" smtClean="0">
                                  <a:latin typeface="Cambria Math" panose="02040503050406030204" pitchFamily="18" charset="0"/>
                                </a:rPr>
                                <m:t>])</m:t>
                              </m:r>
                            </m:e>
                          </m:nary>
                        </m:e>
                      </m:nary>
                    </m:oMath>
                  </m:oMathPara>
                </a14:m>
                <a:endParaRPr lang="en-US" altLang="zh-CN" sz="1600" b="0" dirty="0"/>
              </a:p>
              <a:p>
                <a:pPr>
                  <a:buClr>
                    <a:schemeClr val="tx1"/>
                  </a:buClr>
                </a:pPr>
                <a:r>
                  <a:rPr lang="en-US" altLang="zh-CN" sz="1600" dirty="0"/>
                  <a:t>		</a:t>
                </a:r>
                <a14:m>
                  <m:oMath xmlns:m="http://schemas.openxmlformats.org/officeDocument/2006/math">
                    <m:r>
                      <a:rPr lang="en-US" altLang="zh-CN" sz="160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𝑃</m:t>
                    </m:r>
                    <m:d>
                      <m:dPr>
                        <m:ctrlPr>
                          <a:rPr lang="en-US" altLang="zh-CN" sz="1600" b="0" i="1" smtClean="0">
                            <a:latin typeface="Cambria Math" panose="02040503050406030204" pitchFamily="18" charset="0"/>
                            <a:ea typeface="Cambria Math" panose="02040503050406030204" pitchFamily="18" charset="0"/>
                          </a:rPr>
                        </m:ctrlPr>
                      </m:dPr>
                      <m:e>
                        <m:r>
                          <a:rPr lang="en-US" altLang="zh-CN" sz="1600" b="0" i="1" smtClean="0">
                            <a:latin typeface="Cambria Math" panose="02040503050406030204" pitchFamily="18" charset="0"/>
                            <a:ea typeface="Cambria Math" panose="02040503050406030204" pitchFamily="18" charset="0"/>
                          </a:rPr>
                          <m:t>𝑀</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𝑚</m:t>
                        </m:r>
                      </m:e>
                      <m:e>
                        <m:r>
                          <a:rPr lang="en-US" altLang="zh-CN" sz="1600" b="0" i="1" smtClean="0">
                            <a:latin typeface="Cambria Math" panose="02040503050406030204" pitchFamily="18" charset="0"/>
                            <a:ea typeface="Cambria Math" panose="02040503050406030204" pitchFamily="18" charset="0"/>
                          </a:rPr>
                          <m:t>𝑑𝑜</m:t>
                        </m:r>
                        <m:d>
                          <m:dPr>
                            <m:ctrlPr>
                              <a:rPr lang="en-US" altLang="zh-CN" sz="1600" b="0" i="1" smtClean="0">
                                <a:latin typeface="Cambria Math" panose="02040503050406030204" pitchFamily="18" charset="0"/>
                                <a:ea typeface="Cambria Math" panose="02040503050406030204" pitchFamily="18" charset="0"/>
                              </a:rPr>
                            </m:ctrlPr>
                          </m:dPr>
                          <m:e>
                            <m:r>
                              <a:rPr lang="en-US" altLang="zh-CN" sz="1600" b="0" i="1" smtClean="0">
                                <a:latin typeface="Cambria Math" panose="02040503050406030204" pitchFamily="18" charset="0"/>
                                <a:ea typeface="Cambria Math" panose="02040503050406030204" pitchFamily="18" charset="0"/>
                              </a:rPr>
                              <m:t>𝑇</m:t>
                            </m:r>
                            <m:r>
                              <a:rPr lang="en-US" altLang="zh-CN" sz="1600" b="0" i="1" smtClean="0">
                                <a:latin typeface="Cambria Math" panose="02040503050406030204" pitchFamily="18" charset="0"/>
                                <a:ea typeface="Cambria Math" panose="02040503050406030204" pitchFamily="18" charset="0"/>
                              </a:rPr>
                              <m:t>=0</m:t>
                            </m:r>
                          </m:e>
                        </m:d>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𝑊</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𝑤</m:t>
                        </m:r>
                      </m:e>
                    </m:d>
                    <m:r>
                      <a:rPr lang="en-US" altLang="zh-CN" sz="1600" b="0" i="1" smtClean="0">
                        <a:latin typeface="Cambria Math" panose="02040503050406030204" pitchFamily="18" charset="0"/>
                        <a:ea typeface="Cambria Math" panose="02040503050406030204" pitchFamily="18" charset="0"/>
                      </a:rPr>
                      <m:t>𝑃</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𝑊</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𝑤</m:t>
                    </m:r>
                    <m:r>
                      <a:rPr lang="en-US" altLang="zh-CN" sz="1600" b="0" i="1" smtClean="0">
                        <a:latin typeface="Cambria Math" panose="02040503050406030204" pitchFamily="18" charset="0"/>
                        <a:ea typeface="Cambria Math" panose="02040503050406030204" pitchFamily="18" charset="0"/>
                      </a:rPr>
                      <m:t>)</m:t>
                    </m:r>
                  </m:oMath>
                </a14:m>
                <a:endParaRPr lang="en-US" altLang="zh-CN" sz="1600" dirty="0"/>
              </a:p>
              <a:p>
                <a:pPr>
                  <a:buClr>
                    <a:schemeClr val="tx1"/>
                  </a:buClr>
                </a:pPr>
                <a:r>
                  <a:rPr lang="en-US" altLang="zh-CN" sz="1600" dirty="0"/>
                  <a:t>	</a:t>
                </a:r>
              </a:p>
              <a:p>
                <a:pPr>
                  <a:buClr>
                    <a:schemeClr val="tx1"/>
                  </a:buClr>
                </a:pPr>
                <a:endParaRPr lang="en-US" altLang="zh-CN" sz="1600" dirty="0"/>
              </a:p>
            </p:txBody>
          </p:sp>
        </mc:Choice>
        <mc:Fallback>
          <p:sp>
            <p:nvSpPr>
              <p:cNvPr id="2" name="内容占位符 1">
                <a:extLst>
                  <a:ext uri="{FF2B5EF4-FFF2-40B4-BE49-F238E27FC236}">
                    <a16:creationId xmlns:a16="http://schemas.microsoft.com/office/drawing/2014/main" id="{18C76333-D98C-4F4F-B5DC-172EC44340CC}"/>
                  </a:ext>
                </a:extLst>
              </p:cNvPr>
              <p:cNvSpPr>
                <a:spLocks noGrp="1" noRot="1" noChangeAspect="1" noMove="1" noResize="1" noEditPoints="1" noAdjustHandles="1" noChangeArrowheads="1" noChangeShapeType="1" noTextEdit="1"/>
              </p:cNvSpPr>
              <p:nvPr>
                <p:ph idx="1"/>
              </p:nvPr>
            </p:nvSpPr>
            <p:spPr>
              <a:blipFill>
                <a:blip r:embed="rId2"/>
                <a:stretch>
                  <a:fillRect r="-433"/>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23AC9D83-192E-40AD-BAF7-0D18D5C4193E}"/>
              </a:ext>
            </a:extLst>
          </p:cNvPr>
          <p:cNvSpPr>
            <a:spLocks noGrp="1"/>
          </p:cNvSpPr>
          <p:nvPr>
            <p:ph type="sldNum" sz="quarter" idx="11"/>
          </p:nvPr>
        </p:nvSpPr>
        <p:spPr/>
        <p:txBody>
          <a:bodyPr/>
          <a:lstStyle/>
          <a:p>
            <a:fld id="{2AEAD966-1EF9-3A44-9B11-0C8090371A9A}" type="slidenum">
              <a:rPr lang="en-US" smtClean="0"/>
              <a:t>55</a:t>
            </a:fld>
            <a:endParaRPr lang="en-US"/>
          </a:p>
        </p:txBody>
      </p:sp>
      <p:sp>
        <p:nvSpPr>
          <p:cNvPr id="4" name="标题 3">
            <a:extLst>
              <a:ext uri="{FF2B5EF4-FFF2-40B4-BE49-F238E27FC236}">
                <a16:creationId xmlns:a16="http://schemas.microsoft.com/office/drawing/2014/main" id="{CC363693-4283-4DE7-98FB-928463F92FEE}"/>
              </a:ext>
            </a:extLst>
          </p:cNvPr>
          <p:cNvSpPr>
            <a:spLocks noGrp="1"/>
          </p:cNvSpPr>
          <p:nvPr>
            <p:ph type="title"/>
          </p:nvPr>
        </p:nvSpPr>
        <p:spPr/>
        <p:txBody>
          <a:bodyPr/>
          <a:lstStyle/>
          <a:p>
            <a:r>
              <a:rPr lang="en-US" altLang="zh-CN" dirty="0"/>
              <a:t>When We Can Measure NDE and NIE</a:t>
            </a:r>
            <a:endParaRPr lang="zh-CN" altLang="en-US" dirty="0"/>
          </a:p>
        </p:txBody>
      </p:sp>
      <p:sp>
        <p:nvSpPr>
          <p:cNvPr id="5" name="日期占位符 4">
            <a:extLst>
              <a:ext uri="{FF2B5EF4-FFF2-40B4-BE49-F238E27FC236}">
                <a16:creationId xmlns:a16="http://schemas.microsoft.com/office/drawing/2014/main" id="{746D9BCF-D486-42CE-B829-01E6737F1022}"/>
              </a:ext>
            </a:extLst>
          </p:cNvPr>
          <p:cNvSpPr>
            <a:spLocks noGrp="1"/>
          </p:cNvSpPr>
          <p:nvPr>
            <p:ph type="dt" sz="half" idx="12"/>
          </p:nvPr>
        </p:nvSpPr>
        <p:spPr/>
        <p:txBody>
          <a:bodyPr/>
          <a:lstStyle/>
          <a:p>
            <a:fld id="{63ADDE33-C9F1-F94F-A20E-DA422DA466DF}" type="datetime1">
              <a:rPr lang="en-US" smtClean="0"/>
              <a:t>9/2/2022</a:t>
            </a:fld>
            <a:endParaRPr lang="en-US" dirty="0"/>
          </a:p>
        </p:txBody>
      </p:sp>
    </p:spTree>
    <p:extLst>
      <p:ext uri="{BB962C8B-B14F-4D97-AF65-F5344CB8AC3E}">
        <p14:creationId xmlns:p14="http://schemas.microsoft.com/office/powerpoint/2010/main" val="14517281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18C76333-D98C-4F4F-B5DC-172EC44340CC}"/>
                  </a:ext>
                </a:extLst>
              </p:cNvPr>
              <p:cNvSpPr>
                <a:spLocks noGrp="1"/>
              </p:cNvSpPr>
              <p:nvPr>
                <p:ph idx="1"/>
              </p:nvPr>
            </p:nvSpPr>
            <p:spPr/>
            <p:txBody>
              <a:bodyPr>
                <a:normAutofit/>
              </a:bodyPr>
              <a:lstStyle/>
              <a:p>
                <a:r>
                  <a:rPr lang="en-US" altLang="zh-CN" sz="1600" dirty="0"/>
                  <a:t>Adjustment set </a:t>
                </a:r>
                <a14:m>
                  <m:oMath xmlns:m="http://schemas.openxmlformats.org/officeDocument/2006/math">
                    <m:r>
                      <a:rPr lang="en-US" altLang="zh-CN" sz="1600" b="0" i="1" smtClean="0">
                        <a:latin typeface="Cambria Math" panose="02040503050406030204" pitchFamily="18" charset="0"/>
                      </a:rPr>
                      <m:t>𝑊</m:t>
                    </m:r>
                  </m:oMath>
                </a14:m>
                <a:endParaRPr lang="en-US" altLang="zh-CN" sz="1600" dirty="0"/>
              </a:p>
              <a:p>
                <a:r>
                  <a:rPr lang="en-US" altLang="zh-CN" sz="1600" dirty="0"/>
                  <a:t>Sufficient conditions for identifying NDE:</a:t>
                </a:r>
              </a:p>
              <a:p>
                <a:pPr marL="434340" indent="-342900">
                  <a:buClr>
                    <a:schemeClr val="tx1"/>
                  </a:buClr>
                  <a:buFont typeface="Arial" panose="020B0604020202020204" pitchFamily="34" charset="0"/>
                  <a:buChar char="•"/>
                </a:pPr>
                <a:r>
                  <a:rPr lang="en-US" altLang="zh-CN" sz="1600" dirty="0"/>
                  <a:t>No member of </a:t>
                </a:r>
                <a14:m>
                  <m:oMath xmlns:m="http://schemas.openxmlformats.org/officeDocument/2006/math">
                    <m:r>
                      <a:rPr lang="en-US" altLang="zh-CN" sz="1600" i="1">
                        <a:latin typeface="Cambria Math" panose="02040503050406030204" pitchFamily="18" charset="0"/>
                      </a:rPr>
                      <m:t>𝑊</m:t>
                    </m:r>
                  </m:oMath>
                </a14:m>
                <a:r>
                  <a:rPr lang="en-US" altLang="zh-CN" sz="1600" dirty="0"/>
                  <a:t> is a descendant of T</a:t>
                </a:r>
              </a:p>
              <a:p>
                <a:pPr marL="434340" indent="-342900">
                  <a:buClr>
                    <a:schemeClr val="tx1"/>
                  </a:buClr>
                  <a:buFont typeface="Arial" panose="020B0604020202020204" pitchFamily="34" charset="0"/>
                  <a:buChar char="•"/>
                </a:pPr>
                <a14:m>
                  <m:oMath xmlns:m="http://schemas.openxmlformats.org/officeDocument/2006/math">
                    <m:r>
                      <a:rPr lang="en-US" altLang="zh-CN" sz="1600" i="1">
                        <a:latin typeface="Cambria Math" panose="02040503050406030204" pitchFamily="18" charset="0"/>
                      </a:rPr>
                      <m:t>𝑊</m:t>
                    </m:r>
                  </m:oMath>
                </a14:m>
                <a:r>
                  <a:rPr lang="zh-CN" altLang="en-US" sz="1600" dirty="0"/>
                  <a:t> </a:t>
                </a:r>
                <a:r>
                  <a:rPr lang="en-US" altLang="zh-CN" sz="1600" dirty="0"/>
                  <a:t>blocks all backdoor paths from M to Y</a:t>
                </a:r>
              </a:p>
              <a:p>
                <a:pPr marL="434340" indent="-342900">
                  <a:buClr>
                    <a:schemeClr val="tx1"/>
                  </a:buClr>
                  <a:buFont typeface="Arial" panose="020B0604020202020204" pitchFamily="34" charset="0"/>
                  <a:buChar char="•"/>
                </a:pPr>
                <a14:m>
                  <m:oMath xmlns:m="http://schemas.openxmlformats.org/officeDocument/2006/math">
                    <m:r>
                      <a:rPr lang="en-US" altLang="zh-CN" sz="1600" i="1">
                        <a:latin typeface="Cambria Math" panose="02040503050406030204" pitchFamily="18" charset="0"/>
                        <a:ea typeface="Cambria Math" panose="02040503050406030204" pitchFamily="18" charset="0"/>
                      </a:rPr>
                      <m:t>𝑃</m:t>
                    </m:r>
                    <m:d>
                      <m:dPr>
                        <m:ctrlPr>
                          <a:rPr lang="en-US" altLang="zh-CN" sz="1600" i="1">
                            <a:latin typeface="Cambria Math" panose="02040503050406030204" pitchFamily="18" charset="0"/>
                            <a:ea typeface="Cambria Math" panose="02040503050406030204" pitchFamily="18" charset="0"/>
                          </a:rPr>
                        </m:ctrlPr>
                      </m:dPr>
                      <m:e>
                        <m:r>
                          <a:rPr lang="en-US" altLang="zh-CN" sz="1600" i="1">
                            <a:latin typeface="Cambria Math" panose="02040503050406030204" pitchFamily="18" charset="0"/>
                            <a:ea typeface="Cambria Math" panose="02040503050406030204" pitchFamily="18" charset="0"/>
                          </a:rPr>
                          <m:t>𝑀</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𝑚</m:t>
                        </m:r>
                      </m:e>
                      <m:e>
                        <m:r>
                          <a:rPr lang="en-US" altLang="zh-CN" sz="1600" i="1">
                            <a:latin typeface="Cambria Math" panose="02040503050406030204" pitchFamily="18" charset="0"/>
                            <a:ea typeface="Cambria Math" panose="02040503050406030204" pitchFamily="18" charset="0"/>
                          </a:rPr>
                          <m:t>𝑑𝑜</m:t>
                        </m:r>
                        <m:d>
                          <m:dPr>
                            <m:ctrlPr>
                              <a:rPr lang="en-US" altLang="zh-CN" sz="1600" i="1">
                                <a:latin typeface="Cambria Math" panose="02040503050406030204" pitchFamily="18" charset="0"/>
                                <a:ea typeface="Cambria Math" panose="02040503050406030204" pitchFamily="18" charset="0"/>
                              </a:rPr>
                            </m:ctrlPr>
                          </m:dPr>
                          <m:e>
                            <m:r>
                              <a:rPr lang="en-US" altLang="zh-CN" sz="1600" i="1">
                                <a:latin typeface="Cambria Math" panose="02040503050406030204" pitchFamily="18" charset="0"/>
                                <a:ea typeface="Cambria Math" panose="02040503050406030204" pitchFamily="18" charset="0"/>
                              </a:rPr>
                              <m:t>𝑇</m:t>
                            </m:r>
                            <m:r>
                              <a:rPr lang="en-US" altLang="zh-CN" sz="1600" i="1">
                                <a:latin typeface="Cambria Math" panose="02040503050406030204" pitchFamily="18" charset="0"/>
                                <a:ea typeface="Cambria Math" panose="02040503050406030204" pitchFamily="18" charset="0"/>
                              </a:rPr>
                              <m:t>=0</m:t>
                            </m:r>
                          </m:e>
                        </m:d>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𝑊</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𝑤</m:t>
                        </m:r>
                      </m:e>
                    </m:d>
                  </m:oMath>
                </a14:m>
                <a:r>
                  <a:rPr lang="en-US" altLang="zh-CN" sz="1600" dirty="0"/>
                  <a:t> is identifiable (e.g. no </a:t>
                </a:r>
                <a:r>
                  <a:rPr lang="en-US" altLang="zh-CN" sz="1600" dirty="0" err="1"/>
                  <a:t>unblockable</a:t>
                </a:r>
                <a:r>
                  <a:rPr lang="en-US" altLang="zh-CN" sz="1600" dirty="0"/>
                  <a:t> backdoor paths from T to M)</a:t>
                </a:r>
              </a:p>
              <a:p>
                <a:pPr marL="434340" indent="-342900">
                  <a:buClr>
                    <a:schemeClr val="tx1"/>
                  </a:buClr>
                  <a:buFont typeface="Arial" panose="020B0604020202020204" pitchFamily="34" charset="0"/>
                  <a:buChar char="•"/>
                </a:pPr>
                <a14:m>
                  <m:oMath xmlns:m="http://schemas.openxmlformats.org/officeDocument/2006/math">
                    <m:r>
                      <a:rPr lang="en-US" altLang="zh-CN" sz="1600" i="1">
                        <a:latin typeface="Cambria Math" panose="02040503050406030204" pitchFamily="18" charset="0"/>
                      </a:rPr>
                      <m:t>𝐸</m:t>
                    </m:r>
                    <m:d>
                      <m:dPr>
                        <m:begChr m:val="["/>
                        <m:endChr m:val="|"/>
                        <m:ctrlPr>
                          <a:rPr lang="en-US" altLang="zh-CN" sz="1600" i="1">
                            <a:latin typeface="Cambria Math" panose="02040503050406030204" pitchFamily="18" charset="0"/>
                          </a:rPr>
                        </m:ctrlPr>
                      </m:dPr>
                      <m:e>
                        <m:r>
                          <a:rPr lang="en-US" altLang="zh-CN" sz="1600" i="1">
                            <a:latin typeface="Cambria Math" panose="02040503050406030204" pitchFamily="18" charset="0"/>
                          </a:rPr>
                          <m:t>𝑌</m:t>
                        </m:r>
                        <m:r>
                          <a:rPr lang="en-US" altLang="zh-CN" sz="1600" i="1">
                            <a:latin typeface="Cambria Math" panose="02040503050406030204" pitchFamily="18" charset="0"/>
                          </a:rPr>
                          <m:t> </m:t>
                        </m:r>
                      </m:e>
                    </m:d>
                    <m:r>
                      <a:rPr lang="en-US" altLang="zh-CN" sz="1600" i="1">
                        <a:latin typeface="Cambria Math" panose="02040503050406030204" pitchFamily="18" charset="0"/>
                      </a:rPr>
                      <m:t> </m:t>
                    </m:r>
                    <m:r>
                      <a:rPr lang="en-US" altLang="zh-CN" sz="1600" i="1">
                        <a:latin typeface="Cambria Math" panose="02040503050406030204" pitchFamily="18" charset="0"/>
                      </a:rPr>
                      <m:t>𝑑𝑜</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𝑇</m:t>
                        </m:r>
                        <m:r>
                          <a:rPr lang="en-US" altLang="zh-CN" sz="1600" i="1">
                            <a:latin typeface="Cambria Math" panose="02040503050406030204" pitchFamily="18" charset="0"/>
                          </a:rPr>
                          <m:t>=1,</m:t>
                        </m:r>
                        <m:r>
                          <a:rPr lang="en-US" altLang="zh-CN" sz="1600" i="1">
                            <a:latin typeface="Cambria Math" panose="02040503050406030204" pitchFamily="18" charset="0"/>
                          </a:rPr>
                          <m:t>𝑀</m:t>
                        </m:r>
                        <m:r>
                          <a:rPr lang="en-US" altLang="zh-CN" sz="1600" i="1">
                            <a:latin typeface="Cambria Math" panose="02040503050406030204" pitchFamily="18" charset="0"/>
                          </a:rPr>
                          <m:t>=</m:t>
                        </m:r>
                        <m:r>
                          <a:rPr lang="en-US" altLang="zh-CN" sz="1600" i="1">
                            <a:latin typeface="Cambria Math" panose="02040503050406030204" pitchFamily="18" charset="0"/>
                          </a:rPr>
                          <m:t>𝑚</m:t>
                        </m:r>
                      </m:e>
                    </m:d>
                    <m:r>
                      <a:rPr lang="en-US" altLang="zh-CN" sz="1600" i="1">
                        <a:latin typeface="Cambria Math" panose="02040503050406030204" pitchFamily="18" charset="0"/>
                      </a:rPr>
                      <m:t>,</m:t>
                    </m:r>
                    <m:r>
                      <a:rPr lang="en-US" altLang="zh-CN" sz="1600" i="1">
                        <a:latin typeface="Cambria Math" panose="02040503050406030204" pitchFamily="18" charset="0"/>
                      </a:rPr>
                      <m:t>𝑊</m:t>
                    </m:r>
                    <m:r>
                      <a:rPr lang="en-US" altLang="zh-CN" sz="1600" i="1">
                        <a:latin typeface="Cambria Math" panose="02040503050406030204" pitchFamily="18" charset="0"/>
                      </a:rPr>
                      <m:t>=</m:t>
                    </m:r>
                    <m:r>
                      <a:rPr lang="en-US" altLang="zh-CN" sz="1600" b="0" i="1" smtClean="0">
                        <a:latin typeface="Cambria Math" panose="02040503050406030204" pitchFamily="18" charset="0"/>
                      </a:rPr>
                      <m:t>𝑤</m:t>
                    </m:r>
                    <m:r>
                      <a:rPr lang="en-US" altLang="zh-CN" sz="1600" b="0" i="1" smtClean="0">
                        <a:latin typeface="Cambria Math" panose="02040503050406030204" pitchFamily="18" charset="0"/>
                      </a:rPr>
                      <m:t>]</m:t>
                    </m:r>
                  </m:oMath>
                </a14:m>
                <a:r>
                  <a:rPr lang="en-US" altLang="zh-CN" sz="1600" dirty="0"/>
                  <a:t> is identifiable (e.g. no </a:t>
                </a:r>
                <a:r>
                  <a:rPr lang="en-US" altLang="zh-CN" sz="1600" dirty="0" err="1"/>
                  <a:t>unblockable</a:t>
                </a:r>
                <a:r>
                  <a:rPr lang="en-US" altLang="zh-CN" sz="1600" dirty="0"/>
                  <a:t> backdoor paths from T to Y)</a:t>
                </a:r>
              </a:p>
              <a:p>
                <a:pPr>
                  <a:buClr>
                    <a:schemeClr val="tx1"/>
                  </a:buClr>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𝑁𝐷𝐸</m:t>
                      </m:r>
                      <m:r>
                        <a:rPr lang="en-US" altLang="zh-CN" sz="1600" b="0" i="1" smtClean="0">
                          <a:latin typeface="Cambria Math" panose="02040503050406030204" pitchFamily="18" charset="0"/>
                        </a:rPr>
                        <m:t>=</m:t>
                      </m:r>
                      <m:nary>
                        <m:naryPr>
                          <m:chr m:val="∑"/>
                          <m:supHide m:val="on"/>
                          <m:ctrlPr>
                            <a:rPr lang="en-US" altLang="zh-CN" sz="1600" b="0" i="1" smtClean="0">
                              <a:latin typeface="Cambria Math" panose="02040503050406030204" pitchFamily="18" charset="0"/>
                            </a:rPr>
                          </m:ctrlPr>
                        </m:naryPr>
                        <m:sub>
                          <m:r>
                            <m:rPr>
                              <m:brk m:alnAt="7"/>
                            </m:rPr>
                            <a:rPr lang="en-US" altLang="zh-CN" sz="1600" b="0" i="1" smtClean="0">
                              <a:latin typeface="Cambria Math" panose="02040503050406030204" pitchFamily="18" charset="0"/>
                            </a:rPr>
                            <m:t>𝑚</m:t>
                          </m:r>
                        </m:sub>
                        <m:sup/>
                        <m:e>
                          <m:nary>
                            <m:naryPr>
                              <m:chr m:val="∑"/>
                              <m:supHide m:val="on"/>
                              <m:ctrlPr>
                                <a:rPr lang="en-US" altLang="zh-CN" sz="1600" b="0" i="1" smtClean="0">
                                  <a:latin typeface="Cambria Math" panose="02040503050406030204" pitchFamily="18" charset="0"/>
                                </a:rPr>
                              </m:ctrlPr>
                            </m:naryPr>
                            <m:sub>
                              <m:r>
                                <m:rPr>
                                  <m:brk m:alnAt="7"/>
                                </m:rPr>
                                <a:rPr lang="en-US" altLang="zh-CN" sz="1600" b="0" i="1" smtClean="0">
                                  <a:latin typeface="Cambria Math" panose="02040503050406030204" pitchFamily="18" charset="0"/>
                                </a:rPr>
                                <m:t>𝑤</m:t>
                              </m:r>
                            </m:sub>
                            <m:sup/>
                            <m:e>
                              <m:d>
                                <m:dPr>
                                  <m:end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𝐸</m:t>
                                  </m:r>
                                  <m:d>
                                    <m:dPr>
                                      <m:begChr m:val="["/>
                                      <m:end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𝑌</m:t>
                                      </m:r>
                                      <m:r>
                                        <a:rPr lang="en-US" altLang="zh-CN" sz="1600" b="0" i="1" smtClean="0">
                                          <a:latin typeface="Cambria Math" panose="02040503050406030204" pitchFamily="18" charset="0"/>
                                        </a:rPr>
                                        <m:t> </m:t>
                                      </m:r>
                                    </m:e>
                                  </m:d>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𝑑𝑜</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𝑀</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𝑚</m:t>
                                      </m:r>
                                    </m:e>
                                  </m:d>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𝑊</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𝑤</m:t>
                                  </m:r>
                                </m:e>
                              </m:d>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𝐸</m:t>
                              </m:r>
                              <m:d>
                                <m:dPr>
                                  <m:begChr m:val="["/>
                                  <m:end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𝑌</m:t>
                                  </m:r>
                                  <m:r>
                                    <a:rPr lang="en-US" altLang="zh-CN" sz="1600" b="0" i="1" smtClean="0">
                                      <a:latin typeface="Cambria Math" panose="02040503050406030204" pitchFamily="18" charset="0"/>
                                    </a:rPr>
                                    <m:t> </m:t>
                                  </m:r>
                                </m:e>
                              </m:d>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𝑑𝑜</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=0,</m:t>
                                  </m:r>
                                  <m:r>
                                    <a:rPr lang="en-US" altLang="zh-CN" sz="1600" b="0" i="1" smtClean="0">
                                      <a:latin typeface="Cambria Math" panose="02040503050406030204" pitchFamily="18" charset="0"/>
                                    </a:rPr>
                                    <m:t>𝑀</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𝑚</m:t>
                                  </m:r>
                                </m:e>
                              </m:d>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𝑊</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𝑤</m:t>
                              </m:r>
                              <m:r>
                                <a:rPr lang="en-US" altLang="zh-CN" sz="1600" b="0" i="1" smtClean="0">
                                  <a:latin typeface="Cambria Math" panose="02040503050406030204" pitchFamily="18" charset="0"/>
                                </a:rPr>
                                <m:t>])</m:t>
                              </m:r>
                            </m:e>
                          </m:nary>
                        </m:e>
                      </m:nary>
                    </m:oMath>
                  </m:oMathPara>
                </a14:m>
                <a:endParaRPr lang="en-US" altLang="zh-CN" sz="1600" b="0" dirty="0"/>
              </a:p>
              <a:p>
                <a:pPr>
                  <a:buClr>
                    <a:schemeClr val="tx1"/>
                  </a:buClr>
                </a:pPr>
                <a:r>
                  <a:rPr lang="en-US" altLang="zh-CN" sz="1600" dirty="0"/>
                  <a:t>		</a:t>
                </a:r>
                <a14:m>
                  <m:oMath xmlns:m="http://schemas.openxmlformats.org/officeDocument/2006/math">
                    <m:r>
                      <a:rPr lang="en-US" altLang="zh-CN" sz="160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𝑃</m:t>
                    </m:r>
                    <m:d>
                      <m:dPr>
                        <m:ctrlPr>
                          <a:rPr lang="en-US" altLang="zh-CN" sz="1600" b="0" i="1" smtClean="0">
                            <a:latin typeface="Cambria Math" panose="02040503050406030204" pitchFamily="18" charset="0"/>
                            <a:ea typeface="Cambria Math" panose="02040503050406030204" pitchFamily="18" charset="0"/>
                          </a:rPr>
                        </m:ctrlPr>
                      </m:dPr>
                      <m:e>
                        <m:r>
                          <a:rPr lang="en-US" altLang="zh-CN" sz="1600" b="0" i="1" smtClean="0">
                            <a:latin typeface="Cambria Math" panose="02040503050406030204" pitchFamily="18" charset="0"/>
                            <a:ea typeface="Cambria Math" panose="02040503050406030204" pitchFamily="18" charset="0"/>
                          </a:rPr>
                          <m:t>𝑀</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𝑚</m:t>
                        </m:r>
                      </m:e>
                      <m:e>
                        <m:r>
                          <a:rPr lang="en-US" altLang="zh-CN" sz="1600" b="0" i="1" smtClean="0">
                            <a:latin typeface="Cambria Math" panose="02040503050406030204" pitchFamily="18" charset="0"/>
                            <a:ea typeface="Cambria Math" panose="02040503050406030204" pitchFamily="18" charset="0"/>
                          </a:rPr>
                          <m:t>𝑑𝑜</m:t>
                        </m:r>
                        <m:d>
                          <m:dPr>
                            <m:ctrlPr>
                              <a:rPr lang="en-US" altLang="zh-CN" sz="1600" b="0" i="1" smtClean="0">
                                <a:latin typeface="Cambria Math" panose="02040503050406030204" pitchFamily="18" charset="0"/>
                                <a:ea typeface="Cambria Math" panose="02040503050406030204" pitchFamily="18" charset="0"/>
                              </a:rPr>
                            </m:ctrlPr>
                          </m:dPr>
                          <m:e>
                            <m:r>
                              <a:rPr lang="en-US" altLang="zh-CN" sz="1600" b="0" i="1" smtClean="0">
                                <a:latin typeface="Cambria Math" panose="02040503050406030204" pitchFamily="18" charset="0"/>
                                <a:ea typeface="Cambria Math" panose="02040503050406030204" pitchFamily="18" charset="0"/>
                              </a:rPr>
                              <m:t>𝑇</m:t>
                            </m:r>
                            <m:r>
                              <a:rPr lang="en-US" altLang="zh-CN" sz="1600" b="0" i="1" smtClean="0">
                                <a:latin typeface="Cambria Math" panose="02040503050406030204" pitchFamily="18" charset="0"/>
                                <a:ea typeface="Cambria Math" panose="02040503050406030204" pitchFamily="18" charset="0"/>
                              </a:rPr>
                              <m:t>=0</m:t>
                            </m:r>
                          </m:e>
                        </m:d>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𝑊</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𝑤</m:t>
                        </m:r>
                      </m:e>
                    </m:d>
                    <m:r>
                      <a:rPr lang="en-US" altLang="zh-CN" sz="1600" b="0" i="1" smtClean="0">
                        <a:latin typeface="Cambria Math" panose="02040503050406030204" pitchFamily="18" charset="0"/>
                        <a:ea typeface="Cambria Math" panose="02040503050406030204" pitchFamily="18" charset="0"/>
                      </a:rPr>
                      <m:t>𝑃</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𝑊</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𝑤</m:t>
                    </m:r>
                    <m:r>
                      <a:rPr lang="en-US" altLang="zh-CN" sz="1600" b="0" i="1" smtClean="0">
                        <a:latin typeface="Cambria Math" panose="02040503050406030204" pitchFamily="18" charset="0"/>
                        <a:ea typeface="Cambria Math" panose="02040503050406030204" pitchFamily="18" charset="0"/>
                      </a:rPr>
                      <m:t>)</m:t>
                    </m:r>
                  </m:oMath>
                </a14:m>
                <a:endParaRPr lang="en-US" altLang="zh-CN" sz="1600" dirty="0"/>
              </a:p>
              <a:p>
                <a:pPr>
                  <a:buClr>
                    <a:schemeClr val="tx1"/>
                  </a:buClr>
                </a:pPr>
                <a:r>
                  <a:rPr lang="en-US" altLang="zh-CN" sz="1600" dirty="0"/>
                  <a:t>	 </a:t>
                </a:r>
                <a14:m>
                  <m:oMath xmlns:m="http://schemas.openxmlformats.org/officeDocument/2006/math">
                    <m:r>
                      <a:rPr lang="en-US" altLang="zh-CN" sz="1600" b="0" i="0" smtClean="0">
                        <a:latin typeface="Cambria Math" panose="02040503050406030204" pitchFamily="18" charset="0"/>
                      </a:rPr>
                      <m:t>=</m:t>
                    </m:r>
                    <m:nary>
                      <m:naryPr>
                        <m:chr m:val="∑"/>
                        <m:supHide m:val="on"/>
                        <m:ctrlPr>
                          <a:rPr lang="en-US" altLang="zh-CN" sz="1600" i="1">
                            <a:latin typeface="Cambria Math" panose="02040503050406030204" pitchFamily="18" charset="0"/>
                          </a:rPr>
                        </m:ctrlPr>
                      </m:naryPr>
                      <m:sub>
                        <m:r>
                          <m:rPr>
                            <m:brk m:alnAt="7"/>
                          </m:rPr>
                          <a:rPr lang="en-US" altLang="zh-CN" sz="1600" i="1">
                            <a:latin typeface="Cambria Math" panose="02040503050406030204" pitchFamily="18" charset="0"/>
                          </a:rPr>
                          <m:t>𝑚</m:t>
                        </m:r>
                      </m:sub>
                      <m:sup/>
                      <m:e>
                        <m:nary>
                          <m:naryPr>
                            <m:chr m:val="∑"/>
                            <m:supHide m:val="on"/>
                            <m:ctrlPr>
                              <a:rPr lang="en-US" altLang="zh-CN" sz="1600" i="1">
                                <a:latin typeface="Cambria Math" panose="02040503050406030204" pitchFamily="18" charset="0"/>
                              </a:rPr>
                            </m:ctrlPr>
                          </m:naryPr>
                          <m:sub>
                            <m:r>
                              <m:rPr>
                                <m:brk m:alnAt="7"/>
                              </m:rPr>
                              <a:rPr lang="en-US" altLang="zh-CN" sz="1600" i="1">
                                <a:latin typeface="Cambria Math" panose="02040503050406030204" pitchFamily="18" charset="0"/>
                              </a:rPr>
                              <m:t>𝑤</m:t>
                            </m:r>
                          </m:sub>
                          <m:sup/>
                          <m:e>
                            <m:d>
                              <m:dPr>
                                <m:endChr m:val="]"/>
                                <m:ctrlPr>
                                  <a:rPr lang="en-US" altLang="zh-CN" sz="1600" i="1">
                                    <a:latin typeface="Cambria Math" panose="02040503050406030204" pitchFamily="18" charset="0"/>
                                  </a:rPr>
                                </m:ctrlPr>
                              </m:dPr>
                              <m:e>
                                <m:r>
                                  <a:rPr lang="en-US" altLang="zh-CN" sz="1600" i="1">
                                    <a:latin typeface="Cambria Math" panose="02040503050406030204" pitchFamily="18" charset="0"/>
                                  </a:rPr>
                                  <m:t>𝐸</m:t>
                                </m:r>
                                <m:d>
                                  <m:dPr>
                                    <m:begChr m:val="["/>
                                    <m:endChr m:val="|"/>
                                    <m:ctrlPr>
                                      <a:rPr lang="en-US" altLang="zh-CN" sz="1600" i="1">
                                        <a:latin typeface="Cambria Math" panose="02040503050406030204" pitchFamily="18" charset="0"/>
                                      </a:rPr>
                                    </m:ctrlPr>
                                  </m:dPr>
                                  <m:e>
                                    <m:r>
                                      <a:rPr lang="en-US" altLang="zh-CN" sz="1600" i="1">
                                        <a:latin typeface="Cambria Math" panose="02040503050406030204" pitchFamily="18" charset="0"/>
                                      </a:rPr>
                                      <m:t>𝑌</m:t>
                                    </m:r>
                                    <m:r>
                                      <a:rPr lang="en-US" altLang="zh-CN" sz="1600" i="1">
                                        <a:latin typeface="Cambria Math" panose="02040503050406030204" pitchFamily="18" charset="0"/>
                                      </a:rPr>
                                      <m:t> </m:t>
                                    </m:r>
                                  </m:e>
                                </m:d>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𝑀</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𝑚</m:t>
                                </m:r>
                                <m:r>
                                  <a:rPr lang="en-US" altLang="zh-CN" sz="1600" i="1">
                                    <a:latin typeface="Cambria Math" panose="02040503050406030204" pitchFamily="18" charset="0"/>
                                  </a:rPr>
                                  <m:t>,</m:t>
                                </m:r>
                                <m:r>
                                  <a:rPr lang="en-US" altLang="zh-CN" sz="1600" i="1">
                                    <a:latin typeface="Cambria Math" panose="02040503050406030204" pitchFamily="18" charset="0"/>
                                  </a:rPr>
                                  <m:t>𝑊</m:t>
                                </m:r>
                                <m:r>
                                  <a:rPr lang="en-US" altLang="zh-CN" sz="1600" i="1">
                                    <a:latin typeface="Cambria Math" panose="02040503050406030204" pitchFamily="18" charset="0"/>
                                  </a:rPr>
                                  <m:t>=</m:t>
                                </m:r>
                                <m:r>
                                  <a:rPr lang="en-US" altLang="zh-CN" sz="1600" i="1">
                                    <a:latin typeface="Cambria Math" panose="02040503050406030204" pitchFamily="18" charset="0"/>
                                  </a:rPr>
                                  <m:t>𝑤</m:t>
                                </m:r>
                              </m:e>
                            </m:d>
                            <m:r>
                              <a:rPr lang="en-US" altLang="zh-CN" sz="1600" i="1">
                                <a:latin typeface="Cambria Math" panose="02040503050406030204" pitchFamily="18" charset="0"/>
                              </a:rPr>
                              <m:t>−</m:t>
                            </m:r>
                            <m:r>
                              <a:rPr lang="en-US" altLang="zh-CN" sz="1600" i="1">
                                <a:latin typeface="Cambria Math" panose="02040503050406030204" pitchFamily="18" charset="0"/>
                              </a:rPr>
                              <m:t>𝐸</m:t>
                            </m:r>
                            <m:d>
                              <m:dPr>
                                <m:begChr m:val="["/>
                                <m:endChr m:val="|"/>
                                <m:ctrlPr>
                                  <a:rPr lang="en-US" altLang="zh-CN" sz="1600" i="1">
                                    <a:latin typeface="Cambria Math" panose="02040503050406030204" pitchFamily="18" charset="0"/>
                                  </a:rPr>
                                </m:ctrlPr>
                              </m:dPr>
                              <m:e>
                                <m:r>
                                  <a:rPr lang="en-US" altLang="zh-CN" sz="1600" i="1">
                                    <a:latin typeface="Cambria Math" panose="02040503050406030204" pitchFamily="18" charset="0"/>
                                  </a:rPr>
                                  <m:t>𝑌</m:t>
                                </m:r>
                                <m:r>
                                  <a:rPr lang="en-US" altLang="zh-CN" sz="1600" i="1">
                                    <a:latin typeface="Cambria Math" panose="02040503050406030204" pitchFamily="18" charset="0"/>
                                  </a:rPr>
                                  <m:t> </m:t>
                                </m:r>
                              </m:e>
                            </m:d>
                            <m:r>
                              <a:rPr lang="en-US" altLang="zh-CN" sz="1600" i="1">
                                <a:latin typeface="Cambria Math" panose="02040503050406030204" pitchFamily="18" charset="0"/>
                              </a:rPr>
                              <m:t> </m:t>
                            </m:r>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=0,</m:t>
                            </m:r>
                            <m:r>
                              <a:rPr lang="en-US" altLang="zh-CN" sz="1600" b="0" i="1" smtClean="0">
                                <a:latin typeface="Cambria Math" panose="02040503050406030204" pitchFamily="18" charset="0"/>
                              </a:rPr>
                              <m:t>𝑀</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𝑚</m:t>
                            </m:r>
                            <m:r>
                              <a:rPr lang="en-US" altLang="zh-CN" sz="1600" i="1">
                                <a:latin typeface="Cambria Math" panose="02040503050406030204" pitchFamily="18" charset="0"/>
                              </a:rPr>
                              <m:t>,</m:t>
                            </m:r>
                            <m:r>
                              <a:rPr lang="en-US" altLang="zh-CN" sz="1600" i="1">
                                <a:latin typeface="Cambria Math" panose="02040503050406030204" pitchFamily="18" charset="0"/>
                              </a:rPr>
                              <m:t>𝑊</m:t>
                            </m:r>
                            <m:r>
                              <a:rPr lang="en-US" altLang="zh-CN" sz="1600" i="1">
                                <a:latin typeface="Cambria Math" panose="02040503050406030204" pitchFamily="18" charset="0"/>
                              </a:rPr>
                              <m:t>=</m:t>
                            </m:r>
                            <m:r>
                              <a:rPr lang="en-US" altLang="zh-CN" sz="1600" i="1">
                                <a:latin typeface="Cambria Math" panose="02040503050406030204" pitchFamily="18" charset="0"/>
                              </a:rPr>
                              <m:t>𝑤</m:t>
                            </m:r>
                            <m:r>
                              <a:rPr lang="en-US" altLang="zh-CN" sz="1600" i="1">
                                <a:latin typeface="Cambria Math" panose="02040503050406030204" pitchFamily="18" charset="0"/>
                              </a:rPr>
                              <m:t>])</m:t>
                            </m:r>
                          </m:e>
                        </m:nary>
                      </m:e>
                    </m:nary>
                  </m:oMath>
                </a14:m>
                <a:endParaRPr lang="en-US" altLang="zh-CN" sz="1600" dirty="0"/>
              </a:p>
              <a:p>
                <a:pPr>
                  <a:buClr>
                    <a:schemeClr val="tx1"/>
                  </a:buClr>
                </a:pPr>
                <a:r>
                  <a:rPr lang="en-US" altLang="zh-CN" sz="1600" dirty="0"/>
                  <a:t>		</a:t>
                </a:r>
                <a14:m>
                  <m:oMath xmlns:m="http://schemas.openxmlformats.org/officeDocument/2006/math">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𝑃</m:t>
                    </m:r>
                    <m:d>
                      <m:dPr>
                        <m:ctrlPr>
                          <a:rPr lang="en-US" altLang="zh-CN" sz="1600" i="1">
                            <a:latin typeface="Cambria Math" panose="02040503050406030204" pitchFamily="18" charset="0"/>
                            <a:ea typeface="Cambria Math" panose="02040503050406030204" pitchFamily="18" charset="0"/>
                          </a:rPr>
                        </m:ctrlPr>
                      </m:dPr>
                      <m:e>
                        <m:r>
                          <a:rPr lang="en-US" altLang="zh-CN" sz="1600" i="1">
                            <a:latin typeface="Cambria Math" panose="02040503050406030204" pitchFamily="18" charset="0"/>
                            <a:ea typeface="Cambria Math" panose="02040503050406030204" pitchFamily="18" charset="0"/>
                          </a:rPr>
                          <m:t>𝑀</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𝑚</m:t>
                        </m:r>
                      </m:e>
                      <m:e>
                        <m:r>
                          <a:rPr lang="en-US" altLang="zh-CN" sz="1600" b="0" i="1" smtClean="0">
                            <a:latin typeface="Cambria Math" panose="02040503050406030204" pitchFamily="18" charset="0"/>
                            <a:ea typeface="Cambria Math" panose="02040503050406030204" pitchFamily="18" charset="0"/>
                          </a:rPr>
                          <m:t> </m:t>
                        </m:r>
                        <m:r>
                          <a:rPr lang="en-US" altLang="zh-CN" sz="1600" b="0" i="1" smtClean="0">
                            <a:latin typeface="Cambria Math" panose="02040503050406030204" pitchFamily="18" charset="0"/>
                            <a:ea typeface="Cambria Math" panose="02040503050406030204" pitchFamily="18" charset="0"/>
                          </a:rPr>
                          <m:t>𝑇</m:t>
                        </m:r>
                        <m:r>
                          <a:rPr lang="en-US" altLang="zh-CN" sz="1600" b="0" i="1" smtClean="0">
                            <a:latin typeface="Cambria Math" panose="02040503050406030204" pitchFamily="18" charset="0"/>
                            <a:ea typeface="Cambria Math" panose="02040503050406030204" pitchFamily="18" charset="0"/>
                          </a:rPr>
                          <m:t>=0,</m:t>
                        </m:r>
                        <m:r>
                          <a:rPr lang="en-US" altLang="zh-CN" sz="1600" i="1">
                            <a:latin typeface="Cambria Math" panose="02040503050406030204" pitchFamily="18" charset="0"/>
                            <a:ea typeface="Cambria Math" panose="02040503050406030204" pitchFamily="18" charset="0"/>
                          </a:rPr>
                          <m:t>𝑊</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𝑤</m:t>
                        </m:r>
                      </m:e>
                    </m:d>
                    <m:r>
                      <a:rPr lang="en-US" altLang="zh-CN" sz="1600" i="1">
                        <a:latin typeface="Cambria Math" panose="02040503050406030204" pitchFamily="18" charset="0"/>
                        <a:ea typeface="Cambria Math" panose="02040503050406030204" pitchFamily="18" charset="0"/>
                      </a:rPr>
                      <m:t>𝑃</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𝑊</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𝑤</m:t>
                    </m:r>
                    <m:r>
                      <a:rPr lang="en-US" altLang="zh-CN" sz="1600" i="1">
                        <a:latin typeface="Cambria Math" panose="02040503050406030204" pitchFamily="18" charset="0"/>
                        <a:ea typeface="Cambria Math" panose="02040503050406030204" pitchFamily="18" charset="0"/>
                      </a:rPr>
                      <m:t>)</m:t>
                    </m:r>
                  </m:oMath>
                </a14:m>
                <a:endParaRPr lang="en-US" altLang="zh-CN" sz="1600" dirty="0"/>
              </a:p>
              <a:p>
                <a:pPr>
                  <a:buClr>
                    <a:schemeClr val="tx1"/>
                  </a:buClr>
                </a:pPr>
                <a:endParaRPr lang="en-US" altLang="zh-CN" sz="1600" dirty="0"/>
              </a:p>
            </p:txBody>
          </p:sp>
        </mc:Choice>
        <mc:Fallback>
          <p:sp>
            <p:nvSpPr>
              <p:cNvPr id="2" name="内容占位符 1">
                <a:extLst>
                  <a:ext uri="{FF2B5EF4-FFF2-40B4-BE49-F238E27FC236}">
                    <a16:creationId xmlns:a16="http://schemas.microsoft.com/office/drawing/2014/main" id="{18C76333-D98C-4F4F-B5DC-172EC44340CC}"/>
                  </a:ext>
                </a:extLst>
              </p:cNvPr>
              <p:cNvSpPr>
                <a:spLocks noGrp="1" noRot="1" noChangeAspect="1" noMove="1" noResize="1" noEditPoints="1" noAdjustHandles="1" noChangeArrowheads="1" noChangeShapeType="1" noTextEdit="1"/>
              </p:cNvSpPr>
              <p:nvPr>
                <p:ph idx="1"/>
              </p:nvPr>
            </p:nvSpPr>
            <p:spPr>
              <a:blipFill>
                <a:blip r:embed="rId2"/>
                <a:stretch>
                  <a:fillRect r="-433"/>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23AC9D83-192E-40AD-BAF7-0D18D5C4193E}"/>
              </a:ext>
            </a:extLst>
          </p:cNvPr>
          <p:cNvSpPr>
            <a:spLocks noGrp="1"/>
          </p:cNvSpPr>
          <p:nvPr>
            <p:ph type="sldNum" sz="quarter" idx="11"/>
          </p:nvPr>
        </p:nvSpPr>
        <p:spPr/>
        <p:txBody>
          <a:bodyPr/>
          <a:lstStyle/>
          <a:p>
            <a:fld id="{2AEAD966-1EF9-3A44-9B11-0C8090371A9A}" type="slidenum">
              <a:rPr lang="en-US" smtClean="0"/>
              <a:t>56</a:t>
            </a:fld>
            <a:endParaRPr lang="en-US"/>
          </a:p>
        </p:txBody>
      </p:sp>
      <p:sp>
        <p:nvSpPr>
          <p:cNvPr id="4" name="标题 3">
            <a:extLst>
              <a:ext uri="{FF2B5EF4-FFF2-40B4-BE49-F238E27FC236}">
                <a16:creationId xmlns:a16="http://schemas.microsoft.com/office/drawing/2014/main" id="{CC363693-4283-4DE7-98FB-928463F92FEE}"/>
              </a:ext>
            </a:extLst>
          </p:cNvPr>
          <p:cNvSpPr>
            <a:spLocks noGrp="1"/>
          </p:cNvSpPr>
          <p:nvPr>
            <p:ph type="title"/>
          </p:nvPr>
        </p:nvSpPr>
        <p:spPr/>
        <p:txBody>
          <a:bodyPr/>
          <a:lstStyle/>
          <a:p>
            <a:r>
              <a:rPr lang="en-US" altLang="zh-CN" dirty="0"/>
              <a:t>When We Can Measure NDE and NIE</a:t>
            </a:r>
            <a:endParaRPr lang="zh-CN" altLang="en-US" dirty="0"/>
          </a:p>
        </p:txBody>
      </p:sp>
      <p:sp>
        <p:nvSpPr>
          <p:cNvPr id="5" name="日期占位符 4">
            <a:extLst>
              <a:ext uri="{FF2B5EF4-FFF2-40B4-BE49-F238E27FC236}">
                <a16:creationId xmlns:a16="http://schemas.microsoft.com/office/drawing/2014/main" id="{746D9BCF-D486-42CE-B829-01E6737F1022}"/>
              </a:ext>
            </a:extLst>
          </p:cNvPr>
          <p:cNvSpPr>
            <a:spLocks noGrp="1"/>
          </p:cNvSpPr>
          <p:nvPr>
            <p:ph type="dt" sz="half" idx="12"/>
          </p:nvPr>
        </p:nvSpPr>
        <p:spPr/>
        <p:txBody>
          <a:bodyPr/>
          <a:lstStyle/>
          <a:p>
            <a:fld id="{63ADDE33-C9F1-F94F-A20E-DA422DA466DF}" type="datetime1">
              <a:rPr lang="en-US" smtClean="0"/>
              <a:t>9/2/2022</a:t>
            </a:fld>
            <a:endParaRPr lang="en-US" dirty="0"/>
          </a:p>
        </p:txBody>
      </p:sp>
    </p:spTree>
    <p:extLst>
      <p:ext uri="{BB962C8B-B14F-4D97-AF65-F5344CB8AC3E}">
        <p14:creationId xmlns:p14="http://schemas.microsoft.com/office/powerpoint/2010/main" val="38215050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A150882-2AF0-4CE9-90C7-E6C1DDAD26F3}"/>
              </a:ext>
            </a:extLst>
          </p:cNvPr>
          <p:cNvSpPr>
            <a:spLocks noGrp="1"/>
          </p:cNvSpPr>
          <p:nvPr>
            <p:ph idx="1"/>
          </p:nvPr>
        </p:nvSpPr>
        <p:spPr/>
        <p:txBody>
          <a:bodyPr>
            <a:normAutofit/>
          </a:bodyPr>
          <a:lstStyle/>
          <a:p>
            <a:r>
              <a:rPr lang="en-US" altLang="zh-CN" sz="2000" dirty="0"/>
              <a:t>Come up with your own example of mediation and the corresponding graph. Then, determine whether you can identify the NDE and NIE from observation data.</a:t>
            </a:r>
            <a:endParaRPr lang="zh-CN" altLang="en-US" sz="2000" dirty="0"/>
          </a:p>
        </p:txBody>
      </p:sp>
      <p:sp>
        <p:nvSpPr>
          <p:cNvPr id="3" name="灯片编号占位符 2">
            <a:extLst>
              <a:ext uri="{FF2B5EF4-FFF2-40B4-BE49-F238E27FC236}">
                <a16:creationId xmlns:a16="http://schemas.microsoft.com/office/drawing/2014/main" id="{80686282-7D72-48F9-8AE5-B8C7CD3DBCDF}"/>
              </a:ext>
            </a:extLst>
          </p:cNvPr>
          <p:cNvSpPr>
            <a:spLocks noGrp="1"/>
          </p:cNvSpPr>
          <p:nvPr>
            <p:ph type="sldNum" sz="quarter" idx="11"/>
          </p:nvPr>
        </p:nvSpPr>
        <p:spPr/>
        <p:txBody>
          <a:bodyPr/>
          <a:lstStyle/>
          <a:p>
            <a:fld id="{2AEAD966-1EF9-3A44-9B11-0C8090371A9A}" type="slidenum">
              <a:rPr lang="en-US" smtClean="0"/>
              <a:t>57</a:t>
            </a:fld>
            <a:endParaRPr lang="en-US"/>
          </a:p>
        </p:txBody>
      </p:sp>
      <p:sp>
        <p:nvSpPr>
          <p:cNvPr id="4" name="标题 3">
            <a:extLst>
              <a:ext uri="{FF2B5EF4-FFF2-40B4-BE49-F238E27FC236}">
                <a16:creationId xmlns:a16="http://schemas.microsoft.com/office/drawing/2014/main" id="{7B315DCE-069B-4CFA-9928-C4080A7C7183}"/>
              </a:ext>
            </a:extLst>
          </p:cNvPr>
          <p:cNvSpPr>
            <a:spLocks noGrp="1"/>
          </p:cNvSpPr>
          <p:nvPr>
            <p:ph type="title"/>
          </p:nvPr>
        </p:nvSpPr>
        <p:spPr/>
        <p:txBody>
          <a:bodyPr/>
          <a:lstStyle/>
          <a:p>
            <a:r>
              <a:rPr lang="en-US" altLang="zh-CN" dirty="0"/>
              <a:t>Question:</a:t>
            </a:r>
            <a:endParaRPr lang="zh-CN" altLang="en-US" dirty="0"/>
          </a:p>
        </p:txBody>
      </p:sp>
      <p:sp>
        <p:nvSpPr>
          <p:cNvPr id="5" name="日期占位符 4">
            <a:extLst>
              <a:ext uri="{FF2B5EF4-FFF2-40B4-BE49-F238E27FC236}">
                <a16:creationId xmlns:a16="http://schemas.microsoft.com/office/drawing/2014/main" id="{7736D23D-315A-479D-8AB8-C1AD9CBEF3D7}"/>
              </a:ext>
            </a:extLst>
          </p:cNvPr>
          <p:cNvSpPr>
            <a:spLocks noGrp="1"/>
          </p:cNvSpPr>
          <p:nvPr>
            <p:ph type="dt" sz="half" idx="12"/>
          </p:nvPr>
        </p:nvSpPr>
        <p:spPr/>
        <p:txBody>
          <a:bodyPr/>
          <a:lstStyle/>
          <a:p>
            <a:fld id="{63ADDE33-C9F1-F94F-A20E-DA422DA466DF}" type="datetime1">
              <a:rPr lang="en-US" smtClean="0"/>
              <a:t>9/2/2022</a:t>
            </a:fld>
            <a:endParaRPr lang="en-US" dirty="0"/>
          </a:p>
        </p:txBody>
      </p:sp>
    </p:spTree>
    <p:extLst>
      <p:ext uri="{BB962C8B-B14F-4D97-AF65-F5344CB8AC3E}">
        <p14:creationId xmlns:p14="http://schemas.microsoft.com/office/powerpoint/2010/main" val="11895944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74AF6C9-20E4-4E23-BCD3-C6EA492E204E}"/>
              </a:ext>
            </a:extLst>
          </p:cNvPr>
          <p:cNvSpPr>
            <a:spLocks noGrp="1"/>
          </p:cNvSpPr>
          <p:nvPr>
            <p:ph idx="1"/>
          </p:nvPr>
        </p:nvSpPr>
        <p:spPr/>
        <p:txBody>
          <a:bodyPr>
            <a:normAutofit/>
          </a:bodyPr>
          <a:lstStyle/>
          <a:p>
            <a:r>
              <a:rPr lang="en-US" altLang="zh-CN" sz="2000" dirty="0"/>
              <a:t>Measure causal effects along arbitrary path or set of paths in the causal graph</a:t>
            </a:r>
          </a:p>
          <a:p>
            <a:endParaRPr lang="en-US" altLang="zh-CN" sz="2000" dirty="0"/>
          </a:p>
          <a:p>
            <a:r>
              <a:rPr lang="en-US" altLang="zh-CN" sz="2000" dirty="0"/>
              <a:t>See </a:t>
            </a:r>
            <a:r>
              <a:rPr lang="en-US" altLang="zh-CN" sz="2000" dirty="0">
                <a:hlinkClick r:id="rId2"/>
              </a:rPr>
              <a:t>“Identifiability of Path-Specific Effects” (</a:t>
            </a:r>
            <a:r>
              <a:rPr lang="en-US" altLang="zh-CN" sz="2000" dirty="0" err="1">
                <a:hlinkClick r:id="rId2"/>
              </a:rPr>
              <a:t>Avin</a:t>
            </a:r>
            <a:r>
              <a:rPr lang="en-US" altLang="zh-CN" sz="2000" dirty="0">
                <a:hlinkClick r:id="rId2"/>
              </a:rPr>
              <a:t> et al.,2015)</a:t>
            </a:r>
            <a:endParaRPr lang="zh-CN" altLang="en-US" sz="2000" dirty="0"/>
          </a:p>
        </p:txBody>
      </p:sp>
      <p:sp>
        <p:nvSpPr>
          <p:cNvPr id="3" name="灯片编号占位符 2">
            <a:extLst>
              <a:ext uri="{FF2B5EF4-FFF2-40B4-BE49-F238E27FC236}">
                <a16:creationId xmlns:a16="http://schemas.microsoft.com/office/drawing/2014/main" id="{2389571A-0D9B-4325-92E1-ED1F84134E5C}"/>
              </a:ext>
            </a:extLst>
          </p:cNvPr>
          <p:cNvSpPr>
            <a:spLocks noGrp="1"/>
          </p:cNvSpPr>
          <p:nvPr>
            <p:ph type="sldNum" sz="quarter" idx="11"/>
          </p:nvPr>
        </p:nvSpPr>
        <p:spPr/>
        <p:txBody>
          <a:bodyPr/>
          <a:lstStyle/>
          <a:p>
            <a:fld id="{2AEAD966-1EF9-3A44-9B11-0C8090371A9A}" type="slidenum">
              <a:rPr lang="en-US" smtClean="0"/>
              <a:t>58</a:t>
            </a:fld>
            <a:endParaRPr lang="en-US"/>
          </a:p>
        </p:txBody>
      </p:sp>
      <p:sp>
        <p:nvSpPr>
          <p:cNvPr id="4" name="标题 3">
            <a:extLst>
              <a:ext uri="{FF2B5EF4-FFF2-40B4-BE49-F238E27FC236}">
                <a16:creationId xmlns:a16="http://schemas.microsoft.com/office/drawing/2014/main" id="{C274679A-1D38-45BE-8AA6-B23D1BC5F69E}"/>
              </a:ext>
            </a:extLst>
          </p:cNvPr>
          <p:cNvSpPr>
            <a:spLocks noGrp="1"/>
          </p:cNvSpPr>
          <p:nvPr>
            <p:ph type="title"/>
          </p:nvPr>
        </p:nvSpPr>
        <p:spPr/>
        <p:txBody>
          <a:bodyPr/>
          <a:lstStyle/>
          <a:p>
            <a:r>
              <a:rPr lang="en-US" altLang="zh-CN" dirty="0"/>
              <a:t>Path-Specific Effects</a:t>
            </a:r>
            <a:endParaRPr lang="zh-CN" altLang="en-US" dirty="0"/>
          </a:p>
        </p:txBody>
      </p:sp>
      <p:sp>
        <p:nvSpPr>
          <p:cNvPr id="5" name="日期占位符 4">
            <a:extLst>
              <a:ext uri="{FF2B5EF4-FFF2-40B4-BE49-F238E27FC236}">
                <a16:creationId xmlns:a16="http://schemas.microsoft.com/office/drawing/2014/main" id="{108B9108-5D75-43E5-AD37-E063F0C7AF76}"/>
              </a:ext>
            </a:extLst>
          </p:cNvPr>
          <p:cNvSpPr>
            <a:spLocks noGrp="1"/>
          </p:cNvSpPr>
          <p:nvPr>
            <p:ph type="dt" sz="half" idx="12"/>
          </p:nvPr>
        </p:nvSpPr>
        <p:spPr/>
        <p:txBody>
          <a:bodyPr/>
          <a:lstStyle/>
          <a:p>
            <a:fld id="{63ADDE33-C9F1-F94F-A20E-DA422DA466DF}" type="datetime1">
              <a:rPr lang="en-US" smtClean="0"/>
              <a:t>9/2/2022</a:t>
            </a:fld>
            <a:endParaRPr lang="en-US" dirty="0"/>
          </a:p>
        </p:txBody>
      </p:sp>
    </p:spTree>
    <p:extLst>
      <p:ext uri="{BB962C8B-B14F-4D97-AF65-F5344CB8AC3E}">
        <p14:creationId xmlns:p14="http://schemas.microsoft.com/office/powerpoint/2010/main" val="25325037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1">
              <a:buClr>
                <a:schemeClr val="accent6">
                  <a:lumMod val="50000"/>
                </a:schemeClr>
              </a:buClr>
            </a:pPr>
            <a:r>
              <a:rPr lang="en-US" altLang="zh-CN" dirty="0">
                <a:solidFill>
                  <a:schemeClr val="bg1">
                    <a:lumMod val="65000"/>
                  </a:schemeClr>
                </a:solidFill>
              </a:rPr>
              <a:t>Counterfactuals Basics</a:t>
            </a:r>
          </a:p>
          <a:p>
            <a:pPr lvl="1">
              <a:buClr>
                <a:schemeClr val="accent6">
                  <a:lumMod val="50000"/>
                </a:schemeClr>
              </a:buClr>
            </a:pPr>
            <a:r>
              <a:rPr lang="en-US" altLang="zh-CN" dirty="0">
                <a:solidFill>
                  <a:schemeClr val="bg1">
                    <a:lumMod val="65000"/>
                  </a:schemeClr>
                </a:solidFill>
              </a:rPr>
              <a:t>Important Application: Mediation</a:t>
            </a:r>
          </a:p>
          <a:p>
            <a:pPr lvl="1">
              <a:buClr>
                <a:schemeClr val="accent6">
                  <a:lumMod val="50000"/>
                </a:schemeClr>
              </a:buClr>
            </a:pPr>
            <a:r>
              <a:rPr lang="en-US" altLang="zh-CN" dirty="0"/>
              <a:t>Representative Works</a:t>
            </a:r>
          </a:p>
        </p:txBody>
      </p:sp>
      <p:sp>
        <p:nvSpPr>
          <p:cNvPr id="3" name="Slide Number Placeholder 2"/>
          <p:cNvSpPr>
            <a:spLocks noGrp="1"/>
          </p:cNvSpPr>
          <p:nvPr>
            <p:ph type="sldNum" sz="quarter" idx="11"/>
          </p:nvPr>
        </p:nvSpPr>
        <p:spPr/>
        <p:txBody>
          <a:bodyPr/>
          <a:lstStyle/>
          <a:p>
            <a:fld id="{2AEAD966-1EF9-3A44-9B11-0C8090371A9A}" type="slidenum">
              <a:rPr lang="en-US" smtClean="0"/>
              <a:t>59</a:t>
            </a:fld>
            <a:endParaRPr lang="en-US"/>
          </a:p>
        </p:txBody>
      </p:sp>
      <p:sp>
        <p:nvSpPr>
          <p:cNvPr id="4" name="Title 3"/>
          <p:cNvSpPr>
            <a:spLocks noGrp="1"/>
          </p:cNvSpPr>
          <p:nvPr>
            <p:ph type="title"/>
          </p:nvPr>
        </p:nvSpPr>
        <p:spPr/>
        <p:txBody>
          <a:bodyPr/>
          <a:lstStyle/>
          <a:p>
            <a:r>
              <a:rPr lang="en-US" dirty="0"/>
              <a:t>Outline</a:t>
            </a:r>
          </a:p>
        </p:txBody>
      </p:sp>
      <p:sp>
        <p:nvSpPr>
          <p:cNvPr id="5" name="Date Placeholder 4"/>
          <p:cNvSpPr>
            <a:spLocks noGrp="1"/>
          </p:cNvSpPr>
          <p:nvPr>
            <p:ph type="dt" sz="half" idx="12"/>
          </p:nvPr>
        </p:nvSpPr>
        <p:spPr/>
        <p:txBody>
          <a:bodyPr/>
          <a:lstStyle/>
          <a:p>
            <a:fld id="{63ADDE33-C9F1-F94F-A20E-DA422DA466DF}" type="datetime1">
              <a:rPr lang="en-US" smtClean="0"/>
              <a:t>9/3/2022</a:t>
            </a:fld>
            <a:endParaRPr lang="en-US" dirty="0"/>
          </a:p>
        </p:txBody>
      </p:sp>
    </p:spTree>
    <p:extLst>
      <p:ext uri="{BB962C8B-B14F-4D97-AF65-F5344CB8AC3E}">
        <p14:creationId xmlns:p14="http://schemas.microsoft.com/office/powerpoint/2010/main" val="3199339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5B43647-18E2-40FD-BDFD-6037E3003DDE}"/>
              </a:ext>
            </a:extLst>
          </p:cNvPr>
          <p:cNvSpPr>
            <a:spLocks noGrp="1"/>
          </p:cNvSpPr>
          <p:nvPr>
            <p:ph idx="1"/>
          </p:nvPr>
        </p:nvSpPr>
        <p:spPr/>
        <p:txBody>
          <a:bodyPr>
            <a:normAutofit/>
          </a:bodyPr>
          <a:lstStyle/>
          <a:p>
            <a:pPr marL="434340" indent="-342900">
              <a:buClr>
                <a:schemeClr val="accent6">
                  <a:lumMod val="50000"/>
                </a:schemeClr>
              </a:buClr>
              <a:buFont typeface="Wingdings" panose="05000000000000000000" pitchFamily="2" charset="2"/>
              <a:buChar char="l"/>
            </a:pPr>
            <a:r>
              <a:rPr lang="en-US" altLang="zh-CN" sz="1400" dirty="0"/>
              <a:t>CV</a:t>
            </a:r>
          </a:p>
          <a:p>
            <a:pPr marL="662940" lvl="1" indent="-342900">
              <a:buClr>
                <a:schemeClr val="accent6">
                  <a:lumMod val="50000"/>
                </a:schemeClr>
              </a:buClr>
              <a:buFont typeface="Wingdings" panose="05000000000000000000" pitchFamily="2" charset="2"/>
              <a:buChar char="l"/>
            </a:pPr>
            <a:r>
              <a:rPr lang="en-US" altLang="zh-CN" sz="1400" dirty="0">
                <a:hlinkClick r:id="rId2"/>
              </a:rPr>
              <a:t>Counterfactual VQA: A Cause-Effect Look at Language Bias (CVPR 2021)</a:t>
            </a:r>
            <a:endParaRPr lang="en-US" altLang="zh-CN" sz="1400" dirty="0"/>
          </a:p>
          <a:p>
            <a:pPr marL="662940" lvl="1" indent="-342900">
              <a:buClr>
                <a:schemeClr val="accent6">
                  <a:lumMod val="50000"/>
                </a:schemeClr>
              </a:buClr>
              <a:buFont typeface="Wingdings" panose="05000000000000000000" pitchFamily="2" charset="2"/>
              <a:buChar char="l"/>
            </a:pPr>
            <a:r>
              <a:rPr lang="en-US" altLang="zh-CN" sz="1400" dirty="0">
                <a:hlinkClick r:id="rId3"/>
              </a:rPr>
              <a:t>Counterfactual Attention Learning for Fine-Grained Visual Categorization and Re-identification (ICCV 2021)</a:t>
            </a:r>
            <a:endParaRPr lang="en-US" altLang="zh-CN" sz="1400" dirty="0"/>
          </a:p>
          <a:p>
            <a:pPr marL="662940" lvl="1" indent="-342900">
              <a:buClr>
                <a:schemeClr val="accent6">
                  <a:lumMod val="50000"/>
                </a:schemeClr>
              </a:buClr>
              <a:buFont typeface="Wingdings" panose="05000000000000000000" pitchFamily="2" charset="2"/>
              <a:buChar char="l"/>
            </a:pPr>
            <a:r>
              <a:rPr lang="en-US" altLang="zh-CN" sz="1400" dirty="0">
                <a:hlinkClick r:id="rId4"/>
              </a:rPr>
              <a:t>Counterfactual zero-shot and open-set visual recognition (CVPR 2021)</a:t>
            </a:r>
            <a:endParaRPr lang="en-US" altLang="zh-CN" sz="1400" dirty="0"/>
          </a:p>
          <a:p>
            <a:pPr marL="662940" lvl="1" indent="-342900">
              <a:buClr>
                <a:schemeClr val="accent6">
                  <a:lumMod val="50000"/>
                </a:schemeClr>
              </a:buClr>
              <a:buFont typeface="Wingdings" panose="05000000000000000000" pitchFamily="2" charset="2"/>
              <a:buChar char="l"/>
            </a:pPr>
            <a:r>
              <a:rPr lang="en-US" altLang="zh-CN" sz="1400" dirty="0">
                <a:hlinkClick r:id="rId5"/>
              </a:rPr>
              <a:t>Counterfactual samples synthesizing for robust visual question answering (CVPR 2020)</a:t>
            </a:r>
            <a:endParaRPr lang="en-US" altLang="zh-CN" sz="1400" dirty="0"/>
          </a:p>
          <a:p>
            <a:pPr marL="662940" lvl="1" indent="-342900">
              <a:buClr>
                <a:schemeClr val="accent6">
                  <a:lumMod val="50000"/>
                </a:schemeClr>
              </a:buClr>
              <a:buFont typeface="Wingdings" panose="05000000000000000000" pitchFamily="2" charset="2"/>
              <a:buChar char="l"/>
            </a:pPr>
            <a:r>
              <a:rPr lang="en-US" altLang="zh-CN" sz="1400" dirty="0">
                <a:hlinkClick r:id="rId6"/>
              </a:rPr>
              <a:t>Cycle-Consistent Counterfactuals by Latent Transformations (CVPR 2022)</a:t>
            </a:r>
            <a:endParaRPr lang="en-US" altLang="zh-CN" sz="1400" dirty="0"/>
          </a:p>
          <a:p>
            <a:pPr marL="662940" lvl="1" indent="-342900">
              <a:buClr>
                <a:schemeClr val="accent6">
                  <a:lumMod val="50000"/>
                </a:schemeClr>
              </a:buClr>
              <a:buFont typeface="Wingdings" panose="05000000000000000000" pitchFamily="2" charset="2"/>
              <a:buChar char="l"/>
            </a:pPr>
            <a:r>
              <a:rPr lang="en-US" altLang="zh-CN" sz="1400" dirty="0">
                <a:hlinkClick r:id="rId7"/>
              </a:rPr>
              <a:t>Towards robust classification model by counterfactual and invariant data generation (CVPR 2021)</a:t>
            </a:r>
            <a:endParaRPr lang="en-US" altLang="zh-CN" sz="1400" dirty="0"/>
          </a:p>
        </p:txBody>
      </p:sp>
      <p:sp>
        <p:nvSpPr>
          <p:cNvPr id="3" name="灯片编号占位符 2">
            <a:extLst>
              <a:ext uri="{FF2B5EF4-FFF2-40B4-BE49-F238E27FC236}">
                <a16:creationId xmlns:a16="http://schemas.microsoft.com/office/drawing/2014/main" id="{D701E879-1225-487D-88FB-E0CE2235A766}"/>
              </a:ext>
            </a:extLst>
          </p:cNvPr>
          <p:cNvSpPr>
            <a:spLocks noGrp="1"/>
          </p:cNvSpPr>
          <p:nvPr>
            <p:ph type="sldNum" sz="quarter" idx="11"/>
          </p:nvPr>
        </p:nvSpPr>
        <p:spPr/>
        <p:txBody>
          <a:bodyPr/>
          <a:lstStyle/>
          <a:p>
            <a:fld id="{2AEAD966-1EF9-3A44-9B11-0C8090371A9A}" type="slidenum">
              <a:rPr lang="en-US" smtClean="0"/>
              <a:t>60</a:t>
            </a:fld>
            <a:endParaRPr lang="en-US"/>
          </a:p>
        </p:txBody>
      </p:sp>
      <p:sp>
        <p:nvSpPr>
          <p:cNvPr id="4" name="标题 3">
            <a:extLst>
              <a:ext uri="{FF2B5EF4-FFF2-40B4-BE49-F238E27FC236}">
                <a16:creationId xmlns:a16="http://schemas.microsoft.com/office/drawing/2014/main" id="{4354A992-A83C-414D-BFAD-711405B23E73}"/>
              </a:ext>
            </a:extLst>
          </p:cNvPr>
          <p:cNvSpPr>
            <a:spLocks noGrp="1"/>
          </p:cNvSpPr>
          <p:nvPr>
            <p:ph type="title"/>
          </p:nvPr>
        </p:nvSpPr>
        <p:spPr/>
        <p:txBody>
          <a:bodyPr/>
          <a:lstStyle/>
          <a:p>
            <a:r>
              <a:rPr lang="en-US" altLang="zh-CN" dirty="0"/>
              <a:t>Representative Works</a:t>
            </a:r>
            <a:endParaRPr lang="zh-CN" altLang="en-US" dirty="0"/>
          </a:p>
        </p:txBody>
      </p:sp>
      <p:sp>
        <p:nvSpPr>
          <p:cNvPr id="5" name="日期占位符 4">
            <a:extLst>
              <a:ext uri="{FF2B5EF4-FFF2-40B4-BE49-F238E27FC236}">
                <a16:creationId xmlns:a16="http://schemas.microsoft.com/office/drawing/2014/main" id="{7FB7FE9D-5D59-45B0-8B59-9E89EBDC1084}"/>
              </a:ext>
            </a:extLst>
          </p:cNvPr>
          <p:cNvSpPr>
            <a:spLocks noGrp="1"/>
          </p:cNvSpPr>
          <p:nvPr>
            <p:ph type="dt" sz="half" idx="12"/>
          </p:nvPr>
        </p:nvSpPr>
        <p:spPr/>
        <p:txBody>
          <a:bodyPr/>
          <a:lstStyle/>
          <a:p>
            <a:fld id="{63ADDE33-C9F1-F94F-A20E-DA422DA466DF}" type="datetime1">
              <a:rPr lang="en-US" smtClean="0"/>
              <a:t>9/5/2022</a:t>
            </a:fld>
            <a:endParaRPr lang="en-US" dirty="0"/>
          </a:p>
        </p:txBody>
      </p:sp>
    </p:spTree>
    <p:extLst>
      <p:ext uri="{BB962C8B-B14F-4D97-AF65-F5344CB8AC3E}">
        <p14:creationId xmlns:p14="http://schemas.microsoft.com/office/powerpoint/2010/main" val="42333371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5B43647-18E2-40FD-BDFD-6037E3003DDE}"/>
              </a:ext>
            </a:extLst>
          </p:cNvPr>
          <p:cNvSpPr>
            <a:spLocks noGrp="1"/>
          </p:cNvSpPr>
          <p:nvPr>
            <p:ph idx="1"/>
          </p:nvPr>
        </p:nvSpPr>
        <p:spPr/>
        <p:txBody>
          <a:bodyPr>
            <a:normAutofit/>
          </a:bodyPr>
          <a:lstStyle/>
          <a:p>
            <a:pPr marL="434340" indent="-342900">
              <a:buClr>
                <a:schemeClr val="accent6">
                  <a:lumMod val="50000"/>
                </a:schemeClr>
              </a:buClr>
              <a:buFont typeface="Wingdings" panose="05000000000000000000" pitchFamily="2" charset="2"/>
              <a:buChar char="l"/>
            </a:pPr>
            <a:r>
              <a:rPr lang="en-US" altLang="zh-CN" sz="1600" dirty="0"/>
              <a:t>NLP</a:t>
            </a:r>
          </a:p>
          <a:p>
            <a:pPr marL="662940" lvl="1" indent="-342900">
              <a:buClr>
                <a:schemeClr val="accent6">
                  <a:lumMod val="50000"/>
                </a:schemeClr>
              </a:buClr>
              <a:buFont typeface="Wingdings" panose="05000000000000000000" pitchFamily="2" charset="2"/>
              <a:buChar char="l"/>
            </a:pPr>
            <a:r>
              <a:rPr lang="en-US" altLang="zh-CN" sz="1400" dirty="0">
                <a:hlinkClick r:id="rId2"/>
              </a:rPr>
              <a:t>Counterfactual inference for text classification debiasing (ACL 2021)</a:t>
            </a:r>
            <a:endParaRPr lang="en-US" altLang="zh-CN" sz="1400" dirty="0"/>
          </a:p>
          <a:p>
            <a:pPr marL="662940" lvl="1" indent="-342900">
              <a:buClr>
                <a:schemeClr val="accent6">
                  <a:lumMod val="50000"/>
                </a:schemeClr>
              </a:buClr>
              <a:buFont typeface="Wingdings" panose="05000000000000000000" pitchFamily="2" charset="2"/>
              <a:buChar char="l"/>
            </a:pPr>
            <a:r>
              <a:rPr lang="en-US" altLang="zh-CN" sz="1400" dirty="0" err="1">
                <a:hlinkClick r:id="rId3"/>
              </a:rPr>
              <a:t>DoCoGen</a:t>
            </a:r>
            <a:r>
              <a:rPr lang="en-US" altLang="zh-CN" sz="1400" dirty="0">
                <a:hlinkClick r:id="rId3"/>
              </a:rPr>
              <a:t>: Domain Counterfactual Generation for Low Resource Domain Adaptation (ACL 2022)</a:t>
            </a:r>
            <a:endParaRPr lang="en-US" altLang="zh-CN" sz="1400" dirty="0"/>
          </a:p>
          <a:p>
            <a:pPr marL="662940" lvl="1" indent="-342900">
              <a:buClr>
                <a:schemeClr val="accent6">
                  <a:lumMod val="50000"/>
                </a:schemeClr>
              </a:buClr>
              <a:buFont typeface="Wingdings" panose="05000000000000000000" pitchFamily="2" charset="2"/>
              <a:buChar char="l"/>
            </a:pPr>
            <a:r>
              <a:rPr lang="en-US" altLang="zh-CN" sz="1400" dirty="0">
                <a:hlinkClick r:id="rId4"/>
              </a:rPr>
              <a:t>Debiasing NLU models via Causal Intervention and Counterfactual Reasoning (AAAI 2022)</a:t>
            </a:r>
            <a:endParaRPr lang="en-US" altLang="zh-CN" sz="1400" dirty="0"/>
          </a:p>
          <a:p>
            <a:pPr marL="662940" lvl="1" indent="-342900">
              <a:buClr>
                <a:schemeClr val="accent6">
                  <a:lumMod val="50000"/>
                </a:schemeClr>
              </a:buClr>
              <a:buFont typeface="Wingdings" panose="05000000000000000000" pitchFamily="2" charset="2"/>
              <a:buChar char="l"/>
            </a:pPr>
            <a:r>
              <a:rPr lang="en-US" altLang="zh-CN" sz="1400" dirty="0">
                <a:hlinkClick r:id="rId5"/>
              </a:rPr>
              <a:t>Counterfactuals to Control Latent Disentangled Text Representations for Style Transfer (ACL 2021)</a:t>
            </a:r>
            <a:endParaRPr lang="en-US" altLang="zh-CN" sz="1400" dirty="0"/>
          </a:p>
          <a:p>
            <a:pPr marL="662940" lvl="1" indent="-342900">
              <a:buClr>
                <a:schemeClr val="accent6">
                  <a:lumMod val="50000"/>
                </a:schemeClr>
              </a:buClr>
              <a:buFont typeface="Wingdings" panose="05000000000000000000" pitchFamily="2" charset="2"/>
              <a:buChar char="l"/>
            </a:pPr>
            <a:r>
              <a:rPr lang="en-US" altLang="zh-CN" sz="1400" dirty="0">
                <a:hlinkClick r:id="rId6"/>
              </a:rPr>
              <a:t>Polyjuice: Generating counterfactuals for explaining, evaluating, and improving models (ACL 2021)</a:t>
            </a:r>
            <a:endParaRPr lang="en-US" altLang="zh-CN" sz="1400" dirty="0"/>
          </a:p>
          <a:p>
            <a:pPr marL="662940" lvl="1" indent="-342900">
              <a:buClr>
                <a:schemeClr val="accent6">
                  <a:lumMod val="50000"/>
                </a:schemeClr>
              </a:buClr>
              <a:buFont typeface="Wingdings" panose="05000000000000000000" pitchFamily="2" charset="2"/>
              <a:buChar char="l"/>
            </a:pPr>
            <a:endParaRPr lang="en-US" altLang="zh-CN" sz="1400" dirty="0"/>
          </a:p>
          <a:p>
            <a:pPr marL="662940" lvl="1" indent="-342900">
              <a:buClr>
                <a:schemeClr val="accent6">
                  <a:lumMod val="50000"/>
                </a:schemeClr>
              </a:buClr>
              <a:buFont typeface="Wingdings" panose="05000000000000000000" pitchFamily="2" charset="2"/>
              <a:buChar char="l"/>
            </a:pPr>
            <a:endParaRPr lang="en-US" altLang="zh-CN" sz="1400" dirty="0"/>
          </a:p>
          <a:p>
            <a:pPr marL="662940" lvl="1" indent="-342900">
              <a:buClr>
                <a:schemeClr val="accent6">
                  <a:lumMod val="50000"/>
                </a:schemeClr>
              </a:buClr>
              <a:buFont typeface="Wingdings" panose="05000000000000000000" pitchFamily="2" charset="2"/>
              <a:buChar char="l"/>
            </a:pPr>
            <a:endParaRPr lang="en-US" altLang="zh-CN" sz="1400" dirty="0"/>
          </a:p>
          <a:p>
            <a:pPr marL="662940" lvl="1" indent="-342900">
              <a:buClr>
                <a:schemeClr val="accent6">
                  <a:lumMod val="50000"/>
                </a:schemeClr>
              </a:buClr>
              <a:buFont typeface="Wingdings" panose="05000000000000000000" pitchFamily="2" charset="2"/>
              <a:buChar char="l"/>
            </a:pPr>
            <a:endParaRPr lang="zh-CN" altLang="en-US" sz="1400" dirty="0"/>
          </a:p>
        </p:txBody>
      </p:sp>
      <p:sp>
        <p:nvSpPr>
          <p:cNvPr id="3" name="灯片编号占位符 2">
            <a:extLst>
              <a:ext uri="{FF2B5EF4-FFF2-40B4-BE49-F238E27FC236}">
                <a16:creationId xmlns:a16="http://schemas.microsoft.com/office/drawing/2014/main" id="{D701E879-1225-487D-88FB-E0CE2235A766}"/>
              </a:ext>
            </a:extLst>
          </p:cNvPr>
          <p:cNvSpPr>
            <a:spLocks noGrp="1"/>
          </p:cNvSpPr>
          <p:nvPr>
            <p:ph type="sldNum" sz="quarter" idx="11"/>
          </p:nvPr>
        </p:nvSpPr>
        <p:spPr/>
        <p:txBody>
          <a:bodyPr/>
          <a:lstStyle/>
          <a:p>
            <a:fld id="{2AEAD966-1EF9-3A44-9B11-0C8090371A9A}" type="slidenum">
              <a:rPr lang="en-US" smtClean="0"/>
              <a:t>61</a:t>
            </a:fld>
            <a:endParaRPr lang="en-US"/>
          </a:p>
        </p:txBody>
      </p:sp>
      <p:sp>
        <p:nvSpPr>
          <p:cNvPr id="4" name="标题 3">
            <a:extLst>
              <a:ext uri="{FF2B5EF4-FFF2-40B4-BE49-F238E27FC236}">
                <a16:creationId xmlns:a16="http://schemas.microsoft.com/office/drawing/2014/main" id="{4354A992-A83C-414D-BFAD-711405B23E73}"/>
              </a:ext>
            </a:extLst>
          </p:cNvPr>
          <p:cNvSpPr>
            <a:spLocks noGrp="1"/>
          </p:cNvSpPr>
          <p:nvPr>
            <p:ph type="title"/>
          </p:nvPr>
        </p:nvSpPr>
        <p:spPr/>
        <p:txBody>
          <a:bodyPr/>
          <a:lstStyle/>
          <a:p>
            <a:r>
              <a:rPr lang="en-US" altLang="zh-CN" dirty="0"/>
              <a:t>Representative Works</a:t>
            </a:r>
            <a:endParaRPr lang="zh-CN" altLang="en-US" dirty="0"/>
          </a:p>
        </p:txBody>
      </p:sp>
      <p:sp>
        <p:nvSpPr>
          <p:cNvPr id="5" name="日期占位符 4">
            <a:extLst>
              <a:ext uri="{FF2B5EF4-FFF2-40B4-BE49-F238E27FC236}">
                <a16:creationId xmlns:a16="http://schemas.microsoft.com/office/drawing/2014/main" id="{7FB7FE9D-5D59-45B0-8B59-9E89EBDC1084}"/>
              </a:ext>
            </a:extLst>
          </p:cNvPr>
          <p:cNvSpPr>
            <a:spLocks noGrp="1"/>
          </p:cNvSpPr>
          <p:nvPr>
            <p:ph type="dt" sz="half" idx="12"/>
          </p:nvPr>
        </p:nvSpPr>
        <p:spPr/>
        <p:txBody>
          <a:bodyPr/>
          <a:lstStyle/>
          <a:p>
            <a:fld id="{63ADDE33-C9F1-F94F-A20E-DA422DA466DF}" type="datetime1">
              <a:rPr lang="en-US" smtClean="0"/>
              <a:t>9/5/2022</a:t>
            </a:fld>
            <a:endParaRPr lang="en-US" dirty="0"/>
          </a:p>
        </p:txBody>
      </p:sp>
    </p:spTree>
    <p:extLst>
      <p:ext uri="{BB962C8B-B14F-4D97-AF65-F5344CB8AC3E}">
        <p14:creationId xmlns:p14="http://schemas.microsoft.com/office/powerpoint/2010/main" val="18423240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01764E6A-CB33-40F6-ABCD-001B0C41AB3A}"/>
              </a:ext>
            </a:extLst>
          </p:cNvPr>
          <p:cNvPicPr>
            <a:picLocks noGrp="1" noChangeAspect="1"/>
          </p:cNvPicPr>
          <p:nvPr>
            <p:ph idx="1"/>
          </p:nvPr>
        </p:nvPicPr>
        <p:blipFill>
          <a:blip r:embed="rId2"/>
          <a:stretch>
            <a:fillRect/>
          </a:stretch>
        </p:blipFill>
        <p:spPr>
          <a:xfrm>
            <a:off x="315912" y="1869636"/>
            <a:ext cx="8304213" cy="4636572"/>
          </a:xfrm>
          <a:prstGeom prst="rect">
            <a:avLst/>
          </a:prstGeom>
        </p:spPr>
      </p:pic>
      <p:sp>
        <p:nvSpPr>
          <p:cNvPr id="3" name="灯片编号占位符 2">
            <a:extLst>
              <a:ext uri="{FF2B5EF4-FFF2-40B4-BE49-F238E27FC236}">
                <a16:creationId xmlns:a16="http://schemas.microsoft.com/office/drawing/2014/main" id="{D71BEF67-D173-4BC7-A70A-29D72E31270A}"/>
              </a:ext>
            </a:extLst>
          </p:cNvPr>
          <p:cNvSpPr>
            <a:spLocks noGrp="1"/>
          </p:cNvSpPr>
          <p:nvPr>
            <p:ph type="sldNum" sz="quarter" idx="11"/>
          </p:nvPr>
        </p:nvSpPr>
        <p:spPr/>
        <p:txBody>
          <a:bodyPr/>
          <a:lstStyle/>
          <a:p>
            <a:fld id="{2AEAD966-1EF9-3A44-9B11-0C8090371A9A}" type="slidenum">
              <a:rPr lang="en-US" smtClean="0"/>
              <a:t>62</a:t>
            </a:fld>
            <a:endParaRPr lang="en-US"/>
          </a:p>
        </p:txBody>
      </p:sp>
      <p:sp>
        <p:nvSpPr>
          <p:cNvPr id="4" name="标题 3">
            <a:extLst>
              <a:ext uri="{FF2B5EF4-FFF2-40B4-BE49-F238E27FC236}">
                <a16:creationId xmlns:a16="http://schemas.microsoft.com/office/drawing/2014/main" id="{BD2BEDF3-781D-45DD-8264-7475AD771DC7}"/>
              </a:ext>
            </a:extLst>
          </p:cNvPr>
          <p:cNvSpPr>
            <a:spLocks noGrp="1"/>
          </p:cNvSpPr>
          <p:nvPr>
            <p:ph type="title"/>
          </p:nvPr>
        </p:nvSpPr>
        <p:spPr/>
        <p:txBody>
          <a:bodyPr>
            <a:noAutofit/>
          </a:bodyPr>
          <a:lstStyle/>
          <a:p>
            <a:r>
              <a:rPr lang="en-US" altLang="zh-CN" sz="2000" dirty="0"/>
              <a:t>Representative Work1: Counterfactual VQA: A Cause-Effect Look at Language Bias</a:t>
            </a:r>
            <a:endParaRPr lang="zh-CN" altLang="en-US" sz="2000" dirty="0"/>
          </a:p>
        </p:txBody>
      </p:sp>
      <p:sp>
        <p:nvSpPr>
          <p:cNvPr id="5" name="日期占位符 4">
            <a:extLst>
              <a:ext uri="{FF2B5EF4-FFF2-40B4-BE49-F238E27FC236}">
                <a16:creationId xmlns:a16="http://schemas.microsoft.com/office/drawing/2014/main" id="{746D8F76-9FB4-40C2-8B44-5CD6E64C11F2}"/>
              </a:ext>
            </a:extLst>
          </p:cNvPr>
          <p:cNvSpPr>
            <a:spLocks noGrp="1"/>
          </p:cNvSpPr>
          <p:nvPr>
            <p:ph type="dt" sz="half" idx="12"/>
          </p:nvPr>
        </p:nvSpPr>
        <p:spPr/>
        <p:txBody>
          <a:bodyPr/>
          <a:lstStyle/>
          <a:p>
            <a:fld id="{63ADDE33-C9F1-F94F-A20E-DA422DA466DF}" type="datetime1">
              <a:rPr lang="en-US" smtClean="0"/>
              <a:t>9/8/2022</a:t>
            </a:fld>
            <a:endParaRPr lang="en-US" dirty="0"/>
          </a:p>
        </p:txBody>
      </p:sp>
      <p:sp>
        <p:nvSpPr>
          <p:cNvPr id="7" name="文本框 6">
            <a:extLst>
              <a:ext uri="{FF2B5EF4-FFF2-40B4-BE49-F238E27FC236}">
                <a16:creationId xmlns:a16="http://schemas.microsoft.com/office/drawing/2014/main" id="{2ED472C4-7D73-496F-9BD9-D8FA43D43DBD}"/>
              </a:ext>
            </a:extLst>
          </p:cNvPr>
          <p:cNvSpPr txBox="1"/>
          <p:nvPr/>
        </p:nvSpPr>
        <p:spPr>
          <a:xfrm>
            <a:off x="236184" y="873924"/>
            <a:ext cx="8603015" cy="830997"/>
          </a:xfrm>
          <a:prstGeom prst="rect">
            <a:avLst/>
          </a:prstGeom>
          <a:noFill/>
        </p:spPr>
        <p:txBody>
          <a:bodyPr wrap="square" rtlCol="0">
            <a:spAutoFit/>
          </a:bodyPr>
          <a:lstStyle/>
          <a:p>
            <a:r>
              <a:rPr lang="en-US" altLang="zh-CN" sz="1600" b="1" dirty="0"/>
              <a:t>Motivation</a:t>
            </a:r>
            <a:r>
              <a:rPr lang="en-US" altLang="zh-CN" sz="1600" dirty="0"/>
              <a:t>: 1) VQA models may rely on spurious linguistic correlations rather than multi-modal reasoning. 2) It will fail to generalize well if they simply memorize the strong language priors in the training data. 3) the goal is to mitigate language bias in VQA</a:t>
            </a:r>
            <a:endParaRPr lang="zh-CN" altLang="en-US" sz="1600" dirty="0"/>
          </a:p>
        </p:txBody>
      </p:sp>
    </p:spTree>
    <p:extLst>
      <p:ext uri="{BB962C8B-B14F-4D97-AF65-F5344CB8AC3E}">
        <p14:creationId xmlns:p14="http://schemas.microsoft.com/office/powerpoint/2010/main" val="29533329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95AA11C2-7A6D-4468-BAC8-0D46C3938011}"/>
              </a:ext>
            </a:extLst>
          </p:cNvPr>
          <p:cNvSpPr>
            <a:spLocks noGrp="1"/>
          </p:cNvSpPr>
          <p:nvPr>
            <p:ph type="sldNum" sz="quarter" idx="11"/>
          </p:nvPr>
        </p:nvSpPr>
        <p:spPr/>
        <p:txBody>
          <a:bodyPr/>
          <a:lstStyle/>
          <a:p>
            <a:fld id="{2AEAD966-1EF9-3A44-9B11-0C8090371A9A}" type="slidenum">
              <a:rPr lang="en-US" smtClean="0"/>
              <a:t>63</a:t>
            </a:fld>
            <a:endParaRPr lang="en-US"/>
          </a:p>
        </p:txBody>
      </p:sp>
      <p:sp>
        <p:nvSpPr>
          <p:cNvPr id="4" name="标题 3">
            <a:extLst>
              <a:ext uri="{FF2B5EF4-FFF2-40B4-BE49-F238E27FC236}">
                <a16:creationId xmlns:a16="http://schemas.microsoft.com/office/drawing/2014/main" id="{4D8F50E0-F35D-4044-88B8-903F52EE9FEF}"/>
              </a:ext>
            </a:extLst>
          </p:cNvPr>
          <p:cNvSpPr>
            <a:spLocks noGrp="1"/>
          </p:cNvSpPr>
          <p:nvPr>
            <p:ph type="title"/>
          </p:nvPr>
        </p:nvSpPr>
        <p:spPr/>
        <p:txBody>
          <a:bodyPr>
            <a:noAutofit/>
          </a:bodyPr>
          <a:lstStyle/>
          <a:p>
            <a:r>
              <a:rPr lang="en-US" altLang="zh-CN" sz="2000" dirty="0"/>
              <a:t>Representative Work1: Counterfactual VQA: A Cause-Effect Look at Language Bias</a:t>
            </a:r>
            <a:endParaRPr lang="zh-CN" altLang="en-US" sz="2000" dirty="0"/>
          </a:p>
        </p:txBody>
      </p:sp>
      <p:sp>
        <p:nvSpPr>
          <p:cNvPr id="5" name="日期占位符 4">
            <a:extLst>
              <a:ext uri="{FF2B5EF4-FFF2-40B4-BE49-F238E27FC236}">
                <a16:creationId xmlns:a16="http://schemas.microsoft.com/office/drawing/2014/main" id="{A68DD04D-FE56-4AFC-8145-F7D7FA347509}"/>
              </a:ext>
            </a:extLst>
          </p:cNvPr>
          <p:cNvSpPr>
            <a:spLocks noGrp="1"/>
          </p:cNvSpPr>
          <p:nvPr>
            <p:ph type="dt" sz="half" idx="12"/>
          </p:nvPr>
        </p:nvSpPr>
        <p:spPr/>
        <p:txBody>
          <a:bodyPr/>
          <a:lstStyle/>
          <a:p>
            <a:fld id="{63ADDE33-C9F1-F94F-A20E-DA422DA466DF}" type="datetime1">
              <a:rPr lang="en-US" smtClean="0"/>
              <a:t>9/8/2022</a:t>
            </a:fld>
            <a:endParaRPr lang="en-US" dirty="0"/>
          </a:p>
        </p:txBody>
      </p:sp>
      <p:pic>
        <p:nvPicPr>
          <p:cNvPr id="7" name="图片 6">
            <a:extLst>
              <a:ext uri="{FF2B5EF4-FFF2-40B4-BE49-F238E27FC236}">
                <a16:creationId xmlns:a16="http://schemas.microsoft.com/office/drawing/2014/main" id="{AD8312F2-C752-4A9B-A6D1-671D2DAD7B2D}"/>
              </a:ext>
            </a:extLst>
          </p:cNvPr>
          <p:cNvPicPr>
            <a:picLocks noChangeAspect="1"/>
          </p:cNvPicPr>
          <p:nvPr/>
        </p:nvPicPr>
        <p:blipFill>
          <a:blip r:embed="rId2"/>
          <a:stretch>
            <a:fillRect/>
          </a:stretch>
        </p:blipFill>
        <p:spPr>
          <a:xfrm>
            <a:off x="276225" y="1680809"/>
            <a:ext cx="5553075" cy="3496381"/>
          </a:xfrm>
          <a:prstGeom prst="rect">
            <a:avLst/>
          </a:prstGeom>
        </p:spPr>
      </p:pic>
      <p:sp>
        <p:nvSpPr>
          <p:cNvPr id="9" name="文本框 8">
            <a:extLst>
              <a:ext uri="{FF2B5EF4-FFF2-40B4-BE49-F238E27FC236}">
                <a16:creationId xmlns:a16="http://schemas.microsoft.com/office/drawing/2014/main" id="{5D050411-5ED8-45AB-A134-4490FCF8CE99}"/>
              </a:ext>
            </a:extLst>
          </p:cNvPr>
          <p:cNvSpPr txBox="1"/>
          <p:nvPr/>
        </p:nvSpPr>
        <p:spPr>
          <a:xfrm>
            <a:off x="206825" y="889061"/>
            <a:ext cx="8063617" cy="830997"/>
          </a:xfrm>
          <a:prstGeom prst="rect">
            <a:avLst/>
          </a:prstGeom>
          <a:noFill/>
        </p:spPr>
        <p:txBody>
          <a:bodyPr wrap="square" rtlCol="0">
            <a:spAutoFit/>
          </a:bodyPr>
          <a:lstStyle/>
          <a:p>
            <a:r>
              <a:rPr lang="en-US" altLang="zh-CN" sz="1600" b="1" dirty="0"/>
              <a:t>SCM and Method</a:t>
            </a:r>
            <a:r>
              <a:rPr lang="en-US" altLang="zh-CN" sz="1600" dirty="0"/>
              <a:t>: capture the language bias as the direct causal effect of questions on answers and reduce the language bias by subtracting the direct language effect from the total causal effect</a:t>
            </a:r>
            <a:endParaRPr lang="zh-CN" altLang="en-US" sz="1600" dirty="0"/>
          </a:p>
        </p:txBody>
      </p:sp>
      <p:pic>
        <p:nvPicPr>
          <p:cNvPr id="11" name="图片 10">
            <a:extLst>
              <a:ext uri="{FF2B5EF4-FFF2-40B4-BE49-F238E27FC236}">
                <a16:creationId xmlns:a16="http://schemas.microsoft.com/office/drawing/2014/main" id="{3D7C41F2-2D2E-4A88-82A5-AB8D7740770C}"/>
              </a:ext>
            </a:extLst>
          </p:cNvPr>
          <p:cNvPicPr>
            <a:picLocks noChangeAspect="1"/>
          </p:cNvPicPr>
          <p:nvPr/>
        </p:nvPicPr>
        <p:blipFill>
          <a:blip r:embed="rId3"/>
          <a:stretch>
            <a:fillRect/>
          </a:stretch>
        </p:blipFill>
        <p:spPr>
          <a:xfrm>
            <a:off x="514350" y="5694561"/>
            <a:ext cx="4343400" cy="571500"/>
          </a:xfrm>
          <a:prstGeom prst="rect">
            <a:avLst/>
          </a:prstGeom>
        </p:spPr>
      </p:pic>
      <p:pic>
        <p:nvPicPr>
          <p:cNvPr id="12" name="图片 11">
            <a:extLst>
              <a:ext uri="{FF2B5EF4-FFF2-40B4-BE49-F238E27FC236}">
                <a16:creationId xmlns:a16="http://schemas.microsoft.com/office/drawing/2014/main" id="{3D4F43C3-EE8E-4A1F-8715-43D38132F236}"/>
              </a:ext>
            </a:extLst>
          </p:cNvPr>
          <p:cNvPicPr>
            <a:picLocks noChangeAspect="1"/>
          </p:cNvPicPr>
          <p:nvPr/>
        </p:nvPicPr>
        <p:blipFill>
          <a:blip r:embed="rId4"/>
          <a:stretch>
            <a:fillRect/>
          </a:stretch>
        </p:blipFill>
        <p:spPr>
          <a:xfrm>
            <a:off x="178468" y="5195242"/>
            <a:ext cx="4181475" cy="552450"/>
          </a:xfrm>
          <a:prstGeom prst="rect">
            <a:avLst/>
          </a:prstGeom>
        </p:spPr>
      </p:pic>
    </p:spTree>
    <p:extLst>
      <p:ext uri="{BB962C8B-B14F-4D97-AF65-F5344CB8AC3E}">
        <p14:creationId xmlns:p14="http://schemas.microsoft.com/office/powerpoint/2010/main" val="12742070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4E46E65D-18F8-4097-A26C-A5E218A349C7}"/>
              </a:ext>
            </a:extLst>
          </p:cNvPr>
          <p:cNvSpPr>
            <a:spLocks noGrp="1"/>
          </p:cNvSpPr>
          <p:nvPr>
            <p:ph type="sldNum" sz="quarter" idx="11"/>
          </p:nvPr>
        </p:nvSpPr>
        <p:spPr/>
        <p:txBody>
          <a:bodyPr/>
          <a:lstStyle/>
          <a:p>
            <a:fld id="{2AEAD966-1EF9-3A44-9B11-0C8090371A9A}" type="slidenum">
              <a:rPr lang="en-US" smtClean="0"/>
              <a:t>64</a:t>
            </a:fld>
            <a:endParaRPr lang="en-US"/>
          </a:p>
        </p:txBody>
      </p:sp>
      <p:sp>
        <p:nvSpPr>
          <p:cNvPr id="4" name="标题 3">
            <a:extLst>
              <a:ext uri="{FF2B5EF4-FFF2-40B4-BE49-F238E27FC236}">
                <a16:creationId xmlns:a16="http://schemas.microsoft.com/office/drawing/2014/main" id="{323BD9D1-92BE-482B-9766-83A4AB32BA37}"/>
              </a:ext>
            </a:extLst>
          </p:cNvPr>
          <p:cNvSpPr>
            <a:spLocks noGrp="1"/>
          </p:cNvSpPr>
          <p:nvPr>
            <p:ph type="title"/>
          </p:nvPr>
        </p:nvSpPr>
        <p:spPr/>
        <p:txBody>
          <a:bodyPr>
            <a:noAutofit/>
          </a:bodyPr>
          <a:lstStyle/>
          <a:p>
            <a:r>
              <a:rPr lang="en-US" altLang="zh-CN" sz="2000" dirty="0"/>
              <a:t>Representative Work1: Counterfactual VQA: A Cause-Effect Look at Language Bias</a:t>
            </a:r>
            <a:endParaRPr lang="zh-CN" altLang="en-US" sz="2000" dirty="0"/>
          </a:p>
        </p:txBody>
      </p:sp>
      <p:sp>
        <p:nvSpPr>
          <p:cNvPr id="5" name="日期占位符 4">
            <a:extLst>
              <a:ext uri="{FF2B5EF4-FFF2-40B4-BE49-F238E27FC236}">
                <a16:creationId xmlns:a16="http://schemas.microsoft.com/office/drawing/2014/main" id="{3D4B0091-39A6-4CE8-9223-BB93DC357F6B}"/>
              </a:ext>
            </a:extLst>
          </p:cNvPr>
          <p:cNvSpPr>
            <a:spLocks noGrp="1"/>
          </p:cNvSpPr>
          <p:nvPr>
            <p:ph type="dt" sz="half" idx="12"/>
          </p:nvPr>
        </p:nvSpPr>
        <p:spPr/>
        <p:txBody>
          <a:bodyPr/>
          <a:lstStyle/>
          <a:p>
            <a:fld id="{63ADDE33-C9F1-F94F-A20E-DA422DA466DF}" type="datetime1">
              <a:rPr lang="en-US" smtClean="0"/>
              <a:t>9/5/2022</a:t>
            </a:fld>
            <a:endParaRPr lang="en-US" dirty="0"/>
          </a:p>
        </p:txBody>
      </p:sp>
      <p:pic>
        <p:nvPicPr>
          <p:cNvPr id="6" name="图片 5">
            <a:extLst>
              <a:ext uri="{FF2B5EF4-FFF2-40B4-BE49-F238E27FC236}">
                <a16:creationId xmlns:a16="http://schemas.microsoft.com/office/drawing/2014/main" id="{5F263F49-1A26-4FB0-AD8C-6A0E00B2E43F}"/>
              </a:ext>
            </a:extLst>
          </p:cNvPr>
          <p:cNvPicPr>
            <a:picLocks noChangeAspect="1"/>
          </p:cNvPicPr>
          <p:nvPr/>
        </p:nvPicPr>
        <p:blipFill>
          <a:blip r:embed="rId2"/>
          <a:stretch>
            <a:fillRect/>
          </a:stretch>
        </p:blipFill>
        <p:spPr>
          <a:xfrm>
            <a:off x="464218" y="1687064"/>
            <a:ext cx="7972425" cy="3037502"/>
          </a:xfrm>
          <a:prstGeom prst="rect">
            <a:avLst/>
          </a:prstGeom>
        </p:spPr>
      </p:pic>
      <p:sp>
        <p:nvSpPr>
          <p:cNvPr id="7" name="文本框 6">
            <a:extLst>
              <a:ext uri="{FF2B5EF4-FFF2-40B4-BE49-F238E27FC236}">
                <a16:creationId xmlns:a16="http://schemas.microsoft.com/office/drawing/2014/main" id="{D6ECA407-57E3-4383-80CC-EB50CC425514}"/>
              </a:ext>
            </a:extLst>
          </p:cNvPr>
          <p:cNvSpPr txBox="1"/>
          <p:nvPr/>
        </p:nvSpPr>
        <p:spPr>
          <a:xfrm>
            <a:off x="464217" y="1028700"/>
            <a:ext cx="3698207" cy="369332"/>
          </a:xfrm>
          <a:prstGeom prst="rect">
            <a:avLst/>
          </a:prstGeom>
          <a:noFill/>
        </p:spPr>
        <p:txBody>
          <a:bodyPr wrap="square" rtlCol="0">
            <a:spAutoFit/>
          </a:bodyPr>
          <a:lstStyle/>
          <a:p>
            <a:r>
              <a:rPr lang="en-US" altLang="zh-CN" b="1" dirty="0"/>
              <a:t>Experimental Performance</a:t>
            </a:r>
            <a:endParaRPr lang="zh-CN" altLang="en-US" b="1" dirty="0"/>
          </a:p>
        </p:txBody>
      </p:sp>
    </p:spTree>
    <p:extLst>
      <p:ext uri="{BB962C8B-B14F-4D97-AF65-F5344CB8AC3E}">
        <p14:creationId xmlns:p14="http://schemas.microsoft.com/office/powerpoint/2010/main" val="39010750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90972E3-26DD-4D0B-AC6E-E60A4804B694}"/>
              </a:ext>
            </a:extLst>
          </p:cNvPr>
          <p:cNvSpPr>
            <a:spLocks noGrp="1"/>
          </p:cNvSpPr>
          <p:nvPr>
            <p:ph type="sldNum" sz="quarter" idx="11"/>
          </p:nvPr>
        </p:nvSpPr>
        <p:spPr/>
        <p:txBody>
          <a:bodyPr/>
          <a:lstStyle/>
          <a:p>
            <a:fld id="{2AEAD966-1EF9-3A44-9B11-0C8090371A9A}" type="slidenum">
              <a:rPr lang="en-US" smtClean="0"/>
              <a:t>65</a:t>
            </a:fld>
            <a:endParaRPr lang="en-US"/>
          </a:p>
        </p:txBody>
      </p:sp>
      <p:sp>
        <p:nvSpPr>
          <p:cNvPr id="4" name="标题 3">
            <a:extLst>
              <a:ext uri="{FF2B5EF4-FFF2-40B4-BE49-F238E27FC236}">
                <a16:creationId xmlns:a16="http://schemas.microsoft.com/office/drawing/2014/main" id="{DF7EC938-A0F0-494D-A53A-4F74B14097DA}"/>
              </a:ext>
            </a:extLst>
          </p:cNvPr>
          <p:cNvSpPr>
            <a:spLocks noGrp="1"/>
          </p:cNvSpPr>
          <p:nvPr>
            <p:ph type="title"/>
          </p:nvPr>
        </p:nvSpPr>
        <p:spPr/>
        <p:txBody>
          <a:bodyPr>
            <a:noAutofit/>
          </a:bodyPr>
          <a:lstStyle/>
          <a:p>
            <a:r>
              <a:rPr lang="en-US" altLang="zh-CN" sz="2000" dirty="0"/>
              <a:t>Representative Work2: Counterfactual Attention Learning for Fine-Grained Visual Categorization and Re-identification</a:t>
            </a:r>
            <a:endParaRPr lang="zh-CN" altLang="en-US" sz="2000" dirty="0"/>
          </a:p>
        </p:txBody>
      </p:sp>
      <p:sp>
        <p:nvSpPr>
          <p:cNvPr id="5" name="日期占位符 4">
            <a:extLst>
              <a:ext uri="{FF2B5EF4-FFF2-40B4-BE49-F238E27FC236}">
                <a16:creationId xmlns:a16="http://schemas.microsoft.com/office/drawing/2014/main" id="{324E801F-F4D5-4304-A477-596E481F35F8}"/>
              </a:ext>
            </a:extLst>
          </p:cNvPr>
          <p:cNvSpPr>
            <a:spLocks noGrp="1"/>
          </p:cNvSpPr>
          <p:nvPr>
            <p:ph type="dt" sz="half" idx="12"/>
          </p:nvPr>
        </p:nvSpPr>
        <p:spPr/>
        <p:txBody>
          <a:bodyPr/>
          <a:lstStyle/>
          <a:p>
            <a:fld id="{63ADDE33-C9F1-F94F-A20E-DA422DA466DF}" type="datetime1">
              <a:rPr lang="en-US" smtClean="0"/>
              <a:t>9/8/2022</a:t>
            </a:fld>
            <a:endParaRPr lang="en-US" dirty="0"/>
          </a:p>
        </p:txBody>
      </p:sp>
      <p:pic>
        <p:nvPicPr>
          <p:cNvPr id="6" name="图片 5">
            <a:extLst>
              <a:ext uri="{FF2B5EF4-FFF2-40B4-BE49-F238E27FC236}">
                <a16:creationId xmlns:a16="http://schemas.microsoft.com/office/drawing/2014/main" id="{B2F4DED0-DE88-413A-ACC2-61FC4F58C5FD}"/>
              </a:ext>
            </a:extLst>
          </p:cNvPr>
          <p:cNvPicPr>
            <a:picLocks noChangeAspect="1"/>
          </p:cNvPicPr>
          <p:nvPr/>
        </p:nvPicPr>
        <p:blipFill>
          <a:blip r:embed="rId2"/>
          <a:stretch>
            <a:fillRect/>
          </a:stretch>
        </p:blipFill>
        <p:spPr>
          <a:xfrm>
            <a:off x="738196" y="1895228"/>
            <a:ext cx="6334125" cy="4514850"/>
          </a:xfrm>
          <a:prstGeom prst="rect">
            <a:avLst/>
          </a:prstGeom>
        </p:spPr>
      </p:pic>
      <p:sp>
        <p:nvSpPr>
          <p:cNvPr id="7" name="文本框 6">
            <a:extLst>
              <a:ext uri="{FF2B5EF4-FFF2-40B4-BE49-F238E27FC236}">
                <a16:creationId xmlns:a16="http://schemas.microsoft.com/office/drawing/2014/main" id="{B9B804F2-9508-4D6C-9CB2-9FA1B98C9107}"/>
              </a:ext>
            </a:extLst>
          </p:cNvPr>
          <p:cNvSpPr txBox="1"/>
          <p:nvPr/>
        </p:nvSpPr>
        <p:spPr>
          <a:xfrm>
            <a:off x="476249" y="923833"/>
            <a:ext cx="7739333" cy="584775"/>
          </a:xfrm>
          <a:prstGeom prst="rect">
            <a:avLst/>
          </a:prstGeom>
          <a:noFill/>
        </p:spPr>
        <p:txBody>
          <a:bodyPr wrap="square" rtlCol="0">
            <a:spAutoFit/>
          </a:bodyPr>
          <a:lstStyle/>
          <a:p>
            <a:r>
              <a:rPr lang="en-US" altLang="zh-CN" sz="1600" b="1" dirty="0"/>
              <a:t>Motivation</a:t>
            </a:r>
            <a:r>
              <a:rPr lang="en-US" altLang="zh-CN" sz="1600" dirty="0"/>
              <a:t>: there are biases for both attributes and environment, which indicates either background and single part are not reliable clues for classification.</a:t>
            </a:r>
            <a:endParaRPr lang="zh-CN" altLang="en-US" sz="1600" dirty="0"/>
          </a:p>
        </p:txBody>
      </p:sp>
    </p:spTree>
    <p:extLst>
      <p:ext uri="{BB962C8B-B14F-4D97-AF65-F5344CB8AC3E}">
        <p14:creationId xmlns:p14="http://schemas.microsoft.com/office/powerpoint/2010/main" val="4768849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90972E3-26DD-4D0B-AC6E-E60A4804B694}"/>
              </a:ext>
            </a:extLst>
          </p:cNvPr>
          <p:cNvSpPr>
            <a:spLocks noGrp="1"/>
          </p:cNvSpPr>
          <p:nvPr>
            <p:ph type="sldNum" sz="quarter" idx="11"/>
          </p:nvPr>
        </p:nvSpPr>
        <p:spPr/>
        <p:txBody>
          <a:bodyPr/>
          <a:lstStyle/>
          <a:p>
            <a:fld id="{2AEAD966-1EF9-3A44-9B11-0C8090371A9A}" type="slidenum">
              <a:rPr lang="en-US" smtClean="0"/>
              <a:t>66</a:t>
            </a:fld>
            <a:endParaRPr lang="en-US"/>
          </a:p>
        </p:txBody>
      </p:sp>
      <p:sp>
        <p:nvSpPr>
          <p:cNvPr id="4" name="标题 3">
            <a:extLst>
              <a:ext uri="{FF2B5EF4-FFF2-40B4-BE49-F238E27FC236}">
                <a16:creationId xmlns:a16="http://schemas.microsoft.com/office/drawing/2014/main" id="{DF7EC938-A0F0-494D-A53A-4F74B14097DA}"/>
              </a:ext>
            </a:extLst>
          </p:cNvPr>
          <p:cNvSpPr>
            <a:spLocks noGrp="1"/>
          </p:cNvSpPr>
          <p:nvPr>
            <p:ph type="title"/>
          </p:nvPr>
        </p:nvSpPr>
        <p:spPr/>
        <p:txBody>
          <a:bodyPr>
            <a:noAutofit/>
          </a:bodyPr>
          <a:lstStyle/>
          <a:p>
            <a:r>
              <a:rPr lang="en-US" altLang="zh-CN" sz="2000" dirty="0"/>
              <a:t>Representative Work2: Counterfactual Attention Learning for Fine-Grained Visual Categorization and Re-identification</a:t>
            </a:r>
            <a:endParaRPr lang="zh-CN" altLang="en-US" sz="2000" dirty="0"/>
          </a:p>
        </p:txBody>
      </p:sp>
      <p:sp>
        <p:nvSpPr>
          <p:cNvPr id="5" name="日期占位符 4">
            <a:extLst>
              <a:ext uri="{FF2B5EF4-FFF2-40B4-BE49-F238E27FC236}">
                <a16:creationId xmlns:a16="http://schemas.microsoft.com/office/drawing/2014/main" id="{324E801F-F4D5-4304-A477-596E481F35F8}"/>
              </a:ext>
            </a:extLst>
          </p:cNvPr>
          <p:cNvSpPr>
            <a:spLocks noGrp="1"/>
          </p:cNvSpPr>
          <p:nvPr>
            <p:ph type="dt" sz="half" idx="12"/>
          </p:nvPr>
        </p:nvSpPr>
        <p:spPr/>
        <p:txBody>
          <a:bodyPr/>
          <a:lstStyle/>
          <a:p>
            <a:fld id="{63ADDE33-C9F1-F94F-A20E-DA422DA466DF}" type="datetime1">
              <a:rPr lang="en-US" smtClean="0"/>
              <a:t>9/5/2022</a:t>
            </a:fld>
            <a:endParaRPr lang="en-US" dirty="0"/>
          </a:p>
        </p:txBody>
      </p:sp>
      <p:sp>
        <p:nvSpPr>
          <p:cNvPr id="7" name="文本框 6">
            <a:extLst>
              <a:ext uri="{FF2B5EF4-FFF2-40B4-BE49-F238E27FC236}">
                <a16:creationId xmlns:a16="http://schemas.microsoft.com/office/drawing/2014/main" id="{B9B804F2-9508-4D6C-9CB2-9FA1B98C9107}"/>
              </a:ext>
            </a:extLst>
          </p:cNvPr>
          <p:cNvSpPr txBox="1"/>
          <p:nvPr/>
        </p:nvSpPr>
        <p:spPr>
          <a:xfrm>
            <a:off x="624468" y="944298"/>
            <a:ext cx="6158726" cy="338554"/>
          </a:xfrm>
          <a:prstGeom prst="rect">
            <a:avLst/>
          </a:prstGeom>
          <a:noFill/>
        </p:spPr>
        <p:txBody>
          <a:bodyPr wrap="square" rtlCol="0">
            <a:spAutoFit/>
          </a:bodyPr>
          <a:lstStyle/>
          <a:p>
            <a:r>
              <a:rPr lang="en-US" altLang="zh-CN" sz="1600" b="1" dirty="0"/>
              <a:t>Motivation</a:t>
            </a:r>
            <a:r>
              <a:rPr lang="en-US" altLang="zh-CN" sz="1600" dirty="0"/>
              <a:t>: biases on the training and testing sets</a:t>
            </a:r>
            <a:endParaRPr lang="zh-CN" altLang="en-US" sz="1600" dirty="0"/>
          </a:p>
        </p:txBody>
      </p:sp>
      <p:pic>
        <p:nvPicPr>
          <p:cNvPr id="2" name="图片 1">
            <a:extLst>
              <a:ext uri="{FF2B5EF4-FFF2-40B4-BE49-F238E27FC236}">
                <a16:creationId xmlns:a16="http://schemas.microsoft.com/office/drawing/2014/main" id="{7C63F176-F84C-4759-AEF9-011023475BBF}"/>
              </a:ext>
            </a:extLst>
          </p:cNvPr>
          <p:cNvPicPr>
            <a:picLocks noChangeAspect="1"/>
          </p:cNvPicPr>
          <p:nvPr/>
        </p:nvPicPr>
        <p:blipFill>
          <a:blip r:embed="rId2"/>
          <a:stretch>
            <a:fillRect/>
          </a:stretch>
        </p:blipFill>
        <p:spPr>
          <a:xfrm>
            <a:off x="1119196" y="1622273"/>
            <a:ext cx="6105525" cy="3943350"/>
          </a:xfrm>
          <a:prstGeom prst="rect">
            <a:avLst/>
          </a:prstGeom>
        </p:spPr>
      </p:pic>
    </p:spTree>
    <p:extLst>
      <p:ext uri="{BB962C8B-B14F-4D97-AF65-F5344CB8AC3E}">
        <p14:creationId xmlns:p14="http://schemas.microsoft.com/office/powerpoint/2010/main" val="116009094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90972E3-26DD-4D0B-AC6E-E60A4804B694}"/>
              </a:ext>
            </a:extLst>
          </p:cNvPr>
          <p:cNvSpPr>
            <a:spLocks noGrp="1"/>
          </p:cNvSpPr>
          <p:nvPr>
            <p:ph type="sldNum" sz="quarter" idx="11"/>
          </p:nvPr>
        </p:nvSpPr>
        <p:spPr/>
        <p:txBody>
          <a:bodyPr/>
          <a:lstStyle/>
          <a:p>
            <a:fld id="{2AEAD966-1EF9-3A44-9B11-0C8090371A9A}" type="slidenum">
              <a:rPr lang="en-US" smtClean="0"/>
              <a:t>67</a:t>
            </a:fld>
            <a:endParaRPr lang="en-US"/>
          </a:p>
        </p:txBody>
      </p:sp>
      <p:sp>
        <p:nvSpPr>
          <p:cNvPr id="4" name="标题 3">
            <a:extLst>
              <a:ext uri="{FF2B5EF4-FFF2-40B4-BE49-F238E27FC236}">
                <a16:creationId xmlns:a16="http://schemas.microsoft.com/office/drawing/2014/main" id="{DF7EC938-A0F0-494D-A53A-4F74B14097DA}"/>
              </a:ext>
            </a:extLst>
          </p:cNvPr>
          <p:cNvSpPr>
            <a:spLocks noGrp="1"/>
          </p:cNvSpPr>
          <p:nvPr>
            <p:ph type="title"/>
          </p:nvPr>
        </p:nvSpPr>
        <p:spPr/>
        <p:txBody>
          <a:bodyPr>
            <a:noAutofit/>
          </a:bodyPr>
          <a:lstStyle/>
          <a:p>
            <a:r>
              <a:rPr lang="en-US" altLang="zh-CN" sz="2000" dirty="0"/>
              <a:t>Representative Work2: Counterfactual Attention Learning for Fine-Grained Visual Categorization and Re-identification</a:t>
            </a:r>
            <a:endParaRPr lang="zh-CN" altLang="en-US" sz="2000" dirty="0"/>
          </a:p>
        </p:txBody>
      </p:sp>
      <p:sp>
        <p:nvSpPr>
          <p:cNvPr id="5" name="日期占位符 4">
            <a:extLst>
              <a:ext uri="{FF2B5EF4-FFF2-40B4-BE49-F238E27FC236}">
                <a16:creationId xmlns:a16="http://schemas.microsoft.com/office/drawing/2014/main" id="{324E801F-F4D5-4304-A477-596E481F35F8}"/>
              </a:ext>
            </a:extLst>
          </p:cNvPr>
          <p:cNvSpPr>
            <a:spLocks noGrp="1"/>
          </p:cNvSpPr>
          <p:nvPr>
            <p:ph type="dt" sz="half" idx="12"/>
          </p:nvPr>
        </p:nvSpPr>
        <p:spPr/>
        <p:txBody>
          <a:bodyPr/>
          <a:lstStyle/>
          <a:p>
            <a:fld id="{63ADDE33-C9F1-F94F-A20E-DA422DA466DF}" type="datetime1">
              <a:rPr lang="en-US" smtClean="0"/>
              <a:t>9/8/2022</a:t>
            </a:fld>
            <a:endParaRPr lang="en-US" dirty="0"/>
          </a:p>
        </p:txBody>
      </p:sp>
      <p:sp>
        <p:nvSpPr>
          <p:cNvPr id="6" name="文本框 5">
            <a:extLst>
              <a:ext uri="{FF2B5EF4-FFF2-40B4-BE49-F238E27FC236}">
                <a16:creationId xmlns:a16="http://schemas.microsoft.com/office/drawing/2014/main" id="{1D1CA97B-8E37-42D7-8983-4CD74D41D5E0}"/>
              </a:ext>
            </a:extLst>
          </p:cNvPr>
          <p:cNvSpPr txBox="1"/>
          <p:nvPr/>
        </p:nvSpPr>
        <p:spPr>
          <a:xfrm>
            <a:off x="514349" y="971550"/>
            <a:ext cx="7739333" cy="584775"/>
          </a:xfrm>
          <a:prstGeom prst="rect">
            <a:avLst/>
          </a:prstGeom>
          <a:noFill/>
        </p:spPr>
        <p:txBody>
          <a:bodyPr wrap="square" rtlCol="0">
            <a:spAutoFit/>
          </a:bodyPr>
          <a:lstStyle/>
          <a:p>
            <a:r>
              <a:rPr lang="en-US" altLang="zh-CN" sz="1600" b="1" dirty="0"/>
              <a:t>SCM and Method</a:t>
            </a:r>
            <a:r>
              <a:rPr lang="en-US" altLang="zh-CN" sz="1600" dirty="0"/>
              <a:t>: Adopt counterfactual intervention to investigate the effects of the learned visual attention</a:t>
            </a:r>
            <a:endParaRPr lang="zh-CN" altLang="en-US" sz="1600" dirty="0"/>
          </a:p>
        </p:txBody>
      </p:sp>
      <p:pic>
        <p:nvPicPr>
          <p:cNvPr id="8" name="图片 7">
            <a:extLst>
              <a:ext uri="{FF2B5EF4-FFF2-40B4-BE49-F238E27FC236}">
                <a16:creationId xmlns:a16="http://schemas.microsoft.com/office/drawing/2014/main" id="{B4DB8297-A261-4CED-8478-8EE4005310DE}"/>
              </a:ext>
            </a:extLst>
          </p:cNvPr>
          <p:cNvPicPr>
            <a:picLocks noChangeAspect="1"/>
          </p:cNvPicPr>
          <p:nvPr/>
        </p:nvPicPr>
        <p:blipFill>
          <a:blip r:embed="rId2"/>
          <a:stretch>
            <a:fillRect/>
          </a:stretch>
        </p:blipFill>
        <p:spPr>
          <a:xfrm>
            <a:off x="218973" y="1623693"/>
            <a:ext cx="8925027" cy="3144193"/>
          </a:xfrm>
          <a:prstGeom prst="rect">
            <a:avLst/>
          </a:prstGeom>
        </p:spPr>
      </p:pic>
      <p:pic>
        <p:nvPicPr>
          <p:cNvPr id="9" name="图片 8">
            <a:extLst>
              <a:ext uri="{FF2B5EF4-FFF2-40B4-BE49-F238E27FC236}">
                <a16:creationId xmlns:a16="http://schemas.microsoft.com/office/drawing/2014/main" id="{430FF29F-2C0F-4C0B-9FD0-603244D7F0E7}"/>
              </a:ext>
            </a:extLst>
          </p:cNvPr>
          <p:cNvPicPr>
            <a:picLocks noChangeAspect="1"/>
          </p:cNvPicPr>
          <p:nvPr/>
        </p:nvPicPr>
        <p:blipFill>
          <a:blip r:embed="rId3"/>
          <a:stretch>
            <a:fillRect/>
          </a:stretch>
        </p:blipFill>
        <p:spPr>
          <a:xfrm>
            <a:off x="368968" y="5005707"/>
            <a:ext cx="5734050" cy="457200"/>
          </a:xfrm>
          <a:prstGeom prst="rect">
            <a:avLst/>
          </a:prstGeom>
        </p:spPr>
      </p:pic>
    </p:spTree>
    <p:extLst>
      <p:ext uri="{BB962C8B-B14F-4D97-AF65-F5344CB8AC3E}">
        <p14:creationId xmlns:p14="http://schemas.microsoft.com/office/powerpoint/2010/main" val="300936657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7156C936-F59F-4F3E-9516-88FA038C629B}"/>
              </a:ext>
            </a:extLst>
          </p:cNvPr>
          <p:cNvSpPr>
            <a:spLocks noGrp="1"/>
          </p:cNvSpPr>
          <p:nvPr>
            <p:ph type="sldNum" sz="quarter" idx="11"/>
          </p:nvPr>
        </p:nvSpPr>
        <p:spPr/>
        <p:txBody>
          <a:bodyPr/>
          <a:lstStyle/>
          <a:p>
            <a:fld id="{2AEAD966-1EF9-3A44-9B11-0C8090371A9A}" type="slidenum">
              <a:rPr lang="en-US" smtClean="0"/>
              <a:t>68</a:t>
            </a:fld>
            <a:endParaRPr lang="en-US"/>
          </a:p>
        </p:txBody>
      </p:sp>
      <p:sp>
        <p:nvSpPr>
          <p:cNvPr id="4" name="标题 3">
            <a:extLst>
              <a:ext uri="{FF2B5EF4-FFF2-40B4-BE49-F238E27FC236}">
                <a16:creationId xmlns:a16="http://schemas.microsoft.com/office/drawing/2014/main" id="{F07DA5ED-4653-42F0-AB0A-9D6F751A9FF3}"/>
              </a:ext>
            </a:extLst>
          </p:cNvPr>
          <p:cNvSpPr>
            <a:spLocks noGrp="1"/>
          </p:cNvSpPr>
          <p:nvPr>
            <p:ph type="title"/>
          </p:nvPr>
        </p:nvSpPr>
        <p:spPr/>
        <p:txBody>
          <a:bodyPr>
            <a:noAutofit/>
          </a:bodyPr>
          <a:lstStyle/>
          <a:p>
            <a:r>
              <a:rPr lang="en-US" altLang="zh-CN" sz="2000" dirty="0"/>
              <a:t>Representative Work3: Counterfactual zero-shot and open-set visual recognition</a:t>
            </a:r>
            <a:endParaRPr lang="zh-CN" altLang="en-US" sz="2000" dirty="0"/>
          </a:p>
        </p:txBody>
      </p:sp>
      <p:sp>
        <p:nvSpPr>
          <p:cNvPr id="5" name="日期占位符 4">
            <a:extLst>
              <a:ext uri="{FF2B5EF4-FFF2-40B4-BE49-F238E27FC236}">
                <a16:creationId xmlns:a16="http://schemas.microsoft.com/office/drawing/2014/main" id="{BE2C8032-7CA5-44F1-892B-E70D21FF0CED}"/>
              </a:ext>
            </a:extLst>
          </p:cNvPr>
          <p:cNvSpPr>
            <a:spLocks noGrp="1"/>
          </p:cNvSpPr>
          <p:nvPr>
            <p:ph type="dt" sz="half" idx="12"/>
          </p:nvPr>
        </p:nvSpPr>
        <p:spPr/>
        <p:txBody>
          <a:bodyPr/>
          <a:lstStyle/>
          <a:p>
            <a:fld id="{63ADDE33-C9F1-F94F-A20E-DA422DA466DF}" type="datetime1">
              <a:rPr lang="en-US" smtClean="0"/>
              <a:t>9/8/2022</a:t>
            </a:fld>
            <a:endParaRPr lang="en-US" dirty="0"/>
          </a:p>
        </p:txBody>
      </p:sp>
      <p:pic>
        <p:nvPicPr>
          <p:cNvPr id="6" name="图片 5">
            <a:extLst>
              <a:ext uri="{FF2B5EF4-FFF2-40B4-BE49-F238E27FC236}">
                <a16:creationId xmlns:a16="http://schemas.microsoft.com/office/drawing/2014/main" id="{B2B4375B-A367-43C1-AE3D-22102CC56A83}"/>
              </a:ext>
            </a:extLst>
          </p:cNvPr>
          <p:cNvPicPr>
            <a:picLocks noChangeAspect="1"/>
          </p:cNvPicPr>
          <p:nvPr/>
        </p:nvPicPr>
        <p:blipFill>
          <a:blip r:embed="rId2"/>
          <a:stretch>
            <a:fillRect/>
          </a:stretch>
        </p:blipFill>
        <p:spPr>
          <a:xfrm>
            <a:off x="128949" y="2348483"/>
            <a:ext cx="8886102" cy="3570733"/>
          </a:xfrm>
          <a:prstGeom prst="rect">
            <a:avLst/>
          </a:prstGeom>
        </p:spPr>
      </p:pic>
      <p:sp>
        <p:nvSpPr>
          <p:cNvPr id="7" name="文本框 6">
            <a:extLst>
              <a:ext uri="{FF2B5EF4-FFF2-40B4-BE49-F238E27FC236}">
                <a16:creationId xmlns:a16="http://schemas.microsoft.com/office/drawing/2014/main" id="{87D707BA-FA68-4873-879B-ADA62F94E6C9}"/>
              </a:ext>
            </a:extLst>
          </p:cNvPr>
          <p:cNvSpPr txBox="1"/>
          <p:nvPr/>
        </p:nvSpPr>
        <p:spPr>
          <a:xfrm>
            <a:off x="438149" y="990600"/>
            <a:ext cx="8372475" cy="1323439"/>
          </a:xfrm>
          <a:prstGeom prst="rect">
            <a:avLst/>
          </a:prstGeom>
          <a:noFill/>
        </p:spPr>
        <p:txBody>
          <a:bodyPr wrap="square" rtlCol="0">
            <a:spAutoFit/>
          </a:bodyPr>
          <a:lstStyle/>
          <a:p>
            <a:r>
              <a:rPr lang="en-US" altLang="zh-CN" sz="1600" b="1" dirty="0"/>
              <a:t>Motivation</a:t>
            </a:r>
            <a:r>
              <a:rPr lang="en-US" altLang="zh-CN" sz="1600" dirty="0"/>
              <a:t>: </a:t>
            </a:r>
            <a:r>
              <a:rPr lang="en-US" altLang="zh-CN" sz="1600" b="1" dirty="0"/>
              <a:t>1)</a:t>
            </a:r>
            <a:r>
              <a:rPr lang="en-US" altLang="zh-CN" sz="1600" dirty="0"/>
              <a:t> the common challenge of Both Zero-Shot Learning (ZSL) and Open-Set Recognition (OSR) is generalizing to the unseen-classes by only training on the seen-classes.  </a:t>
            </a:r>
            <a:r>
              <a:rPr lang="en-US" altLang="zh-CN" sz="1600" b="1" dirty="0"/>
              <a:t>2)</a:t>
            </a:r>
            <a:r>
              <a:rPr lang="en-US" altLang="zh-CN" sz="1600" dirty="0"/>
              <a:t> the generated samples for unseen-classes are often out of the true distribution, which causes severe recognition rate imbalance between the seen-class (high) and unseen-class (low).</a:t>
            </a:r>
            <a:endParaRPr lang="zh-CN" altLang="en-US" sz="1600" dirty="0"/>
          </a:p>
        </p:txBody>
      </p:sp>
    </p:spTree>
    <p:extLst>
      <p:ext uri="{BB962C8B-B14F-4D97-AF65-F5344CB8AC3E}">
        <p14:creationId xmlns:p14="http://schemas.microsoft.com/office/powerpoint/2010/main" val="380833453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D4E53C3F-1BA0-4C1D-81D9-805B4E39A53B}"/>
                  </a:ext>
                </a:extLst>
              </p:cNvPr>
              <p:cNvSpPr>
                <a:spLocks noGrp="1"/>
              </p:cNvSpPr>
              <p:nvPr>
                <p:ph idx="1"/>
              </p:nvPr>
            </p:nvSpPr>
            <p:spPr/>
            <p:txBody>
              <a:bodyPr>
                <a:normAutofit/>
              </a:bodyPr>
              <a:lstStyle/>
              <a:p>
                <a:pPr>
                  <a:buClr>
                    <a:schemeClr val="accent6">
                      <a:lumMod val="50000"/>
                    </a:schemeClr>
                  </a:buClr>
                </a:pPr>
                <a:r>
                  <a:rPr lang="en-US" altLang="zh-CN" sz="1800" dirty="0"/>
                  <a:t>Given a sample x, we use the GCM to generate counterfactual samples 		           following the three steps of computing counterfactual :</a:t>
                </a:r>
              </a:p>
              <a:p>
                <a:pPr marL="434340" indent="-342900">
                  <a:buClr>
                    <a:schemeClr val="accent6">
                      <a:lumMod val="50000"/>
                    </a:schemeClr>
                  </a:buClr>
                  <a:buFont typeface="Wingdings" panose="05000000000000000000" pitchFamily="2" charset="2"/>
                  <a:buChar char="l"/>
                </a:pPr>
                <a:r>
                  <a:rPr lang="en-US" altLang="zh-CN" sz="1600" b="1" dirty="0"/>
                  <a:t>Abduction-</a:t>
                </a:r>
                <a:r>
                  <a:rPr lang="en-US" altLang="zh-CN" sz="1600" dirty="0"/>
                  <a:t>“given the fact that Z = z(x)”. We solve for the endogenous sample attribute z(x) given the evidence X = </a:t>
                </a:r>
                <a14:m>
                  <m:oMath xmlns:m="http://schemas.openxmlformats.org/officeDocument/2006/math">
                    <m:acc>
                      <m:accPr>
                        <m:chr m:val="̃"/>
                        <m:ctrlPr>
                          <a:rPr lang="en-US" altLang="zh-CN" sz="1600" i="1" smtClean="0">
                            <a:latin typeface="Cambria Math" panose="02040503050406030204" pitchFamily="18" charset="0"/>
                          </a:rPr>
                        </m:ctrlPr>
                      </m:accPr>
                      <m:e>
                        <m:r>
                          <m:rPr>
                            <m:sty m:val="p"/>
                          </m:rPr>
                          <a:rPr lang="en-US" altLang="zh-CN" sz="1600" i="1">
                            <a:latin typeface="Cambria Math" panose="02040503050406030204" pitchFamily="18" charset="0"/>
                          </a:rPr>
                          <m:t>x</m:t>
                        </m:r>
                      </m:e>
                    </m:acc>
                  </m:oMath>
                </a14:m>
                <a:r>
                  <a:rPr lang="en-US" altLang="zh-CN" sz="1600" dirty="0"/>
                  <a:t>.</a:t>
                </a:r>
              </a:p>
              <a:p>
                <a:pPr marL="434340" indent="-342900">
                  <a:buClr>
                    <a:schemeClr val="accent6">
                      <a:lumMod val="50000"/>
                    </a:schemeClr>
                  </a:buClr>
                  <a:buFont typeface="Wingdings" panose="05000000000000000000" pitchFamily="2" charset="2"/>
                  <a:buChar char="l"/>
                </a:pPr>
                <a:r>
                  <a:rPr lang="en-US" altLang="zh-CN" sz="1600" b="1" dirty="0"/>
                  <a:t>Action-</a:t>
                </a:r>
                <a:r>
                  <a:rPr lang="en-US" altLang="zh-CN" sz="1600" dirty="0"/>
                  <a:t>“had Y been y” , we intervene on Y by discarding the inferred value and setting Y as y</a:t>
                </a:r>
              </a:p>
              <a:p>
                <a:pPr marL="434340" indent="-342900">
                  <a:buClr>
                    <a:schemeClr val="accent6">
                      <a:lumMod val="50000"/>
                    </a:schemeClr>
                  </a:buClr>
                  <a:buFont typeface="Wingdings" panose="05000000000000000000" pitchFamily="2" charset="2"/>
                  <a:buChar char="l"/>
                </a:pPr>
                <a:r>
                  <a:rPr lang="en-US" altLang="zh-CN" sz="1600" b="1" dirty="0"/>
                  <a:t>Prediction-</a:t>
                </a:r>
                <a:r>
                  <a:rPr lang="en-US" altLang="zh-CN" sz="1600" dirty="0"/>
                  <a:t>“X would be </a:t>
                </a:r>
                <a14:m>
                  <m:oMath xmlns:m="http://schemas.openxmlformats.org/officeDocument/2006/math">
                    <m:acc>
                      <m:accPr>
                        <m:chr m:val="̃"/>
                        <m:ctrlPr>
                          <a:rPr lang="en-US" altLang="zh-CN" sz="1600" i="1">
                            <a:latin typeface="Cambria Math" panose="02040503050406030204" pitchFamily="18" charset="0"/>
                          </a:rPr>
                        </m:ctrlPr>
                      </m:accPr>
                      <m:e>
                        <m:r>
                          <m:rPr>
                            <m:sty m:val="p"/>
                          </m:rPr>
                          <a:rPr lang="en-US" altLang="zh-CN" sz="1600" i="1">
                            <a:latin typeface="Cambria Math" panose="02040503050406030204" pitchFamily="18" charset="0"/>
                          </a:rPr>
                          <m:t>x</m:t>
                        </m:r>
                      </m:e>
                    </m:acc>
                  </m:oMath>
                </a14:m>
                <a:r>
                  <a:rPr lang="en-US" altLang="zh-CN" sz="1600" dirty="0"/>
                  <a:t>”. Conditioning on the inferred Z = z(x) (fact) and the intervention target Y = y (counter- fact), we can generate the counterfactual sample </a:t>
                </a:r>
                <a14:m>
                  <m:oMath xmlns:m="http://schemas.openxmlformats.org/officeDocument/2006/math">
                    <m:acc>
                      <m:accPr>
                        <m:chr m:val="̃"/>
                        <m:ctrlPr>
                          <a:rPr lang="en-US" altLang="zh-CN" sz="1600" i="1">
                            <a:latin typeface="Cambria Math" panose="02040503050406030204" pitchFamily="18" charset="0"/>
                          </a:rPr>
                        </m:ctrlPr>
                      </m:accPr>
                      <m:e>
                        <m:r>
                          <m:rPr>
                            <m:sty m:val="p"/>
                          </m:rPr>
                          <a:rPr lang="en-US" altLang="zh-CN" sz="1600" i="1">
                            <a:latin typeface="Cambria Math" panose="02040503050406030204" pitchFamily="18" charset="0"/>
                          </a:rPr>
                          <m:t>x</m:t>
                        </m:r>
                      </m:e>
                    </m:acc>
                  </m:oMath>
                </a14:m>
                <a:r>
                  <a:rPr lang="en-US" altLang="zh-CN" sz="1600" dirty="0"/>
                  <a:t> from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𝑃</m:t>
                        </m:r>
                      </m:e>
                      <m:sub>
                        <m:r>
                          <m:rPr>
                            <m:sty m:val="p"/>
                          </m:rPr>
                          <a:rPr lang="el-GR" altLang="zh-CN" sz="1600" i="1" smtClean="0">
                            <a:latin typeface="Cambria Math" panose="02040503050406030204" pitchFamily="18" charset="0"/>
                          </a:rPr>
                          <m:t>θ</m:t>
                        </m:r>
                      </m:sub>
                    </m:sSub>
                  </m:oMath>
                </a14:m>
                <a:r>
                  <a:rPr lang="en-US" altLang="zh-CN" sz="1600" dirty="0"/>
                  <a:t>(X|Z = z(x), Y = y)</a:t>
                </a:r>
                <a:endParaRPr lang="zh-CN" altLang="en-US" sz="1600" dirty="0"/>
              </a:p>
            </p:txBody>
          </p:sp>
        </mc:Choice>
        <mc:Fallback>
          <p:sp>
            <p:nvSpPr>
              <p:cNvPr id="2" name="内容占位符 1">
                <a:extLst>
                  <a:ext uri="{FF2B5EF4-FFF2-40B4-BE49-F238E27FC236}">
                    <a16:creationId xmlns:a16="http://schemas.microsoft.com/office/drawing/2014/main" id="{D4E53C3F-1BA0-4C1D-81D9-805B4E39A53B}"/>
                  </a:ext>
                </a:extLst>
              </p:cNvPr>
              <p:cNvSpPr>
                <a:spLocks noGrp="1" noRot="1" noChangeAspect="1" noMove="1" noResize="1" noEditPoints="1" noAdjustHandles="1" noChangeArrowheads="1" noChangeShapeType="1" noTextEdit="1"/>
              </p:cNvSpPr>
              <p:nvPr>
                <p:ph idx="1"/>
              </p:nvPr>
            </p:nvSpPr>
            <p:spPr>
              <a:blipFill>
                <a:blip r:embed="rId2"/>
                <a:stretch>
                  <a:fillRect r="-1011"/>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62D493EE-EC7F-41EC-A575-D33CA370798B}"/>
              </a:ext>
            </a:extLst>
          </p:cNvPr>
          <p:cNvSpPr>
            <a:spLocks noGrp="1"/>
          </p:cNvSpPr>
          <p:nvPr>
            <p:ph type="sldNum" sz="quarter" idx="11"/>
          </p:nvPr>
        </p:nvSpPr>
        <p:spPr/>
        <p:txBody>
          <a:bodyPr/>
          <a:lstStyle/>
          <a:p>
            <a:fld id="{2AEAD966-1EF9-3A44-9B11-0C8090371A9A}" type="slidenum">
              <a:rPr lang="en-US" smtClean="0"/>
              <a:t>69</a:t>
            </a:fld>
            <a:endParaRPr lang="en-US"/>
          </a:p>
        </p:txBody>
      </p:sp>
      <p:sp>
        <p:nvSpPr>
          <p:cNvPr id="4" name="标题 3">
            <a:extLst>
              <a:ext uri="{FF2B5EF4-FFF2-40B4-BE49-F238E27FC236}">
                <a16:creationId xmlns:a16="http://schemas.microsoft.com/office/drawing/2014/main" id="{005055BF-7D0C-42EF-BE7E-B5F26619977F}"/>
              </a:ext>
            </a:extLst>
          </p:cNvPr>
          <p:cNvSpPr>
            <a:spLocks noGrp="1"/>
          </p:cNvSpPr>
          <p:nvPr>
            <p:ph type="title"/>
          </p:nvPr>
        </p:nvSpPr>
        <p:spPr/>
        <p:txBody>
          <a:bodyPr>
            <a:noAutofit/>
          </a:bodyPr>
          <a:lstStyle/>
          <a:p>
            <a:r>
              <a:rPr lang="en-US" altLang="zh-CN" sz="2000" dirty="0"/>
              <a:t>Representative Work3: Counterfactual zero-shot and open-set visual recognition</a:t>
            </a:r>
            <a:endParaRPr lang="zh-CN" altLang="en-US" sz="2000" dirty="0"/>
          </a:p>
        </p:txBody>
      </p:sp>
      <p:pic>
        <p:nvPicPr>
          <p:cNvPr id="6" name="图片 5">
            <a:extLst>
              <a:ext uri="{FF2B5EF4-FFF2-40B4-BE49-F238E27FC236}">
                <a16:creationId xmlns:a16="http://schemas.microsoft.com/office/drawing/2014/main" id="{F426BD4A-F136-4539-BF08-B6AD376308B2}"/>
              </a:ext>
            </a:extLst>
          </p:cNvPr>
          <p:cNvPicPr>
            <a:picLocks noChangeAspect="1"/>
          </p:cNvPicPr>
          <p:nvPr/>
        </p:nvPicPr>
        <p:blipFill>
          <a:blip r:embed="rId3"/>
          <a:stretch>
            <a:fillRect/>
          </a:stretch>
        </p:blipFill>
        <p:spPr>
          <a:xfrm>
            <a:off x="538743" y="1352550"/>
            <a:ext cx="1428750" cy="304800"/>
          </a:xfrm>
          <a:prstGeom prst="rect">
            <a:avLst/>
          </a:prstGeom>
        </p:spPr>
      </p:pic>
      <p:sp>
        <p:nvSpPr>
          <p:cNvPr id="5" name="日期占位符 4">
            <a:extLst>
              <a:ext uri="{FF2B5EF4-FFF2-40B4-BE49-F238E27FC236}">
                <a16:creationId xmlns:a16="http://schemas.microsoft.com/office/drawing/2014/main" id="{D7FF8503-8854-4444-81E3-725BB89AC032}"/>
              </a:ext>
            </a:extLst>
          </p:cNvPr>
          <p:cNvSpPr>
            <a:spLocks noGrp="1"/>
          </p:cNvSpPr>
          <p:nvPr>
            <p:ph type="dt" sz="half" idx="12"/>
          </p:nvPr>
        </p:nvSpPr>
        <p:spPr/>
        <p:txBody>
          <a:bodyPr/>
          <a:lstStyle/>
          <a:p>
            <a:fld id="{63ADDE33-C9F1-F94F-A20E-DA422DA466DF}" type="datetime1">
              <a:rPr lang="en-US" smtClean="0"/>
              <a:t>9/6/2022</a:t>
            </a:fld>
            <a:endParaRPr lang="en-US" dirty="0"/>
          </a:p>
        </p:txBody>
      </p:sp>
    </p:spTree>
    <p:extLst>
      <p:ext uri="{BB962C8B-B14F-4D97-AF65-F5344CB8AC3E}">
        <p14:creationId xmlns:p14="http://schemas.microsoft.com/office/powerpoint/2010/main" val="124084955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4E53C3F-1BA0-4C1D-81D9-805B4E39A53B}"/>
              </a:ext>
            </a:extLst>
          </p:cNvPr>
          <p:cNvSpPr>
            <a:spLocks noGrp="1"/>
          </p:cNvSpPr>
          <p:nvPr>
            <p:ph idx="1"/>
          </p:nvPr>
        </p:nvSpPr>
        <p:spPr/>
        <p:txBody>
          <a:bodyPr>
            <a:normAutofit/>
          </a:bodyPr>
          <a:lstStyle/>
          <a:p>
            <a:pPr>
              <a:buClr>
                <a:schemeClr val="accent6">
                  <a:lumMod val="50000"/>
                </a:schemeClr>
              </a:buClr>
            </a:pPr>
            <a:r>
              <a:rPr lang="en-US" altLang="zh-CN" sz="1600" dirty="0"/>
              <a:t>We want that the above counterfactual sample lies in the true distribution of the seen or unseen samples.</a:t>
            </a:r>
          </a:p>
          <a:p>
            <a:pPr>
              <a:buClr>
                <a:schemeClr val="accent6">
                  <a:lumMod val="50000"/>
                </a:schemeClr>
              </a:buClr>
            </a:pPr>
            <a:endParaRPr lang="en-US" altLang="zh-CN" sz="1600" dirty="0"/>
          </a:p>
          <a:p>
            <a:pPr>
              <a:buClr>
                <a:schemeClr val="accent6">
                  <a:lumMod val="50000"/>
                </a:schemeClr>
              </a:buClr>
            </a:pPr>
            <a:endParaRPr lang="en-US" altLang="zh-CN" sz="1600" dirty="0"/>
          </a:p>
          <a:p>
            <a:pPr>
              <a:buClr>
                <a:schemeClr val="accent6">
                  <a:lumMod val="50000"/>
                </a:schemeClr>
              </a:buClr>
            </a:pPr>
            <a:endParaRPr lang="en-US" altLang="zh-CN" sz="1600" dirty="0"/>
          </a:p>
          <a:p>
            <a:pPr>
              <a:buClr>
                <a:schemeClr val="accent6">
                  <a:lumMod val="50000"/>
                </a:schemeClr>
              </a:buClr>
            </a:pPr>
            <a:r>
              <a:rPr lang="en-US" altLang="zh-CN" sz="1600" dirty="0"/>
              <a:t>This allows us to build a binary classifier on seen/unseen by applying the </a:t>
            </a:r>
            <a:r>
              <a:rPr lang="en-US" altLang="zh-CN" sz="1600" b="1" dirty="0"/>
              <a:t>Consistency Rule</a:t>
            </a:r>
          </a:p>
          <a:p>
            <a:pPr>
              <a:buClr>
                <a:schemeClr val="accent6">
                  <a:lumMod val="50000"/>
                </a:schemeClr>
              </a:buClr>
            </a:pPr>
            <a:endParaRPr lang="en-US" altLang="zh-CN" sz="1600" b="1" dirty="0"/>
          </a:p>
          <a:p>
            <a:pPr>
              <a:buClr>
                <a:schemeClr val="accent6">
                  <a:lumMod val="50000"/>
                </a:schemeClr>
              </a:buClr>
            </a:pPr>
            <a:endParaRPr lang="en-US" altLang="zh-CN" sz="1600" dirty="0"/>
          </a:p>
          <a:p>
            <a:pPr>
              <a:buClr>
                <a:schemeClr val="accent6">
                  <a:lumMod val="50000"/>
                </a:schemeClr>
              </a:buClr>
            </a:pPr>
            <a:endParaRPr lang="zh-CN" altLang="en-US" sz="1600" dirty="0"/>
          </a:p>
        </p:txBody>
      </p:sp>
      <p:sp>
        <p:nvSpPr>
          <p:cNvPr id="3" name="灯片编号占位符 2">
            <a:extLst>
              <a:ext uri="{FF2B5EF4-FFF2-40B4-BE49-F238E27FC236}">
                <a16:creationId xmlns:a16="http://schemas.microsoft.com/office/drawing/2014/main" id="{62D493EE-EC7F-41EC-A575-D33CA370798B}"/>
              </a:ext>
            </a:extLst>
          </p:cNvPr>
          <p:cNvSpPr>
            <a:spLocks noGrp="1"/>
          </p:cNvSpPr>
          <p:nvPr>
            <p:ph type="sldNum" sz="quarter" idx="11"/>
          </p:nvPr>
        </p:nvSpPr>
        <p:spPr/>
        <p:txBody>
          <a:bodyPr/>
          <a:lstStyle/>
          <a:p>
            <a:fld id="{2AEAD966-1EF9-3A44-9B11-0C8090371A9A}" type="slidenum">
              <a:rPr lang="en-US" smtClean="0"/>
              <a:t>70</a:t>
            </a:fld>
            <a:endParaRPr lang="en-US"/>
          </a:p>
        </p:txBody>
      </p:sp>
      <p:sp>
        <p:nvSpPr>
          <p:cNvPr id="4" name="标题 3">
            <a:extLst>
              <a:ext uri="{FF2B5EF4-FFF2-40B4-BE49-F238E27FC236}">
                <a16:creationId xmlns:a16="http://schemas.microsoft.com/office/drawing/2014/main" id="{005055BF-7D0C-42EF-BE7E-B5F26619977F}"/>
              </a:ext>
            </a:extLst>
          </p:cNvPr>
          <p:cNvSpPr>
            <a:spLocks noGrp="1"/>
          </p:cNvSpPr>
          <p:nvPr>
            <p:ph type="title"/>
          </p:nvPr>
        </p:nvSpPr>
        <p:spPr/>
        <p:txBody>
          <a:bodyPr>
            <a:noAutofit/>
          </a:bodyPr>
          <a:lstStyle/>
          <a:p>
            <a:r>
              <a:rPr lang="en-US" altLang="zh-CN" sz="2000" dirty="0"/>
              <a:t>Representative Work3: Counterfactual zero-shot and open-set visual recognition</a:t>
            </a:r>
            <a:endParaRPr lang="zh-CN" altLang="en-US" sz="2000" dirty="0"/>
          </a:p>
        </p:txBody>
      </p:sp>
      <p:sp>
        <p:nvSpPr>
          <p:cNvPr id="5" name="日期占位符 4">
            <a:extLst>
              <a:ext uri="{FF2B5EF4-FFF2-40B4-BE49-F238E27FC236}">
                <a16:creationId xmlns:a16="http://schemas.microsoft.com/office/drawing/2014/main" id="{D7FF8503-8854-4444-81E3-725BB89AC032}"/>
              </a:ext>
            </a:extLst>
          </p:cNvPr>
          <p:cNvSpPr>
            <a:spLocks noGrp="1"/>
          </p:cNvSpPr>
          <p:nvPr>
            <p:ph type="dt" sz="half" idx="12"/>
          </p:nvPr>
        </p:nvSpPr>
        <p:spPr/>
        <p:txBody>
          <a:bodyPr/>
          <a:lstStyle/>
          <a:p>
            <a:fld id="{63ADDE33-C9F1-F94F-A20E-DA422DA466DF}" type="datetime1">
              <a:rPr lang="en-US" smtClean="0"/>
              <a:t>9/6/2022</a:t>
            </a:fld>
            <a:endParaRPr lang="en-US" dirty="0"/>
          </a:p>
        </p:txBody>
      </p:sp>
      <p:pic>
        <p:nvPicPr>
          <p:cNvPr id="7" name="图片 6">
            <a:extLst>
              <a:ext uri="{FF2B5EF4-FFF2-40B4-BE49-F238E27FC236}">
                <a16:creationId xmlns:a16="http://schemas.microsoft.com/office/drawing/2014/main" id="{BE56577B-24F9-45E9-A809-D2176C5D3FD2}"/>
              </a:ext>
            </a:extLst>
          </p:cNvPr>
          <p:cNvPicPr>
            <a:picLocks noChangeAspect="1"/>
          </p:cNvPicPr>
          <p:nvPr/>
        </p:nvPicPr>
        <p:blipFill>
          <a:blip r:embed="rId2"/>
          <a:stretch>
            <a:fillRect/>
          </a:stretch>
        </p:blipFill>
        <p:spPr>
          <a:xfrm>
            <a:off x="381000" y="1838325"/>
            <a:ext cx="5905500" cy="895350"/>
          </a:xfrm>
          <a:prstGeom prst="rect">
            <a:avLst/>
          </a:prstGeom>
        </p:spPr>
      </p:pic>
      <p:pic>
        <p:nvPicPr>
          <p:cNvPr id="8" name="图片 7">
            <a:extLst>
              <a:ext uri="{FF2B5EF4-FFF2-40B4-BE49-F238E27FC236}">
                <a16:creationId xmlns:a16="http://schemas.microsoft.com/office/drawing/2014/main" id="{2FB9D8D2-9170-4EF4-8A14-957B387607BF}"/>
              </a:ext>
            </a:extLst>
          </p:cNvPr>
          <p:cNvPicPr>
            <a:picLocks noChangeAspect="1"/>
          </p:cNvPicPr>
          <p:nvPr/>
        </p:nvPicPr>
        <p:blipFill>
          <a:blip r:embed="rId3"/>
          <a:stretch>
            <a:fillRect/>
          </a:stretch>
        </p:blipFill>
        <p:spPr>
          <a:xfrm>
            <a:off x="1447800" y="3559176"/>
            <a:ext cx="4648200" cy="485775"/>
          </a:xfrm>
          <a:prstGeom prst="rect">
            <a:avLst/>
          </a:prstGeom>
        </p:spPr>
      </p:pic>
      <p:pic>
        <p:nvPicPr>
          <p:cNvPr id="9" name="图片 8">
            <a:extLst>
              <a:ext uri="{FF2B5EF4-FFF2-40B4-BE49-F238E27FC236}">
                <a16:creationId xmlns:a16="http://schemas.microsoft.com/office/drawing/2014/main" id="{0B2B6749-D8BC-4316-B99E-BD346440638B}"/>
              </a:ext>
            </a:extLst>
          </p:cNvPr>
          <p:cNvPicPr>
            <a:picLocks noChangeAspect="1"/>
          </p:cNvPicPr>
          <p:nvPr/>
        </p:nvPicPr>
        <p:blipFill>
          <a:blip r:embed="rId4"/>
          <a:stretch>
            <a:fillRect/>
          </a:stretch>
        </p:blipFill>
        <p:spPr>
          <a:xfrm>
            <a:off x="1528762" y="4245113"/>
            <a:ext cx="4676775" cy="504825"/>
          </a:xfrm>
          <a:prstGeom prst="rect">
            <a:avLst/>
          </a:prstGeom>
        </p:spPr>
      </p:pic>
    </p:spTree>
    <p:extLst>
      <p:ext uri="{BB962C8B-B14F-4D97-AF65-F5344CB8AC3E}">
        <p14:creationId xmlns:p14="http://schemas.microsoft.com/office/powerpoint/2010/main" val="22107050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7156C936-F59F-4F3E-9516-88FA038C629B}"/>
              </a:ext>
            </a:extLst>
          </p:cNvPr>
          <p:cNvSpPr>
            <a:spLocks noGrp="1"/>
          </p:cNvSpPr>
          <p:nvPr>
            <p:ph type="sldNum" sz="quarter" idx="11"/>
          </p:nvPr>
        </p:nvSpPr>
        <p:spPr/>
        <p:txBody>
          <a:bodyPr/>
          <a:lstStyle/>
          <a:p>
            <a:fld id="{2AEAD966-1EF9-3A44-9B11-0C8090371A9A}" type="slidenum">
              <a:rPr lang="en-US" smtClean="0"/>
              <a:t>71</a:t>
            </a:fld>
            <a:endParaRPr lang="en-US"/>
          </a:p>
        </p:txBody>
      </p:sp>
      <p:sp>
        <p:nvSpPr>
          <p:cNvPr id="4" name="标题 3">
            <a:extLst>
              <a:ext uri="{FF2B5EF4-FFF2-40B4-BE49-F238E27FC236}">
                <a16:creationId xmlns:a16="http://schemas.microsoft.com/office/drawing/2014/main" id="{F07DA5ED-4653-42F0-AB0A-9D6F751A9FF3}"/>
              </a:ext>
            </a:extLst>
          </p:cNvPr>
          <p:cNvSpPr>
            <a:spLocks noGrp="1"/>
          </p:cNvSpPr>
          <p:nvPr>
            <p:ph type="title"/>
          </p:nvPr>
        </p:nvSpPr>
        <p:spPr/>
        <p:txBody>
          <a:bodyPr>
            <a:noAutofit/>
          </a:bodyPr>
          <a:lstStyle/>
          <a:p>
            <a:r>
              <a:rPr lang="en-US" altLang="zh-CN" sz="2000" dirty="0"/>
              <a:t>Representative Work3: Counterfactual zero-shot and open-set visual recognition</a:t>
            </a:r>
            <a:endParaRPr lang="zh-CN" altLang="en-US" sz="2000" dirty="0"/>
          </a:p>
        </p:txBody>
      </p:sp>
      <p:sp>
        <p:nvSpPr>
          <p:cNvPr id="5" name="日期占位符 4">
            <a:extLst>
              <a:ext uri="{FF2B5EF4-FFF2-40B4-BE49-F238E27FC236}">
                <a16:creationId xmlns:a16="http://schemas.microsoft.com/office/drawing/2014/main" id="{BE2C8032-7CA5-44F1-892B-E70D21FF0CED}"/>
              </a:ext>
            </a:extLst>
          </p:cNvPr>
          <p:cNvSpPr>
            <a:spLocks noGrp="1"/>
          </p:cNvSpPr>
          <p:nvPr>
            <p:ph type="dt" sz="half" idx="12"/>
          </p:nvPr>
        </p:nvSpPr>
        <p:spPr/>
        <p:txBody>
          <a:bodyPr/>
          <a:lstStyle/>
          <a:p>
            <a:fld id="{63ADDE33-C9F1-F94F-A20E-DA422DA466DF}" type="datetime1">
              <a:rPr lang="en-US" smtClean="0"/>
              <a:t>9/8/2022</a:t>
            </a:fld>
            <a:endParaRPr lang="en-US" dirty="0"/>
          </a:p>
        </p:txBody>
      </p:sp>
      <p:pic>
        <p:nvPicPr>
          <p:cNvPr id="2" name="图片 1">
            <a:extLst>
              <a:ext uri="{FF2B5EF4-FFF2-40B4-BE49-F238E27FC236}">
                <a16:creationId xmlns:a16="http://schemas.microsoft.com/office/drawing/2014/main" id="{66793F21-9A13-426F-963D-329B91A34DAA}"/>
              </a:ext>
            </a:extLst>
          </p:cNvPr>
          <p:cNvPicPr>
            <a:picLocks noChangeAspect="1"/>
          </p:cNvPicPr>
          <p:nvPr/>
        </p:nvPicPr>
        <p:blipFill>
          <a:blip r:embed="rId2"/>
          <a:stretch>
            <a:fillRect/>
          </a:stretch>
        </p:blipFill>
        <p:spPr>
          <a:xfrm>
            <a:off x="691376" y="1676400"/>
            <a:ext cx="5943600" cy="4610100"/>
          </a:xfrm>
          <a:prstGeom prst="rect">
            <a:avLst/>
          </a:prstGeom>
        </p:spPr>
      </p:pic>
      <p:sp>
        <p:nvSpPr>
          <p:cNvPr id="7" name="文本框 6">
            <a:extLst>
              <a:ext uri="{FF2B5EF4-FFF2-40B4-BE49-F238E27FC236}">
                <a16:creationId xmlns:a16="http://schemas.microsoft.com/office/drawing/2014/main" id="{63237AD9-CC00-4D97-8F8B-4AF10D809DB9}"/>
              </a:ext>
            </a:extLst>
          </p:cNvPr>
          <p:cNvSpPr txBox="1"/>
          <p:nvPr/>
        </p:nvSpPr>
        <p:spPr>
          <a:xfrm>
            <a:off x="457199" y="920215"/>
            <a:ext cx="8073142" cy="584775"/>
          </a:xfrm>
          <a:prstGeom prst="rect">
            <a:avLst/>
          </a:prstGeom>
          <a:noFill/>
        </p:spPr>
        <p:txBody>
          <a:bodyPr wrap="square" rtlCol="0">
            <a:spAutoFit/>
          </a:bodyPr>
          <a:lstStyle/>
          <a:p>
            <a:r>
              <a:rPr lang="en-US" altLang="zh-CN" sz="1600" b="1" dirty="0"/>
              <a:t>Method</a:t>
            </a:r>
            <a:r>
              <a:rPr lang="en-US" altLang="zh-CN" sz="1600" dirty="0"/>
              <a:t>: apply the </a:t>
            </a:r>
            <a:r>
              <a:rPr lang="en-US" altLang="zh-CN" sz="1600" b="1" dirty="0"/>
              <a:t>Consistency Rule </a:t>
            </a:r>
            <a:r>
              <a:rPr lang="en-US" altLang="zh-CN" sz="1600" dirty="0"/>
              <a:t>to perform unseen/seen binary classification and make the generation is not </a:t>
            </a:r>
            <a:r>
              <a:rPr lang="en-US" altLang="zh-CN" sz="1600" b="1" dirty="0"/>
              <a:t>Counterfactual Faithful</a:t>
            </a:r>
            <a:endParaRPr lang="zh-CN" altLang="en-US" sz="1600" dirty="0"/>
          </a:p>
        </p:txBody>
      </p:sp>
    </p:spTree>
    <p:extLst>
      <p:ext uri="{BB962C8B-B14F-4D97-AF65-F5344CB8AC3E}">
        <p14:creationId xmlns:p14="http://schemas.microsoft.com/office/powerpoint/2010/main" val="78112792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26C90F9-A574-497B-876A-7B744F236FC5}"/>
              </a:ext>
            </a:extLst>
          </p:cNvPr>
          <p:cNvSpPr>
            <a:spLocks noGrp="1"/>
          </p:cNvSpPr>
          <p:nvPr>
            <p:ph idx="1"/>
          </p:nvPr>
        </p:nvSpPr>
        <p:spPr>
          <a:xfrm>
            <a:off x="476250" y="1331544"/>
            <a:ext cx="8446478" cy="2768601"/>
          </a:xfrm>
        </p:spPr>
        <p:txBody>
          <a:bodyPr>
            <a:normAutofit/>
          </a:bodyPr>
          <a:lstStyle/>
          <a:p>
            <a:r>
              <a:rPr lang="en-US" altLang="zh-CN" sz="1600" b="1" dirty="0"/>
              <a:t>Motivation</a:t>
            </a:r>
            <a:r>
              <a:rPr lang="en-US" altLang="zh-CN" sz="1600" dirty="0"/>
              <a:t>:</a:t>
            </a:r>
          </a:p>
          <a:p>
            <a:pPr marL="377190" indent="-285750">
              <a:buClr>
                <a:schemeClr val="accent6">
                  <a:lumMod val="50000"/>
                </a:schemeClr>
              </a:buClr>
              <a:buFont typeface="Arial" panose="020B0604020202020204" pitchFamily="34" charset="0"/>
              <a:buChar char="•"/>
            </a:pPr>
            <a:r>
              <a:rPr lang="en-US" altLang="zh-CN" sz="1600" dirty="0" err="1"/>
              <a:t>CounterFactual</a:t>
            </a:r>
            <a:r>
              <a:rPr lang="en-US" altLang="zh-CN" sz="1600" dirty="0"/>
              <a:t> (CF) visual explanations try to find images similar to the query image that change the decision of a vision system to a specified outcome.</a:t>
            </a:r>
          </a:p>
          <a:p>
            <a:pPr marL="377190" indent="-285750">
              <a:buClr>
                <a:schemeClr val="accent6">
                  <a:lumMod val="50000"/>
                </a:schemeClr>
              </a:buClr>
              <a:buFont typeface="Arial" panose="020B0604020202020204" pitchFamily="34" charset="0"/>
              <a:buChar char="•"/>
            </a:pPr>
            <a:r>
              <a:rPr lang="en-US" altLang="zh-CN" sz="1600" dirty="0"/>
              <a:t>Existing methods either require inference-time optimization or joint training with a generative adversarial model which makes them time-consuming and difficult to use in practice.</a:t>
            </a:r>
          </a:p>
        </p:txBody>
      </p:sp>
      <p:sp>
        <p:nvSpPr>
          <p:cNvPr id="3" name="灯片编号占位符 2">
            <a:extLst>
              <a:ext uri="{FF2B5EF4-FFF2-40B4-BE49-F238E27FC236}">
                <a16:creationId xmlns:a16="http://schemas.microsoft.com/office/drawing/2014/main" id="{F95B03E6-E34B-46B1-9B97-887E399E18CF}"/>
              </a:ext>
            </a:extLst>
          </p:cNvPr>
          <p:cNvSpPr>
            <a:spLocks noGrp="1"/>
          </p:cNvSpPr>
          <p:nvPr>
            <p:ph type="sldNum" sz="quarter" idx="11"/>
          </p:nvPr>
        </p:nvSpPr>
        <p:spPr/>
        <p:txBody>
          <a:bodyPr/>
          <a:lstStyle/>
          <a:p>
            <a:fld id="{2AEAD966-1EF9-3A44-9B11-0C8090371A9A}" type="slidenum">
              <a:rPr lang="en-US" smtClean="0"/>
              <a:t>72</a:t>
            </a:fld>
            <a:endParaRPr lang="en-US"/>
          </a:p>
        </p:txBody>
      </p:sp>
      <p:sp>
        <p:nvSpPr>
          <p:cNvPr id="4" name="标题 3">
            <a:extLst>
              <a:ext uri="{FF2B5EF4-FFF2-40B4-BE49-F238E27FC236}">
                <a16:creationId xmlns:a16="http://schemas.microsoft.com/office/drawing/2014/main" id="{B6F79DB1-2E72-4E73-9D7B-BC2B2039C091}"/>
              </a:ext>
            </a:extLst>
          </p:cNvPr>
          <p:cNvSpPr>
            <a:spLocks noGrp="1"/>
          </p:cNvSpPr>
          <p:nvPr>
            <p:ph type="title"/>
          </p:nvPr>
        </p:nvSpPr>
        <p:spPr/>
        <p:txBody>
          <a:bodyPr>
            <a:noAutofit/>
          </a:bodyPr>
          <a:lstStyle/>
          <a:p>
            <a:r>
              <a:rPr lang="en-US" altLang="zh-CN" sz="2000" dirty="0"/>
              <a:t>Representative Work4: Cycle-Consistent Counterfactuals by Latent Transformations</a:t>
            </a:r>
            <a:endParaRPr lang="zh-CN" altLang="en-US" sz="2000" dirty="0"/>
          </a:p>
        </p:txBody>
      </p:sp>
      <p:sp>
        <p:nvSpPr>
          <p:cNvPr id="5" name="日期占位符 4">
            <a:extLst>
              <a:ext uri="{FF2B5EF4-FFF2-40B4-BE49-F238E27FC236}">
                <a16:creationId xmlns:a16="http://schemas.microsoft.com/office/drawing/2014/main" id="{3F37C17B-3708-4F70-AAB9-7C1E14342FF1}"/>
              </a:ext>
            </a:extLst>
          </p:cNvPr>
          <p:cNvSpPr>
            <a:spLocks noGrp="1"/>
          </p:cNvSpPr>
          <p:nvPr>
            <p:ph type="dt" sz="half" idx="12"/>
          </p:nvPr>
        </p:nvSpPr>
        <p:spPr/>
        <p:txBody>
          <a:bodyPr/>
          <a:lstStyle/>
          <a:p>
            <a:fld id="{63ADDE33-C9F1-F94F-A20E-DA422DA466DF}" type="datetime1">
              <a:rPr lang="en-US" smtClean="0"/>
              <a:t>9/8/2022</a:t>
            </a:fld>
            <a:endParaRPr lang="en-US" dirty="0"/>
          </a:p>
        </p:txBody>
      </p:sp>
    </p:spTree>
    <p:extLst>
      <p:ext uri="{BB962C8B-B14F-4D97-AF65-F5344CB8AC3E}">
        <p14:creationId xmlns:p14="http://schemas.microsoft.com/office/powerpoint/2010/main" val="340035972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F95B03E6-E34B-46B1-9B97-887E399E18CF}"/>
              </a:ext>
            </a:extLst>
          </p:cNvPr>
          <p:cNvSpPr>
            <a:spLocks noGrp="1"/>
          </p:cNvSpPr>
          <p:nvPr>
            <p:ph type="sldNum" sz="quarter" idx="11"/>
          </p:nvPr>
        </p:nvSpPr>
        <p:spPr/>
        <p:txBody>
          <a:bodyPr/>
          <a:lstStyle/>
          <a:p>
            <a:fld id="{2AEAD966-1EF9-3A44-9B11-0C8090371A9A}" type="slidenum">
              <a:rPr lang="en-US" smtClean="0"/>
              <a:t>73</a:t>
            </a:fld>
            <a:endParaRPr lang="en-US"/>
          </a:p>
        </p:txBody>
      </p:sp>
      <p:sp>
        <p:nvSpPr>
          <p:cNvPr id="4" name="标题 3">
            <a:extLst>
              <a:ext uri="{FF2B5EF4-FFF2-40B4-BE49-F238E27FC236}">
                <a16:creationId xmlns:a16="http://schemas.microsoft.com/office/drawing/2014/main" id="{B6F79DB1-2E72-4E73-9D7B-BC2B2039C091}"/>
              </a:ext>
            </a:extLst>
          </p:cNvPr>
          <p:cNvSpPr>
            <a:spLocks noGrp="1"/>
          </p:cNvSpPr>
          <p:nvPr>
            <p:ph type="title"/>
          </p:nvPr>
        </p:nvSpPr>
        <p:spPr/>
        <p:txBody>
          <a:bodyPr>
            <a:noAutofit/>
          </a:bodyPr>
          <a:lstStyle/>
          <a:p>
            <a:r>
              <a:rPr lang="en-US" altLang="zh-CN" sz="2000" dirty="0"/>
              <a:t>Representative Work4: Cycle-Consistent Counterfactuals by Latent Transformations</a:t>
            </a:r>
            <a:endParaRPr lang="zh-CN" altLang="en-US" sz="2000" dirty="0"/>
          </a:p>
        </p:txBody>
      </p:sp>
      <p:sp>
        <p:nvSpPr>
          <p:cNvPr id="5" name="日期占位符 4">
            <a:extLst>
              <a:ext uri="{FF2B5EF4-FFF2-40B4-BE49-F238E27FC236}">
                <a16:creationId xmlns:a16="http://schemas.microsoft.com/office/drawing/2014/main" id="{3F37C17B-3708-4F70-AAB9-7C1E14342FF1}"/>
              </a:ext>
            </a:extLst>
          </p:cNvPr>
          <p:cNvSpPr>
            <a:spLocks noGrp="1"/>
          </p:cNvSpPr>
          <p:nvPr>
            <p:ph type="dt" sz="half" idx="12"/>
          </p:nvPr>
        </p:nvSpPr>
        <p:spPr/>
        <p:txBody>
          <a:bodyPr/>
          <a:lstStyle/>
          <a:p>
            <a:fld id="{63ADDE33-C9F1-F94F-A20E-DA422DA466DF}" type="datetime1">
              <a:rPr lang="en-US" smtClean="0"/>
              <a:t>9/8/2022</a:t>
            </a:fld>
            <a:endParaRPr lang="en-US" dirty="0"/>
          </a:p>
        </p:txBody>
      </p:sp>
      <p:pic>
        <p:nvPicPr>
          <p:cNvPr id="8" name="图片 7">
            <a:extLst>
              <a:ext uri="{FF2B5EF4-FFF2-40B4-BE49-F238E27FC236}">
                <a16:creationId xmlns:a16="http://schemas.microsoft.com/office/drawing/2014/main" id="{C30F92C5-90FC-4FC9-BA5E-98059D270776}"/>
              </a:ext>
            </a:extLst>
          </p:cNvPr>
          <p:cNvPicPr>
            <a:picLocks noChangeAspect="1"/>
          </p:cNvPicPr>
          <p:nvPr/>
        </p:nvPicPr>
        <p:blipFill>
          <a:blip r:embed="rId2"/>
          <a:stretch>
            <a:fillRect/>
          </a:stretch>
        </p:blipFill>
        <p:spPr>
          <a:xfrm>
            <a:off x="0" y="2410588"/>
            <a:ext cx="9144000" cy="2817874"/>
          </a:xfrm>
          <a:prstGeom prst="rect">
            <a:avLst/>
          </a:prstGeom>
        </p:spPr>
      </p:pic>
      <p:sp>
        <p:nvSpPr>
          <p:cNvPr id="9" name="文本框 8">
            <a:extLst>
              <a:ext uri="{FF2B5EF4-FFF2-40B4-BE49-F238E27FC236}">
                <a16:creationId xmlns:a16="http://schemas.microsoft.com/office/drawing/2014/main" id="{74964EAA-F44D-4898-B3B5-F400596E32D2}"/>
              </a:ext>
            </a:extLst>
          </p:cNvPr>
          <p:cNvSpPr txBox="1"/>
          <p:nvPr/>
        </p:nvSpPr>
        <p:spPr>
          <a:xfrm>
            <a:off x="295275" y="1123950"/>
            <a:ext cx="8235066" cy="830997"/>
          </a:xfrm>
          <a:prstGeom prst="rect">
            <a:avLst/>
          </a:prstGeom>
          <a:noFill/>
        </p:spPr>
        <p:txBody>
          <a:bodyPr wrap="square" rtlCol="0">
            <a:spAutoFit/>
          </a:bodyPr>
          <a:lstStyle/>
          <a:p>
            <a:r>
              <a:rPr lang="en-US" altLang="zh-CN" sz="1600" b="1" dirty="0"/>
              <a:t>Method</a:t>
            </a:r>
            <a:r>
              <a:rPr lang="en-US" altLang="zh-CN" sz="1600" dirty="0"/>
              <a:t>: </a:t>
            </a:r>
            <a:r>
              <a:rPr lang="en-US" altLang="zh-CN" sz="1600" b="1" dirty="0"/>
              <a:t>1)</a:t>
            </a:r>
            <a:r>
              <a:rPr lang="en-US" altLang="zh-CN" sz="1600" dirty="0"/>
              <a:t> It learns a latent transformation that automatically generates visual CFs by steering in the latent space of generative models. </a:t>
            </a:r>
            <a:r>
              <a:rPr lang="en-US" altLang="zh-CN" sz="1600" b="1" dirty="0"/>
              <a:t>2)</a:t>
            </a:r>
            <a:r>
              <a:rPr lang="en-US" altLang="zh-CN" sz="1600" dirty="0"/>
              <a:t> It uses cycle consistency between the query and CF latent representations which helps training to find better solutions.</a:t>
            </a:r>
            <a:endParaRPr lang="zh-CN" altLang="en-US" sz="1600" dirty="0"/>
          </a:p>
        </p:txBody>
      </p:sp>
    </p:spTree>
    <p:extLst>
      <p:ext uri="{BB962C8B-B14F-4D97-AF65-F5344CB8AC3E}">
        <p14:creationId xmlns:p14="http://schemas.microsoft.com/office/powerpoint/2010/main" val="41747846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4EC5D44D-3BC5-4DDF-9819-BB172A99C49A}"/>
              </a:ext>
            </a:extLst>
          </p:cNvPr>
          <p:cNvSpPr>
            <a:spLocks noGrp="1"/>
          </p:cNvSpPr>
          <p:nvPr>
            <p:ph type="sldNum" sz="quarter" idx="11"/>
          </p:nvPr>
        </p:nvSpPr>
        <p:spPr/>
        <p:txBody>
          <a:bodyPr/>
          <a:lstStyle/>
          <a:p>
            <a:fld id="{2AEAD966-1EF9-3A44-9B11-0C8090371A9A}" type="slidenum">
              <a:rPr lang="en-US" smtClean="0"/>
              <a:t>74</a:t>
            </a:fld>
            <a:endParaRPr lang="en-US"/>
          </a:p>
        </p:txBody>
      </p:sp>
      <p:sp>
        <p:nvSpPr>
          <p:cNvPr id="4" name="标题 3">
            <a:extLst>
              <a:ext uri="{FF2B5EF4-FFF2-40B4-BE49-F238E27FC236}">
                <a16:creationId xmlns:a16="http://schemas.microsoft.com/office/drawing/2014/main" id="{093F1684-2B18-41D6-8B84-8209A849EBA4}"/>
              </a:ext>
            </a:extLst>
          </p:cNvPr>
          <p:cNvSpPr>
            <a:spLocks noGrp="1"/>
          </p:cNvSpPr>
          <p:nvPr>
            <p:ph type="title"/>
          </p:nvPr>
        </p:nvSpPr>
        <p:spPr/>
        <p:txBody>
          <a:bodyPr>
            <a:noAutofit/>
          </a:bodyPr>
          <a:lstStyle/>
          <a:p>
            <a:r>
              <a:rPr lang="en-US" altLang="zh-CN" sz="2000" dirty="0"/>
              <a:t>Representative Work5: Counterfactual inference for text classification debiasing</a:t>
            </a:r>
            <a:endParaRPr lang="zh-CN" altLang="en-US" sz="2000" dirty="0"/>
          </a:p>
        </p:txBody>
      </p:sp>
      <p:sp>
        <p:nvSpPr>
          <p:cNvPr id="5" name="日期占位符 4">
            <a:extLst>
              <a:ext uri="{FF2B5EF4-FFF2-40B4-BE49-F238E27FC236}">
                <a16:creationId xmlns:a16="http://schemas.microsoft.com/office/drawing/2014/main" id="{A85FD28C-E4C1-412B-A82C-5D842A5FDED7}"/>
              </a:ext>
            </a:extLst>
          </p:cNvPr>
          <p:cNvSpPr>
            <a:spLocks noGrp="1"/>
          </p:cNvSpPr>
          <p:nvPr>
            <p:ph type="dt" sz="half" idx="12"/>
          </p:nvPr>
        </p:nvSpPr>
        <p:spPr/>
        <p:txBody>
          <a:bodyPr/>
          <a:lstStyle/>
          <a:p>
            <a:fld id="{63ADDE33-C9F1-F94F-A20E-DA422DA466DF}" type="datetime1">
              <a:rPr lang="en-US" smtClean="0"/>
              <a:t>9/8/2022</a:t>
            </a:fld>
            <a:endParaRPr lang="en-US" dirty="0"/>
          </a:p>
        </p:txBody>
      </p:sp>
      <p:pic>
        <p:nvPicPr>
          <p:cNvPr id="6" name="图片 5">
            <a:extLst>
              <a:ext uri="{FF2B5EF4-FFF2-40B4-BE49-F238E27FC236}">
                <a16:creationId xmlns:a16="http://schemas.microsoft.com/office/drawing/2014/main" id="{22992C5E-EB2B-4DE4-8D5B-7F84F3138AB9}"/>
              </a:ext>
            </a:extLst>
          </p:cNvPr>
          <p:cNvPicPr>
            <a:picLocks noChangeAspect="1"/>
          </p:cNvPicPr>
          <p:nvPr/>
        </p:nvPicPr>
        <p:blipFill rotWithShape="1">
          <a:blip r:embed="rId2"/>
          <a:srcRect l="2881"/>
          <a:stretch/>
        </p:blipFill>
        <p:spPr>
          <a:xfrm>
            <a:off x="46364" y="2016231"/>
            <a:ext cx="9097636" cy="4242737"/>
          </a:xfrm>
          <a:prstGeom prst="rect">
            <a:avLst/>
          </a:prstGeom>
        </p:spPr>
      </p:pic>
      <p:sp>
        <p:nvSpPr>
          <p:cNvPr id="7" name="文本框 6">
            <a:extLst>
              <a:ext uri="{FF2B5EF4-FFF2-40B4-BE49-F238E27FC236}">
                <a16:creationId xmlns:a16="http://schemas.microsoft.com/office/drawing/2014/main" id="{705A5E98-6B44-489F-9140-43CB2735C959}"/>
              </a:ext>
            </a:extLst>
          </p:cNvPr>
          <p:cNvSpPr txBox="1"/>
          <p:nvPr/>
        </p:nvSpPr>
        <p:spPr>
          <a:xfrm>
            <a:off x="368968" y="937995"/>
            <a:ext cx="7934325" cy="830997"/>
          </a:xfrm>
          <a:prstGeom prst="rect">
            <a:avLst/>
          </a:prstGeom>
          <a:noFill/>
        </p:spPr>
        <p:txBody>
          <a:bodyPr wrap="square" rtlCol="0">
            <a:spAutoFit/>
          </a:bodyPr>
          <a:lstStyle/>
          <a:p>
            <a:r>
              <a:rPr lang="en-US" altLang="zh-CN" sz="1600" b="1" dirty="0"/>
              <a:t>Motivation</a:t>
            </a:r>
            <a:r>
              <a:rPr lang="en-US" altLang="zh-CN" sz="1600" dirty="0"/>
              <a:t>: Today’s text classifiers inevitably suffer from unintended dataset biases, especially the document-level label bias and word-level keyword bias, which may hurt models’ generalization.</a:t>
            </a:r>
            <a:endParaRPr lang="zh-CN" altLang="en-US" sz="1600" dirty="0"/>
          </a:p>
        </p:txBody>
      </p:sp>
    </p:spTree>
    <p:extLst>
      <p:ext uri="{BB962C8B-B14F-4D97-AF65-F5344CB8AC3E}">
        <p14:creationId xmlns:p14="http://schemas.microsoft.com/office/powerpoint/2010/main" val="17254372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4EC5D44D-3BC5-4DDF-9819-BB172A99C49A}"/>
              </a:ext>
            </a:extLst>
          </p:cNvPr>
          <p:cNvSpPr>
            <a:spLocks noGrp="1"/>
          </p:cNvSpPr>
          <p:nvPr>
            <p:ph type="sldNum" sz="quarter" idx="11"/>
          </p:nvPr>
        </p:nvSpPr>
        <p:spPr/>
        <p:txBody>
          <a:bodyPr/>
          <a:lstStyle/>
          <a:p>
            <a:fld id="{2AEAD966-1EF9-3A44-9B11-0C8090371A9A}" type="slidenum">
              <a:rPr lang="en-US" smtClean="0"/>
              <a:t>75</a:t>
            </a:fld>
            <a:endParaRPr lang="en-US"/>
          </a:p>
        </p:txBody>
      </p:sp>
      <p:sp>
        <p:nvSpPr>
          <p:cNvPr id="4" name="标题 3">
            <a:extLst>
              <a:ext uri="{FF2B5EF4-FFF2-40B4-BE49-F238E27FC236}">
                <a16:creationId xmlns:a16="http://schemas.microsoft.com/office/drawing/2014/main" id="{093F1684-2B18-41D6-8B84-8209A849EBA4}"/>
              </a:ext>
            </a:extLst>
          </p:cNvPr>
          <p:cNvSpPr>
            <a:spLocks noGrp="1"/>
          </p:cNvSpPr>
          <p:nvPr>
            <p:ph type="title"/>
          </p:nvPr>
        </p:nvSpPr>
        <p:spPr>
          <a:xfrm>
            <a:off x="368968" y="73684"/>
            <a:ext cx="7739333" cy="635525"/>
          </a:xfrm>
        </p:spPr>
        <p:txBody>
          <a:bodyPr>
            <a:noAutofit/>
          </a:bodyPr>
          <a:lstStyle/>
          <a:p>
            <a:r>
              <a:rPr lang="en-US" altLang="zh-CN" sz="2000" dirty="0"/>
              <a:t>Representative Work5: Counterfactual inference for text classification debiasing</a:t>
            </a:r>
            <a:endParaRPr lang="zh-CN" altLang="en-US" sz="2000" dirty="0"/>
          </a:p>
        </p:txBody>
      </p:sp>
      <p:sp>
        <p:nvSpPr>
          <p:cNvPr id="5" name="日期占位符 4">
            <a:extLst>
              <a:ext uri="{FF2B5EF4-FFF2-40B4-BE49-F238E27FC236}">
                <a16:creationId xmlns:a16="http://schemas.microsoft.com/office/drawing/2014/main" id="{A85FD28C-E4C1-412B-A82C-5D842A5FDED7}"/>
              </a:ext>
            </a:extLst>
          </p:cNvPr>
          <p:cNvSpPr>
            <a:spLocks noGrp="1"/>
          </p:cNvSpPr>
          <p:nvPr>
            <p:ph type="dt" sz="half" idx="12"/>
          </p:nvPr>
        </p:nvSpPr>
        <p:spPr/>
        <p:txBody>
          <a:bodyPr/>
          <a:lstStyle/>
          <a:p>
            <a:fld id="{63ADDE33-C9F1-F94F-A20E-DA422DA466DF}" type="datetime1">
              <a:rPr lang="en-US" smtClean="0"/>
              <a:t>9/8/2022</a:t>
            </a:fld>
            <a:endParaRPr lang="en-US" dirty="0"/>
          </a:p>
        </p:txBody>
      </p:sp>
      <p:pic>
        <p:nvPicPr>
          <p:cNvPr id="6" name="图片 5">
            <a:extLst>
              <a:ext uri="{FF2B5EF4-FFF2-40B4-BE49-F238E27FC236}">
                <a16:creationId xmlns:a16="http://schemas.microsoft.com/office/drawing/2014/main" id="{22992C5E-EB2B-4DE4-8D5B-7F84F3138AB9}"/>
              </a:ext>
            </a:extLst>
          </p:cNvPr>
          <p:cNvPicPr>
            <a:picLocks noChangeAspect="1"/>
          </p:cNvPicPr>
          <p:nvPr/>
        </p:nvPicPr>
        <p:blipFill rotWithShape="1">
          <a:blip r:embed="rId2"/>
          <a:srcRect l="3694" b="32272"/>
          <a:stretch/>
        </p:blipFill>
        <p:spPr>
          <a:xfrm>
            <a:off x="122564" y="2083938"/>
            <a:ext cx="9021436" cy="2873527"/>
          </a:xfrm>
          <a:prstGeom prst="rect">
            <a:avLst/>
          </a:prstGeom>
        </p:spPr>
      </p:pic>
      <p:sp>
        <p:nvSpPr>
          <p:cNvPr id="7" name="文本框 6">
            <a:extLst>
              <a:ext uri="{FF2B5EF4-FFF2-40B4-BE49-F238E27FC236}">
                <a16:creationId xmlns:a16="http://schemas.microsoft.com/office/drawing/2014/main" id="{705A5E98-6B44-489F-9140-43CB2735C959}"/>
              </a:ext>
            </a:extLst>
          </p:cNvPr>
          <p:cNvSpPr txBox="1"/>
          <p:nvPr/>
        </p:nvSpPr>
        <p:spPr>
          <a:xfrm>
            <a:off x="476250" y="981075"/>
            <a:ext cx="7886700" cy="830997"/>
          </a:xfrm>
          <a:prstGeom prst="rect">
            <a:avLst/>
          </a:prstGeom>
          <a:noFill/>
        </p:spPr>
        <p:txBody>
          <a:bodyPr wrap="square" rtlCol="0">
            <a:spAutoFit/>
          </a:bodyPr>
          <a:lstStyle/>
          <a:p>
            <a:r>
              <a:rPr lang="en-US" altLang="zh-CN" sz="1600" b="1" dirty="0"/>
              <a:t>SCM and Method</a:t>
            </a:r>
            <a:r>
              <a:rPr lang="en-US" altLang="zh-CN" sz="1600" dirty="0"/>
              <a:t>: In inference, given a factual input document, CORSAIR imagines its two counterfactual counter-parts to distill and mitigate the two biases captured by the poisonous model.</a:t>
            </a:r>
            <a:endParaRPr lang="zh-CN" altLang="en-US" sz="1600" dirty="0"/>
          </a:p>
        </p:txBody>
      </p:sp>
      <p:pic>
        <p:nvPicPr>
          <p:cNvPr id="2" name="图片 1">
            <a:extLst>
              <a:ext uri="{FF2B5EF4-FFF2-40B4-BE49-F238E27FC236}">
                <a16:creationId xmlns:a16="http://schemas.microsoft.com/office/drawing/2014/main" id="{326A9DBC-C781-420F-974D-D6C70A8B3074}"/>
              </a:ext>
            </a:extLst>
          </p:cNvPr>
          <p:cNvPicPr>
            <a:picLocks noChangeAspect="1"/>
          </p:cNvPicPr>
          <p:nvPr/>
        </p:nvPicPr>
        <p:blipFill>
          <a:blip r:embed="rId3"/>
          <a:stretch>
            <a:fillRect/>
          </a:stretch>
        </p:blipFill>
        <p:spPr>
          <a:xfrm>
            <a:off x="273718" y="5324035"/>
            <a:ext cx="5324475" cy="361950"/>
          </a:xfrm>
          <a:prstGeom prst="rect">
            <a:avLst/>
          </a:prstGeom>
        </p:spPr>
      </p:pic>
      <p:sp>
        <p:nvSpPr>
          <p:cNvPr id="8" name="文本框 7">
            <a:extLst>
              <a:ext uri="{FF2B5EF4-FFF2-40B4-BE49-F238E27FC236}">
                <a16:creationId xmlns:a16="http://schemas.microsoft.com/office/drawing/2014/main" id="{83FE8BDE-374B-4EBB-B2B6-C98B5B6EA4E8}"/>
              </a:ext>
            </a:extLst>
          </p:cNvPr>
          <p:cNvSpPr txBox="1"/>
          <p:nvPr/>
        </p:nvSpPr>
        <p:spPr>
          <a:xfrm>
            <a:off x="476249" y="5915025"/>
            <a:ext cx="3876675" cy="307777"/>
          </a:xfrm>
          <a:prstGeom prst="rect">
            <a:avLst/>
          </a:prstGeom>
          <a:noFill/>
        </p:spPr>
        <p:txBody>
          <a:bodyPr wrap="square" rtlCol="0">
            <a:spAutoFit/>
          </a:bodyPr>
          <a:lstStyle/>
          <a:p>
            <a:r>
              <a:rPr lang="en-US" altLang="zh-CN" sz="1400" dirty="0"/>
              <a:t>Similar to representative work 1</a:t>
            </a:r>
            <a:endParaRPr lang="zh-CN" altLang="en-US" sz="1400" dirty="0"/>
          </a:p>
        </p:txBody>
      </p:sp>
    </p:spTree>
    <p:extLst>
      <p:ext uri="{BB962C8B-B14F-4D97-AF65-F5344CB8AC3E}">
        <p14:creationId xmlns:p14="http://schemas.microsoft.com/office/powerpoint/2010/main" val="222189663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B06294FE-3598-4A5E-A359-72FE6DDDDD6E}"/>
              </a:ext>
            </a:extLst>
          </p:cNvPr>
          <p:cNvPicPr>
            <a:picLocks noGrp="1" noChangeAspect="1"/>
          </p:cNvPicPr>
          <p:nvPr>
            <p:ph idx="1"/>
          </p:nvPr>
        </p:nvPicPr>
        <p:blipFill>
          <a:blip r:embed="rId2"/>
          <a:stretch>
            <a:fillRect/>
          </a:stretch>
        </p:blipFill>
        <p:spPr>
          <a:xfrm>
            <a:off x="83253" y="1837716"/>
            <a:ext cx="8447088" cy="4053239"/>
          </a:xfrm>
          <a:prstGeom prst="rect">
            <a:avLst/>
          </a:prstGeom>
        </p:spPr>
      </p:pic>
      <p:sp>
        <p:nvSpPr>
          <p:cNvPr id="3" name="灯片编号占位符 2">
            <a:extLst>
              <a:ext uri="{FF2B5EF4-FFF2-40B4-BE49-F238E27FC236}">
                <a16:creationId xmlns:a16="http://schemas.microsoft.com/office/drawing/2014/main" id="{8891B412-F05F-4A77-B198-BA4E6E80A2D0}"/>
              </a:ext>
            </a:extLst>
          </p:cNvPr>
          <p:cNvSpPr>
            <a:spLocks noGrp="1"/>
          </p:cNvSpPr>
          <p:nvPr>
            <p:ph type="sldNum" sz="quarter" idx="11"/>
          </p:nvPr>
        </p:nvSpPr>
        <p:spPr/>
        <p:txBody>
          <a:bodyPr/>
          <a:lstStyle/>
          <a:p>
            <a:fld id="{2AEAD966-1EF9-3A44-9B11-0C8090371A9A}" type="slidenum">
              <a:rPr lang="en-US" smtClean="0"/>
              <a:t>76</a:t>
            </a:fld>
            <a:endParaRPr lang="en-US"/>
          </a:p>
        </p:txBody>
      </p:sp>
      <p:sp>
        <p:nvSpPr>
          <p:cNvPr id="4" name="标题 3">
            <a:extLst>
              <a:ext uri="{FF2B5EF4-FFF2-40B4-BE49-F238E27FC236}">
                <a16:creationId xmlns:a16="http://schemas.microsoft.com/office/drawing/2014/main" id="{0AB89416-F10C-4AF5-A1CD-A88D1B51B88B}"/>
              </a:ext>
            </a:extLst>
          </p:cNvPr>
          <p:cNvSpPr>
            <a:spLocks noGrp="1"/>
          </p:cNvSpPr>
          <p:nvPr>
            <p:ph type="title"/>
          </p:nvPr>
        </p:nvSpPr>
        <p:spPr/>
        <p:txBody>
          <a:bodyPr>
            <a:noAutofit/>
          </a:bodyPr>
          <a:lstStyle/>
          <a:p>
            <a:r>
              <a:rPr lang="en-US" altLang="zh-CN" sz="2000" dirty="0"/>
              <a:t>Representative Work6: </a:t>
            </a:r>
            <a:r>
              <a:rPr lang="en-US" altLang="zh-CN" sz="2000" dirty="0" err="1"/>
              <a:t>DoCoGen</a:t>
            </a:r>
            <a:r>
              <a:rPr lang="en-US" altLang="zh-CN" sz="2000" dirty="0"/>
              <a:t>: Domain Counterfactual Generation for Low Resource Domain Adaptation</a:t>
            </a:r>
            <a:endParaRPr lang="zh-CN" altLang="en-US" sz="2000" dirty="0"/>
          </a:p>
        </p:txBody>
      </p:sp>
      <p:sp>
        <p:nvSpPr>
          <p:cNvPr id="5" name="日期占位符 4">
            <a:extLst>
              <a:ext uri="{FF2B5EF4-FFF2-40B4-BE49-F238E27FC236}">
                <a16:creationId xmlns:a16="http://schemas.microsoft.com/office/drawing/2014/main" id="{150217C6-D280-4EBA-A1CA-33760BF284F5}"/>
              </a:ext>
            </a:extLst>
          </p:cNvPr>
          <p:cNvSpPr>
            <a:spLocks noGrp="1"/>
          </p:cNvSpPr>
          <p:nvPr>
            <p:ph type="dt" sz="half" idx="12"/>
          </p:nvPr>
        </p:nvSpPr>
        <p:spPr/>
        <p:txBody>
          <a:bodyPr/>
          <a:lstStyle/>
          <a:p>
            <a:fld id="{63ADDE33-C9F1-F94F-A20E-DA422DA466DF}" type="datetime1">
              <a:rPr lang="en-US" smtClean="0"/>
              <a:t>9/8/2022</a:t>
            </a:fld>
            <a:endParaRPr lang="en-US" dirty="0"/>
          </a:p>
        </p:txBody>
      </p:sp>
      <p:sp>
        <p:nvSpPr>
          <p:cNvPr id="7" name="文本框 6">
            <a:extLst>
              <a:ext uri="{FF2B5EF4-FFF2-40B4-BE49-F238E27FC236}">
                <a16:creationId xmlns:a16="http://schemas.microsoft.com/office/drawing/2014/main" id="{48690E99-A6F4-4252-B228-E7ACAB5E2108}"/>
              </a:ext>
            </a:extLst>
          </p:cNvPr>
          <p:cNvSpPr txBox="1"/>
          <p:nvPr/>
        </p:nvSpPr>
        <p:spPr>
          <a:xfrm>
            <a:off x="285749" y="981075"/>
            <a:ext cx="7739333" cy="584775"/>
          </a:xfrm>
          <a:prstGeom prst="rect">
            <a:avLst/>
          </a:prstGeom>
          <a:noFill/>
        </p:spPr>
        <p:txBody>
          <a:bodyPr wrap="square" rtlCol="0">
            <a:spAutoFit/>
          </a:bodyPr>
          <a:lstStyle/>
          <a:p>
            <a:r>
              <a:rPr lang="en-US" altLang="zh-CN" sz="1600" b="1" dirty="0"/>
              <a:t>Motivation</a:t>
            </a:r>
            <a:r>
              <a:rPr lang="en-US" altLang="zh-CN" sz="1600" dirty="0"/>
              <a:t>: Natural language processing (NLP) algorithms have become very successful, but they still struggle when applied to out-of-distribution examples.</a:t>
            </a:r>
            <a:endParaRPr lang="zh-CN" altLang="en-US" sz="1600" dirty="0"/>
          </a:p>
        </p:txBody>
      </p:sp>
    </p:spTree>
    <p:extLst>
      <p:ext uri="{BB962C8B-B14F-4D97-AF65-F5344CB8AC3E}">
        <p14:creationId xmlns:p14="http://schemas.microsoft.com/office/powerpoint/2010/main" val="326673409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8891B412-F05F-4A77-B198-BA4E6E80A2D0}"/>
              </a:ext>
            </a:extLst>
          </p:cNvPr>
          <p:cNvSpPr>
            <a:spLocks noGrp="1"/>
          </p:cNvSpPr>
          <p:nvPr>
            <p:ph type="sldNum" sz="quarter" idx="11"/>
          </p:nvPr>
        </p:nvSpPr>
        <p:spPr/>
        <p:txBody>
          <a:bodyPr/>
          <a:lstStyle/>
          <a:p>
            <a:fld id="{2AEAD966-1EF9-3A44-9B11-0C8090371A9A}" type="slidenum">
              <a:rPr lang="en-US" smtClean="0"/>
              <a:t>77</a:t>
            </a:fld>
            <a:endParaRPr lang="en-US"/>
          </a:p>
        </p:txBody>
      </p:sp>
      <p:sp>
        <p:nvSpPr>
          <p:cNvPr id="4" name="标题 3">
            <a:extLst>
              <a:ext uri="{FF2B5EF4-FFF2-40B4-BE49-F238E27FC236}">
                <a16:creationId xmlns:a16="http://schemas.microsoft.com/office/drawing/2014/main" id="{0AB89416-F10C-4AF5-A1CD-A88D1B51B88B}"/>
              </a:ext>
            </a:extLst>
          </p:cNvPr>
          <p:cNvSpPr>
            <a:spLocks noGrp="1"/>
          </p:cNvSpPr>
          <p:nvPr>
            <p:ph type="title"/>
          </p:nvPr>
        </p:nvSpPr>
        <p:spPr/>
        <p:txBody>
          <a:bodyPr>
            <a:noAutofit/>
          </a:bodyPr>
          <a:lstStyle/>
          <a:p>
            <a:r>
              <a:rPr lang="en-US" altLang="zh-CN" sz="2000" dirty="0"/>
              <a:t>Representative Work6: </a:t>
            </a:r>
            <a:r>
              <a:rPr lang="en-US" altLang="zh-CN" sz="2000" dirty="0" err="1"/>
              <a:t>DoCoGen</a:t>
            </a:r>
            <a:r>
              <a:rPr lang="en-US" altLang="zh-CN" sz="2000" dirty="0"/>
              <a:t>: Domain Counterfactual Generation for Low Resource Domain Adaptation</a:t>
            </a:r>
            <a:endParaRPr lang="zh-CN" altLang="en-US" sz="2000" dirty="0"/>
          </a:p>
        </p:txBody>
      </p:sp>
      <p:sp>
        <p:nvSpPr>
          <p:cNvPr id="5" name="日期占位符 4">
            <a:extLst>
              <a:ext uri="{FF2B5EF4-FFF2-40B4-BE49-F238E27FC236}">
                <a16:creationId xmlns:a16="http://schemas.microsoft.com/office/drawing/2014/main" id="{150217C6-D280-4EBA-A1CA-33760BF284F5}"/>
              </a:ext>
            </a:extLst>
          </p:cNvPr>
          <p:cNvSpPr>
            <a:spLocks noGrp="1"/>
          </p:cNvSpPr>
          <p:nvPr>
            <p:ph type="dt" sz="half" idx="12"/>
          </p:nvPr>
        </p:nvSpPr>
        <p:spPr/>
        <p:txBody>
          <a:bodyPr/>
          <a:lstStyle/>
          <a:p>
            <a:fld id="{63ADDE33-C9F1-F94F-A20E-DA422DA466DF}" type="datetime1">
              <a:rPr lang="en-US" smtClean="0"/>
              <a:t>9/8/2022</a:t>
            </a:fld>
            <a:endParaRPr lang="en-US" dirty="0"/>
          </a:p>
        </p:txBody>
      </p:sp>
      <p:pic>
        <p:nvPicPr>
          <p:cNvPr id="8" name="内容占位符 7">
            <a:extLst>
              <a:ext uri="{FF2B5EF4-FFF2-40B4-BE49-F238E27FC236}">
                <a16:creationId xmlns:a16="http://schemas.microsoft.com/office/drawing/2014/main" id="{CE99CB8B-93A9-429F-9C82-ECECF1D01617}"/>
              </a:ext>
            </a:extLst>
          </p:cNvPr>
          <p:cNvPicPr>
            <a:picLocks noGrp="1" noChangeAspect="1"/>
          </p:cNvPicPr>
          <p:nvPr>
            <p:ph idx="1"/>
          </p:nvPr>
        </p:nvPicPr>
        <p:blipFill>
          <a:blip r:embed="rId2"/>
          <a:stretch>
            <a:fillRect/>
          </a:stretch>
        </p:blipFill>
        <p:spPr>
          <a:xfrm>
            <a:off x="239712" y="1898974"/>
            <a:ext cx="8447088" cy="3981606"/>
          </a:xfrm>
          <a:prstGeom prst="rect">
            <a:avLst/>
          </a:prstGeom>
        </p:spPr>
      </p:pic>
      <p:sp>
        <p:nvSpPr>
          <p:cNvPr id="9" name="文本框 8">
            <a:extLst>
              <a:ext uri="{FF2B5EF4-FFF2-40B4-BE49-F238E27FC236}">
                <a16:creationId xmlns:a16="http://schemas.microsoft.com/office/drawing/2014/main" id="{5F7A7C6F-7B5A-489B-8CDD-15DAA7F88CC3}"/>
              </a:ext>
            </a:extLst>
          </p:cNvPr>
          <p:cNvSpPr txBox="1"/>
          <p:nvPr/>
        </p:nvSpPr>
        <p:spPr>
          <a:xfrm>
            <a:off x="476250" y="977420"/>
            <a:ext cx="8210550" cy="830997"/>
          </a:xfrm>
          <a:prstGeom prst="rect">
            <a:avLst/>
          </a:prstGeom>
          <a:noFill/>
        </p:spPr>
        <p:txBody>
          <a:bodyPr wrap="square" rtlCol="0">
            <a:spAutoFit/>
          </a:bodyPr>
          <a:lstStyle/>
          <a:p>
            <a:r>
              <a:rPr lang="en-US" altLang="zh-CN" sz="1600" b="1" dirty="0"/>
              <a:t>Method</a:t>
            </a:r>
            <a:r>
              <a:rPr lang="en-US" altLang="zh-CN" sz="1600" dirty="0"/>
              <a:t>: Given an input text example, the algorithm generates a domain-counterfactual textual example (D-CON) – that is similar to the original in all aspects, including the task label, but its domain is changed to a desired one</a:t>
            </a:r>
            <a:endParaRPr lang="zh-CN" altLang="en-US" sz="1600" dirty="0"/>
          </a:p>
        </p:txBody>
      </p:sp>
      <p:sp>
        <p:nvSpPr>
          <p:cNvPr id="10" name="文本框 9">
            <a:extLst>
              <a:ext uri="{FF2B5EF4-FFF2-40B4-BE49-F238E27FC236}">
                <a16:creationId xmlns:a16="http://schemas.microsoft.com/office/drawing/2014/main" id="{F27BE894-FB24-4D1B-A04A-079593826EB1}"/>
              </a:ext>
            </a:extLst>
          </p:cNvPr>
          <p:cNvSpPr txBox="1"/>
          <p:nvPr/>
        </p:nvSpPr>
        <p:spPr>
          <a:xfrm>
            <a:off x="476250" y="5977702"/>
            <a:ext cx="3947532" cy="307777"/>
          </a:xfrm>
          <a:prstGeom prst="rect">
            <a:avLst/>
          </a:prstGeom>
          <a:noFill/>
        </p:spPr>
        <p:txBody>
          <a:bodyPr wrap="square" rtlCol="0">
            <a:spAutoFit/>
          </a:bodyPr>
          <a:lstStyle/>
          <a:p>
            <a:r>
              <a:rPr lang="en-US" altLang="zh-CN" sz="1400" dirty="0"/>
              <a:t>Similar to representative work3</a:t>
            </a:r>
            <a:endParaRPr lang="zh-CN" altLang="en-US" sz="1400" dirty="0"/>
          </a:p>
        </p:txBody>
      </p:sp>
    </p:spTree>
    <p:extLst>
      <p:ext uri="{BB962C8B-B14F-4D97-AF65-F5344CB8AC3E}">
        <p14:creationId xmlns:p14="http://schemas.microsoft.com/office/powerpoint/2010/main" val="146826682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C1B39D0F-497E-4470-B367-D38F1F8FE586}"/>
              </a:ext>
            </a:extLst>
          </p:cNvPr>
          <p:cNvPicPr>
            <a:picLocks noGrp="1" noChangeAspect="1"/>
          </p:cNvPicPr>
          <p:nvPr>
            <p:ph idx="1"/>
          </p:nvPr>
        </p:nvPicPr>
        <p:blipFill rotWithShape="1">
          <a:blip r:embed="rId2"/>
          <a:srcRect l="2557"/>
          <a:stretch/>
        </p:blipFill>
        <p:spPr>
          <a:xfrm>
            <a:off x="171450" y="2107877"/>
            <a:ext cx="8801100" cy="2947009"/>
          </a:xfrm>
          <a:prstGeom prst="rect">
            <a:avLst/>
          </a:prstGeom>
        </p:spPr>
      </p:pic>
      <p:sp>
        <p:nvSpPr>
          <p:cNvPr id="3" name="灯片编号占位符 2">
            <a:extLst>
              <a:ext uri="{FF2B5EF4-FFF2-40B4-BE49-F238E27FC236}">
                <a16:creationId xmlns:a16="http://schemas.microsoft.com/office/drawing/2014/main" id="{2EB4C193-21BE-4BE2-AE2B-80B08FC9D242}"/>
              </a:ext>
            </a:extLst>
          </p:cNvPr>
          <p:cNvSpPr>
            <a:spLocks noGrp="1"/>
          </p:cNvSpPr>
          <p:nvPr>
            <p:ph type="sldNum" sz="quarter" idx="11"/>
          </p:nvPr>
        </p:nvSpPr>
        <p:spPr/>
        <p:txBody>
          <a:bodyPr/>
          <a:lstStyle/>
          <a:p>
            <a:fld id="{2AEAD966-1EF9-3A44-9B11-0C8090371A9A}" type="slidenum">
              <a:rPr lang="en-US" smtClean="0"/>
              <a:t>78</a:t>
            </a:fld>
            <a:endParaRPr lang="en-US"/>
          </a:p>
        </p:txBody>
      </p:sp>
      <p:sp>
        <p:nvSpPr>
          <p:cNvPr id="4" name="标题 3">
            <a:extLst>
              <a:ext uri="{FF2B5EF4-FFF2-40B4-BE49-F238E27FC236}">
                <a16:creationId xmlns:a16="http://schemas.microsoft.com/office/drawing/2014/main" id="{7FA665F4-A166-4736-9BC3-8D2B4C2DC730}"/>
              </a:ext>
            </a:extLst>
          </p:cNvPr>
          <p:cNvSpPr>
            <a:spLocks noGrp="1"/>
          </p:cNvSpPr>
          <p:nvPr>
            <p:ph type="title"/>
          </p:nvPr>
        </p:nvSpPr>
        <p:spPr/>
        <p:txBody>
          <a:bodyPr>
            <a:noAutofit/>
          </a:bodyPr>
          <a:lstStyle/>
          <a:p>
            <a:r>
              <a:rPr lang="en-US" altLang="zh-CN" sz="2000" dirty="0"/>
              <a:t>Representative Work7: Debiasing NLU models via Causal Intervention and Counterfactual Reasoning</a:t>
            </a:r>
            <a:endParaRPr lang="zh-CN" altLang="en-US" sz="2000" dirty="0"/>
          </a:p>
        </p:txBody>
      </p:sp>
      <p:sp>
        <p:nvSpPr>
          <p:cNvPr id="5" name="日期占位符 4">
            <a:extLst>
              <a:ext uri="{FF2B5EF4-FFF2-40B4-BE49-F238E27FC236}">
                <a16:creationId xmlns:a16="http://schemas.microsoft.com/office/drawing/2014/main" id="{2AC5616F-93DC-44C0-8F58-5D2519597A43}"/>
              </a:ext>
            </a:extLst>
          </p:cNvPr>
          <p:cNvSpPr>
            <a:spLocks noGrp="1"/>
          </p:cNvSpPr>
          <p:nvPr>
            <p:ph type="dt" sz="half" idx="12"/>
          </p:nvPr>
        </p:nvSpPr>
        <p:spPr/>
        <p:txBody>
          <a:bodyPr/>
          <a:lstStyle/>
          <a:p>
            <a:fld id="{63ADDE33-C9F1-F94F-A20E-DA422DA466DF}" type="datetime1">
              <a:rPr lang="en-US" smtClean="0"/>
              <a:t>9/8/2022</a:t>
            </a:fld>
            <a:endParaRPr lang="en-US" dirty="0"/>
          </a:p>
        </p:txBody>
      </p:sp>
      <p:sp>
        <p:nvSpPr>
          <p:cNvPr id="7" name="文本框 6">
            <a:extLst>
              <a:ext uri="{FF2B5EF4-FFF2-40B4-BE49-F238E27FC236}">
                <a16:creationId xmlns:a16="http://schemas.microsoft.com/office/drawing/2014/main" id="{5EDDDFA6-C7CA-4A6B-933D-18998687461F}"/>
              </a:ext>
            </a:extLst>
          </p:cNvPr>
          <p:cNvSpPr txBox="1"/>
          <p:nvPr/>
        </p:nvSpPr>
        <p:spPr>
          <a:xfrm>
            <a:off x="466725" y="1057275"/>
            <a:ext cx="7905750" cy="830997"/>
          </a:xfrm>
          <a:prstGeom prst="rect">
            <a:avLst/>
          </a:prstGeom>
          <a:noFill/>
        </p:spPr>
        <p:txBody>
          <a:bodyPr wrap="square" rtlCol="0">
            <a:spAutoFit/>
          </a:bodyPr>
          <a:lstStyle/>
          <a:p>
            <a:r>
              <a:rPr lang="en-US" altLang="zh-CN" sz="1600" b="1" dirty="0"/>
              <a:t>Motivation</a:t>
            </a:r>
            <a:r>
              <a:rPr lang="en-US" altLang="zh-CN" sz="1600" dirty="0"/>
              <a:t>: Natural Language Understanding (NLU) models are prone to relying on annotation biases of the datasets as a shortcut, which goes against the underlying mechanisms of the task of interest</a:t>
            </a:r>
            <a:endParaRPr lang="zh-CN" altLang="en-US" sz="1600" dirty="0"/>
          </a:p>
        </p:txBody>
      </p:sp>
    </p:spTree>
    <p:extLst>
      <p:ext uri="{BB962C8B-B14F-4D97-AF65-F5344CB8AC3E}">
        <p14:creationId xmlns:p14="http://schemas.microsoft.com/office/powerpoint/2010/main" val="1304416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0D4CC6C-8CF3-469B-9AC2-CD26255BACAB}"/>
              </a:ext>
            </a:extLst>
          </p:cNvPr>
          <p:cNvSpPr>
            <a:spLocks noGrp="1"/>
          </p:cNvSpPr>
          <p:nvPr>
            <p:ph type="sldNum" sz="quarter" idx="11"/>
          </p:nvPr>
        </p:nvSpPr>
        <p:spPr/>
        <p:txBody>
          <a:bodyPr/>
          <a:lstStyle/>
          <a:p>
            <a:fld id="{2AEAD966-1EF9-3A44-9B11-0C8090371A9A}" type="slidenum">
              <a:rPr lang="en-US" smtClean="0"/>
              <a:t>79</a:t>
            </a:fld>
            <a:endParaRPr lang="en-US"/>
          </a:p>
        </p:txBody>
      </p:sp>
      <p:sp>
        <p:nvSpPr>
          <p:cNvPr id="4" name="标题 3">
            <a:extLst>
              <a:ext uri="{FF2B5EF4-FFF2-40B4-BE49-F238E27FC236}">
                <a16:creationId xmlns:a16="http://schemas.microsoft.com/office/drawing/2014/main" id="{59EF527E-709B-4F2F-9940-6443DDF9E776}"/>
              </a:ext>
            </a:extLst>
          </p:cNvPr>
          <p:cNvSpPr>
            <a:spLocks noGrp="1"/>
          </p:cNvSpPr>
          <p:nvPr>
            <p:ph type="title"/>
          </p:nvPr>
        </p:nvSpPr>
        <p:spPr/>
        <p:txBody>
          <a:bodyPr>
            <a:noAutofit/>
          </a:bodyPr>
          <a:lstStyle/>
          <a:p>
            <a:r>
              <a:rPr lang="en-US" altLang="zh-CN" sz="2000" dirty="0"/>
              <a:t>Representative Work7: Debiasing NLU models via Causal Intervention and Counterfactual Reasoning</a:t>
            </a:r>
            <a:endParaRPr lang="zh-CN" altLang="en-US" sz="2000" dirty="0"/>
          </a:p>
        </p:txBody>
      </p:sp>
      <p:sp>
        <p:nvSpPr>
          <p:cNvPr id="5" name="日期占位符 4">
            <a:extLst>
              <a:ext uri="{FF2B5EF4-FFF2-40B4-BE49-F238E27FC236}">
                <a16:creationId xmlns:a16="http://schemas.microsoft.com/office/drawing/2014/main" id="{3A778B30-62BF-4A28-91EA-9C7C29A6C447}"/>
              </a:ext>
            </a:extLst>
          </p:cNvPr>
          <p:cNvSpPr>
            <a:spLocks noGrp="1"/>
          </p:cNvSpPr>
          <p:nvPr>
            <p:ph type="dt" sz="half" idx="12"/>
          </p:nvPr>
        </p:nvSpPr>
        <p:spPr/>
        <p:txBody>
          <a:bodyPr/>
          <a:lstStyle/>
          <a:p>
            <a:fld id="{63ADDE33-C9F1-F94F-A20E-DA422DA466DF}" type="datetime1">
              <a:rPr lang="en-US" smtClean="0"/>
              <a:t>9/8/2022</a:t>
            </a:fld>
            <a:endParaRPr lang="en-US" dirty="0"/>
          </a:p>
        </p:txBody>
      </p:sp>
      <p:pic>
        <p:nvPicPr>
          <p:cNvPr id="6" name="图片 5">
            <a:extLst>
              <a:ext uri="{FF2B5EF4-FFF2-40B4-BE49-F238E27FC236}">
                <a16:creationId xmlns:a16="http://schemas.microsoft.com/office/drawing/2014/main" id="{39C72696-5756-45C0-82C6-298BE8267A5E}"/>
              </a:ext>
            </a:extLst>
          </p:cNvPr>
          <p:cNvPicPr>
            <a:picLocks noChangeAspect="1"/>
          </p:cNvPicPr>
          <p:nvPr/>
        </p:nvPicPr>
        <p:blipFill>
          <a:blip r:embed="rId2"/>
          <a:stretch>
            <a:fillRect/>
          </a:stretch>
        </p:blipFill>
        <p:spPr>
          <a:xfrm>
            <a:off x="0" y="2155661"/>
            <a:ext cx="5962650" cy="4171950"/>
          </a:xfrm>
          <a:prstGeom prst="rect">
            <a:avLst/>
          </a:prstGeom>
        </p:spPr>
      </p:pic>
      <p:sp>
        <p:nvSpPr>
          <p:cNvPr id="7" name="文本框 6">
            <a:extLst>
              <a:ext uri="{FF2B5EF4-FFF2-40B4-BE49-F238E27FC236}">
                <a16:creationId xmlns:a16="http://schemas.microsoft.com/office/drawing/2014/main" id="{A33EA77A-E86B-48A4-B8B4-D21FA4BB3CDD}"/>
              </a:ext>
            </a:extLst>
          </p:cNvPr>
          <p:cNvSpPr txBox="1"/>
          <p:nvPr/>
        </p:nvSpPr>
        <p:spPr>
          <a:xfrm>
            <a:off x="495300" y="952500"/>
            <a:ext cx="7739333" cy="1077218"/>
          </a:xfrm>
          <a:prstGeom prst="rect">
            <a:avLst/>
          </a:prstGeom>
          <a:noFill/>
        </p:spPr>
        <p:txBody>
          <a:bodyPr wrap="square" rtlCol="0">
            <a:spAutoFit/>
          </a:bodyPr>
          <a:lstStyle/>
          <a:p>
            <a:r>
              <a:rPr lang="en-US" altLang="zh-CN" sz="1600" b="1" dirty="0"/>
              <a:t>SCM and Method</a:t>
            </a:r>
            <a:r>
              <a:rPr lang="en-US" altLang="zh-CN" sz="1600" dirty="0"/>
              <a:t>:</a:t>
            </a:r>
            <a:r>
              <a:rPr lang="en-US" altLang="zh-CN" sz="1600" b="1" dirty="0"/>
              <a:t> 1) </a:t>
            </a:r>
            <a:r>
              <a:rPr lang="en-US" altLang="zh-CN" sz="1600" dirty="0"/>
              <a:t>To remove confounder, the backdoor adjustment with causal intervention is utilized to find the true causal effect during training </a:t>
            </a:r>
            <a:r>
              <a:rPr lang="en-US" altLang="zh-CN" sz="1600" b="1" dirty="0"/>
              <a:t>2)</a:t>
            </a:r>
            <a:r>
              <a:rPr lang="en-US" altLang="zh-CN" sz="1600" dirty="0"/>
              <a:t> In inference process, we formulate the bias as the direct causal effect and remove it by pursuing the indirect causal effect with counterfactual reasoning.</a:t>
            </a:r>
            <a:endParaRPr lang="zh-CN" altLang="en-US" sz="1600" dirty="0"/>
          </a:p>
        </p:txBody>
      </p:sp>
      <p:pic>
        <p:nvPicPr>
          <p:cNvPr id="8" name="图片 7">
            <a:extLst>
              <a:ext uri="{FF2B5EF4-FFF2-40B4-BE49-F238E27FC236}">
                <a16:creationId xmlns:a16="http://schemas.microsoft.com/office/drawing/2014/main" id="{9DD40DC0-E9DE-40FE-8B50-42F4803C1576}"/>
              </a:ext>
            </a:extLst>
          </p:cNvPr>
          <p:cNvPicPr>
            <a:picLocks noChangeAspect="1"/>
          </p:cNvPicPr>
          <p:nvPr/>
        </p:nvPicPr>
        <p:blipFill rotWithShape="1">
          <a:blip r:embed="rId3"/>
          <a:srcRect l="7381" r="15549"/>
          <a:stretch/>
        </p:blipFill>
        <p:spPr>
          <a:xfrm>
            <a:off x="4967017" y="3827739"/>
            <a:ext cx="4176983" cy="533400"/>
          </a:xfrm>
          <a:prstGeom prst="rect">
            <a:avLst/>
          </a:prstGeom>
        </p:spPr>
      </p:pic>
      <p:pic>
        <p:nvPicPr>
          <p:cNvPr id="9" name="图片 8">
            <a:extLst>
              <a:ext uri="{FF2B5EF4-FFF2-40B4-BE49-F238E27FC236}">
                <a16:creationId xmlns:a16="http://schemas.microsoft.com/office/drawing/2014/main" id="{3E15B2E5-A816-4254-A562-6FAF23865FCA}"/>
              </a:ext>
            </a:extLst>
          </p:cNvPr>
          <p:cNvPicPr>
            <a:picLocks noChangeAspect="1"/>
          </p:cNvPicPr>
          <p:nvPr/>
        </p:nvPicPr>
        <p:blipFill rotWithShape="1">
          <a:blip r:embed="rId4"/>
          <a:srcRect r="32206"/>
          <a:stretch/>
        </p:blipFill>
        <p:spPr>
          <a:xfrm>
            <a:off x="5091693" y="3101721"/>
            <a:ext cx="3228665" cy="600075"/>
          </a:xfrm>
          <a:prstGeom prst="rect">
            <a:avLst/>
          </a:prstGeom>
        </p:spPr>
      </p:pic>
    </p:spTree>
    <p:extLst>
      <p:ext uri="{BB962C8B-B14F-4D97-AF65-F5344CB8AC3E}">
        <p14:creationId xmlns:p14="http://schemas.microsoft.com/office/powerpoint/2010/main" val="20702994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1">
              <a:buClr>
                <a:schemeClr val="accent6">
                  <a:lumMod val="50000"/>
                </a:schemeClr>
              </a:buClr>
            </a:pPr>
            <a:r>
              <a:rPr lang="en-US" altLang="zh-CN" dirty="0"/>
              <a:t>Counterfactuals Basics</a:t>
            </a:r>
          </a:p>
          <a:p>
            <a:pPr lvl="2">
              <a:buClr>
                <a:schemeClr val="accent6">
                  <a:lumMod val="50000"/>
                </a:schemeClr>
              </a:buClr>
            </a:pPr>
            <a:r>
              <a:rPr lang="en-US" altLang="zh-CN" dirty="0"/>
              <a:t>Roadmap for Computing Deterministic Counterfactuals</a:t>
            </a:r>
          </a:p>
          <a:p>
            <a:pPr lvl="2">
              <a:buClr>
                <a:schemeClr val="accent6">
                  <a:lumMod val="50000"/>
                </a:schemeClr>
              </a:buClr>
            </a:pPr>
            <a:r>
              <a:rPr lang="en-US" altLang="zh-CN" dirty="0"/>
              <a:t>General Steps for Probabilistic Counterfactuals</a:t>
            </a:r>
          </a:p>
          <a:p>
            <a:pPr lvl="1">
              <a:buClr>
                <a:schemeClr val="accent6">
                  <a:lumMod val="50000"/>
                </a:schemeClr>
              </a:buClr>
            </a:pPr>
            <a:r>
              <a:rPr lang="en-US" altLang="zh-CN" dirty="0"/>
              <a:t>Important Application: Mediation</a:t>
            </a:r>
          </a:p>
          <a:p>
            <a:pPr lvl="2">
              <a:buClr>
                <a:schemeClr val="accent6">
                  <a:lumMod val="50000"/>
                </a:schemeClr>
              </a:buClr>
            </a:pPr>
            <a:r>
              <a:rPr lang="en-US" altLang="zh-CN" dirty="0"/>
              <a:t>CDE</a:t>
            </a:r>
            <a:r>
              <a:rPr lang="zh-CN" altLang="en-US" dirty="0"/>
              <a:t>、</a:t>
            </a:r>
            <a:r>
              <a:rPr lang="en-US" altLang="zh-CN" dirty="0"/>
              <a:t>NDE</a:t>
            </a:r>
            <a:r>
              <a:rPr lang="zh-CN" altLang="en-US" dirty="0"/>
              <a:t>、</a:t>
            </a:r>
            <a:r>
              <a:rPr lang="en-US" altLang="zh-CN" dirty="0"/>
              <a:t>NIE</a:t>
            </a:r>
          </a:p>
          <a:p>
            <a:pPr lvl="2">
              <a:buClr>
                <a:schemeClr val="accent6">
                  <a:lumMod val="50000"/>
                </a:schemeClr>
              </a:buClr>
            </a:pPr>
            <a:r>
              <a:rPr lang="en-US" altLang="zh-CN" dirty="0"/>
              <a:t>When We Can Measure NDE and NIE</a:t>
            </a:r>
          </a:p>
          <a:p>
            <a:pPr lvl="1">
              <a:buClr>
                <a:schemeClr val="accent6">
                  <a:lumMod val="50000"/>
                </a:schemeClr>
              </a:buClr>
            </a:pPr>
            <a:r>
              <a:rPr lang="en-US" altLang="zh-CN" dirty="0"/>
              <a:t>Representative Works</a:t>
            </a:r>
          </a:p>
        </p:txBody>
      </p:sp>
      <p:sp>
        <p:nvSpPr>
          <p:cNvPr id="3" name="Slide Number Placeholder 2"/>
          <p:cNvSpPr>
            <a:spLocks noGrp="1"/>
          </p:cNvSpPr>
          <p:nvPr>
            <p:ph type="sldNum" sz="quarter" idx="11"/>
          </p:nvPr>
        </p:nvSpPr>
        <p:spPr/>
        <p:txBody>
          <a:bodyPr/>
          <a:lstStyle/>
          <a:p>
            <a:fld id="{2AEAD966-1EF9-3A44-9B11-0C8090371A9A}" type="slidenum">
              <a:rPr lang="en-US" smtClean="0"/>
              <a:t>80</a:t>
            </a:fld>
            <a:endParaRPr lang="en-US"/>
          </a:p>
        </p:txBody>
      </p:sp>
      <p:sp>
        <p:nvSpPr>
          <p:cNvPr id="4" name="Title 3"/>
          <p:cNvSpPr>
            <a:spLocks noGrp="1"/>
          </p:cNvSpPr>
          <p:nvPr>
            <p:ph type="title"/>
          </p:nvPr>
        </p:nvSpPr>
        <p:spPr/>
        <p:txBody>
          <a:bodyPr/>
          <a:lstStyle/>
          <a:p>
            <a:r>
              <a:rPr lang="en-US" altLang="zh-CN" dirty="0"/>
              <a:t>Summary</a:t>
            </a:r>
            <a:endParaRPr lang="en-US" dirty="0"/>
          </a:p>
        </p:txBody>
      </p:sp>
      <p:sp>
        <p:nvSpPr>
          <p:cNvPr id="5" name="Date Placeholder 4"/>
          <p:cNvSpPr>
            <a:spLocks noGrp="1"/>
          </p:cNvSpPr>
          <p:nvPr>
            <p:ph type="dt" sz="half" idx="12"/>
          </p:nvPr>
        </p:nvSpPr>
        <p:spPr/>
        <p:txBody>
          <a:bodyPr/>
          <a:lstStyle/>
          <a:p>
            <a:fld id="{63ADDE33-C9F1-F94F-A20E-DA422DA466DF}" type="datetime1">
              <a:rPr lang="en-US" smtClean="0"/>
              <a:t>9/8/2022</a:t>
            </a:fld>
            <a:endParaRPr lang="en-US" dirty="0"/>
          </a:p>
        </p:txBody>
      </p:sp>
    </p:spTree>
    <p:extLst>
      <p:ext uri="{BB962C8B-B14F-4D97-AF65-F5344CB8AC3E}">
        <p14:creationId xmlns:p14="http://schemas.microsoft.com/office/powerpoint/2010/main" val="189567606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8968" y="73684"/>
            <a:ext cx="7739333" cy="635525"/>
          </a:xfrm>
        </p:spPr>
        <p:txBody>
          <a:bodyPr>
            <a:normAutofit/>
          </a:bodyPr>
          <a:lstStyle/>
          <a:p>
            <a:r>
              <a:rPr lang="en-US" altLang="zh-CN" dirty="0"/>
              <a:t>Causal Inference</a:t>
            </a:r>
            <a:endParaRPr lang="en-US" dirty="0"/>
          </a:p>
        </p:txBody>
      </p:sp>
      <p:sp>
        <p:nvSpPr>
          <p:cNvPr id="3" name="Content Placeholder 2"/>
          <p:cNvSpPr>
            <a:spLocks noGrp="1"/>
          </p:cNvSpPr>
          <p:nvPr>
            <p:ph idx="1"/>
          </p:nvPr>
        </p:nvSpPr>
        <p:spPr/>
        <p:txBody>
          <a:bodyPr>
            <a:normAutofit/>
          </a:bodyPr>
          <a:lstStyle/>
          <a:p>
            <a:pPr lvl="1"/>
            <a:r>
              <a:rPr lang="zh-CN" altLang="en-US" dirty="0">
                <a:solidFill>
                  <a:schemeClr val="tx1"/>
                </a:solidFill>
              </a:rPr>
              <a:t>参考：</a:t>
            </a:r>
            <a:r>
              <a:rPr lang="en-US" altLang="zh-CN" dirty="0">
                <a:hlinkClick r:id="rId2"/>
              </a:rPr>
              <a:t>https://www.bradyneal.com/causal-inference-course</a:t>
            </a:r>
            <a:endParaRPr lang="en-US" altLang="zh-CN" dirty="0"/>
          </a:p>
          <a:p>
            <a:pPr lvl="1"/>
            <a:r>
              <a:rPr lang="en-US" altLang="zh-CN" dirty="0">
                <a:hlinkClick r:id="rId3"/>
              </a:rPr>
              <a:t>https://www.inference.vc/causal-inference-3-counterfactuals/</a:t>
            </a:r>
            <a:endParaRPr lang="en-US" altLang="zh-CN" dirty="0"/>
          </a:p>
        </p:txBody>
      </p:sp>
      <p:sp>
        <p:nvSpPr>
          <p:cNvPr id="4" name="Date Placeholder 3"/>
          <p:cNvSpPr>
            <a:spLocks noGrp="1"/>
          </p:cNvSpPr>
          <p:nvPr>
            <p:ph type="dt" sz="half" idx="12"/>
          </p:nvPr>
        </p:nvSpPr>
        <p:spPr/>
        <p:txBody>
          <a:bodyPr/>
          <a:lstStyle/>
          <a:p>
            <a:fld id="{EA47628A-B90E-AB49-B5A7-29D277515DCE}" type="datetime1">
              <a:rPr lang="en-US" smtClean="0"/>
              <a:t>8/29/2022</a:t>
            </a:fld>
            <a:endParaRPr lang="en-US" dirty="0"/>
          </a:p>
        </p:txBody>
      </p:sp>
      <p:sp>
        <p:nvSpPr>
          <p:cNvPr id="5" name="Slide Number Placeholder 4"/>
          <p:cNvSpPr>
            <a:spLocks noGrp="1"/>
          </p:cNvSpPr>
          <p:nvPr>
            <p:ph type="sldNum" sz="quarter" idx="11"/>
          </p:nvPr>
        </p:nvSpPr>
        <p:spPr/>
        <p:txBody>
          <a:bodyPr/>
          <a:lstStyle/>
          <a:p>
            <a:fld id="{2AEAD966-1EF9-3A44-9B11-0C8090371A9A}" type="slidenum">
              <a:rPr lang="en-US" smtClean="0"/>
              <a:t>81</a:t>
            </a:fld>
            <a:endParaRPr lang="en-US"/>
          </a:p>
        </p:txBody>
      </p:sp>
    </p:spTree>
    <p:extLst>
      <p:ext uri="{BB962C8B-B14F-4D97-AF65-F5344CB8AC3E}">
        <p14:creationId xmlns:p14="http://schemas.microsoft.com/office/powerpoint/2010/main" val="32757901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YSU_Class" id="{AA4835B2-4AFD-BD42-A543-AC6F30BBD2A8}" vid="{90C20EE6-B8F6-AA42-ABE5-776B3118CD6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SYSU_Class</Template>
  <TotalTime>19751</TotalTime>
  <Words>4401</Words>
  <Application>Microsoft Office PowerPoint</Application>
  <PresentationFormat>全屏显示(4:3)</PresentationFormat>
  <Paragraphs>637</Paragraphs>
  <Slides>81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81</vt:i4>
      </vt:variant>
    </vt:vector>
  </HeadingPairs>
  <TitlesOfParts>
    <vt:vector size="89" baseType="lpstr">
      <vt:lpstr>黑体</vt:lpstr>
      <vt:lpstr>宋体</vt:lpstr>
      <vt:lpstr>Arial</vt:lpstr>
      <vt:lpstr>Calibri</vt:lpstr>
      <vt:lpstr>Calibri Light</vt:lpstr>
      <vt:lpstr>Cambria Math</vt:lpstr>
      <vt:lpstr>Wingdings</vt:lpstr>
      <vt:lpstr>Office Theme</vt:lpstr>
      <vt:lpstr>Causal Models  --Counterfactuals </vt:lpstr>
      <vt:lpstr>Outline</vt:lpstr>
      <vt:lpstr>Fundamental Problem of Causal Inference</vt:lpstr>
      <vt:lpstr>Fundamental Problem of Causal Inference</vt:lpstr>
      <vt:lpstr>Fundamental Problem of Causal Inference</vt:lpstr>
      <vt:lpstr>PowerPoint 演示文稿</vt:lpstr>
      <vt:lpstr>Counterfactuals</vt:lpstr>
      <vt:lpstr>Counterfactuals</vt:lpstr>
      <vt:lpstr>Counterfactuals</vt:lpstr>
      <vt:lpstr>Counterfactuals</vt:lpstr>
      <vt:lpstr>Counterfactuals</vt:lpstr>
      <vt:lpstr>Roadmap for Computing Counterfactuals</vt:lpstr>
      <vt:lpstr>Roadmap for Computing Counterfactuals</vt:lpstr>
      <vt:lpstr>Roadmap for Computing Counterfactuals</vt:lpstr>
      <vt:lpstr>Computing Counterfactuals: Simple Example</vt:lpstr>
      <vt:lpstr>Computing Counterfactuals: Simple Example</vt:lpstr>
      <vt:lpstr>Computing Counterfactuals: Simple Example</vt:lpstr>
      <vt:lpstr>Computing Counterfactuals: Simple Example</vt:lpstr>
      <vt:lpstr>Computing Counterfactuals: Simple Example</vt:lpstr>
      <vt:lpstr>Computing Counterfactuals: Simple Example</vt:lpstr>
      <vt:lpstr>General Steps for Deterministic Counterfactuals</vt:lpstr>
      <vt:lpstr>Question:</vt:lpstr>
      <vt:lpstr>Can’t Always Determine Counterfactual</vt:lpstr>
      <vt:lpstr>Can’t Always Determine Counterfactual</vt:lpstr>
      <vt:lpstr>Can’t Always Determine Counterfactual</vt:lpstr>
      <vt:lpstr>Non-Invertible Example</vt:lpstr>
      <vt:lpstr>Non-Invertible Example</vt:lpstr>
      <vt:lpstr>Non-Invertible Example</vt:lpstr>
      <vt:lpstr>General Steps for Probabilistic Counterfactuals</vt:lpstr>
      <vt:lpstr>General Steps for Probabilistic Counterfactuals</vt:lpstr>
      <vt:lpstr>General Steps for Probabilistic Counterfactuals</vt:lpstr>
      <vt:lpstr>No Unit-level Counterfactuals without Parametric Model</vt:lpstr>
      <vt:lpstr>Question</vt:lpstr>
      <vt:lpstr>Population-level Doesn’t Require a Parametric Model</vt:lpstr>
      <vt:lpstr>Population-level Doesn’t Require a Parametric Model</vt:lpstr>
      <vt:lpstr>Outline</vt:lpstr>
      <vt:lpstr>Mediation</vt:lpstr>
      <vt:lpstr>Mediation</vt:lpstr>
      <vt:lpstr>Mediation</vt:lpstr>
      <vt:lpstr>Mediation</vt:lpstr>
      <vt:lpstr>Controlled Direct Effect (CDE)</vt:lpstr>
      <vt:lpstr>Controlled Direct Effect (CDE)</vt:lpstr>
      <vt:lpstr>Controlled Direct Effect (CDE)</vt:lpstr>
      <vt:lpstr>Controlled Direct Effect (CDE)</vt:lpstr>
      <vt:lpstr>Controlled Direct Effect (CDE)</vt:lpstr>
      <vt:lpstr>Natural Direct and Indirect Effects</vt:lpstr>
      <vt:lpstr>Natural Direct and Indirect Effects</vt:lpstr>
      <vt:lpstr>Natural Direct and Indirect Effects</vt:lpstr>
      <vt:lpstr>Question</vt:lpstr>
      <vt:lpstr>Comparison of Controlled vs. Natural Mediation</vt:lpstr>
      <vt:lpstr>PowerPoint 演示文稿</vt:lpstr>
      <vt:lpstr>When We Can Measure NDE and NIE</vt:lpstr>
      <vt:lpstr>When We Can Measure NDE and NIE</vt:lpstr>
      <vt:lpstr>When We Can Measure NDE and NIE</vt:lpstr>
      <vt:lpstr>When We Can Measure NDE and NIE</vt:lpstr>
      <vt:lpstr>When We Can Measure NDE and NIE</vt:lpstr>
      <vt:lpstr>Question:</vt:lpstr>
      <vt:lpstr>Path-Specific Effects</vt:lpstr>
      <vt:lpstr>Outline</vt:lpstr>
      <vt:lpstr>Representative Works</vt:lpstr>
      <vt:lpstr>Representative Works</vt:lpstr>
      <vt:lpstr>Representative Work1: Counterfactual VQA: A Cause-Effect Look at Language Bias</vt:lpstr>
      <vt:lpstr>Representative Work1: Counterfactual VQA: A Cause-Effect Look at Language Bias</vt:lpstr>
      <vt:lpstr>Representative Work1: Counterfactual VQA: A Cause-Effect Look at Language Bias</vt:lpstr>
      <vt:lpstr>Representative Work2: Counterfactual Attention Learning for Fine-Grained Visual Categorization and Re-identification</vt:lpstr>
      <vt:lpstr>Representative Work2: Counterfactual Attention Learning for Fine-Grained Visual Categorization and Re-identification</vt:lpstr>
      <vt:lpstr>Representative Work2: Counterfactual Attention Learning for Fine-Grained Visual Categorization and Re-identification</vt:lpstr>
      <vt:lpstr>Representative Work3: Counterfactual zero-shot and open-set visual recognition</vt:lpstr>
      <vt:lpstr>Representative Work3: Counterfactual zero-shot and open-set visual recognition</vt:lpstr>
      <vt:lpstr>Representative Work3: Counterfactual zero-shot and open-set visual recognition</vt:lpstr>
      <vt:lpstr>Representative Work3: Counterfactual zero-shot and open-set visual recognition</vt:lpstr>
      <vt:lpstr>Representative Work4: Cycle-Consistent Counterfactuals by Latent Transformations</vt:lpstr>
      <vt:lpstr>Representative Work4: Cycle-Consistent Counterfactuals by Latent Transformations</vt:lpstr>
      <vt:lpstr>Representative Work5: Counterfactual inference for text classification debiasing</vt:lpstr>
      <vt:lpstr>Representative Work5: Counterfactual inference for text classification debiasing</vt:lpstr>
      <vt:lpstr>Representative Work6: DoCoGen: Domain Counterfactual Generation for Low Resource Domain Adaptation</vt:lpstr>
      <vt:lpstr>Representative Work6: DoCoGen: Domain Counterfactual Generation for Low Resource Domain Adaptation</vt:lpstr>
      <vt:lpstr>Representative Work7: Debiasing NLU models via Causal Intervention and Counterfactual Reasoning</vt:lpstr>
      <vt:lpstr>Representative Work7: Debiasing NLU models via Causal Intervention and Counterfactual Reasoning</vt:lpstr>
      <vt:lpstr>Summary</vt:lpstr>
      <vt:lpstr>Causal Inference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Bayesian Networks</dc:title>
  <dc:creator>Qinliang Su, Ph.D.</dc:creator>
  <cp:lastModifiedBy>PC</cp:lastModifiedBy>
  <cp:revision>398</cp:revision>
  <cp:lastPrinted>2019-12-02T03:57:01Z</cp:lastPrinted>
  <dcterms:created xsi:type="dcterms:W3CDTF">2018-10-08T14:42:01Z</dcterms:created>
  <dcterms:modified xsi:type="dcterms:W3CDTF">2022-09-09T01:04:46Z</dcterms:modified>
</cp:coreProperties>
</file>