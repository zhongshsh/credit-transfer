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7"/>
  </p:notesMasterIdLst>
  <p:sldIdLst>
    <p:sldId id="257" r:id="rId2"/>
    <p:sldId id="258" r:id="rId3"/>
    <p:sldId id="264" r:id="rId4"/>
    <p:sldId id="292" r:id="rId5"/>
    <p:sldId id="293" r:id="rId6"/>
    <p:sldId id="295" r:id="rId7"/>
    <p:sldId id="298" r:id="rId8"/>
    <p:sldId id="300" r:id="rId9"/>
    <p:sldId id="299" r:id="rId10"/>
    <p:sldId id="265" r:id="rId11"/>
    <p:sldId id="296" r:id="rId12"/>
    <p:sldId id="303" r:id="rId13"/>
    <p:sldId id="301" r:id="rId14"/>
    <p:sldId id="302" r:id="rId15"/>
    <p:sldId id="304" r:id="rId16"/>
    <p:sldId id="305" r:id="rId17"/>
    <p:sldId id="271" r:id="rId18"/>
    <p:sldId id="272" r:id="rId19"/>
    <p:sldId id="276" r:id="rId20"/>
    <p:sldId id="273" r:id="rId21"/>
    <p:sldId id="307" r:id="rId22"/>
    <p:sldId id="308" r:id="rId23"/>
    <p:sldId id="277" r:id="rId24"/>
    <p:sldId id="278" r:id="rId25"/>
    <p:sldId id="291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14723"/>
    <a:srgbClr val="FF5D5D"/>
    <a:srgbClr val="C00000"/>
    <a:srgbClr val="CC3300"/>
    <a:srgbClr val="3A6695"/>
    <a:srgbClr val="9CC5FD"/>
    <a:srgbClr val="134263"/>
    <a:srgbClr val="1E2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13" autoAdjust="0"/>
    <p:restoredTop sz="94637" autoAdjust="0"/>
  </p:normalViewPr>
  <p:slideViewPr>
    <p:cSldViewPr snapToGrid="0">
      <p:cViewPr varScale="1">
        <p:scale>
          <a:sx n="77" d="100"/>
          <a:sy n="77" d="100"/>
        </p:scale>
        <p:origin x="324" y="12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FigureOut">
              <a:rPr lang="zh-CN" altLang="en-US" smtClean="0"/>
              <a:pPr/>
              <a:t>2022/12/27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114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499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299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06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078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检索式对话系统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521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0902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799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0979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384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9796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2657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2500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5448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3411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6817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5782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298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98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8948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97394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1503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6624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3604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9616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9CE2F-2D6D-4125-839E-97993982901E}" type="datetime1">
              <a:rPr lang="zh-CN" altLang="en-US" smtClean="0"/>
              <a:t>2022/12/27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049C0-D3EC-454A-9E98-66B4BFFA6D87}" type="datetime1">
              <a:rPr lang="zh-CN" altLang="en-US" smtClean="0"/>
              <a:t>2022/12/27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DD55E-8B8C-409C-8DB3-9D660C8FADA6}" type="datetime1">
              <a:rPr lang="zh-CN" altLang="en-US" smtClean="0"/>
              <a:t>2022/12/27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2829-8ADB-41B1-83EA-486D36A573C3}" type="datetime1">
              <a:rPr lang="zh-CN" altLang="en-US" smtClean="0"/>
              <a:t>2022/12/27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C501-AAB0-48AB-A648-DC45F51BF00A}" type="datetime1">
              <a:rPr lang="zh-CN" altLang="en-US" smtClean="0"/>
              <a:t>2022/12/27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CA842-BCE8-4A41-BBFB-9E2CAB297462}" type="datetime1">
              <a:rPr lang="zh-CN" altLang="en-US" smtClean="0"/>
              <a:t>2022/12/27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E5450-C1C4-4A8B-A6A8-3C2FBBF7237F}" type="datetime1">
              <a:rPr lang="zh-CN" altLang="en-US" smtClean="0"/>
              <a:t>2022/12/27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36211-EA93-414B-8972-E7E4576898CC}" type="datetime1">
              <a:rPr lang="zh-CN" altLang="en-US" smtClean="0"/>
              <a:t>2022/12/27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56A6-B327-418A-947B-3B76032C1A78}" type="datetime1">
              <a:rPr lang="zh-CN" altLang="en-US" smtClean="0"/>
              <a:t>2022/12/27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874F3-382E-414A-B1E3-846BC8AD233C}" type="datetime1">
              <a:rPr lang="zh-CN" altLang="en-US" smtClean="0"/>
              <a:t>2022/12/27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7CC7E-C2AB-44F4-98E6-4A339CE77F06}" type="datetime1">
              <a:rPr lang="zh-CN" altLang="en-US" smtClean="0"/>
              <a:t>2022/12/27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2F4E1-1B10-404C-B10B-1A4927BAE7B6}" type="datetime1">
              <a:rPr lang="zh-CN" altLang="en-US" smtClean="0"/>
              <a:t>2022/12/27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0624F31-998C-44D3-BAFB-ADD006D3547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/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74443" y="2553303"/>
            <a:ext cx="1176291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Multi-Turn Response Selection via</a:t>
            </a:r>
          </a:p>
          <a:p>
            <a:pPr algn="ctr"/>
            <a:r>
              <a:rPr lang="en-US" altLang="zh-CN" sz="44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Utterance-oriented Strategy</a:t>
            </a:r>
            <a:endParaRPr lang="zh-CN" altLang="en-US" sz="44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0"/>
          <p:cNvSpPr txBox="1"/>
          <p:nvPr/>
        </p:nvSpPr>
        <p:spPr>
          <a:xfrm>
            <a:off x="2565806" y="4115081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中山大学计算机学院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6"/>
          <p:cNvSpPr txBox="1"/>
          <p:nvPr/>
        </p:nvSpPr>
        <p:spPr>
          <a:xfrm>
            <a:off x="4216976" y="5231182"/>
            <a:ext cx="3775344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钟珊珊，宋鸿展，许愿，蔡晨语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C754B86-73A7-4A82-964F-FD1E97816B9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/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/>
        </p:nvSpPr>
        <p:spPr>
          <a:xfrm>
            <a:off x="-1791046" y="1892300"/>
            <a:ext cx="5651845" cy="3073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C3300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-1556426" y="1998319"/>
            <a:ext cx="5261917" cy="2861362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983200" y="1709747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01</a:t>
            </a:r>
            <a:endParaRPr lang="zh-CN" altLang="en-US" b="1" dirty="0"/>
          </a:p>
        </p:txBody>
      </p:sp>
      <p:sp>
        <p:nvSpPr>
          <p:cNvPr id="6" name="圆角矩形 5"/>
          <p:cNvSpPr/>
          <p:nvPr/>
        </p:nvSpPr>
        <p:spPr>
          <a:xfrm>
            <a:off x="5983200" y="2677672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02</a:t>
            </a:r>
            <a:endParaRPr lang="zh-CN" altLang="en-US" b="1" dirty="0"/>
          </a:p>
        </p:txBody>
      </p:sp>
      <p:sp>
        <p:nvSpPr>
          <p:cNvPr id="7" name="圆角矩形 6"/>
          <p:cNvSpPr/>
          <p:nvPr/>
        </p:nvSpPr>
        <p:spPr>
          <a:xfrm>
            <a:off x="5983200" y="3645597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03</a:t>
            </a:r>
            <a:endParaRPr lang="zh-CN" altLang="en-US" b="1" dirty="0"/>
          </a:p>
        </p:txBody>
      </p:sp>
      <p:sp>
        <p:nvSpPr>
          <p:cNvPr id="8" name="圆角矩形 7"/>
          <p:cNvSpPr/>
          <p:nvPr/>
        </p:nvSpPr>
        <p:spPr>
          <a:xfrm>
            <a:off x="5983200" y="4613522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04</a:t>
            </a:r>
            <a:endParaRPr lang="zh-CN" altLang="en-US" b="1" dirty="0"/>
          </a:p>
        </p:txBody>
      </p:sp>
      <p:sp>
        <p:nvSpPr>
          <p:cNvPr id="59" name="圆角矩形 58"/>
          <p:cNvSpPr/>
          <p:nvPr/>
        </p:nvSpPr>
        <p:spPr>
          <a:xfrm>
            <a:off x="7088100" y="1709747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绪论背景</a:t>
            </a:r>
          </a:p>
        </p:txBody>
      </p:sp>
      <p:sp>
        <p:nvSpPr>
          <p:cNvPr id="60" name="圆角矩形 59"/>
          <p:cNvSpPr/>
          <p:nvPr/>
        </p:nvSpPr>
        <p:spPr>
          <a:xfrm>
            <a:off x="7088100" y="2677672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模型设计</a:t>
            </a:r>
          </a:p>
        </p:txBody>
      </p:sp>
      <p:sp>
        <p:nvSpPr>
          <p:cNvPr id="61" name="圆角矩形 60"/>
          <p:cNvSpPr/>
          <p:nvPr/>
        </p:nvSpPr>
        <p:spPr>
          <a:xfrm>
            <a:off x="7088100" y="3645597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实验分析</a:t>
            </a:r>
          </a:p>
        </p:txBody>
      </p:sp>
      <p:sp>
        <p:nvSpPr>
          <p:cNvPr id="64" name="TextBox 78"/>
          <p:cNvSpPr txBox="1"/>
          <p:nvPr/>
        </p:nvSpPr>
        <p:spPr>
          <a:xfrm>
            <a:off x="565975" y="3733289"/>
            <a:ext cx="2063385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665" b="1" dirty="0">
                <a:solidFill>
                  <a:schemeClr val="bg1"/>
                </a:solidFill>
                <a:latin typeface="Impact MT Std" pitchFamily="34" charset="0"/>
                <a:ea typeface="微软雅黑" panose="020B0503020204020204" pitchFamily="34" charset="-122"/>
              </a:rPr>
              <a:t>CONTENTS</a:t>
            </a:r>
            <a:endParaRPr lang="zh-CN" altLang="en-US" sz="2665" b="1" dirty="0">
              <a:solidFill>
                <a:schemeClr val="bg1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65" name="TextBox 79"/>
          <p:cNvSpPr txBox="1"/>
          <p:nvPr/>
        </p:nvSpPr>
        <p:spPr>
          <a:xfrm>
            <a:off x="641317" y="2677173"/>
            <a:ext cx="1912703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</a:p>
        </p:txBody>
      </p:sp>
      <p:sp>
        <p:nvSpPr>
          <p:cNvPr id="16" name="圆角矩形 62">
            <a:extLst>
              <a:ext uri="{FF2B5EF4-FFF2-40B4-BE49-F238E27FC236}">
                <a16:creationId xmlns:a16="http://schemas.microsoft.com/office/drawing/2014/main" id="{DB778DDC-C2C6-49A5-B306-1C24EBC5EA16}"/>
              </a:ext>
            </a:extLst>
          </p:cNvPr>
          <p:cNvSpPr/>
          <p:nvPr/>
        </p:nvSpPr>
        <p:spPr>
          <a:xfrm>
            <a:off x="7088100" y="4613522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总结展望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0793C3E-B7C4-4884-9F51-C057EDD06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EF1F5B96-F9C1-48EC-A668-4788CAC80ED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37591"/>
          <a:stretch/>
        </p:blipFill>
        <p:spPr>
          <a:xfrm>
            <a:off x="-17299" y="0"/>
            <a:ext cx="12209296" cy="373649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4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6" name="任意多边形 5"/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491220" y="3502820"/>
            <a:ext cx="1209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Part.01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327401" y="4789616"/>
            <a:ext cx="553719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D54B3F5-FD72-4993-B0EE-6C48FAF63EA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62" b="3296"/>
          <a:stretch/>
        </p:blipFill>
        <p:spPr>
          <a:xfrm>
            <a:off x="2716059" y="661011"/>
            <a:ext cx="6759883" cy="2383189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B20EBD1-50B1-4AD1-A641-5808292F2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9756385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686786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48298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65316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82334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实验分析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99352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总结展望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8054585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69581" y="1146352"/>
            <a:ext cx="1912341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什么是对话系统？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1AE74A2E-9926-431B-BF44-7E1F62289E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8682140-DA93-4A90-9A75-7CB0B20C3A1C}"/>
                  </a:ext>
                </a:extLst>
              </p:cNvPr>
              <p:cNvSpPr txBox="1"/>
              <p:nvPr/>
            </p:nvSpPr>
            <p:spPr>
              <a:xfrm>
                <a:off x="520567" y="4484834"/>
                <a:ext cx="10892902" cy="18955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对话系统可以看作是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用户信息</a:t>
                </a: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U 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到机器人回复</a:t>
                </a: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R 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的映射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R=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𝜙</m:t>
                    </m:r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(U)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𝜙</m:t>
                    </m:r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(·)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为映射函数。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NLU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文本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信息进行识别解析，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转换成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计算机可理解的结构化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语义表示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DST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根据对话历史和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NLU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模块输出的语义表示，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维护并更新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当前的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对话状态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PL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根据当前的对话状态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执行下一步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动作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NLG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将对话策略输出的语义表示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转换成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自然语言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文本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8682140-DA93-4A90-9A75-7CB0B20C3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67" y="4484834"/>
                <a:ext cx="10892902" cy="1895519"/>
              </a:xfrm>
              <a:prstGeom prst="rect">
                <a:avLst/>
              </a:prstGeom>
              <a:blipFill>
                <a:blip r:embed="rId4"/>
                <a:stretch>
                  <a:fillRect l="-280" b="-32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F5A9F3A6-2FE2-4A97-8D6F-F1CCBB03FB7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049" y="1786977"/>
            <a:ext cx="6560436" cy="2444291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BBF04E7-4402-484C-A9FE-7D53F534E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710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9756385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686786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48298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65316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82334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实验分析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99352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总结展望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8054585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cxnSpLocks/>
          </p:cNvCxnSpPr>
          <p:nvPr/>
        </p:nvCxnSpPr>
        <p:spPr>
          <a:xfrm>
            <a:off x="425752" y="1528840"/>
            <a:ext cx="399820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585925" y="1106959"/>
            <a:ext cx="3714508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我们要研究对话系统中的什么问题？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1AE74A2E-9926-431B-BF44-7E1F62289E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F8682140-DA93-4A90-9A75-7CB0B20C3A1C}"/>
              </a:ext>
            </a:extLst>
          </p:cNvPr>
          <p:cNvSpPr txBox="1"/>
          <p:nvPr/>
        </p:nvSpPr>
        <p:spPr>
          <a:xfrm>
            <a:off x="487680" y="1672533"/>
            <a:ext cx="5268686" cy="411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针对对话系统挑战赛（DSTC8）赛道二（NOESIS II）的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多轮对话系统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提出可行的解决方案。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多轮对话的输入是对话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上下文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候选回复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response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），输出是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条回复的打分排序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，用于选择多轮对话的下一轮回答。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NOESIS II提供了两个专业领域的数据集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Ubuntu和Advising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。如右图所示，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Ubuntu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数据集记录了网友在讨论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Ubuntu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操作系统的技术问题，例如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ubuntu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的硬件支持、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nvidia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安装、证书等问题。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评估指标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是平均倒数排名（MRR）和召回率。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2A6B882-ECA1-454A-896A-3CFC6A2F0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7509D7D-8C15-4DE6-B529-1747C8C82D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787" y="1330311"/>
            <a:ext cx="4553505" cy="502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987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9756385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686786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48298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65316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82334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实验分析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99352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总结展望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8054585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cxnSpLocks/>
          </p:cNvCxnSpPr>
          <p:nvPr/>
        </p:nvCxnSpPr>
        <p:spPr>
          <a:xfrm>
            <a:off x="425752" y="1528840"/>
            <a:ext cx="368469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585925" y="1106959"/>
            <a:ext cx="3714508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NOESIS II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的特点和难点是什么？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1AE74A2E-9926-431B-BF44-7E1F62289E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F8682140-DA93-4A90-9A75-7CB0B20C3A1C}"/>
              </a:ext>
            </a:extLst>
          </p:cNvPr>
          <p:cNvSpPr txBox="1"/>
          <p:nvPr/>
        </p:nvSpPr>
        <p:spPr>
          <a:xfrm>
            <a:off x="498839" y="1726297"/>
            <a:ext cx="5317725" cy="4850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NOESIS II与对话系统不同的点在于，NOESIS II任务中，NLU阶段需要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同时理解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response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的语义信息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，同时并不需要DST和NLG，PL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response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判断结果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NOESIS II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主要有两个难点：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其一是数据集都是垂直领域的问答，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模型必须对领域专业知识有一定理解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，才能正确回答，针对这点需要做好模型的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领域预训练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其二是每个对话的候选回复多至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个，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匹配难度很高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，针对这点需要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在深度匹配模型上做改进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C9C16DF-139B-4FDA-97C5-5817D9DFDB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75" y="3326153"/>
            <a:ext cx="4624251" cy="1034259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5F40A09-5C22-4931-8059-D69F095CD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6</a:t>
            </a:fld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8C5082A-7A9A-4CF6-9044-8B89DEAA4EB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787" y="1330311"/>
            <a:ext cx="4553505" cy="502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31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9756385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686786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48298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65316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82334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实验分析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99352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总结展望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8054585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585925" y="1106959"/>
            <a:ext cx="3714508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怎么解决这些挑战？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1AE74A2E-9926-431B-BF44-7E1F62289E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F8682140-DA93-4A90-9A75-7CB0B20C3A1C}"/>
              </a:ext>
            </a:extLst>
          </p:cNvPr>
          <p:cNvSpPr txBox="1"/>
          <p:nvPr/>
        </p:nvSpPr>
        <p:spPr>
          <a:xfrm>
            <a:off x="583488" y="1726297"/>
            <a:ext cx="3947326" cy="4480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 (2018)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RoBERTa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-SS-DA (2020)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BERT-DPT (2020)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BERT-VFT (2020)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SA-BERT (2020)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TOD-BERT (2020)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UMS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BERT+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(2021)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BERT-SL (2021)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BERT-FP (2021)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2565782-D64F-4E05-B6D2-9409DA313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71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9756385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686786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48298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65316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82334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实验分析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99352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总结展望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8054585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585925" y="1106959"/>
            <a:ext cx="3714508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怎么解决这些挑战？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1AE74A2E-9926-431B-BF44-7E1F62289E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F8682140-DA93-4A90-9A75-7CB0B20C3A1C}"/>
              </a:ext>
            </a:extLst>
          </p:cNvPr>
          <p:cNvSpPr txBox="1"/>
          <p:nvPr/>
        </p:nvSpPr>
        <p:spPr>
          <a:xfrm>
            <a:off x="583488" y="1726297"/>
            <a:ext cx="3947326" cy="4480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 (2018)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RoBERTa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-SS-DA (2020)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BERT-DPT (2020)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BERT-VFT (2020)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SA-BERT (2020)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TOD-BERT (2020)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UMS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BERT+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(2021)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BERT-SL (2021)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BERT-FP (2021)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17F022A-FBCB-44DC-B017-5354A9D65A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434" y="3310454"/>
            <a:ext cx="6937639" cy="1312527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8B46EBF-0883-4DE1-9771-9CD1B0458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404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9756385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686786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48298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65316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82334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实验分析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99352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总结展望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8054585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585925" y="1106959"/>
            <a:ext cx="3714508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怎么解决这些挑战？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1AE74A2E-9926-431B-BF44-7E1F62289E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F8682140-DA93-4A90-9A75-7CB0B20C3A1C}"/>
              </a:ext>
            </a:extLst>
          </p:cNvPr>
          <p:cNvSpPr txBox="1"/>
          <p:nvPr/>
        </p:nvSpPr>
        <p:spPr>
          <a:xfrm>
            <a:off x="583488" y="1726297"/>
            <a:ext cx="3947326" cy="4480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 (2018)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RoBERTa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-SS-DA (2020)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BERT-DPT (2020)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BERT-VFT (2020)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SA-BERT (2020)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TOD-BERT (2020)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UMS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BERT+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(2021)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BERT-SL (2021)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BERT-FP (2021)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60A7E-DF14-4870-BE83-4EA0E7F97716}"/>
              </a:ext>
            </a:extLst>
          </p:cNvPr>
          <p:cNvSpPr txBox="1"/>
          <p:nvPr/>
        </p:nvSpPr>
        <p:spPr>
          <a:xfrm>
            <a:off x="4334608" y="1528840"/>
            <a:ext cx="6937638" cy="1526187"/>
          </a:xfrm>
          <a:custGeom>
            <a:avLst/>
            <a:gdLst>
              <a:gd name="connsiteX0" fmla="*/ 0 w 6937638"/>
              <a:gd name="connsiteY0" fmla="*/ 0 h 1526187"/>
              <a:gd name="connsiteX1" fmla="*/ 624387 w 6937638"/>
              <a:gd name="connsiteY1" fmla="*/ 0 h 1526187"/>
              <a:gd name="connsiteX2" fmla="*/ 1248775 w 6937638"/>
              <a:gd name="connsiteY2" fmla="*/ 0 h 1526187"/>
              <a:gd name="connsiteX3" fmla="*/ 2011915 w 6937638"/>
              <a:gd name="connsiteY3" fmla="*/ 0 h 1526187"/>
              <a:gd name="connsiteX4" fmla="*/ 2566926 w 6937638"/>
              <a:gd name="connsiteY4" fmla="*/ 0 h 1526187"/>
              <a:gd name="connsiteX5" fmla="*/ 3260690 w 6937638"/>
              <a:gd name="connsiteY5" fmla="*/ 0 h 1526187"/>
              <a:gd name="connsiteX6" fmla="*/ 4023830 w 6937638"/>
              <a:gd name="connsiteY6" fmla="*/ 0 h 1526187"/>
              <a:gd name="connsiteX7" fmla="*/ 4786970 w 6937638"/>
              <a:gd name="connsiteY7" fmla="*/ 0 h 1526187"/>
              <a:gd name="connsiteX8" fmla="*/ 5411358 w 6937638"/>
              <a:gd name="connsiteY8" fmla="*/ 0 h 1526187"/>
              <a:gd name="connsiteX9" fmla="*/ 5896992 w 6937638"/>
              <a:gd name="connsiteY9" fmla="*/ 0 h 1526187"/>
              <a:gd name="connsiteX10" fmla="*/ 6937638 w 6937638"/>
              <a:gd name="connsiteY10" fmla="*/ 0 h 1526187"/>
              <a:gd name="connsiteX11" fmla="*/ 6937638 w 6937638"/>
              <a:gd name="connsiteY11" fmla="*/ 493467 h 1526187"/>
              <a:gd name="connsiteX12" fmla="*/ 6937638 w 6937638"/>
              <a:gd name="connsiteY12" fmla="*/ 1032720 h 1526187"/>
              <a:gd name="connsiteX13" fmla="*/ 6937638 w 6937638"/>
              <a:gd name="connsiteY13" fmla="*/ 1526187 h 1526187"/>
              <a:gd name="connsiteX14" fmla="*/ 6382627 w 6937638"/>
              <a:gd name="connsiteY14" fmla="*/ 1526187 h 1526187"/>
              <a:gd name="connsiteX15" fmla="*/ 5688863 w 6937638"/>
              <a:gd name="connsiteY15" fmla="*/ 1526187 h 1526187"/>
              <a:gd name="connsiteX16" fmla="*/ 4995099 w 6937638"/>
              <a:gd name="connsiteY16" fmla="*/ 1526187 h 1526187"/>
              <a:gd name="connsiteX17" fmla="*/ 4162583 w 6937638"/>
              <a:gd name="connsiteY17" fmla="*/ 1526187 h 1526187"/>
              <a:gd name="connsiteX18" fmla="*/ 3330066 w 6937638"/>
              <a:gd name="connsiteY18" fmla="*/ 1526187 h 1526187"/>
              <a:gd name="connsiteX19" fmla="*/ 2705679 w 6937638"/>
              <a:gd name="connsiteY19" fmla="*/ 1526187 h 1526187"/>
              <a:gd name="connsiteX20" fmla="*/ 2220044 w 6937638"/>
              <a:gd name="connsiteY20" fmla="*/ 1526187 h 1526187"/>
              <a:gd name="connsiteX21" fmla="*/ 1665033 w 6937638"/>
              <a:gd name="connsiteY21" fmla="*/ 1526187 h 1526187"/>
              <a:gd name="connsiteX22" fmla="*/ 971269 w 6937638"/>
              <a:gd name="connsiteY22" fmla="*/ 1526187 h 1526187"/>
              <a:gd name="connsiteX23" fmla="*/ 0 w 6937638"/>
              <a:gd name="connsiteY23" fmla="*/ 1526187 h 1526187"/>
              <a:gd name="connsiteX24" fmla="*/ 0 w 6937638"/>
              <a:gd name="connsiteY24" fmla="*/ 1002196 h 1526187"/>
              <a:gd name="connsiteX25" fmla="*/ 0 w 6937638"/>
              <a:gd name="connsiteY25" fmla="*/ 523991 h 1526187"/>
              <a:gd name="connsiteX26" fmla="*/ 0 w 6937638"/>
              <a:gd name="connsiteY26" fmla="*/ 0 h 152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937638" h="1526187" extrusionOk="0">
                <a:moveTo>
                  <a:pt x="0" y="0"/>
                </a:moveTo>
                <a:cubicBezTo>
                  <a:pt x="219690" y="10522"/>
                  <a:pt x="337321" y="-19617"/>
                  <a:pt x="624387" y="0"/>
                </a:cubicBezTo>
                <a:cubicBezTo>
                  <a:pt x="911453" y="19617"/>
                  <a:pt x="1088772" y="10176"/>
                  <a:pt x="1248775" y="0"/>
                </a:cubicBezTo>
                <a:cubicBezTo>
                  <a:pt x="1408778" y="-10176"/>
                  <a:pt x="1757151" y="7391"/>
                  <a:pt x="2011915" y="0"/>
                </a:cubicBezTo>
                <a:cubicBezTo>
                  <a:pt x="2266679" y="-7391"/>
                  <a:pt x="2418736" y="23331"/>
                  <a:pt x="2566926" y="0"/>
                </a:cubicBezTo>
                <a:cubicBezTo>
                  <a:pt x="2715116" y="-23331"/>
                  <a:pt x="2972262" y="33169"/>
                  <a:pt x="3260690" y="0"/>
                </a:cubicBezTo>
                <a:cubicBezTo>
                  <a:pt x="3549118" y="-33169"/>
                  <a:pt x="3722489" y="-26339"/>
                  <a:pt x="4023830" y="0"/>
                </a:cubicBezTo>
                <a:cubicBezTo>
                  <a:pt x="4325171" y="26339"/>
                  <a:pt x="4446805" y="6902"/>
                  <a:pt x="4786970" y="0"/>
                </a:cubicBezTo>
                <a:cubicBezTo>
                  <a:pt x="5127135" y="-6902"/>
                  <a:pt x="5248577" y="22696"/>
                  <a:pt x="5411358" y="0"/>
                </a:cubicBezTo>
                <a:cubicBezTo>
                  <a:pt x="5574139" y="-22696"/>
                  <a:pt x="5719313" y="-9286"/>
                  <a:pt x="5896992" y="0"/>
                </a:cubicBezTo>
                <a:cubicBezTo>
                  <a:pt x="6074671" y="9286"/>
                  <a:pt x="6608952" y="-28235"/>
                  <a:pt x="6937638" y="0"/>
                </a:cubicBezTo>
                <a:cubicBezTo>
                  <a:pt x="6927697" y="141111"/>
                  <a:pt x="6917118" y="371755"/>
                  <a:pt x="6937638" y="493467"/>
                </a:cubicBezTo>
                <a:cubicBezTo>
                  <a:pt x="6958158" y="615179"/>
                  <a:pt x="6946439" y="824939"/>
                  <a:pt x="6937638" y="1032720"/>
                </a:cubicBezTo>
                <a:cubicBezTo>
                  <a:pt x="6928837" y="1240501"/>
                  <a:pt x="6916127" y="1337012"/>
                  <a:pt x="6937638" y="1526187"/>
                </a:cubicBezTo>
                <a:cubicBezTo>
                  <a:pt x="6686458" y="1504225"/>
                  <a:pt x="6644420" y="1547118"/>
                  <a:pt x="6382627" y="1526187"/>
                </a:cubicBezTo>
                <a:cubicBezTo>
                  <a:pt x="6120834" y="1505256"/>
                  <a:pt x="5908243" y="1531444"/>
                  <a:pt x="5688863" y="1526187"/>
                </a:cubicBezTo>
                <a:cubicBezTo>
                  <a:pt x="5469483" y="1520930"/>
                  <a:pt x="5207999" y="1523655"/>
                  <a:pt x="4995099" y="1526187"/>
                </a:cubicBezTo>
                <a:cubicBezTo>
                  <a:pt x="4782199" y="1528719"/>
                  <a:pt x="4350690" y="1541477"/>
                  <a:pt x="4162583" y="1526187"/>
                </a:cubicBezTo>
                <a:cubicBezTo>
                  <a:pt x="3974476" y="1510897"/>
                  <a:pt x="3608278" y="1541221"/>
                  <a:pt x="3330066" y="1526187"/>
                </a:cubicBezTo>
                <a:cubicBezTo>
                  <a:pt x="3051854" y="1511153"/>
                  <a:pt x="3009874" y="1513639"/>
                  <a:pt x="2705679" y="1526187"/>
                </a:cubicBezTo>
                <a:cubicBezTo>
                  <a:pt x="2401484" y="1538735"/>
                  <a:pt x="2329870" y="1536336"/>
                  <a:pt x="2220044" y="1526187"/>
                </a:cubicBezTo>
                <a:cubicBezTo>
                  <a:pt x="2110218" y="1516038"/>
                  <a:pt x="1890582" y="1538459"/>
                  <a:pt x="1665033" y="1526187"/>
                </a:cubicBezTo>
                <a:cubicBezTo>
                  <a:pt x="1439484" y="1513915"/>
                  <a:pt x="1229223" y="1559344"/>
                  <a:pt x="971269" y="1526187"/>
                </a:cubicBezTo>
                <a:cubicBezTo>
                  <a:pt x="713315" y="1493030"/>
                  <a:pt x="482802" y="1555292"/>
                  <a:pt x="0" y="1526187"/>
                </a:cubicBezTo>
                <a:cubicBezTo>
                  <a:pt x="18954" y="1357571"/>
                  <a:pt x="-12753" y="1134813"/>
                  <a:pt x="0" y="1002196"/>
                </a:cubicBezTo>
                <a:cubicBezTo>
                  <a:pt x="12753" y="869579"/>
                  <a:pt x="3728" y="641273"/>
                  <a:pt x="0" y="523991"/>
                </a:cubicBezTo>
                <a:cubicBezTo>
                  <a:pt x="-3728" y="406710"/>
                  <a:pt x="25322" y="173011"/>
                  <a:pt x="0" y="0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xmlns="" sd="392777010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MLM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通过随机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Mask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掉语料中部分的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进行训练，从而让模型学习到整体的语境上下文表示；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NSP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方法则是让模型学习到两个文本序列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，后者是否是前者的下一个序列，预测结果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[CLS]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标记输出。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17F022A-FBCB-44DC-B017-5354A9D65A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865" y="3449940"/>
            <a:ext cx="6937639" cy="13125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CA19AD3-F35C-46D6-9888-36000116F0BA}"/>
                  </a:ext>
                </a:extLst>
              </p:cNvPr>
              <p:cNvSpPr txBox="1"/>
              <p:nvPr/>
            </p:nvSpPr>
            <p:spPr>
              <a:xfrm>
                <a:off x="4300433" y="5332732"/>
                <a:ext cx="6944677" cy="993734"/>
              </a:xfrm>
              <a:custGeom>
                <a:avLst/>
                <a:gdLst>
                  <a:gd name="connsiteX0" fmla="*/ 0 w 6944677"/>
                  <a:gd name="connsiteY0" fmla="*/ 0 h 993734"/>
                  <a:gd name="connsiteX1" fmla="*/ 555574 w 6944677"/>
                  <a:gd name="connsiteY1" fmla="*/ 0 h 993734"/>
                  <a:gd name="connsiteX2" fmla="*/ 1041702 w 6944677"/>
                  <a:gd name="connsiteY2" fmla="*/ 0 h 993734"/>
                  <a:gd name="connsiteX3" fmla="*/ 1736169 w 6944677"/>
                  <a:gd name="connsiteY3" fmla="*/ 0 h 993734"/>
                  <a:gd name="connsiteX4" fmla="*/ 2430637 w 6944677"/>
                  <a:gd name="connsiteY4" fmla="*/ 0 h 993734"/>
                  <a:gd name="connsiteX5" fmla="*/ 2916764 w 6944677"/>
                  <a:gd name="connsiteY5" fmla="*/ 0 h 993734"/>
                  <a:gd name="connsiteX6" fmla="*/ 3680679 w 6944677"/>
                  <a:gd name="connsiteY6" fmla="*/ 0 h 993734"/>
                  <a:gd name="connsiteX7" fmla="*/ 4236253 w 6944677"/>
                  <a:gd name="connsiteY7" fmla="*/ 0 h 993734"/>
                  <a:gd name="connsiteX8" fmla="*/ 4722380 w 6944677"/>
                  <a:gd name="connsiteY8" fmla="*/ 0 h 993734"/>
                  <a:gd name="connsiteX9" fmla="*/ 5277955 w 6944677"/>
                  <a:gd name="connsiteY9" fmla="*/ 0 h 993734"/>
                  <a:gd name="connsiteX10" fmla="*/ 6041869 w 6944677"/>
                  <a:gd name="connsiteY10" fmla="*/ 0 h 993734"/>
                  <a:gd name="connsiteX11" fmla="*/ 6944677 w 6944677"/>
                  <a:gd name="connsiteY11" fmla="*/ 0 h 993734"/>
                  <a:gd name="connsiteX12" fmla="*/ 6944677 w 6944677"/>
                  <a:gd name="connsiteY12" fmla="*/ 476992 h 993734"/>
                  <a:gd name="connsiteX13" fmla="*/ 6944677 w 6944677"/>
                  <a:gd name="connsiteY13" fmla="*/ 993734 h 993734"/>
                  <a:gd name="connsiteX14" fmla="*/ 6250209 w 6944677"/>
                  <a:gd name="connsiteY14" fmla="*/ 993734 h 993734"/>
                  <a:gd name="connsiteX15" fmla="*/ 5694635 w 6944677"/>
                  <a:gd name="connsiteY15" fmla="*/ 993734 h 993734"/>
                  <a:gd name="connsiteX16" fmla="*/ 4861274 w 6944677"/>
                  <a:gd name="connsiteY16" fmla="*/ 993734 h 993734"/>
                  <a:gd name="connsiteX17" fmla="*/ 4097359 w 6944677"/>
                  <a:gd name="connsiteY17" fmla="*/ 993734 h 993734"/>
                  <a:gd name="connsiteX18" fmla="*/ 3541785 w 6944677"/>
                  <a:gd name="connsiteY18" fmla="*/ 993734 h 993734"/>
                  <a:gd name="connsiteX19" fmla="*/ 2916764 w 6944677"/>
                  <a:gd name="connsiteY19" fmla="*/ 993734 h 993734"/>
                  <a:gd name="connsiteX20" fmla="*/ 2361190 w 6944677"/>
                  <a:gd name="connsiteY20" fmla="*/ 993734 h 993734"/>
                  <a:gd name="connsiteX21" fmla="*/ 1875063 w 6944677"/>
                  <a:gd name="connsiteY21" fmla="*/ 993734 h 993734"/>
                  <a:gd name="connsiteX22" fmla="*/ 1111148 w 6944677"/>
                  <a:gd name="connsiteY22" fmla="*/ 993734 h 993734"/>
                  <a:gd name="connsiteX23" fmla="*/ 0 w 6944677"/>
                  <a:gd name="connsiteY23" fmla="*/ 993734 h 993734"/>
                  <a:gd name="connsiteX24" fmla="*/ 0 w 6944677"/>
                  <a:gd name="connsiteY24" fmla="*/ 516742 h 993734"/>
                  <a:gd name="connsiteX25" fmla="*/ 0 w 6944677"/>
                  <a:gd name="connsiteY25" fmla="*/ 0 h 993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6944677" h="993734" extrusionOk="0">
                    <a:moveTo>
                      <a:pt x="0" y="0"/>
                    </a:moveTo>
                    <a:cubicBezTo>
                      <a:pt x="130419" y="6388"/>
                      <a:pt x="403011" y="645"/>
                      <a:pt x="555574" y="0"/>
                    </a:cubicBezTo>
                    <a:cubicBezTo>
                      <a:pt x="708137" y="-645"/>
                      <a:pt x="838114" y="-21938"/>
                      <a:pt x="1041702" y="0"/>
                    </a:cubicBezTo>
                    <a:cubicBezTo>
                      <a:pt x="1245290" y="21938"/>
                      <a:pt x="1443479" y="10910"/>
                      <a:pt x="1736169" y="0"/>
                    </a:cubicBezTo>
                    <a:cubicBezTo>
                      <a:pt x="2028859" y="-10910"/>
                      <a:pt x="2260600" y="-6680"/>
                      <a:pt x="2430637" y="0"/>
                    </a:cubicBezTo>
                    <a:cubicBezTo>
                      <a:pt x="2600674" y="6680"/>
                      <a:pt x="2806164" y="10737"/>
                      <a:pt x="2916764" y="0"/>
                    </a:cubicBezTo>
                    <a:cubicBezTo>
                      <a:pt x="3027364" y="-10737"/>
                      <a:pt x="3314725" y="-12058"/>
                      <a:pt x="3680679" y="0"/>
                    </a:cubicBezTo>
                    <a:cubicBezTo>
                      <a:pt x="4046633" y="12058"/>
                      <a:pt x="4068005" y="4036"/>
                      <a:pt x="4236253" y="0"/>
                    </a:cubicBezTo>
                    <a:cubicBezTo>
                      <a:pt x="4404501" y="-4036"/>
                      <a:pt x="4543583" y="11680"/>
                      <a:pt x="4722380" y="0"/>
                    </a:cubicBezTo>
                    <a:cubicBezTo>
                      <a:pt x="4901177" y="-11680"/>
                      <a:pt x="5019471" y="18895"/>
                      <a:pt x="5277955" y="0"/>
                    </a:cubicBezTo>
                    <a:cubicBezTo>
                      <a:pt x="5536440" y="-18895"/>
                      <a:pt x="5816368" y="16831"/>
                      <a:pt x="6041869" y="0"/>
                    </a:cubicBezTo>
                    <a:cubicBezTo>
                      <a:pt x="6267370" y="-16831"/>
                      <a:pt x="6566572" y="37983"/>
                      <a:pt x="6944677" y="0"/>
                    </a:cubicBezTo>
                    <a:cubicBezTo>
                      <a:pt x="6962977" y="166090"/>
                      <a:pt x="6947442" y="336774"/>
                      <a:pt x="6944677" y="476992"/>
                    </a:cubicBezTo>
                    <a:cubicBezTo>
                      <a:pt x="6941912" y="617210"/>
                      <a:pt x="6967795" y="856723"/>
                      <a:pt x="6944677" y="993734"/>
                    </a:cubicBezTo>
                    <a:cubicBezTo>
                      <a:pt x="6780616" y="1014028"/>
                      <a:pt x="6466170" y="962662"/>
                      <a:pt x="6250209" y="993734"/>
                    </a:cubicBezTo>
                    <a:cubicBezTo>
                      <a:pt x="6034248" y="1024806"/>
                      <a:pt x="5966902" y="999221"/>
                      <a:pt x="5694635" y="993734"/>
                    </a:cubicBezTo>
                    <a:cubicBezTo>
                      <a:pt x="5422368" y="988247"/>
                      <a:pt x="5062362" y="968942"/>
                      <a:pt x="4861274" y="993734"/>
                    </a:cubicBezTo>
                    <a:cubicBezTo>
                      <a:pt x="4660186" y="1018526"/>
                      <a:pt x="4277036" y="1014422"/>
                      <a:pt x="4097359" y="993734"/>
                    </a:cubicBezTo>
                    <a:cubicBezTo>
                      <a:pt x="3917683" y="973046"/>
                      <a:pt x="3670935" y="980519"/>
                      <a:pt x="3541785" y="993734"/>
                    </a:cubicBezTo>
                    <a:cubicBezTo>
                      <a:pt x="3412635" y="1006949"/>
                      <a:pt x="3185975" y="967383"/>
                      <a:pt x="2916764" y="993734"/>
                    </a:cubicBezTo>
                    <a:cubicBezTo>
                      <a:pt x="2647553" y="1020085"/>
                      <a:pt x="2631330" y="979241"/>
                      <a:pt x="2361190" y="993734"/>
                    </a:cubicBezTo>
                    <a:cubicBezTo>
                      <a:pt x="2091050" y="1008227"/>
                      <a:pt x="1992538" y="974097"/>
                      <a:pt x="1875063" y="993734"/>
                    </a:cubicBezTo>
                    <a:cubicBezTo>
                      <a:pt x="1757588" y="1013371"/>
                      <a:pt x="1475970" y="992099"/>
                      <a:pt x="1111148" y="993734"/>
                    </a:cubicBezTo>
                    <a:cubicBezTo>
                      <a:pt x="746326" y="995369"/>
                      <a:pt x="500314" y="1011520"/>
                      <a:pt x="0" y="993734"/>
                    </a:cubicBezTo>
                    <a:cubicBezTo>
                      <a:pt x="20137" y="809386"/>
                      <a:pt x="23109" y="658763"/>
                      <a:pt x="0" y="516742"/>
                    </a:cubicBezTo>
                    <a:cubicBezTo>
                      <a:pt x="-23109" y="374721"/>
                      <a:pt x="-8262" y="220717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xmlns="" sd="4021707125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1800" i="1" smtClean="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𝐶𝐿𝑆</m:t>
                          </m:r>
                        </m:e>
                      </m:d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𝐸𝑂𝑇</m:t>
                          </m:r>
                        </m:e>
                      </m:d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𝐸𝑂𝑇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]…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𝐸𝑂𝑇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][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𝑆𝐸𝑃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]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𝑆𝐸𝑃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𝑔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x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𝜎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𝑊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𝐶𝐿𝑆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CN" altLang="en-US" i="1" dirty="0"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CA19AD3-F35C-46D6-9888-36000116F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0433" y="5332732"/>
                <a:ext cx="6944677" cy="993734"/>
              </a:xfrm>
              <a:custGeom>
                <a:avLst/>
                <a:gdLst>
                  <a:gd name="connsiteX0" fmla="*/ 0 w 6944677"/>
                  <a:gd name="connsiteY0" fmla="*/ 0 h 993734"/>
                  <a:gd name="connsiteX1" fmla="*/ 555574 w 6944677"/>
                  <a:gd name="connsiteY1" fmla="*/ 0 h 993734"/>
                  <a:gd name="connsiteX2" fmla="*/ 1041702 w 6944677"/>
                  <a:gd name="connsiteY2" fmla="*/ 0 h 993734"/>
                  <a:gd name="connsiteX3" fmla="*/ 1736169 w 6944677"/>
                  <a:gd name="connsiteY3" fmla="*/ 0 h 993734"/>
                  <a:gd name="connsiteX4" fmla="*/ 2430637 w 6944677"/>
                  <a:gd name="connsiteY4" fmla="*/ 0 h 993734"/>
                  <a:gd name="connsiteX5" fmla="*/ 2916764 w 6944677"/>
                  <a:gd name="connsiteY5" fmla="*/ 0 h 993734"/>
                  <a:gd name="connsiteX6" fmla="*/ 3680679 w 6944677"/>
                  <a:gd name="connsiteY6" fmla="*/ 0 h 993734"/>
                  <a:gd name="connsiteX7" fmla="*/ 4236253 w 6944677"/>
                  <a:gd name="connsiteY7" fmla="*/ 0 h 993734"/>
                  <a:gd name="connsiteX8" fmla="*/ 4722380 w 6944677"/>
                  <a:gd name="connsiteY8" fmla="*/ 0 h 993734"/>
                  <a:gd name="connsiteX9" fmla="*/ 5277955 w 6944677"/>
                  <a:gd name="connsiteY9" fmla="*/ 0 h 993734"/>
                  <a:gd name="connsiteX10" fmla="*/ 6041869 w 6944677"/>
                  <a:gd name="connsiteY10" fmla="*/ 0 h 993734"/>
                  <a:gd name="connsiteX11" fmla="*/ 6944677 w 6944677"/>
                  <a:gd name="connsiteY11" fmla="*/ 0 h 993734"/>
                  <a:gd name="connsiteX12" fmla="*/ 6944677 w 6944677"/>
                  <a:gd name="connsiteY12" fmla="*/ 476992 h 993734"/>
                  <a:gd name="connsiteX13" fmla="*/ 6944677 w 6944677"/>
                  <a:gd name="connsiteY13" fmla="*/ 993734 h 993734"/>
                  <a:gd name="connsiteX14" fmla="*/ 6250209 w 6944677"/>
                  <a:gd name="connsiteY14" fmla="*/ 993734 h 993734"/>
                  <a:gd name="connsiteX15" fmla="*/ 5694635 w 6944677"/>
                  <a:gd name="connsiteY15" fmla="*/ 993734 h 993734"/>
                  <a:gd name="connsiteX16" fmla="*/ 4861274 w 6944677"/>
                  <a:gd name="connsiteY16" fmla="*/ 993734 h 993734"/>
                  <a:gd name="connsiteX17" fmla="*/ 4097359 w 6944677"/>
                  <a:gd name="connsiteY17" fmla="*/ 993734 h 993734"/>
                  <a:gd name="connsiteX18" fmla="*/ 3541785 w 6944677"/>
                  <a:gd name="connsiteY18" fmla="*/ 993734 h 993734"/>
                  <a:gd name="connsiteX19" fmla="*/ 2916764 w 6944677"/>
                  <a:gd name="connsiteY19" fmla="*/ 993734 h 993734"/>
                  <a:gd name="connsiteX20" fmla="*/ 2361190 w 6944677"/>
                  <a:gd name="connsiteY20" fmla="*/ 993734 h 993734"/>
                  <a:gd name="connsiteX21" fmla="*/ 1875063 w 6944677"/>
                  <a:gd name="connsiteY21" fmla="*/ 993734 h 993734"/>
                  <a:gd name="connsiteX22" fmla="*/ 1111148 w 6944677"/>
                  <a:gd name="connsiteY22" fmla="*/ 993734 h 993734"/>
                  <a:gd name="connsiteX23" fmla="*/ 0 w 6944677"/>
                  <a:gd name="connsiteY23" fmla="*/ 993734 h 993734"/>
                  <a:gd name="connsiteX24" fmla="*/ 0 w 6944677"/>
                  <a:gd name="connsiteY24" fmla="*/ 516742 h 993734"/>
                  <a:gd name="connsiteX25" fmla="*/ 0 w 6944677"/>
                  <a:gd name="connsiteY25" fmla="*/ 0 h 993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6944677" h="993734" extrusionOk="0">
                    <a:moveTo>
                      <a:pt x="0" y="0"/>
                    </a:moveTo>
                    <a:cubicBezTo>
                      <a:pt x="130419" y="6388"/>
                      <a:pt x="403011" y="645"/>
                      <a:pt x="555574" y="0"/>
                    </a:cubicBezTo>
                    <a:cubicBezTo>
                      <a:pt x="708137" y="-645"/>
                      <a:pt x="838114" y="-21938"/>
                      <a:pt x="1041702" y="0"/>
                    </a:cubicBezTo>
                    <a:cubicBezTo>
                      <a:pt x="1245290" y="21938"/>
                      <a:pt x="1443479" y="10910"/>
                      <a:pt x="1736169" y="0"/>
                    </a:cubicBezTo>
                    <a:cubicBezTo>
                      <a:pt x="2028859" y="-10910"/>
                      <a:pt x="2260600" y="-6680"/>
                      <a:pt x="2430637" y="0"/>
                    </a:cubicBezTo>
                    <a:cubicBezTo>
                      <a:pt x="2600674" y="6680"/>
                      <a:pt x="2806164" y="10737"/>
                      <a:pt x="2916764" y="0"/>
                    </a:cubicBezTo>
                    <a:cubicBezTo>
                      <a:pt x="3027364" y="-10737"/>
                      <a:pt x="3314725" y="-12058"/>
                      <a:pt x="3680679" y="0"/>
                    </a:cubicBezTo>
                    <a:cubicBezTo>
                      <a:pt x="4046633" y="12058"/>
                      <a:pt x="4068005" y="4036"/>
                      <a:pt x="4236253" y="0"/>
                    </a:cubicBezTo>
                    <a:cubicBezTo>
                      <a:pt x="4404501" y="-4036"/>
                      <a:pt x="4543583" y="11680"/>
                      <a:pt x="4722380" y="0"/>
                    </a:cubicBezTo>
                    <a:cubicBezTo>
                      <a:pt x="4901177" y="-11680"/>
                      <a:pt x="5019471" y="18895"/>
                      <a:pt x="5277955" y="0"/>
                    </a:cubicBezTo>
                    <a:cubicBezTo>
                      <a:pt x="5536440" y="-18895"/>
                      <a:pt x="5816368" y="16831"/>
                      <a:pt x="6041869" y="0"/>
                    </a:cubicBezTo>
                    <a:cubicBezTo>
                      <a:pt x="6267370" y="-16831"/>
                      <a:pt x="6566572" y="37983"/>
                      <a:pt x="6944677" y="0"/>
                    </a:cubicBezTo>
                    <a:cubicBezTo>
                      <a:pt x="6962977" y="166090"/>
                      <a:pt x="6947442" y="336774"/>
                      <a:pt x="6944677" y="476992"/>
                    </a:cubicBezTo>
                    <a:cubicBezTo>
                      <a:pt x="6941912" y="617210"/>
                      <a:pt x="6967795" y="856723"/>
                      <a:pt x="6944677" y="993734"/>
                    </a:cubicBezTo>
                    <a:cubicBezTo>
                      <a:pt x="6780616" y="1014028"/>
                      <a:pt x="6466170" y="962662"/>
                      <a:pt x="6250209" y="993734"/>
                    </a:cubicBezTo>
                    <a:cubicBezTo>
                      <a:pt x="6034248" y="1024806"/>
                      <a:pt x="5966902" y="999221"/>
                      <a:pt x="5694635" y="993734"/>
                    </a:cubicBezTo>
                    <a:cubicBezTo>
                      <a:pt x="5422368" y="988247"/>
                      <a:pt x="5062362" y="968942"/>
                      <a:pt x="4861274" y="993734"/>
                    </a:cubicBezTo>
                    <a:cubicBezTo>
                      <a:pt x="4660186" y="1018526"/>
                      <a:pt x="4277036" y="1014422"/>
                      <a:pt x="4097359" y="993734"/>
                    </a:cubicBezTo>
                    <a:cubicBezTo>
                      <a:pt x="3917683" y="973046"/>
                      <a:pt x="3670935" y="980519"/>
                      <a:pt x="3541785" y="993734"/>
                    </a:cubicBezTo>
                    <a:cubicBezTo>
                      <a:pt x="3412635" y="1006949"/>
                      <a:pt x="3185975" y="967383"/>
                      <a:pt x="2916764" y="993734"/>
                    </a:cubicBezTo>
                    <a:cubicBezTo>
                      <a:pt x="2647553" y="1020085"/>
                      <a:pt x="2631330" y="979241"/>
                      <a:pt x="2361190" y="993734"/>
                    </a:cubicBezTo>
                    <a:cubicBezTo>
                      <a:pt x="2091050" y="1008227"/>
                      <a:pt x="1992538" y="974097"/>
                      <a:pt x="1875063" y="993734"/>
                    </a:cubicBezTo>
                    <a:cubicBezTo>
                      <a:pt x="1757588" y="1013371"/>
                      <a:pt x="1475970" y="992099"/>
                      <a:pt x="1111148" y="993734"/>
                    </a:cubicBezTo>
                    <a:cubicBezTo>
                      <a:pt x="746326" y="995369"/>
                      <a:pt x="500314" y="1011520"/>
                      <a:pt x="0" y="993734"/>
                    </a:cubicBezTo>
                    <a:cubicBezTo>
                      <a:pt x="20137" y="809386"/>
                      <a:pt x="23109" y="658763"/>
                      <a:pt x="0" y="516742"/>
                    </a:cubicBezTo>
                    <a:cubicBezTo>
                      <a:pt x="-23109" y="374721"/>
                      <a:pt x="-8262" y="220717"/>
                      <a:pt x="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xmlns="" xmlns:a14="http://schemas.microsoft.com/office/drawing/2010/main" sd="4021707125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连接符: 曲线 6">
            <a:extLst>
              <a:ext uri="{FF2B5EF4-FFF2-40B4-BE49-F238E27FC236}">
                <a16:creationId xmlns:a16="http://schemas.microsoft.com/office/drawing/2014/main" id="{B289DC28-9499-4741-92AB-829B40145065}"/>
              </a:ext>
            </a:extLst>
          </p:cNvPr>
          <p:cNvCxnSpPr>
            <a:cxnSpLocks/>
          </p:cNvCxnSpPr>
          <p:nvPr/>
        </p:nvCxnSpPr>
        <p:spPr>
          <a:xfrm rot="16200000" flipV="1">
            <a:off x="6279258" y="3307457"/>
            <a:ext cx="1116922" cy="612063"/>
          </a:xfrm>
          <a:prstGeom prst="curvedConnector3">
            <a:avLst/>
          </a:prstGeom>
          <a:ln w="28575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22F0B3A5-007C-412E-A538-945511C06FD1}"/>
              </a:ext>
            </a:extLst>
          </p:cNvPr>
          <p:cNvCxnSpPr>
            <a:cxnSpLocks/>
          </p:cNvCxnSpPr>
          <p:nvPr/>
        </p:nvCxnSpPr>
        <p:spPr>
          <a:xfrm rot="5400000">
            <a:off x="9399171" y="4793047"/>
            <a:ext cx="566694" cy="505536"/>
          </a:xfrm>
          <a:prstGeom prst="curvedConnector3">
            <a:avLst/>
          </a:prstGeom>
          <a:ln w="28575"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DC6BD3-FFB2-4D2D-B76B-7F128B24D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145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22FD7B3C-3D65-43D5-A5F7-750FBB41B0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37591"/>
          <a:stretch/>
        </p:blipFill>
        <p:spPr>
          <a:xfrm>
            <a:off x="-17299" y="0"/>
            <a:ext cx="12209296" cy="373649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1109356D-6DD5-4AD0-8C21-5C3E03BD1166}"/>
              </a:ext>
            </a:extLst>
          </p:cNvPr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4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327401" y="4789616"/>
            <a:ext cx="553719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E63D50B-460B-4A6B-A803-8DEC9027B455}"/>
              </a:ext>
            </a:extLst>
          </p:cNvPr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14" name="任意多边形 5">
              <a:extLst>
                <a:ext uri="{FF2B5EF4-FFF2-40B4-BE49-F238E27FC236}">
                  <a16:creationId xmlns:a16="http://schemas.microsoft.com/office/drawing/2014/main" id="{B0676A4A-AE62-4A6A-82F1-E4A3E54931C0}"/>
                </a:ext>
              </a:extLst>
            </p:cNvPr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  <p:sp>
          <p:nvSpPr>
            <p:cNvPr id="15" name="任意多边形 6">
              <a:extLst>
                <a:ext uri="{FF2B5EF4-FFF2-40B4-BE49-F238E27FC236}">
                  <a16:creationId xmlns:a16="http://schemas.microsoft.com/office/drawing/2014/main" id="{BBB042D0-614B-4443-AFDB-1996D1298FC3}"/>
                </a:ext>
              </a:extLst>
            </p:cNvPr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F2ED922D-E886-4C67-99F9-AC6843987F72}"/>
              </a:ext>
            </a:extLst>
          </p:cNvPr>
          <p:cNvSpPr txBox="1"/>
          <p:nvPr/>
        </p:nvSpPr>
        <p:spPr>
          <a:xfrm>
            <a:off x="5491220" y="3502820"/>
            <a:ext cx="1209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Part.02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A3843A8-68DA-4C84-83D6-74E3BF280CD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62" b="3296"/>
          <a:stretch/>
        </p:blipFill>
        <p:spPr>
          <a:xfrm>
            <a:off x="2716059" y="661011"/>
            <a:ext cx="6759883" cy="2383189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53A8027-7A71-48C3-83C6-6FCFBDCF4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9756385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88584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48298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65316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82334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实验分析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99352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总结展望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8054585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585925" y="1106959"/>
            <a:ext cx="3714508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动机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1AE74A2E-9926-431B-BF44-7E1F62289E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F8682140-DA93-4A90-9A75-7CB0B20C3A1C}"/>
              </a:ext>
            </a:extLst>
          </p:cNvPr>
          <p:cNvSpPr txBox="1"/>
          <p:nvPr/>
        </p:nvSpPr>
        <p:spPr>
          <a:xfrm>
            <a:off x="425752" y="5329160"/>
            <a:ext cx="10853533" cy="115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大多数现有研究基于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来建模多轮对话回复选择问题。这些方法能够很好地理解领域知识，但是没有在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post training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finetune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两个阶段都考虑到任务的特殊性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utterance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层级的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response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的关系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。这就导致最后训练出来的模型很难做好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response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匹配。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F7580F7-8D35-44FB-85FF-9D3777C34D8B}"/>
                  </a:ext>
                </a:extLst>
              </p:cNvPr>
              <p:cNvSpPr txBox="1"/>
              <p:nvPr/>
            </p:nvSpPr>
            <p:spPr>
              <a:xfrm>
                <a:off x="3369385" y="4038613"/>
                <a:ext cx="6324600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zh-CN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𝐶𝐿𝑆</m:t>
                          </m:r>
                        </m:e>
                      </m:d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𝐸𝑂𝑇</m:t>
                          </m:r>
                        </m:e>
                      </m:d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𝐸𝑂𝑇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]…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𝐸𝑂𝑇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][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𝑆𝐸𝑃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]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𝑆𝐸𝑃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F7580F7-8D35-44FB-85FF-9D3777C34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385" y="4038613"/>
                <a:ext cx="6324600" cy="5078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右大括号 2">
            <a:extLst>
              <a:ext uri="{FF2B5EF4-FFF2-40B4-BE49-F238E27FC236}">
                <a16:creationId xmlns:a16="http://schemas.microsoft.com/office/drawing/2014/main" id="{5FF04D2A-F1D7-48DA-9DDA-A06D260BAF41}"/>
              </a:ext>
            </a:extLst>
          </p:cNvPr>
          <p:cNvSpPr/>
          <p:nvPr/>
        </p:nvSpPr>
        <p:spPr>
          <a:xfrm rot="5400000">
            <a:off x="5749013" y="3522884"/>
            <a:ext cx="217613" cy="212047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右大括号 17">
            <a:extLst>
              <a:ext uri="{FF2B5EF4-FFF2-40B4-BE49-F238E27FC236}">
                <a16:creationId xmlns:a16="http://schemas.microsoft.com/office/drawing/2014/main" id="{8B8B7278-6953-4126-B9BB-C634F3414B37}"/>
              </a:ext>
            </a:extLst>
          </p:cNvPr>
          <p:cNvSpPr/>
          <p:nvPr/>
        </p:nvSpPr>
        <p:spPr>
          <a:xfrm rot="16200000">
            <a:off x="8097287" y="3795642"/>
            <a:ext cx="172994" cy="60960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8837024-D7D2-4532-982F-7143C5773100}"/>
              </a:ext>
            </a:extLst>
          </p:cNvPr>
          <p:cNvSpPr txBox="1"/>
          <p:nvPr/>
        </p:nvSpPr>
        <p:spPr>
          <a:xfrm>
            <a:off x="5427547" y="4698736"/>
            <a:ext cx="1008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17ADC4B-EB1A-4B5F-B1BF-59C2AE046EDB}"/>
              </a:ext>
            </a:extLst>
          </p:cNvPr>
          <p:cNvSpPr txBox="1"/>
          <p:nvPr/>
        </p:nvSpPr>
        <p:spPr>
          <a:xfrm>
            <a:off x="7625747" y="3644614"/>
            <a:ext cx="1230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response</a:t>
            </a:r>
            <a:endParaRPr lang="zh-CN" altLang="en-US" dirty="0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BED40C7E-5571-4B4F-9DEC-DD6F0AB2570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237" y="2116473"/>
            <a:ext cx="6937639" cy="1312527"/>
          </a:xfrm>
          <a:prstGeom prst="rect">
            <a:avLst/>
          </a:prstGeom>
        </p:spPr>
      </p:pic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2821C881-2C65-4B94-8F1B-560C06B98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0213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9756385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88584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48298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65316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82334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实验分析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99352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总结展望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8054585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585925" y="1106959"/>
            <a:ext cx="3714508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动机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1AE74A2E-9926-431B-BF44-7E1F62289E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F7580F7-8D35-44FB-85FF-9D3777C34D8B}"/>
                  </a:ext>
                </a:extLst>
              </p:cNvPr>
              <p:cNvSpPr txBox="1"/>
              <p:nvPr/>
            </p:nvSpPr>
            <p:spPr>
              <a:xfrm>
                <a:off x="585925" y="4010589"/>
                <a:ext cx="6324600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zh-CN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𝐶𝐿𝑆</m:t>
                          </m:r>
                        </m:e>
                      </m:d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𝐸𝑂𝑇</m:t>
                          </m:r>
                        </m:e>
                      </m:d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𝐸𝑂𝑇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]…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𝐸𝑂𝑇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][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𝑆𝐸𝑃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]</m:t>
                      </m:r>
                      <m:sSub>
                        <m:sSubPr>
                          <m:ctrlPr>
                            <a:rPr lang="zh-CN" altLang="zh-CN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𝑆𝐸𝑃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F7580F7-8D35-44FB-85FF-9D3777C34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25" y="4010589"/>
                <a:ext cx="6324600" cy="5078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右大括号 2">
            <a:extLst>
              <a:ext uri="{FF2B5EF4-FFF2-40B4-BE49-F238E27FC236}">
                <a16:creationId xmlns:a16="http://schemas.microsoft.com/office/drawing/2014/main" id="{5FF04D2A-F1D7-48DA-9DDA-A06D260BAF41}"/>
              </a:ext>
            </a:extLst>
          </p:cNvPr>
          <p:cNvSpPr/>
          <p:nvPr/>
        </p:nvSpPr>
        <p:spPr>
          <a:xfrm rot="5400000">
            <a:off x="2965553" y="3494860"/>
            <a:ext cx="217613" cy="212047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右大括号 17">
            <a:extLst>
              <a:ext uri="{FF2B5EF4-FFF2-40B4-BE49-F238E27FC236}">
                <a16:creationId xmlns:a16="http://schemas.microsoft.com/office/drawing/2014/main" id="{8B8B7278-6953-4126-B9BB-C634F3414B37}"/>
              </a:ext>
            </a:extLst>
          </p:cNvPr>
          <p:cNvSpPr/>
          <p:nvPr/>
        </p:nvSpPr>
        <p:spPr>
          <a:xfrm rot="16200000">
            <a:off x="5313827" y="3767618"/>
            <a:ext cx="172994" cy="60960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8837024-D7D2-4532-982F-7143C5773100}"/>
              </a:ext>
            </a:extLst>
          </p:cNvPr>
          <p:cNvSpPr txBox="1"/>
          <p:nvPr/>
        </p:nvSpPr>
        <p:spPr>
          <a:xfrm>
            <a:off x="2644087" y="4670712"/>
            <a:ext cx="1008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17ADC4B-EB1A-4B5F-B1BF-59C2AE046EDB}"/>
              </a:ext>
            </a:extLst>
          </p:cNvPr>
          <p:cNvSpPr txBox="1"/>
          <p:nvPr/>
        </p:nvSpPr>
        <p:spPr>
          <a:xfrm>
            <a:off x="4829885" y="3616588"/>
            <a:ext cx="1340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response</a:t>
            </a:r>
            <a:endParaRPr lang="zh-CN" altLang="en-US" dirty="0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BED40C7E-5571-4B4F-9DEC-DD6F0AB2570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237" y="2116473"/>
            <a:ext cx="6937639" cy="13125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25D26492-58C9-4399-9261-BA53788C9681}"/>
                  </a:ext>
                </a:extLst>
              </p:cNvPr>
              <p:cNvSpPr txBox="1"/>
              <p:nvPr/>
            </p:nvSpPr>
            <p:spPr>
              <a:xfrm>
                <a:off x="5852518" y="3575985"/>
                <a:ext cx="6324600" cy="578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𝑔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x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𝜎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𝑊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𝐶𝐿𝑆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CN" altLang="en-US" i="1" dirty="0"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25D26492-58C9-4399-9261-BA53788C9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518" y="3575985"/>
                <a:ext cx="6324600" cy="5782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本框 40">
            <a:extLst>
              <a:ext uri="{FF2B5EF4-FFF2-40B4-BE49-F238E27FC236}">
                <a16:creationId xmlns:a16="http://schemas.microsoft.com/office/drawing/2014/main" id="{84C8B90D-A650-40E1-8E1B-3560DC11022E}"/>
              </a:ext>
            </a:extLst>
          </p:cNvPr>
          <p:cNvSpPr txBox="1"/>
          <p:nvPr/>
        </p:nvSpPr>
        <p:spPr>
          <a:xfrm>
            <a:off x="3376509" y="1284724"/>
            <a:ext cx="6024150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NSP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：让模型学习到两个文本序列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，后者是否是前者的下一个序列，预测结果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[CLS]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标记输出。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5425355-D585-4B3C-AC79-B21B05AAF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3CF7130-845A-4205-91E9-E86EDAF122AA}"/>
              </a:ext>
            </a:extLst>
          </p:cNvPr>
          <p:cNvSpPr txBox="1"/>
          <p:nvPr/>
        </p:nvSpPr>
        <p:spPr>
          <a:xfrm>
            <a:off x="425752" y="5329160"/>
            <a:ext cx="10853533" cy="115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大多数现有研究基于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来建模多轮对话回复选择问题。这些方法能够很好地理解领域知识，但是没有在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post training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finetune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两个阶段都考虑到任务的特殊性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utterance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层级的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response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的关系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。这就导致最后训练出来的模型很难做好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response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匹配。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3208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9756385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88584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48298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65316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82334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实验分析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99352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总结展望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8054585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cxnSpLocks/>
          </p:cNvCxnSpPr>
          <p:nvPr/>
        </p:nvCxnSpPr>
        <p:spPr>
          <a:xfrm>
            <a:off x="425752" y="1528840"/>
            <a:ext cx="139352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585925" y="1106959"/>
            <a:ext cx="3714508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解决方案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1AE74A2E-9926-431B-BF44-7E1F62289E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F8682140-DA93-4A90-9A75-7CB0B20C3A1C}"/>
              </a:ext>
            </a:extLst>
          </p:cNvPr>
          <p:cNvSpPr txBox="1"/>
          <p:nvPr/>
        </p:nvSpPr>
        <p:spPr>
          <a:xfrm>
            <a:off x="585925" y="4300460"/>
            <a:ext cx="10853533" cy="1526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我们提出了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Utterance-oriented Strategy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UOS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UOS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综合考虑了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post training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finetune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两阶段对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utterance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的理解：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UOS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采用了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MLM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URC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相结合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post training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方法，让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细粒度地学习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context-response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finetune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UOS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融入了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context-response matching network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用于识别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context-response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4FC6299B-372F-4FB9-BB7C-9504855F48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035" y="2117195"/>
            <a:ext cx="7359097" cy="1922173"/>
          </a:xfrm>
          <a:prstGeom prst="rect">
            <a:avLst/>
          </a:prstGeom>
        </p:spPr>
      </p:pic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C33959A6-04F8-47E3-A98F-5E8E40D07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521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9756385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88584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48298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65316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82334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实验分析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99352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总结展望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8054585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cxnSpLocks/>
          </p:cNvCxnSpPr>
          <p:nvPr/>
        </p:nvCxnSpPr>
        <p:spPr>
          <a:xfrm>
            <a:off x="425752" y="1528840"/>
            <a:ext cx="350807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585925" y="1106959"/>
            <a:ext cx="3714508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Post training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MLM+URC</a:t>
            </a:r>
            <a:endParaRPr lang="zh-CN" altLang="en-US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1AE74A2E-9926-431B-BF44-7E1F62289E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890A8C59-7178-405D-BD16-5468A3EB3F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930" y="1480001"/>
            <a:ext cx="7091510" cy="42690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18C76EFC-BD40-4BB7-9F42-09E2B75DE01C}"/>
                  </a:ext>
                </a:extLst>
              </p:cNvPr>
              <p:cNvSpPr txBox="1"/>
              <p:nvPr/>
            </p:nvSpPr>
            <p:spPr>
              <a:xfrm>
                <a:off x="485808" y="1660185"/>
                <a:ext cx="3814625" cy="41412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MLM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用于学习上下文信息，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URC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用于学习细粒度的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context-response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关系。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URC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来源于文章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[1]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，首先将由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个语句组成的对话语料划分为多个较短的对话和回复对来进行训练，其次</a:t>
                </a:r>
                <a:r>
                  <a:rPr lang="zh-CN" altLang="zh-CN" sz="16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将回复语句</a:t>
                </a:r>
                <a:r>
                  <a:rPr lang="en-US" altLang="zh-CN" sz="16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(target utterance)</a:t>
                </a:r>
                <a14:m>
                  <m:oMath xmlns:m="http://schemas.openxmlformats.org/officeDocument/2006/math">
                    <m:r>
                      <a:rPr lang="zh-CN" altLang="zh-CN" sz="160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16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分类为三个标签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endParaRPr lang="en-US" altLang="zh-CN" sz="16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6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正确的</a:t>
                </a:r>
                <a:r>
                  <a:rPr lang="zh-CN" altLang="en-US" sz="16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回复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6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c</m:t>
                        </m:r>
                      </m:sub>
                    </m:sSub>
                  </m:oMath>
                </a14:m>
                <a:endParaRPr lang="en-US" altLang="zh-CN" sz="16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6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在同一段对话中随机抽取的除了回复以外的话语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altLang="zh-CN" sz="16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6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从语料中随机抽取的话语</a:t>
                </a:r>
                <a:r>
                  <a:rPr lang="en-US" altLang="zh-CN" sz="16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18C76EFC-BD40-4BB7-9F42-09E2B75DE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08" y="1660185"/>
                <a:ext cx="3814625" cy="4141262"/>
              </a:xfrm>
              <a:prstGeom prst="rect">
                <a:avLst/>
              </a:prstGeom>
              <a:blipFill>
                <a:blip r:embed="rId5"/>
                <a:stretch>
                  <a:fillRect l="-960" r="-960" b="-1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本框 39">
            <a:extLst>
              <a:ext uri="{FF2B5EF4-FFF2-40B4-BE49-F238E27FC236}">
                <a16:creationId xmlns:a16="http://schemas.microsoft.com/office/drawing/2014/main" id="{A70318ED-D134-4192-96D1-906A147422FD}"/>
              </a:ext>
            </a:extLst>
          </p:cNvPr>
          <p:cNvSpPr txBox="1"/>
          <p:nvPr/>
        </p:nvSpPr>
        <p:spPr>
          <a:xfrm>
            <a:off x="279035" y="6108025"/>
            <a:ext cx="114053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050" dirty="0">
                <a:latin typeface="等线" panose="02010600030101010101" pitchFamily="2" charset="-122"/>
                <a:cs typeface="Times New Roman" panose="02020603050405020304" pitchFamily="18" charset="0"/>
              </a:rPr>
              <a:t>[1] </a:t>
            </a:r>
            <a:r>
              <a:rPr lang="en-US" altLang="zh-CN" sz="105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Han J, Hong T, Kim B, et al. Fine-grained Post-training for Improving Retrieval-based Dialogue Systems[C]//Proceedings of the 2021 Conference of the North American Chapter of the Association for Computational Linguistics: Human Language Technologies. 2021: 1549-1558.</a:t>
            </a:r>
            <a:endParaRPr lang="zh-CN" altLang="en-US" sz="10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A4C29FF1-9102-43EB-B0BA-7EDA37AE70E0}"/>
                  </a:ext>
                </a:extLst>
              </p:cNvPr>
              <p:cNvSpPr txBox="1"/>
              <p:nvPr/>
            </p:nvSpPr>
            <p:spPr>
              <a:xfrm>
                <a:off x="6525210" y="3235655"/>
                <a:ext cx="63246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800" b="0" i="1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A4C29FF1-9102-43EB-B0BA-7EDA37AE7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210" y="3235655"/>
                <a:ext cx="63246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A9D123CD-31B4-42C2-99A2-F3319D789305}"/>
                  </a:ext>
                </a:extLst>
              </p:cNvPr>
              <p:cNvSpPr txBox="1"/>
              <p:nvPr/>
            </p:nvSpPr>
            <p:spPr>
              <a:xfrm>
                <a:off x="6327567" y="3769378"/>
                <a:ext cx="67198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A9D123CD-31B4-42C2-99A2-F3319D789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567" y="3769378"/>
                <a:ext cx="671988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15DD4335-6642-4DC6-9149-F164EF68624C}"/>
                  </a:ext>
                </a:extLst>
              </p:cNvPr>
              <p:cNvSpPr txBox="1"/>
              <p:nvPr/>
            </p:nvSpPr>
            <p:spPr>
              <a:xfrm>
                <a:off x="6327567" y="4396281"/>
                <a:ext cx="68151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15DD4335-6642-4DC6-9149-F164EF686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567" y="4396281"/>
                <a:ext cx="681513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本框 43">
            <a:extLst>
              <a:ext uri="{FF2B5EF4-FFF2-40B4-BE49-F238E27FC236}">
                <a16:creationId xmlns:a16="http://schemas.microsoft.com/office/drawing/2014/main" id="{D7253F12-B470-44E5-AC68-65EF5CEAC1F7}"/>
              </a:ext>
            </a:extLst>
          </p:cNvPr>
          <p:cNvSpPr txBox="1"/>
          <p:nvPr/>
        </p:nvSpPr>
        <p:spPr>
          <a:xfrm>
            <a:off x="10249485" y="3749554"/>
            <a:ext cx="18454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一致性预测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9AA1593E-F093-443F-86FC-36C9C1CA2DBE}"/>
              </a:ext>
            </a:extLst>
          </p:cNvPr>
          <p:cNvCxnSpPr>
            <a:cxnSpLocks/>
          </p:cNvCxnSpPr>
          <p:nvPr/>
        </p:nvCxnSpPr>
        <p:spPr>
          <a:xfrm>
            <a:off x="9900625" y="3769379"/>
            <a:ext cx="348860" cy="93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9EA53CCA-E23B-45E6-9251-04AD7969AFEB}"/>
              </a:ext>
            </a:extLst>
          </p:cNvPr>
          <p:cNvCxnSpPr>
            <a:cxnSpLocks/>
            <a:endCxn id="44" idx="1"/>
          </p:cNvCxnSpPr>
          <p:nvPr/>
        </p:nvCxnSpPr>
        <p:spPr>
          <a:xfrm flipV="1">
            <a:off x="9900625" y="3903443"/>
            <a:ext cx="348860" cy="235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8D83A885-907E-46A7-8121-F9105AE4570C}"/>
              </a:ext>
            </a:extLst>
          </p:cNvPr>
          <p:cNvSpPr txBox="1"/>
          <p:nvPr/>
        </p:nvSpPr>
        <p:spPr>
          <a:xfrm>
            <a:off x="10290156" y="4535269"/>
            <a:ext cx="18454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主题预测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9577EE20-A810-4310-8D97-6BC441F0FA1B}"/>
              </a:ext>
            </a:extLst>
          </p:cNvPr>
          <p:cNvCxnSpPr>
            <a:cxnSpLocks/>
          </p:cNvCxnSpPr>
          <p:nvPr/>
        </p:nvCxnSpPr>
        <p:spPr>
          <a:xfrm>
            <a:off x="9900625" y="3787360"/>
            <a:ext cx="389531" cy="811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4A94C34D-8025-4C05-A080-9632087CF345}"/>
              </a:ext>
            </a:extLst>
          </p:cNvPr>
          <p:cNvCxnSpPr>
            <a:cxnSpLocks/>
            <a:endCxn id="60" idx="1"/>
          </p:cNvCxnSpPr>
          <p:nvPr/>
        </p:nvCxnSpPr>
        <p:spPr>
          <a:xfrm flipV="1">
            <a:off x="9935285" y="4689158"/>
            <a:ext cx="354871" cy="153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灯片编号占位符 70">
            <a:extLst>
              <a:ext uri="{FF2B5EF4-FFF2-40B4-BE49-F238E27FC236}">
                <a16:creationId xmlns:a16="http://schemas.microsoft.com/office/drawing/2014/main" id="{0E2F5398-687A-4FC9-9A6B-458955033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910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EB077B32-A355-47F4-84E5-8DABD1F750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799" y="1797487"/>
            <a:ext cx="7230652" cy="4325925"/>
          </a:xfrm>
          <a:prstGeom prst="rect">
            <a:avLst/>
          </a:prstGeom>
        </p:spPr>
      </p:pic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9756385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88584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48298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65316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82334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实验分析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99352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总结展望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8054585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cxnSpLocks/>
          </p:cNvCxnSpPr>
          <p:nvPr/>
        </p:nvCxnSpPr>
        <p:spPr>
          <a:xfrm>
            <a:off x="425752" y="1528840"/>
            <a:ext cx="604172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585925" y="1106959"/>
            <a:ext cx="5741642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Finetune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Context-response Matching Network</a:t>
            </a:r>
            <a:endParaRPr lang="zh-CN" altLang="en-US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1AE74A2E-9926-431B-BF44-7E1F62289E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18C76EFC-BD40-4BB7-9F42-09E2B75DE01C}"/>
                  </a:ext>
                </a:extLst>
              </p:cNvPr>
              <p:cNvSpPr txBox="1"/>
              <p:nvPr/>
            </p:nvSpPr>
            <p:spPr>
              <a:xfrm>
                <a:off x="444714" y="3289478"/>
                <a:ext cx="4053871" cy="1247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Multi-head Perception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头不同维度的线性组合层组成，第 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头的计算如下：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6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6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𝜎</m:t>
                      </m:r>
                      <m:d>
                        <m:dPr>
                          <m:ctrlPr>
                            <a:rPr lang="zh-CN" altLang="zh-CN" sz="16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CN" sz="1600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CN" sz="1600" b="0" i="0" kern="100" smtClean="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CN" sz="1600" kern="100">
                                  <a:effectLst/>
                                  <a:latin typeface="等线" panose="02010600030101010101" pitchFamily="2" charset="-122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zh-CN" altLang="en-US" sz="160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𝛿</m:t>
                          </m:r>
                          <m:r>
                            <a:rPr lang="en-US" altLang="zh-CN" sz="16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16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CN" sz="1600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CN" sz="1600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CN" sz="1600" kern="100">
                                  <a:latin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sz="16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18C76EFC-BD40-4BB7-9F42-09E2B75DE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14" y="3289478"/>
                <a:ext cx="4053871" cy="1247970"/>
              </a:xfrm>
              <a:prstGeom prst="rect">
                <a:avLst/>
              </a:prstGeom>
              <a:blipFill>
                <a:blip r:embed="rId5"/>
                <a:stretch>
                  <a:fillRect l="-902" r="-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EA3ABAD2-BB0C-4CD7-9B19-33237DF73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15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E9D843D-FE18-4369-8E7C-B64A911E53B1}"/>
                  </a:ext>
                </a:extLst>
              </p:cNvPr>
              <p:cNvSpPr txBox="1"/>
              <p:nvPr/>
            </p:nvSpPr>
            <p:spPr>
              <a:xfrm>
                <a:off x="476162" y="1646066"/>
                <a:ext cx="4022423" cy="1526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zh-CN" sz="16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我们</a:t>
                </a:r>
                <a:r>
                  <a:rPr lang="zh-CN" altLang="en-US" sz="16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将基于</a:t>
                </a:r>
                <a:r>
                  <a:rPr lang="en-US" altLang="zh-CN" sz="16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BERT</a:t>
                </a:r>
                <a:r>
                  <a:rPr lang="zh-CN" altLang="en-US" sz="16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获取到的</a:t>
                </a:r>
                <a:r>
                  <a:rPr lang="en-US" altLang="zh-CN" sz="16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token</a:t>
                </a:r>
                <a:r>
                  <a:rPr lang="zh-CN" altLang="en-US" sz="16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通过</a:t>
                </a:r>
                <a:r>
                  <a:rPr lang="en-US" altLang="zh-CN" sz="1600" kern="100" dirty="0" err="1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MeanPool</a:t>
                </a:r>
                <a:r>
                  <a:rPr lang="en-US" altLang="zh-CN" sz="16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6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之后，</a:t>
                </a:r>
                <a:r>
                  <a:rPr lang="zh-CN" altLang="zh-CN" sz="16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根据分隔符将句向量表示切分为两个部分即</a:t>
                </a:r>
                <a:r>
                  <a:rPr lang="en-US" altLang="zh-CN" sz="16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context</a:t>
                </a:r>
                <a14:m>
                  <m:oMath xmlns:m="http://schemas.openxmlformats.org/officeDocument/2006/math">
                    <m:r>
                      <a:rPr lang="en-US" altLang="zh-CN" sz="1600" b="0" i="0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16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zh-CN" sz="16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6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response</a:t>
                </a:r>
                <a14:m>
                  <m:oMath xmlns:m="http://schemas.openxmlformats.org/officeDocument/2006/math">
                    <m:r>
                      <a:rPr lang="en-US" altLang="zh-CN" sz="1600" b="0" i="0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16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16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zh-CN" sz="16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E9D843D-FE18-4369-8E7C-B64A911E5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62" y="1646066"/>
                <a:ext cx="4022423" cy="1526187"/>
              </a:xfrm>
              <a:prstGeom prst="rect">
                <a:avLst/>
              </a:prstGeom>
              <a:blipFill>
                <a:blip r:embed="rId6"/>
                <a:stretch>
                  <a:fillRect l="-758" r="-909" b="-44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801B639A-15AB-44DE-B567-76650BBF743B}"/>
                  </a:ext>
                </a:extLst>
              </p:cNvPr>
              <p:cNvSpPr txBox="1"/>
              <p:nvPr/>
            </p:nvSpPr>
            <p:spPr>
              <a:xfrm>
                <a:off x="444713" y="4746081"/>
                <a:ext cx="4053871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zh-CN" sz="16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sz="16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esponse-based </a:t>
                </a:r>
                <a:r>
                  <a:rPr lang="en-US" altLang="zh-CN" sz="16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16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ttention</a:t>
                </a:r>
                <a:r>
                  <a:rPr lang="zh-CN" altLang="en-US" sz="16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16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转换成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16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CN" altLang="en-US" sz="16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的</m:t>
                    </m:r>
                  </m:oMath>
                </a14:m>
                <a:r>
                  <a:rPr lang="zh-CN" altLang="en-US" sz="16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注意力表示</a:t>
                </a:r>
                <a:endParaRPr lang="en-US" altLang="zh-CN" sz="16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att</m:t>
                      </m:r>
                      <m:r>
                        <a:rPr lang="en-US" altLang="zh-CN" sz="1600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6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i="1" kern="1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𝜎</m:t>
                      </m:r>
                      <m:d>
                        <m:dPr>
                          <m:ctrlPr>
                            <a:rPr lang="zh-CN" altLang="zh-CN" sz="16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CN" sz="1600" kern="100">
                                  <a:effectLst/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r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16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600" i="1" kern="1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16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CN" altLang="zh-CN" sz="16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801B639A-15AB-44DE-B567-76650BBF7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13" y="4746081"/>
                <a:ext cx="4053871" cy="1200329"/>
              </a:xfrm>
              <a:prstGeom prst="rect">
                <a:avLst/>
              </a:prstGeom>
              <a:blipFill>
                <a:blip r:embed="rId7"/>
                <a:stretch>
                  <a:fillRect l="-902" r="-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69E1D741-0627-4E13-94DB-B0B20282D816}"/>
                  </a:ext>
                </a:extLst>
              </p:cNvPr>
              <p:cNvSpPr txBox="1"/>
              <p:nvPr/>
            </p:nvSpPr>
            <p:spPr>
              <a:xfrm>
                <a:off x="9987546" y="1973591"/>
                <a:ext cx="1728292" cy="871136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i="0">
                          <a:latin typeface="Cambria Math" panose="02040503050406030204" pitchFamily="18" charset="0"/>
                        </a:rPr>
                        <m:t>att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69E1D741-0627-4E13-94DB-B0B20282D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7546" y="1973591"/>
                <a:ext cx="1728292" cy="8711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7718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EB077B32-A355-47F4-84E5-8DABD1F750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734" y="3910917"/>
            <a:ext cx="4306551" cy="2576505"/>
          </a:xfrm>
          <a:prstGeom prst="rect">
            <a:avLst/>
          </a:prstGeom>
        </p:spPr>
      </p:pic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9756385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88584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48298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65316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</a:t>
            </a:r>
          </a:p>
        </p:txBody>
      </p:sp>
      <p:sp>
        <p:nvSpPr>
          <p:cNvPr id="28" name="TextBox 9"/>
          <p:cNvSpPr txBox="1"/>
          <p:nvPr/>
        </p:nvSpPr>
        <p:spPr>
          <a:xfrm>
            <a:off x="82334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实验分析</a:t>
            </a:r>
          </a:p>
        </p:txBody>
      </p:sp>
      <p:sp>
        <p:nvSpPr>
          <p:cNvPr id="29" name="TextBox 10"/>
          <p:cNvSpPr txBox="1"/>
          <p:nvPr/>
        </p:nvSpPr>
        <p:spPr>
          <a:xfrm>
            <a:off x="99352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总结展望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8054585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cxnSpLocks/>
          </p:cNvCxnSpPr>
          <p:nvPr/>
        </p:nvCxnSpPr>
        <p:spPr>
          <a:xfrm>
            <a:off x="425752" y="1528840"/>
            <a:ext cx="108872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585925" y="1106959"/>
            <a:ext cx="5741642" cy="38393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创新点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1AE74A2E-9926-431B-BF44-7E1F62289E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EA3ABAD2-BB0C-4CD7-9B19-33237DF73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E9D843D-FE18-4369-8E7C-B64A911E53B1}"/>
              </a:ext>
            </a:extLst>
          </p:cNvPr>
          <p:cNvSpPr txBox="1"/>
          <p:nvPr/>
        </p:nvSpPr>
        <p:spPr>
          <a:xfrm>
            <a:off x="476162" y="1646066"/>
            <a:ext cx="5741642" cy="5219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UOS</a:t>
            </a:r>
            <a:r>
              <a:rPr lang="zh-CN" altLang="en-US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综合考虑了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post training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finetune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两阶段对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utterance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层级的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context-response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的理解。具体而言：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post training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UOS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采用了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MLM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URC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相结合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的方法，综合考虑了一致性和主题预测，让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细粒度地学习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context-response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finetune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UOS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基础上融入了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context-response matching network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response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的关系建模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288000" lvl="1" algn="just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(1)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multi-head perception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获得了丰富的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utterance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层级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8000" lvl="1" algn="just"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response-base attention module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获得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response attention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来有选择地关注重要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utterance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zh-CN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34FA1C07-0ECD-4982-A2F8-EE8EF3150114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734" y="1227634"/>
            <a:ext cx="4463105" cy="247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594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7B9A4E36-F26E-488F-871C-F72008B7DA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37591"/>
          <a:stretch/>
        </p:blipFill>
        <p:spPr>
          <a:xfrm>
            <a:off x="-17299" y="0"/>
            <a:ext cx="12209296" cy="373649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1882BBB-FB29-4347-9DA2-C7A80DCC076D}"/>
              </a:ext>
            </a:extLst>
          </p:cNvPr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4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327401" y="4789616"/>
            <a:ext cx="553719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实验分析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13E0139-D4EB-4894-8D43-72AC584E24CF}"/>
              </a:ext>
            </a:extLst>
          </p:cNvPr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14" name="任意多边形 5">
              <a:extLst>
                <a:ext uri="{FF2B5EF4-FFF2-40B4-BE49-F238E27FC236}">
                  <a16:creationId xmlns:a16="http://schemas.microsoft.com/office/drawing/2014/main" id="{A78A39ED-1116-4380-9C42-7A71869E27A6}"/>
                </a:ext>
              </a:extLst>
            </p:cNvPr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  <p:sp>
          <p:nvSpPr>
            <p:cNvPr id="15" name="任意多边形 6">
              <a:extLst>
                <a:ext uri="{FF2B5EF4-FFF2-40B4-BE49-F238E27FC236}">
                  <a16:creationId xmlns:a16="http://schemas.microsoft.com/office/drawing/2014/main" id="{D0528B29-2248-40B2-A98A-F1373DB2787B}"/>
                </a:ext>
              </a:extLst>
            </p:cNvPr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4CCFF2B2-5953-4405-820C-1107BB299899}"/>
              </a:ext>
            </a:extLst>
          </p:cNvPr>
          <p:cNvSpPr txBox="1"/>
          <p:nvPr/>
        </p:nvSpPr>
        <p:spPr>
          <a:xfrm>
            <a:off x="5491220" y="3502820"/>
            <a:ext cx="1209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Part.03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4EE3915A-6E1F-43B5-9547-39FD9024830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62" b="3296"/>
          <a:stretch/>
        </p:blipFill>
        <p:spPr>
          <a:xfrm>
            <a:off x="2716059" y="661011"/>
            <a:ext cx="6759883" cy="2383189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8202B49-554E-D1E4-49C2-014EAD473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数据集介绍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1E6EA072-1C9C-371B-995E-385AF5CD37EC}"/>
              </a:ext>
            </a:extLst>
          </p:cNvPr>
          <p:cNvGrpSpPr/>
          <p:nvPr/>
        </p:nvGrpSpPr>
        <p:grpSpPr>
          <a:xfrm>
            <a:off x="1625752" y="2279639"/>
            <a:ext cx="8502991" cy="3191971"/>
            <a:chOff x="1625752" y="2279639"/>
            <a:chExt cx="8502991" cy="3191971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64B9EE83-9477-B96A-DF04-E7451A4F7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4441" y="2279639"/>
              <a:ext cx="6144302" cy="1964813"/>
            </a:xfrm>
            <a:prstGeom prst="rect">
              <a:avLst/>
            </a:prstGeom>
          </p:spPr>
        </p:pic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EC76E69F-ACDC-B76F-F773-C420EA8F2E15}"/>
                </a:ext>
              </a:extLst>
            </p:cNvPr>
            <p:cNvGrpSpPr/>
            <p:nvPr/>
          </p:nvGrpSpPr>
          <p:grpSpPr>
            <a:xfrm>
              <a:off x="1625752" y="2579952"/>
              <a:ext cx="8389643" cy="2891658"/>
              <a:chOff x="2028975" y="2493818"/>
              <a:chExt cx="8389643" cy="2891658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F2A69BEB-FAE6-31C3-26CF-323D0F142988}"/>
                  </a:ext>
                </a:extLst>
              </p:cNvPr>
              <p:cNvSpPr/>
              <p:nvPr/>
            </p:nvSpPr>
            <p:spPr>
              <a:xfrm>
                <a:off x="8480349" y="2493818"/>
                <a:ext cx="1938269" cy="1607127"/>
              </a:xfrm>
              <a:prstGeom prst="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A1F97AF8-2D2D-6005-6CB4-5B86617837B5}"/>
                  </a:ext>
                </a:extLst>
              </p:cNvPr>
              <p:cNvSpPr/>
              <p:nvPr/>
            </p:nvSpPr>
            <p:spPr>
              <a:xfrm>
                <a:off x="6184280" y="2493818"/>
                <a:ext cx="2152968" cy="1607127"/>
              </a:xfrm>
              <a:prstGeom prst="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箭头: 下 7">
                <a:extLst>
                  <a:ext uri="{FF2B5EF4-FFF2-40B4-BE49-F238E27FC236}">
                    <a16:creationId xmlns:a16="http://schemas.microsoft.com/office/drawing/2014/main" id="{54995ED1-5213-815D-04A4-29C1A18D3423}"/>
                  </a:ext>
                </a:extLst>
              </p:cNvPr>
              <p:cNvSpPr/>
              <p:nvPr/>
            </p:nvSpPr>
            <p:spPr>
              <a:xfrm>
                <a:off x="7112000" y="4331855"/>
                <a:ext cx="258618" cy="434109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箭头: 下 8">
                <a:extLst>
                  <a:ext uri="{FF2B5EF4-FFF2-40B4-BE49-F238E27FC236}">
                    <a16:creationId xmlns:a16="http://schemas.microsoft.com/office/drawing/2014/main" id="{DF56115C-0847-4685-9CC2-39B60DC9B1F9}"/>
                  </a:ext>
                </a:extLst>
              </p:cNvPr>
              <p:cNvSpPr/>
              <p:nvPr/>
            </p:nvSpPr>
            <p:spPr>
              <a:xfrm>
                <a:off x="9320174" y="4331854"/>
                <a:ext cx="258618" cy="434109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C5F1E517-1AA4-D5AE-D880-3BEF2255E986}"/>
                  </a:ext>
                </a:extLst>
              </p:cNvPr>
              <p:cNvGrpSpPr/>
              <p:nvPr/>
            </p:nvGrpSpPr>
            <p:grpSpPr>
              <a:xfrm>
                <a:off x="6147290" y="4982778"/>
                <a:ext cx="2226947" cy="402698"/>
                <a:chOff x="6110302" y="5149032"/>
                <a:chExt cx="2226947" cy="402698"/>
              </a:xfrm>
            </p:grpSpPr>
            <p:sp>
              <p:nvSpPr>
                <p:cNvPr id="10" name="学论网www.xuelun.me-矩形 4">
                  <a:extLst>
                    <a:ext uri="{FF2B5EF4-FFF2-40B4-BE49-F238E27FC236}">
                      <a16:creationId xmlns:a16="http://schemas.microsoft.com/office/drawing/2014/main" id="{07F14B4F-7430-A1DF-9B58-05E88125C0CF}"/>
                    </a:ext>
                  </a:extLst>
                </p:cNvPr>
                <p:cNvSpPr/>
                <p:nvPr/>
              </p:nvSpPr>
              <p:spPr>
                <a:xfrm>
                  <a:off x="6110302" y="5170472"/>
                  <a:ext cx="2152969" cy="381258"/>
                </a:xfrm>
                <a:prstGeom prst="rect">
                  <a:avLst/>
                </a:prstGeom>
                <a:noFill/>
                <a:ln w="19050">
                  <a:solidFill>
                    <a:schemeClr val="accent1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4000" b="1">
                    <a:solidFill>
                      <a:srgbClr val="FFFDFB"/>
                    </a:solidFill>
                  </a:endParaRPr>
                </a:p>
              </p:txBody>
            </p:sp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55901094-B10F-BA58-52B9-BCECD74604A9}"/>
                    </a:ext>
                  </a:extLst>
                </p:cNvPr>
                <p:cNvSpPr/>
                <p:nvPr/>
              </p:nvSpPr>
              <p:spPr>
                <a:xfrm>
                  <a:off x="6184280" y="5149032"/>
                  <a:ext cx="2152969" cy="38125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zh-CN" altLang="en-US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数据集大小以及分布</a:t>
                  </a:r>
                  <a:endParaRPr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F13821A1-AA0E-5B90-AD91-139D10EFB589}"/>
                  </a:ext>
                </a:extLst>
              </p:cNvPr>
              <p:cNvGrpSpPr/>
              <p:nvPr/>
            </p:nvGrpSpPr>
            <p:grpSpPr>
              <a:xfrm>
                <a:off x="8812857" y="4972058"/>
                <a:ext cx="1273251" cy="402698"/>
                <a:chOff x="6110302" y="5149032"/>
                <a:chExt cx="2226947" cy="402698"/>
              </a:xfrm>
            </p:grpSpPr>
            <p:sp>
              <p:nvSpPr>
                <p:cNvPr id="14" name="学论网www.xuelun.me-矩形 4">
                  <a:extLst>
                    <a:ext uri="{FF2B5EF4-FFF2-40B4-BE49-F238E27FC236}">
                      <a16:creationId xmlns:a16="http://schemas.microsoft.com/office/drawing/2014/main" id="{71C4C1B5-E229-93E5-A315-FFD4653D1E8F}"/>
                    </a:ext>
                  </a:extLst>
                </p:cNvPr>
                <p:cNvSpPr/>
                <p:nvPr/>
              </p:nvSpPr>
              <p:spPr>
                <a:xfrm>
                  <a:off x="6110302" y="5170472"/>
                  <a:ext cx="2152969" cy="381258"/>
                </a:xfrm>
                <a:prstGeom prst="rect">
                  <a:avLst/>
                </a:prstGeom>
                <a:noFill/>
                <a:ln w="19050">
                  <a:solidFill>
                    <a:schemeClr val="accent1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4000" b="1">
                    <a:solidFill>
                      <a:srgbClr val="FFFDFB"/>
                    </a:solidFill>
                  </a:endParaRPr>
                </a:p>
              </p:txBody>
            </p:sp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FF37EAE8-ED39-8B39-4693-A2C8E6F0F3F0}"/>
                    </a:ext>
                  </a:extLst>
                </p:cNvPr>
                <p:cNvSpPr/>
                <p:nvPr/>
              </p:nvSpPr>
              <p:spPr>
                <a:xfrm>
                  <a:off x="6184280" y="5149032"/>
                  <a:ext cx="2152969" cy="38125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zh-CN" altLang="en-US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候选集大小</a:t>
                  </a:r>
                  <a:endParaRPr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DA8B9388-F215-E9C5-3CA0-EB6DBEB900F6}"/>
                  </a:ext>
                </a:extLst>
              </p:cNvPr>
              <p:cNvGrpSpPr/>
              <p:nvPr/>
            </p:nvGrpSpPr>
            <p:grpSpPr>
              <a:xfrm>
                <a:off x="2042980" y="2732317"/>
                <a:ext cx="1248768" cy="425111"/>
                <a:chOff x="6110302" y="5149032"/>
                <a:chExt cx="2226947" cy="402698"/>
              </a:xfrm>
            </p:grpSpPr>
            <p:sp>
              <p:nvSpPr>
                <p:cNvPr id="19" name="学论网www.xuelun.me-矩形 4">
                  <a:extLst>
                    <a:ext uri="{FF2B5EF4-FFF2-40B4-BE49-F238E27FC236}">
                      <a16:creationId xmlns:a16="http://schemas.microsoft.com/office/drawing/2014/main" id="{5C2B88B1-F426-9997-B49B-6A961847D7F1}"/>
                    </a:ext>
                  </a:extLst>
                </p:cNvPr>
                <p:cNvSpPr/>
                <p:nvPr/>
              </p:nvSpPr>
              <p:spPr>
                <a:xfrm>
                  <a:off x="6110302" y="5170472"/>
                  <a:ext cx="2152969" cy="381258"/>
                </a:xfrm>
                <a:prstGeom prst="rect">
                  <a:avLst/>
                </a:prstGeom>
                <a:noFill/>
                <a:ln w="19050">
                  <a:solidFill>
                    <a:schemeClr val="accent1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4000" b="1">
                    <a:solidFill>
                      <a:srgbClr val="FFFDFB"/>
                    </a:solidFill>
                  </a:endParaRPr>
                </a:p>
              </p:txBody>
            </p:sp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6DB0D516-B528-8EBB-28CC-912CDD2A60F5}"/>
                    </a:ext>
                  </a:extLst>
                </p:cNvPr>
                <p:cNvSpPr/>
                <p:nvPr/>
              </p:nvSpPr>
              <p:spPr>
                <a:xfrm>
                  <a:off x="6184280" y="5149032"/>
                  <a:ext cx="2152969" cy="36115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zh-CN" altLang="en-US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常用数据集</a:t>
                  </a:r>
                  <a:endParaRPr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73A02FBF-E531-953A-34BA-542BDE390555}"/>
                  </a:ext>
                </a:extLst>
              </p:cNvPr>
              <p:cNvGrpSpPr/>
              <p:nvPr/>
            </p:nvGrpSpPr>
            <p:grpSpPr>
              <a:xfrm>
                <a:off x="2044262" y="3238460"/>
                <a:ext cx="1255838" cy="402698"/>
                <a:chOff x="6110302" y="5149032"/>
                <a:chExt cx="2226947" cy="402698"/>
              </a:xfrm>
            </p:grpSpPr>
            <p:sp>
              <p:nvSpPr>
                <p:cNvPr id="23" name="学论网www.xuelun.me-矩形 4">
                  <a:extLst>
                    <a:ext uri="{FF2B5EF4-FFF2-40B4-BE49-F238E27FC236}">
                      <a16:creationId xmlns:a16="http://schemas.microsoft.com/office/drawing/2014/main" id="{361B3266-D781-281A-40F8-A0D38AFF964D}"/>
                    </a:ext>
                  </a:extLst>
                </p:cNvPr>
                <p:cNvSpPr/>
                <p:nvPr/>
              </p:nvSpPr>
              <p:spPr>
                <a:xfrm>
                  <a:off x="6110302" y="5170472"/>
                  <a:ext cx="2152969" cy="381258"/>
                </a:xfrm>
                <a:prstGeom prst="rect">
                  <a:avLst/>
                </a:prstGeom>
                <a:noFill/>
                <a:ln w="19050">
                  <a:solidFill>
                    <a:schemeClr val="accent1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4000" b="1">
                    <a:solidFill>
                      <a:srgbClr val="FFFDFB"/>
                    </a:solidFill>
                  </a:endParaRPr>
                </a:p>
              </p:txBody>
            </p:sp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475F546B-D94F-74F8-00C4-A0B0583842F4}"/>
                    </a:ext>
                  </a:extLst>
                </p:cNvPr>
                <p:cNvSpPr/>
                <p:nvPr/>
              </p:nvSpPr>
              <p:spPr>
                <a:xfrm>
                  <a:off x="6184280" y="5149032"/>
                  <a:ext cx="2152969" cy="38125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zh-CN" altLang="en-US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中文数据集</a:t>
                  </a:r>
                  <a:endParaRPr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EECF868B-8D68-3458-D542-B9341BBBE63C}"/>
                  </a:ext>
                </a:extLst>
              </p:cNvPr>
              <p:cNvGrpSpPr/>
              <p:nvPr/>
            </p:nvGrpSpPr>
            <p:grpSpPr>
              <a:xfrm>
                <a:off x="2028975" y="3735313"/>
                <a:ext cx="1262380" cy="402698"/>
                <a:chOff x="6110302" y="5149032"/>
                <a:chExt cx="2226947" cy="402698"/>
              </a:xfrm>
            </p:grpSpPr>
            <p:sp>
              <p:nvSpPr>
                <p:cNvPr id="33" name="学论网www.xuelun.me-矩形 4">
                  <a:extLst>
                    <a:ext uri="{FF2B5EF4-FFF2-40B4-BE49-F238E27FC236}">
                      <a16:creationId xmlns:a16="http://schemas.microsoft.com/office/drawing/2014/main" id="{7104FBD4-83AB-1A04-3838-81B2BB5CA6AE}"/>
                    </a:ext>
                  </a:extLst>
                </p:cNvPr>
                <p:cNvSpPr/>
                <p:nvPr/>
              </p:nvSpPr>
              <p:spPr>
                <a:xfrm>
                  <a:off x="6110302" y="5170472"/>
                  <a:ext cx="2152969" cy="381258"/>
                </a:xfrm>
                <a:prstGeom prst="rect">
                  <a:avLst/>
                </a:prstGeom>
                <a:noFill/>
                <a:ln w="19050">
                  <a:solidFill>
                    <a:schemeClr val="accent1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4000" b="1">
                    <a:solidFill>
                      <a:srgbClr val="FFFDFB"/>
                    </a:solidFill>
                  </a:endParaRPr>
                </a:p>
              </p:txBody>
            </p:sp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1B1A3B1F-C229-7484-5E57-CA810478E6F9}"/>
                    </a:ext>
                  </a:extLst>
                </p:cNvPr>
                <p:cNvSpPr/>
                <p:nvPr/>
              </p:nvSpPr>
              <p:spPr>
                <a:xfrm>
                  <a:off x="6184280" y="5149032"/>
                  <a:ext cx="2152969" cy="38125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zh-CN" altLang="en-US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赛道数据集</a:t>
                  </a:r>
                  <a:endParaRPr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C7FC85C6-5C3B-9E26-7B53-F83D024D1C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58164" y="2965398"/>
                <a:ext cx="1416395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>
                <a:extLst>
                  <a:ext uri="{FF2B5EF4-FFF2-40B4-BE49-F238E27FC236}">
                    <a16:creationId xmlns:a16="http://schemas.microsoft.com/office/drawing/2014/main" id="{DE61003E-D093-E4DE-3506-B2848D3E8D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00100" y="3964591"/>
                <a:ext cx="1239200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EFF402FD-B316-9F78-3F84-26397E3C91B5}"/>
                  </a:ext>
                </a:extLst>
              </p:cNvPr>
              <p:cNvGrpSpPr/>
              <p:nvPr/>
            </p:nvGrpSpPr>
            <p:grpSpPr>
              <a:xfrm>
                <a:off x="3286834" y="3268103"/>
                <a:ext cx="1411451" cy="381259"/>
                <a:chOff x="3374950" y="3259899"/>
                <a:chExt cx="1411451" cy="381259"/>
              </a:xfrm>
            </p:grpSpPr>
            <p:cxnSp>
              <p:nvCxnSpPr>
                <p:cNvPr id="47" name="连接符: 肘形 46">
                  <a:extLst>
                    <a:ext uri="{FF2B5EF4-FFF2-40B4-BE49-F238E27FC236}">
                      <a16:creationId xmlns:a16="http://schemas.microsoft.com/office/drawing/2014/main" id="{093160B0-CB98-5421-9663-EDDFC7C56947}"/>
                    </a:ext>
                  </a:extLst>
                </p:cNvPr>
                <p:cNvCxnSpPr/>
                <p:nvPr/>
              </p:nvCxnSpPr>
              <p:spPr>
                <a:xfrm rot="10800000" flipV="1">
                  <a:off x="3374950" y="3259899"/>
                  <a:ext cx="1409487" cy="190629"/>
                </a:xfrm>
                <a:prstGeom prst="bentConnector3">
                  <a:avLst>
                    <a:gd name="adj1" fmla="val 51311"/>
                  </a:avLst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连接符: 肘形 47">
                  <a:extLst>
                    <a:ext uri="{FF2B5EF4-FFF2-40B4-BE49-F238E27FC236}">
                      <a16:creationId xmlns:a16="http://schemas.microsoft.com/office/drawing/2014/main" id="{842A5683-FED7-B2E4-AB45-6843FC1EA7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3376914" y="3450529"/>
                  <a:ext cx="1409487" cy="190629"/>
                </a:xfrm>
                <a:prstGeom prst="bentConnector3">
                  <a:avLst>
                    <a:gd name="adj1" fmla="val 51310"/>
                  </a:avLst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58" name="矩形 4">
            <a:extLst>
              <a:ext uri="{FF2B5EF4-FFF2-40B4-BE49-F238E27FC236}">
                <a16:creationId xmlns:a16="http://schemas.microsoft.com/office/drawing/2014/main" id="{2F949A95-7BBB-691A-C357-74411CF7EDCA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A3F1D4B6-8A36-9C48-F8E0-EC277D13DDE4}"/>
              </a:ext>
            </a:extLst>
          </p:cNvPr>
          <p:cNvCxnSpPr/>
          <p:nvPr/>
        </p:nvCxnSpPr>
        <p:spPr>
          <a:xfrm>
            <a:off x="974270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FDAE501E-FED8-329C-274D-1F590D0E1635}"/>
              </a:ext>
            </a:extLst>
          </p:cNvPr>
          <p:cNvSpPr/>
          <p:nvPr/>
        </p:nvSpPr>
        <p:spPr>
          <a:xfrm>
            <a:off x="8076708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62" name="TextBox 6">
            <a:extLst>
              <a:ext uri="{FF2B5EF4-FFF2-40B4-BE49-F238E27FC236}">
                <a16:creationId xmlns:a16="http://schemas.microsoft.com/office/drawing/2014/main" id="{10A8751E-49DE-E088-5D34-164DBFC05853}"/>
              </a:ext>
            </a:extLst>
          </p:cNvPr>
          <p:cNvSpPr txBox="1"/>
          <p:nvPr/>
        </p:nvSpPr>
        <p:spPr>
          <a:xfrm>
            <a:off x="48298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63" name="TextBox 7">
            <a:extLst>
              <a:ext uri="{FF2B5EF4-FFF2-40B4-BE49-F238E27FC236}">
                <a16:creationId xmlns:a16="http://schemas.microsoft.com/office/drawing/2014/main" id="{79D4C58E-2A65-4F79-8875-B67DFF605BB7}"/>
              </a:ext>
            </a:extLst>
          </p:cNvPr>
          <p:cNvSpPr txBox="1"/>
          <p:nvPr/>
        </p:nvSpPr>
        <p:spPr>
          <a:xfrm>
            <a:off x="65316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</a:t>
            </a:r>
          </a:p>
        </p:txBody>
      </p:sp>
      <p:sp>
        <p:nvSpPr>
          <p:cNvPr id="64" name="TextBox 9">
            <a:extLst>
              <a:ext uri="{FF2B5EF4-FFF2-40B4-BE49-F238E27FC236}">
                <a16:creationId xmlns:a16="http://schemas.microsoft.com/office/drawing/2014/main" id="{AB6EB3F1-9138-A085-F552-010F4862F78A}"/>
              </a:ext>
            </a:extLst>
          </p:cNvPr>
          <p:cNvSpPr txBox="1"/>
          <p:nvPr/>
        </p:nvSpPr>
        <p:spPr>
          <a:xfrm>
            <a:off x="82334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实验分析</a:t>
            </a:r>
          </a:p>
        </p:txBody>
      </p:sp>
      <p:sp>
        <p:nvSpPr>
          <p:cNvPr id="65" name="TextBox 10">
            <a:extLst>
              <a:ext uri="{FF2B5EF4-FFF2-40B4-BE49-F238E27FC236}">
                <a16:creationId xmlns:a16="http://schemas.microsoft.com/office/drawing/2014/main" id="{A88BB91A-C01A-2D4B-5EB6-4C40F047EE47}"/>
              </a:ext>
            </a:extLst>
          </p:cNvPr>
          <p:cNvSpPr txBox="1"/>
          <p:nvPr/>
        </p:nvSpPr>
        <p:spPr>
          <a:xfrm>
            <a:off x="99352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总结展望</a:t>
            </a: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EEBE67E5-3A73-6654-78FF-260C59161D90}"/>
              </a:ext>
            </a:extLst>
          </p:cNvPr>
          <p:cNvCxnSpPr/>
          <p:nvPr/>
        </p:nvCxnSpPr>
        <p:spPr>
          <a:xfrm>
            <a:off x="807216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图片 66">
            <a:extLst>
              <a:ext uri="{FF2B5EF4-FFF2-40B4-BE49-F238E27FC236}">
                <a16:creationId xmlns:a16="http://schemas.microsoft.com/office/drawing/2014/main" id="{67D6A4BF-2D34-7552-363C-74636D3FEA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4F32CBBA-EBFB-EEB5-5329-0269E5771DA6}"/>
              </a:ext>
            </a:extLst>
          </p:cNvPr>
          <p:cNvCxnSpPr/>
          <p:nvPr/>
        </p:nvCxnSpPr>
        <p:spPr>
          <a:xfrm>
            <a:off x="6369392" y="28278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F952D952-498F-E823-26AB-E040E1A10A77}"/>
              </a:ext>
            </a:extLst>
          </p:cNvPr>
          <p:cNvSpPr/>
          <p:nvPr/>
        </p:nvSpPr>
        <p:spPr>
          <a:xfrm>
            <a:off x="4288920" y="2324161"/>
            <a:ext cx="756139" cy="230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F38201E-49FB-8C02-9420-4A55B84DD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主实验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AA023B-9BB5-66D6-C230-4F425B043B60}"/>
              </a:ext>
            </a:extLst>
          </p:cNvPr>
          <p:cNvSpPr/>
          <p:nvPr/>
        </p:nvSpPr>
        <p:spPr>
          <a:xfrm>
            <a:off x="923628" y="1620593"/>
            <a:ext cx="4616444" cy="429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数据集：</a:t>
            </a:r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Ubuntu Corpus V1</a:t>
            </a:r>
            <a:endParaRPr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1138ED6-F9DC-ADE2-CC3B-25E9857096FA}"/>
              </a:ext>
            </a:extLst>
          </p:cNvPr>
          <p:cNvGrpSpPr/>
          <p:nvPr/>
        </p:nvGrpSpPr>
        <p:grpSpPr>
          <a:xfrm>
            <a:off x="6648228" y="2710435"/>
            <a:ext cx="4219065" cy="3658246"/>
            <a:chOff x="6420749" y="2186121"/>
            <a:chExt cx="4219065" cy="365824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C557E51-FD26-D806-A9C7-E1EE76081C57}"/>
                </a:ext>
              </a:extLst>
            </p:cNvPr>
            <p:cNvSpPr/>
            <p:nvPr/>
          </p:nvSpPr>
          <p:spPr>
            <a:xfrm>
              <a:off x="6437214" y="2186121"/>
              <a:ext cx="4202600" cy="36582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在常用数据集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Ubuntu Corpus V1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上进行了不同模型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R10@1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R10@2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R10@5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以及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MRR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指标的测试。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结果表明提出的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UOS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有着最好的性能指标，即使和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URC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模型比较，在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R10@1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R10@2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R10@5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上分别有着</a:t>
              </a:r>
              <a:r>
                <a:rPr lang="en-US" altLang="zh-CN" sz="1600" b="1" u="sng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1.4%</a:t>
              </a:r>
              <a:r>
                <a:rPr lang="zh-CN" altLang="en-US" sz="1600" b="1" u="sng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1600" b="1" u="sng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0.2%</a:t>
              </a:r>
              <a:r>
                <a:rPr lang="zh-CN" altLang="en-US" sz="1600" b="1" u="sng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1600" b="1" u="sng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0.2%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的改进，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MRR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指标也有相应的提升。测试结果表明我们提出的模型在回复选择任务微调阶段的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context-response matching network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设计是有效的。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学论网www.xuelun.me-矩形 4">
              <a:extLst>
                <a:ext uri="{FF2B5EF4-FFF2-40B4-BE49-F238E27FC236}">
                  <a16:creationId xmlns:a16="http://schemas.microsoft.com/office/drawing/2014/main" id="{F955C112-0455-5161-18C6-55603019B5F1}"/>
                </a:ext>
              </a:extLst>
            </p:cNvPr>
            <p:cNvSpPr/>
            <p:nvPr/>
          </p:nvSpPr>
          <p:spPr>
            <a:xfrm>
              <a:off x="6420749" y="2186121"/>
              <a:ext cx="4219065" cy="3321088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 b="1" dirty="0">
                <a:solidFill>
                  <a:srgbClr val="FFFDFB"/>
                </a:solidFill>
              </a:endParaRPr>
            </a:p>
          </p:txBody>
        </p:sp>
      </p:grpSp>
      <p:sp>
        <p:nvSpPr>
          <p:cNvPr id="2" name="矩形 4">
            <a:extLst>
              <a:ext uri="{FF2B5EF4-FFF2-40B4-BE49-F238E27FC236}">
                <a16:creationId xmlns:a16="http://schemas.microsoft.com/office/drawing/2014/main" id="{B585353A-2524-DA79-DCEC-E27F50A76BB1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BC8B389-4FFA-C6C4-20F4-57B3DA9E6F46}"/>
              </a:ext>
            </a:extLst>
          </p:cNvPr>
          <p:cNvCxnSpPr/>
          <p:nvPr/>
        </p:nvCxnSpPr>
        <p:spPr>
          <a:xfrm>
            <a:off x="974270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9E35DF37-CBEA-0EAF-DE36-CA18B44E11A9}"/>
              </a:ext>
            </a:extLst>
          </p:cNvPr>
          <p:cNvSpPr/>
          <p:nvPr/>
        </p:nvSpPr>
        <p:spPr>
          <a:xfrm>
            <a:off x="8076708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D9A5E2B6-AB49-E267-AF31-316E125D0E8C}"/>
              </a:ext>
            </a:extLst>
          </p:cNvPr>
          <p:cNvSpPr txBox="1"/>
          <p:nvPr/>
        </p:nvSpPr>
        <p:spPr>
          <a:xfrm>
            <a:off x="48298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BA7E5C92-9F34-9140-6FEB-DE2FBA12FDBB}"/>
              </a:ext>
            </a:extLst>
          </p:cNvPr>
          <p:cNvSpPr txBox="1"/>
          <p:nvPr/>
        </p:nvSpPr>
        <p:spPr>
          <a:xfrm>
            <a:off x="65316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E7A67F63-E3B3-4652-60D3-1C45CBA922FA}"/>
              </a:ext>
            </a:extLst>
          </p:cNvPr>
          <p:cNvSpPr txBox="1"/>
          <p:nvPr/>
        </p:nvSpPr>
        <p:spPr>
          <a:xfrm>
            <a:off x="82334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实验分析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F7CE49E3-8074-8A4C-235F-10309326F5F6}"/>
              </a:ext>
            </a:extLst>
          </p:cNvPr>
          <p:cNvSpPr txBox="1"/>
          <p:nvPr/>
        </p:nvSpPr>
        <p:spPr>
          <a:xfrm>
            <a:off x="99352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总结展望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99E83D3-C05F-9619-1767-6B2D14C23AF8}"/>
              </a:ext>
            </a:extLst>
          </p:cNvPr>
          <p:cNvCxnSpPr/>
          <p:nvPr/>
        </p:nvCxnSpPr>
        <p:spPr>
          <a:xfrm>
            <a:off x="807216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8F347267-9093-4BD3-9B39-E3DE1F1CF4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5262F72-E698-19BF-ECFC-D266EA575CD5}"/>
              </a:ext>
            </a:extLst>
          </p:cNvPr>
          <p:cNvCxnSpPr/>
          <p:nvPr/>
        </p:nvCxnSpPr>
        <p:spPr>
          <a:xfrm>
            <a:off x="6369392" y="28278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3BEE9B1A-59ED-1B63-3981-9F54DBED157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85"/>
          <a:stretch/>
        </p:blipFill>
        <p:spPr>
          <a:xfrm>
            <a:off x="1029164" y="2277874"/>
            <a:ext cx="4696621" cy="428998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C57BF6F-093D-9EF5-87EE-4ADDF2CA1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中文数据集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27AF3F1-7807-8583-5AE3-8C69B23D9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553" y="2186121"/>
            <a:ext cx="8947592" cy="2305982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243DDE9-E211-A5AB-E9B3-7E70A54BC624}"/>
              </a:ext>
            </a:extLst>
          </p:cNvPr>
          <p:cNvSpPr/>
          <p:nvPr/>
        </p:nvSpPr>
        <p:spPr>
          <a:xfrm>
            <a:off x="923628" y="1620593"/>
            <a:ext cx="5929754" cy="429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数据集：</a:t>
            </a:r>
            <a:r>
              <a:rPr lang="en-US" altLang="zh-CN" sz="1865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Douban</a:t>
            </a:r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Corpus &amp; E-commerce Corpus</a:t>
            </a:r>
            <a:endParaRPr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F58F661-BE06-8C0C-2BE0-5A684B5CE423}"/>
              </a:ext>
            </a:extLst>
          </p:cNvPr>
          <p:cNvGrpSpPr/>
          <p:nvPr/>
        </p:nvGrpSpPr>
        <p:grpSpPr>
          <a:xfrm>
            <a:off x="1376553" y="4628539"/>
            <a:ext cx="8947592" cy="1749999"/>
            <a:chOff x="6420749" y="2104297"/>
            <a:chExt cx="4780951" cy="404933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C0DC351-E3F5-F02F-9708-FE3F7F677AA7}"/>
                </a:ext>
              </a:extLst>
            </p:cNvPr>
            <p:cNvSpPr/>
            <p:nvPr/>
          </p:nvSpPr>
          <p:spPr>
            <a:xfrm>
              <a:off x="6437213" y="2104297"/>
              <a:ext cx="4764487" cy="39675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865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为验证提出模型在不同数据集领域的性能，我们进一步在中文数据集</a:t>
              </a:r>
              <a:r>
                <a:rPr lang="en-US" altLang="zh-CN" sz="16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Douban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E-commerce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上进行测试。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实验结果表明即使在中文数据集上，提出的模型依旧比现有模型有着更好的性能，具体地说，</a:t>
              </a:r>
              <a:r>
                <a:rPr lang="en-US" altLang="zh-CN" sz="16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Douban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数据集和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E-commerce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数据集在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R10@1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指标上分别有着</a:t>
              </a:r>
              <a:r>
                <a:rPr lang="en-US" altLang="zh-CN" sz="1600" b="1" u="sng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2.7%</a:t>
              </a:r>
              <a:r>
                <a:rPr lang="zh-CN" altLang="en-US" sz="1600" b="1" u="sng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600" b="1" u="sng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2.8%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的大幅提高，也体现了提出模型在不同数据集的通用性。</a:t>
              </a:r>
              <a:endParaRPr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学论网www.xuelun.me-矩形 4">
              <a:extLst>
                <a:ext uri="{FF2B5EF4-FFF2-40B4-BE49-F238E27FC236}">
                  <a16:creationId xmlns:a16="http://schemas.microsoft.com/office/drawing/2014/main" id="{6C0AC3A5-F313-FCF4-9DD4-6804879D8478}"/>
                </a:ext>
              </a:extLst>
            </p:cNvPr>
            <p:cNvSpPr/>
            <p:nvPr/>
          </p:nvSpPr>
          <p:spPr>
            <a:xfrm>
              <a:off x="6420749" y="2186121"/>
              <a:ext cx="4764487" cy="396751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 b="1">
                <a:solidFill>
                  <a:srgbClr val="FFFDFB"/>
                </a:solidFill>
              </a:endParaRPr>
            </a:p>
          </p:txBody>
        </p:sp>
      </p:grpSp>
      <p:sp>
        <p:nvSpPr>
          <p:cNvPr id="2" name="矩形 4">
            <a:extLst>
              <a:ext uri="{FF2B5EF4-FFF2-40B4-BE49-F238E27FC236}">
                <a16:creationId xmlns:a16="http://schemas.microsoft.com/office/drawing/2014/main" id="{18D2FF93-0EBD-32F6-2F3F-239488274A0C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C97E100-44D1-AA80-B91A-D28815BEB434}"/>
              </a:ext>
            </a:extLst>
          </p:cNvPr>
          <p:cNvCxnSpPr/>
          <p:nvPr/>
        </p:nvCxnSpPr>
        <p:spPr>
          <a:xfrm>
            <a:off x="974270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10AB2337-D330-219A-EF60-131115EB9D70}"/>
              </a:ext>
            </a:extLst>
          </p:cNvPr>
          <p:cNvSpPr/>
          <p:nvPr/>
        </p:nvSpPr>
        <p:spPr>
          <a:xfrm>
            <a:off x="8076708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E51FF94F-31D9-7450-FFA2-F4DCBB1380B2}"/>
              </a:ext>
            </a:extLst>
          </p:cNvPr>
          <p:cNvSpPr txBox="1"/>
          <p:nvPr/>
        </p:nvSpPr>
        <p:spPr>
          <a:xfrm>
            <a:off x="48298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1CCA273C-BBEA-A3D5-7D38-D5DCEB2F8402}"/>
              </a:ext>
            </a:extLst>
          </p:cNvPr>
          <p:cNvSpPr txBox="1"/>
          <p:nvPr/>
        </p:nvSpPr>
        <p:spPr>
          <a:xfrm>
            <a:off x="65316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C4096E46-2A59-FCC3-E73D-E93A678502E4}"/>
              </a:ext>
            </a:extLst>
          </p:cNvPr>
          <p:cNvSpPr txBox="1"/>
          <p:nvPr/>
        </p:nvSpPr>
        <p:spPr>
          <a:xfrm>
            <a:off x="82334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实验分析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F57BD76E-DCF1-C80C-E6EB-944209D77017}"/>
              </a:ext>
            </a:extLst>
          </p:cNvPr>
          <p:cNvSpPr txBox="1"/>
          <p:nvPr/>
        </p:nvSpPr>
        <p:spPr>
          <a:xfrm>
            <a:off x="99352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总结展望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4115AA8-5681-9D35-8266-852389E59E4E}"/>
              </a:ext>
            </a:extLst>
          </p:cNvPr>
          <p:cNvCxnSpPr/>
          <p:nvPr/>
        </p:nvCxnSpPr>
        <p:spPr>
          <a:xfrm>
            <a:off x="807216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B6C11408-0648-3BE7-7AA7-64262157EE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66954A5-7FFA-D1F9-DC1F-D88A87982EF2}"/>
              </a:ext>
            </a:extLst>
          </p:cNvPr>
          <p:cNvCxnSpPr/>
          <p:nvPr/>
        </p:nvCxnSpPr>
        <p:spPr>
          <a:xfrm>
            <a:off x="6369392" y="28278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B2812E72-BFE9-0370-8198-7F96E9391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赛道数据集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43DDE9-E211-A5AB-E9B3-7E70A54BC624}"/>
              </a:ext>
            </a:extLst>
          </p:cNvPr>
          <p:cNvSpPr/>
          <p:nvPr/>
        </p:nvSpPr>
        <p:spPr>
          <a:xfrm>
            <a:off x="923628" y="1620593"/>
            <a:ext cx="5929754" cy="429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数据集：</a:t>
            </a:r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DSTC8 Ubuntu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  <a:endParaRPr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F58F661-BE06-8C0C-2BE0-5A684B5CE423}"/>
              </a:ext>
            </a:extLst>
          </p:cNvPr>
          <p:cNvGrpSpPr/>
          <p:nvPr/>
        </p:nvGrpSpPr>
        <p:grpSpPr>
          <a:xfrm>
            <a:off x="1376553" y="4628540"/>
            <a:ext cx="8947592" cy="1606006"/>
            <a:chOff x="6420749" y="2104297"/>
            <a:chExt cx="4780951" cy="4440732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C0DC351-E3F5-F02F-9708-FE3F7F677AA7}"/>
                </a:ext>
              </a:extLst>
            </p:cNvPr>
            <p:cNvSpPr/>
            <p:nvPr/>
          </p:nvSpPr>
          <p:spPr>
            <a:xfrm>
              <a:off x="6437213" y="2104297"/>
              <a:ext cx="4764487" cy="38560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865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此外，我们还在回复候选集数目为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DSTC8 Ubuntu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数据集中实验测试以说明提出模型的鲁棒性。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由最终的实验数据可以看出，提出的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UOS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模型比现有的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SA-</a:t>
              </a:r>
              <a:r>
                <a:rPr lang="en-US" altLang="zh-CN" sz="16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bert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模型有着显著的性能提高，因此也说明了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UOS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模型在候选集增大的情况下依旧有着不错的性能，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验证其鲁棒性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学论网www.xuelun.me-矩形 4">
              <a:extLst>
                <a:ext uri="{FF2B5EF4-FFF2-40B4-BE49-F238E27FC236}">
                  <a16:creationId xmlns:a16="http://schemas.microsoft.com/office/drawing/2014/main" id="{6C0AC3A5-F313-FCF4-9DD4-6804879D8478}"/>
                </a:ext>
              </a:extLst>
            </p:cNvPr>
            <p:cNvSpPr/>
            <p:nvPr/>
          </p:nvSpPr>
          <p:spPr>
            <a:xfrm>
              <a:off x="6420749" y="2186121"/>
              <a:ext cx="4764487" cy="4358908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 b="1">
                <a:solidFill>
                  <a:srgbClr val="FFFDFB"/>
                </a:solidFill>
              </a:endParaRPr>
            </a:p>
          </p:txBody>
        </p:sp>
      </p:grpSp>
      <p:sp>
        <p:nvSpPr>
          <p:cNvPr id="9" name="矩形 4">
            <a:extLst>
              <a:ext uri="{FF2B5EF4-FFF2-40B4-BE49-F238E27FC236}">
                <a16:creationId xmlns:a16="http://schemas.microsoft.com/office/drawing/2014/main" id="{2F37D14C-14FA-D331-C245-7FB6A6AB9B01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75422B9-C56A-FE7F-3584-4CE1F240B003}"/>
              </a:ext>
            </a:extLst>
          </p:cNvPr>
          <p:cNvCxnSpPr/>
          <p:nvPr/>
        </p:nvCxnSpPr>
        <p:spPr>
          <a:xfrm>
            <a:off x="974270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73C3B9AF-29FF-D135-F65A-5B2DA2D97CC8}"/>
              </a:ext>
            </a:extLst>
          </p:cNvPr>
          <p:cNvSpPr/>
          <p:nvPr/>
        </p:nvSpPr>
        <p:spPr>
          <a:xfrm>
            <a:off x="8076708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DC280008-E851-4E23-F491-66BD44C17806}"/>
              </a:ext>
            </a:extLst>
          </p:cNvPr>
          <p:cNvSpPr txBox="1"/>
          <p:nvPr/>
        </p:nvSpPr>
        <p:spPr>
          <a:xfrm>
            <a:off x="48298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3003BA67-B34B-A1F0-9CE8-9AD14B6E6039}"/>
              </a:ext>
            </a:extLst>
          </p:cNvPr>
          <p:cNvSpPr txBox="1"/>
          <p:nvPr/>
        </p:nvSpPr>
        <p:spPr>
          <a:xfrm>
            <a:off x="65316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08462233-30BD-AB40-F4A0-7E6011AE8E28}"/>
              </a:ext>
            </a:extLst>
          </p:cNvPr>
          <p:cNvSpPr txBox="1"/>
          <p:nvPr/>
        </p:nvSpPr>
        <p:spPr>
          <a:xfrm>
            <a:off x="82334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实验分析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9883A27E-E1EE-96FA-1913-E9347EA1937E}"/>
              </a:ext>
            </a:extLst>
          </p:cNvPr>
          <p:cNvSpPr txBox="1"/>
          <p:nvPr/>
        </p:nvSpPr>
        <p:spPr>
          <a:xfrm>
            <a:off x="99352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总结展望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221A2E8-8384-EBA9-F172-F8B406C8725C}"/>
              </a:ext>
            </a:extLst>
          </p:cNvPr>
          <p:cNvCxnSpPr/>
          <p:nvPr/>
        </p:nvCxnSpPr>
        <p:spPr>
          <a:xfrm>
            <a:off x="807216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128A2979-2CBB-479F-5E25-C70FC38C72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B67958F-59F7-DEED-366A-74781A0A5936}"/>
              </a:ext>
            </a:extLst>
          </p:cNvPr>
          <p:cNvCxnSpPr/>
          <p:nvPr/>
        </p:nvCxnSpPr>
        <p:spPr>
          <a:xfrm>
            <a:off x="6369392" y="28278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BC69CB4-69A9-65E1-F0A4-631EFA7819CD}"/>
              </a:ext>
            </a:extLst>
          </p:cNvPr>
          <p:cNvGrpSpPr/>
          <p:nvPr/>
        </p:nvGrpSpPr>
        <p:grpSpPr>
          <a:xfrm>
            <a:off x="3389793" y="2294793"/>
            <a:ext cx="5103576" cy="2073366"/>
            <a:chOff x="3389793" y="2339659"/>
            <a:chExt cx="4951923" cy="202849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B9C31DE-2677-7788-34AB-7474A2EE39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003" t="4398" r="1865" b="6814"/>
            <a:stretch/>
          </p:blipFill>
          <p:spPr>
            <a:xfrm>
              <a:off x="3389793" y="2339659"/>
              <a:ext cx="4951923" cy="2028499"/>
            </a:xfrm>
            <a:prstGeom prst="rect">
              <a:avLst/>
            </a:prstGeom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253896E-34CB-9315-1AF6-6E6A2AE1FFB4}"/>
                </a:ext>
              </a:extLst>
            </p:cNvPr>
            <p:cNvSpPr/>
            <p:nvPr/>
          </p:nvSpPr>
          <p:spPr>
            <a:xfrm>
              <a:off x="3389794" y="2348451"/>
              <a:ext cx="4951922" cy="230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C7BB9EFE-18C7-375C-2453-6419D63230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2" r="2776" b="263"/>
            <a:stretch/>
          </p:blipFill>
          <p:spPr>
            <a:xfrm>
              <a:off x="3725768" y="2365474"/>
              <a:ext cx="4186731" cy="213041"/>
            </a:xfrm>
            <a:prstGeom prst="rect">
              <a:avLst/>
            </a:prstGeom>
          </p:spPr>
        </p:pic>
      </p:grp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E3A1267-5915-6E54-36DF-623A9513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1550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681559" y="1108968"/>
            <a:ext cx="188838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3.5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消融实验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43DDE9-E211-A5AB-E9B3-7E70A54BC624}"/>
              </a:ext>
            </a:extLst>
          </p:cNvPr>
          <p:cNvSpPr/>
          <p:nvPr/>
        </p:nvSpPr>
        <p:spPr>
          <a:xfrm>
            <a:off x="923628" y="1620593"/>
            <a:ext cx="5929754" cy="429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Post-Train</a:t>
            </a:r>
            <a:endParaRPr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F58F661-BE06-8C0C-2BE0-5A684B5CE423}"/>
              </a:ext>
            </a:extLst>
          </p:cNvPr>
          <p:cNvGrpSpPr/>
          <p:nvPr/>
        </p:nvGrpSpPr>
        <p:grpSpPr>
          <a:xfrm>
            <a:off x="1849624" y="4649645"/>
            <a:ext cx="8492751" cy="1523848"/>
            <a:chOff x="6456004" y="2189819"/>
            <a:chExt cx="4537917" cy="435890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C0DC351-E3F5-F02F-9708-FE3F7F677AA7}"/>
                </a:ext>
              </a:extLst>
            </p:cNvPr>
            <p:cNvSpPr/>
            <p:nvPr/>
          </p:nvSpPr>
          <p:spPr>
            <a:xfrm>
              <a:off x="6493589" y="2266285"/>
              <a:ext cx="4500332" cy="38373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此外，我们针对不同的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post-train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进行了消融实验对比，实验结果表明，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UOS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模型中采用的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post-train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训练过程是最有效的。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MLM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NSP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可以在一定程度上帮助模型进行回复选择。但是提出的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UOS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模型中应用的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post-train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训练还包括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主题预测和一致性预测，因此有更好的性能结果。</a:t>
              </a:r>
              <a:endParaRPr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学论网www.xuelun.me-矩形 4">
              <a:extLst>
                <a:ext uri="{FF2B5EF4-FFF2-40B4-BE49-F238E27FC236}">
                  <a16:creationId xmlns:a16="http://schemas.microsoft.com/office/drawing/2014/main" id="{6C0AC3A5-F313-FCF4-9DD4-6804879D8478}"/>
                </a:ext>
              </a:extLst>
            </p:cNvPr>
            <p:cNvSpPr/>
            <p:nvPr/>
          </p:nvSpPr>
          <p:spPr>
            <a:xfrm>
              <a:off x="6456004" y="2189819"/>
              <a:ext cx="4500331" cy="4358908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 b="1">
                <a:solidFill>
                  <a:srgbClr val="FFFDFB"/>
                </a:solidFill>
              </a:endParaRPr>
            </a:p>
          </p:txBody>
        </p:sp>
      </p:grpSp>
      <p:sp>
        <p:nvSpPr>
          <p:cNvPr id="9" name="矩形 4">
            <a:extLst>
              <a:ext uri="{FF2B5EF4-FFF2-40B4-BE49-F238E27FC236}">
                <a16:creationId xmlns:a16="http://schemas.microsoft.com/office/drawing/2014/main" id="{95186AFF-2717-9C60-1B52-4062A1ADBFC2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340C450-3115-D7C1-BEF3-22ECB3FF1063}"/>
              </a:ext>
            </a:extLst>
          </p:cNvPr>
          <p:cNvCxnSpPr/>
          <p:nvPr/>
        </p:nvCxnSpPr>
        <p:spPr>
          <a:xfrm>
            <a:off x="974270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F39FA36F-574B-36A3-6203-6E2282CE3602}"/>
              </a:ext>
            </a:extLst>
          </p:cNvPr>
          <p:cNvSpPr/>
          <p:nvPr/>
        </p:nvSpPr>
        <p:spPr>
          <a:xfrm>
            <a:off x="8076708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47898A76-56C6-F69F-0A72-9402FDD857D0}"/>
              </a:ext>
            </a:extLst>
          </p:cNvPr>
          <p:cNvSpPr txBox="1"/>
          <p:nvPr/>
        </p:nvSpPr>
        <p:spPr>
          <a:xfrm>
            <a:off x="48298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035171D2-8FFC-EE53-C4F4-2114A17C8767}"/>
              </a:ext>
            </a:extLst>
          </p:cNvPr>
          <p:cNvSpPr txBox="1"/>
          <p:nvPr/>
        </p:nvSpPr>
        <p:spPr>
          <a:xfrm>
            <a:off x="65316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918AE778-A540-4BAF-4985-92126882875B}"/>
              </a:ext>
            </a:extLst>
          </p:cNvPr>
          <p:cNvSpPr txBox="1"/>
          <p:nvPr/>
        </p:nvSpPr>
        <p:spPr>
          <a:xfrm>
            <a:off x="82334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实验分析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47497117-EA35-F1DE-A45C-F0046D499438}"/>
              </a:ext>
            </a:extLst>
          </p:cNvPr>
          <p:cNvSpPr txBox="1"/>
          <p:nvPr/>
        </p:nvSpPr>
        <p:spPr>
          <a:xfrm>
            <a:off x="99352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总结展望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A4A82D6-1131-58B0-8B68-0FF1B9E84B78}"/>
              </a:ext>
            </a:extLst>
          </p:cNvPr>
          <p:cNvCxnSpPr/>
          <p:nvPr/>
        </p:nvCxnSpPr>
        <p:spPr>
          <a:xfrm>
            <a:off x="807216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AA9627DD-435D-C7B7-2793-9E5C1FF3BC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15BFDADE-0046-274B-1B13-B1A564918E3B}"/>
              </a:ext>
            </a:extLst>
          </p:cNvPr>
          <p:cNvCxnSpPr/>
          <p:nvPr/>
        </p:nvCxnSpPr>
        <p:spPr>
          <a:xfrm>
            <a:off x="6369392" y="28278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>
            <a:extLst>
              <a:ext uri="{FF2B5EF4-FFF2-40B4-BE49-F238E27FC236}">
                <a16:creationId xmlns:a16="http://schemas.microsoft.com/office/drawing/2014/main" id="{99D88F13-6846-E933-B047-88A725BDAB2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791" t="4631"/>
          <a:stretch/>
        </p:blipFill>
        <p:spPr>
          <a:xfrm>
            <a:off x="2707562" y="2141437"/>
            <a:ext cx="6932645" cy="222685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3D55020-EB8B-5942-D92D-DF0D761AC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0343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990E8ABE-4C17-4176-B17E-442D56E3278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37591"/>
          <a:stretch/>
        </p:blipFill>
        <p:spPr>
          <a:xfrm>
            <a:off x="-17299" y="0"/>
            <a:ext cx="12209296" cy="373649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D50DC3F9-75DE-4A70-890A-BFEEC152A4A7}"/>
              </a:ext>
            </a:extLst>
          </p:cNvPr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4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491220" y="3502820"/>
            <a:ext cx="1209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Part.04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327401" y="4789616"/>
            <a:ext cx="553719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总结展望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9712DC9-7427-4396-97B9-61008DE8ECE2}"/>
              </a:ext>
            </a:extLst>
          </p:cNvPr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14" name="任意多边形 5">
              <a:extLst>
                <a:ext uri="{FF2B5EF4-FFF2-40B4-BE49-F238E27FC236}">
                  <a16:creationId xmlns:a16="http://schemas.microsoft.com/office/drawing/2014/main" id="{6E63B437-68ED-4E36-94A4-F489B00731A2}"/>
                </a:ext>
              </a:extLst>
            </p:cNvPr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  <p:sp>
          <p:nvSpPr>
            <p:cNvPr id="15" name="任意多边形 6">
              <a:extLst>
                <a:ext uri="{FF2B5EF4-FFF2-40B4-BE49-F238E27FC236}">
                  <a16:creationId xmlns:a16="http://schemas.microsoft.com/office/drawing/2014/main" id="{FAB0CF01-01E2-4E67-9436-6AC86B7F6985}"/>
                </a:ext>
              </a:extLst>
            </p:cNvPr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89205041-170F-45BF-BD36-9FEA9E9F35C2}"/>
              </a:ext>
            </a:extLst>
          </p:cNvPr>
          <p:cNvSpPr txBox="1"/>
          <p:nvPr/>
        </p:nvSpPr>
        <p:spPr>
          <a:xfrm>
            <a:off x="5491220" y="3502820"/>
            <a:ext cx="1209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Part.04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B5C1988-4378-4E51-8D59-44D0FBFD72F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62" b="3296"/>
          <a:stretch/>
        </p:blipFill>
        <p:spPr>
          <a:xfrm>
            <a:off x="2716059" y="661011"/>
            <a:ext cx="6759883" cy="2383189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C1A723-1400-85A8-46A3-993FC883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/>
          <p:cNvGrpSpPr/>
          <p:nvPr/>
        </p:nvGrpSpPr>
        <p:grpSpPr>
          <a:xfrm>
            <a:off x="1718136" y="1445676"/>
            <a:ext cx="8842659" cy="1368000"/>
            <a:chOff x="1339492" y="1226868"/>
            <a:chExt cx="8842659" cy="1368000"/>
          </a:xfrm>
        </p:grpSpPr>
        <p:sp>
          <p:nvSpPr>
            <p:cNvPr id="45" name="圆角矩形 44"/>
            <p:cNvSpPr/>
            <p:nvPr/>
          </p:nvSpPr>
          <p:spPr>
            <a:xfrm>
              <a:off x="1542151" y="1226868"/>
              <a:ext cx="8640000" cy="1368000"/>
            </a:xfrm>
            <a:prstGeom prst="roundRect">
              <a:avLst>
                <a:gd name="adj" fmla="val 7037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流程图: 离页连接符 45"/>
            <p:cNvSpPr/>
            <p:nvPr/>
          </p:nvSpPr>
          <p:spPr>
            <a:xfrm rot="16200000">
              <a:off x="1291871" y="1522904"/>
              <a:ext cx="851242" cy="756000"/>
            </a:xfrm>
            <a:prstGeom prst="flowChartOffpageConnector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2159125" y="1520468"/>
              <a:ext cx="1339660" cy="756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altLang="zh-CN" sz="2000" spc="3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UOS</a:t>
              </a:r>
            </a:p>
            <a:p>
              <a:pPr algn="ctr"/>
              <a:r>
                <a:rPr lang="zh-CN" altLang="en-US" sz="2000" spc="3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</a:t>
              </a:r>
            </a:p>
          </p:txBody>
        </p:sp>
        <p:sp>
          <p:nvSpPr>
            <p:cNvPr id="48" name="矩形 47"/>
            <p:cNvSpPr/>
            <p:nvPr/>
          </p:nvSpPr>
          <p:spPr>
            <a:xfrm>
              <a:off x="3498785" y="1422311"/>
              <a:ext cx="6489558" cy="957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我们提出了一种</a:t>
              </a:r>
              <a:r>
                <a:rPr lang="en-US" altLang="zh-CN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UOS</a:t>
              </a: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模型，其采用了</a:t>
              </a:r>
              <a:r>
                <a:rPr lang="en-US" altLang="zh-CN" sz="13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MLM</a:t>
              </a:r>
              <a:r>
                <a:rPr lang="zh-CN" altLang="en-US" sz="13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3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URC</a:t>
              </a:r>
              <a:r>
                <a:rPr lang="zh-CN" altLang="en-US" sz="13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相结合</a:t>
              </a: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en-US" altLang="zh-CN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post training</a:t>
              </a: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方法，让</a:t>
              </a:r>
              <a:r>
                <a:rPr lang="en-US" altLang="zh-CN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Bert</a:t>
              </a: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细粒度地学习</a:t>
              </a:r>
              <a:r>
                <a:rPr lang="en-US" altLang="zh-CN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context-response</a:t>
              </a: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关系；同时在</a:t>
              </a:r>
              <a:r>
                <a:rPr lang="en-US" altLang="zh-CN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finetune</a:t>
              </a: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阶段融入了</a:t>
              </a:r>
              <a:r>
                <a:rPr lang="en-US" altLang="zh-CN" sz="13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context-response matching network</a:t>
              </a: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用于进一步识别句子之间的关系。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394458" y="1700848"/>
              <a:ext cx="656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1759229" y="3116207"/>
            <a:ext cx="8801566" cy="1368000"/>
            <a:chOff x="2050942" y="3051704"/>
            <a:chExt cx="8801566" cy="1368000"/>
          </a:xfrm>
        </p:grpSpPr>
        <p:sp>
          <p:nvSpPr>
            <p:cNvPr id="51" name="圆角矩形 50"/>
            <p:cNvSpPr/>
            <p:nvPr/>
          </p:nvSpPr>
          <p:spPr>
            <a:xfrm>
              <a:off x="2212508" y="3051704"/>
              <a:ext cx="8640000" cy="1368000"/>
            </a:xfrm>
            <a:prstGeom prst="roundRect">
              <a:avLst>
                <a:gd name="adj" fmla="val 7037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流程图: 离页连接符 51"/>
            <p:cNvSpPr/>
            <p:nvPr/>
          </p:nvSpPr>
          <p:spPr>
            <a:xfrm rot="16200000">
              <a:off x="2003321" y="3358736"/>
              <a:ext cx="851242" cy="756000"/>
            </a:xfrm>
            <a:prstGeom prst="flowChartOffpageConnector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2870575" y="3356301"/>
              <a:ext cx="1339660" cy="756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sz="2000" spc="3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</a:t>
              </a:r>
              <a:endParaRPr lang="en-US" altLang="zh-CN" sz="2000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spc="3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效果</a:t>
              </a:r>
            </a:p>
          </p:txBody>
        </p:sp>
        <p:sp>
          <p:nvSpPr>
            <p:cNvPr id="54" name="矩形 53"/>
            <p:cNvSpPr/>
            <p:nvPr/>
          </p:nvSpPr>
          <p:spPr>
            <a:xfrm>
              <a:off x="4210235" y="3248328"/>
              <a:ext cx="6489558" cy="957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通过在</a:t>
              </a:r>
              <a:r>
                <a:rPr lang="en-US" altLang="zh-CN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Ubuntu V1</a:t>
              </a: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数据集上比较不同模型的性能体现出了</a:t>
              </a:r>
              <a:r>
                <a:rPr lang="en-US" altLang="zh-CN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UOS</a:t>
              </a: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模型的</a:t>
              </a:r>
              <a:r>
                <a:rPr lang="zh-CN" altLang="en-US" sz="13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有效性</a:t>
              </a: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在中文数据集上</a:t>
              </a:r>
              <a:r>
                <a:rPr lang="en-US" altLang="zh-CN" sz="13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Douban</a:t>
              </a: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E-commerce</a:t>
              </a: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上验证了</a:t>
              </a:r>
              <a:r>
                <a:rPr lang="en-US" altLang="zh-CN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UOS</a:t>
              </a: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策略对于不同数据集的</a:t>
              </a:r>
              <a:r>
                <a:rPr lang="zh-CN" altLang="en-US" sz="13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通用性</a:t>
              </a: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在候选集为</a:t>
              </a:r>
              <a:r>
                <a:rPr lang="en-US" altLang="zh-CN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</a:t>
              </a: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en-US" altLang="zh-CN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DSTC8 Ubuntu</a:t>
              </a: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赛道数据集上仍有着不错的性能，体现</a:t>
              </a:r>
              <a:r>
                <a:rPr lang="en-US" altLang="zh-CN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UOS</a:t>
              </a: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en-US" sz="13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鲁棒性</a:t>
              </a: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2105908" y="3559148"/>
              <a:ext cx="656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1773102" y="4786739"/>
            <a:ext cx="8801566" cy="1368000"/>
            <a:chOff x="1339492" y="4888571"/>
            <a:chExt cx="8801566" cy="1368000"/>
          </a:xfrm>
        </p:grpSpPr>
        <p:sp>
          <p:nvSpPr>
            <p:cNvPr id="57" name="圆角矩形 56"/>
            <p:cNvSpPr/>
            <p:nvPr/>
          </p:nvSpPr>
          <p:spPr>
            <a:xfrm>
              <a:off x="1501058" y="4888571"/>
              <a:ext cx="8640000" cy="1368000"/>
            </a:xfrm>
            <a:prstGeom prst="roundRect">
              <a:avLst>
                <a:gd name="adj" fmla="val 7037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流程图: 离页连接符 57"/>
            <p:cNvSpPr/>
            <p:nvPr/>
          </p:nvSpPr>
          <p:spPr>
            <a:xfrm rot="16200000">
              <a:off x="1291871" y="5194570"/>
              <a:ext cx="851242" cy="756000"/>
            </a:xfrm>
            <a:prstGeom prst="flowChartOffpageConnector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2159125" y="5192135"/>
              <a:ext cx="1339660" cy="756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zh-CN" altLang="en-US" sz="2000" spc="3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</a:t>
              </a:r>
              <a:endParaRPr lang="en-US" altLang="zh-CN" sz="2000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spc="3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展望</a:t>
              </a:r>
            </a:p>
          </p:txBody>
        </p:sp>
        <p:sp>
          <p:nvSpPr>
            <p:cNvPr id="60" name="矩形 59"/>
            <p:cNvSpPr/>
            <p:nvPr/>
          </p:nvSpPr>
          <p:spPr>
            <a:xfrm>
              <a:off x="3484912" y="5058264"/>
              <a:ext cx="6489558" cy="10237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目前提出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UOS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模型中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context-response matching network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只是在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Bert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模型之外进一步关注句子级别的信息，之后的研究可以尝试在</a:t>
              </a:r>
              <a:r>
                <a:rPr lang="en-US" altLang="zh-CN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Bert</a:t>
              </a: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模型内部建模对话句子间的关系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，从而提高回复选择任务的各项评价指标性能。</a:t>
              </a: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394458" y="5372515"/>
              <a:ext cx="656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矩形 4">
            <a:extLst>
              <a:ext uri="{FF2B5EF4-FFF2-40B4-BE49-F238E27FC236}">
                <a16:creationId xmlns:a16="http://schemas.microsoft.com/office/drawing/2014/main" id="{3F4B65D0-078F-BF86-7F43-E905DA184C7C}"/>
              </a:ext>
            </a:extLst>
          </p:cNvPr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04F96E5-49C9-798E-AFD4-DF3013CCC877}"/>
              </a:ext>
            </a:extLst>
          </p:cNvPr>
          <p:cNvCxnSpPr/>
          <p:nvPr/>
        </p:nvCxnSpPr>
        <p:spPr>
          <a:xfrm>
            <a:off x="974270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09F888F7-A624-A177-9D61-3402D97DFEB3}"/>
              </a:ext>
            </a:extLst>
          </p:cNvPr>
          <p:cNvSpPr/>
          <p:nvPr/>
        </p:nvSpPr>
        <p:spPr>
          <a:xfrm>
            <a:off x="9747251" y="0"/>
            <a:ext cx="1666001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ABF60329-BF08-4413-CFF9-D819A2CF277B}"/>
              </a:ext>
            </a:extLst>
          </p:cNvPr>
          <p:cNvSpPr txBox="1"/>
          <p:nvPr/>
        </p:nvSpPr>
        <p:spPr>
          <a:xfrm>
            <a:off x="48298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绪论背景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5F500D1E-1DDE-0F48-7707-DBD2E137209A}"/>
              </a:ext>
            </a:extLst>
          </p:cNvPr>
          <p:cNvSpPr txBox="1"/>
          <p:nvPr/>
        </p:nvSpPr>
        <p:spPr>
          <a:xfrm>
            <a:off x="65316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B94CB246-5852-2AC8-CB7C-0C29701E12D9}"/>
              </a:ext>
            </a:extLst>
          </p:cNvPr>
          <p:cNvSpPr txBox="1"/>
          <p:nvPr/>
        </p:nvSpPr>
        <p:spPr>
          <a:xfrm>
            <a:off x="8233485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实验分析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17C268E6-D69C-F567-84F8-4F22ACC25926}"/>
              </a:ext>
            </a:extLst>
          </p:cNvPr>
          <p:cNvSpPr txBox="1"/>
          <p:nvPr/>
        </p:nvSpPr>
        <p:spPr>
          <a:xfrm>
            <a:off x="9935285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总结展望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337EEA0-864D-1F10-0425-AEE09E865994}"/>
              </a:ext>
            </a:extLst>
          </p:cNvPr>
          <p:cNvCxnSpPr/>
          <p:nvPr/>
        </p:nvCxnSpPr>
        <p:spPr>
          <a:xfrm>
            <a:off x="807216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9ED53B01-1BC5-A0E0-D4B2-73B0656BAE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BC13C95-8858-122D-7C9D-7A3CD0567C3A}"/>
              </a:ext>
            </a:extLst>
          </p:cNvPr>
          <p:cNvCxnSpPr/>
          <p:nvPr/>
        </p:nvCxnSpPr>
        <p:spPr>
          <a:xfrm>
            <a:off x="6369392" y="282784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EF91D8A9-C913-21E9-5937-E93757BF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2716413" y="2729511"/>
            <a:ext cx="67591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谢谢各位老师指正</a:t>
            </a:r>
          </a:p>
        </p:txBody>
      </p:sp>
      <p:sp>
        <p:nvSpPr>
          <p:cNvPr id="20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</a:rPr>
              <a:t>中山</a:t>
            </a: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大学信息工程学院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399" y="582805"/>
            <a:ext cx="3513203" cy="160559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-8648" y="2196316"/>
            <a:ext cx="12209296" cy="2877923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8648" y="2188404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879478" y="2881911"/>
            <a:ext cx="84330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谢谢各位老师指正</a:t>
            </a:r>
          </a:p>
        </p:txBody>
      </p:sp>
      <p:sp>
        <p:nvSpPr>
          <p:cNvPr id="23" name="TextBox 10"/>
          <p:cNvSpPr txBox="1"/>
          <p:nvPr/>
        </p:nvSpPr>
        <p:spPr>
          <a:xfrm>
            <a:off x="2718206" y="41424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中山大学</a:t>
            </a: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</a:rPr>
              <a:t>计算机</a:t>
            </a: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学院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EBBC757-206E-C389-6CCB-B2B3284F4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700"/>
                            </p:stCondLst>
                            <p:childTnLst>
                              <p:par>
                                <p:cTn id="11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600"/>
                            </p:stCondLst>
                            <p:childTnLst>
                              <p:par>
                                <p:cTn id="1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350"/>
                            </p:stCondLst>
                            <p:childTnLst>
                              <p:par>
                                <p:cTn id="19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50"/>
                            </p:stCondLst>
                            <p:childTnLst>
                              <p:par>
                                <p:cTn id="25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1" grpId="0" animBg="1"/>
      <p:bldP spid="22" grpId="0"/>
      <p:bldP spid="23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2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004723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3912</TotalTime>
  <Words>1952</Words>
  <Application>Microsoft Office PowerPoint</Application>
  <PresentationFormat>宽屏</PresentationFormat>
  <Paragraphs>284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Impact MT Std</vt:lpstr>
      <vt:lpstr>等线</vt:lpstr>
      <vt:lpstr>等线 Light</vt:lpstr>
      <vt:lpstr>微软雅黑</vt:lpstr>
      <vt:lpstr>Arial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答辩-19</dc:title>
  <dc:creator>LP</dc:creator>
  <cp:lastModifiedBy>Administrator</cp:lastModifiedBy>
  <cp:revision>486</cp:revision>
  <dcterms:created xsi:type="dcterms:W3CDTF">2016-11-24T09:20:00Z</dcterms:created>
  <dcterms:modified xsi:type="dcterms:W3CDTF">2022-12-27T03:25:24Z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2052-10.1.0.6490</vt:lpwstr>
  </property>
</Properties>
</file>